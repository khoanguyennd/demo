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1232" r:id="rId2"/>
    <p:sldId id="1209" r:id="rId3"/>
    <p:sldId id="1180" r:id="rId4"/>
    <p:sldId id="1233" r:id="rId5"/>
    <p:sldId id="1243" r:id="rId6"/>
    <p:sldId id="1245" r:id="rId7"/>
    <p:sldId id="1235" r:id="rId8"/>
    <p:sldId id="1236" r:id="rId9"/>
    <p:sldId id="1237" r:id="rId10"/>
    <p:sldId id="1239" r:id="rId11"/>
    <p:sldId id="1241" r:id="rId12"/>
    <p:sldId id="1246" r:id="rId13"/>
    <p:sldId id="1247" r:id="rId14"/>
    <p:sldId id="1248" r:id="rId15"/>
    <p:sldId id="1217" r:id="rId16"/>
    <p:sldId id="1249" r:id="rId17"/>
    <p:sldId id="1250" r:id="rId18"/>
    <p:sldId id="1251" r:id="rId19"/>
    <p:sldId id="1252" r:id="rId20"/>
    <p:sldId id="1253" r:id="rId21"/>
    <p:sldId id="1254" r:id="rId22"/>
    <p:sldId id="1255" r:id="rId23"/>
    <p:sldId id="1256" r:id="rId24"/>
    <p:sldId id="1230" r:id="rId25"/>
    <p:sldId id="1231" r:id="rId26"/>
    <p:sldId id="1218" r:id="rId27"/>
    <p:sldId id="1257" r:id="rId28"/>
    <p:sldId id="1223" r:id="rId29"/>
  </p:sldIdLst>
  <p:sldSz cx="9906000" cy="6858000" type="A4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>
          <p15:clr>
            <a:srgbClr val="A4A3A4"/>
          </p15:clr>
        </p15:guide>
        <p15:guide id="2" pos="2122">
          <p15:clr>
            <a:srgbClr val="A4A3A4"/>
          </p15:clr>
        </p15:guide>
        <p15:guide id="3" pos="217">
          <p15:clr>
            <a:srgbClr val="A4A3A4"/>
          </p15:clr>
        </p15:guide>
        <p15:guide id="4" pos="3438">
          <p15:clr>
            <a:srgbClr val="A4A3A4"/>
          </p15:clr>
        </p15:guide>
        <p15:guide id="5" orient="horz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E4EFFB"/>
    <a:srgbClr val="6BD0C7"/>
    <a:srgbClr val="FFFFFF"/>
    <a:srgbClr val="3366CC"/>
    <a:srgbClr val="FF9900"/>
    <a:srgbClr val="FDEADA"/>
    <a:srgbClr val="0000FF"/>
    <a:srgbClr val="7F7F7F"/>
    <a:srgbClr val="DBE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67" autoAdjust="0"/>
    <p:restoredTop sz="94071" autoAdjust="0"/>
  </p:normalViewPr>
  <p:slideViewPr>
    <p:cSldViewPr>
      <p:cViewPr varScale="1">
        <p:scale>
          <a:sx n="91" d="100"/>
          <a:sy n="91" d="100"/>
        </p:scale>
        <p:origin x="1584" y="90"/>
      </p:cViewPr>
      <p:guideLst>
        <p:guide orient="horz" pos="572"/>
        <p:guide pos="2122"/>
        <p:guide pos="217"/>
        <p:guide pos="3438"/>
        <p:guide orient="horz"/>
      </p:guideLst>
    </p:cSldViewPr>
  </p:slideViewPr>
  <p:outlineViewPr>
    <p:cViewPr>
      <p:scale>
        <a:sx n="33" d="100"/>
        <a:sy n="33" d="100"/>
      </p:scale>
      <p:origin x="0" y="414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312" y="184"/>
      </p:cViewPr>
      <p:guideLst>
        <p:guide orient="horz" pos="3128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45660" cy="496411"/>
          </a:xfrm>
          <a:prstGeom prst="rect">
            <a:avLst/>
          </a:prstGeom>
        </p:spPr>
        <p:txBody>
          <a:bodyPr vert="horz" lIns="92116" tIns="46058" rIns="92116" bIns="46058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2" y="3"/>
            <a:ext cx="2945660" cy="496411"/>
          </a:xfrm>
          <a:prstGeom prst="rect">
            <a:avLst/>
          </a:prstGeom>
        </p:spPr>
        <p:txBody>
          <a:bodyPr vert="horz" lIns="92116" tIns="46058" rIns="92116" bIns="46058" rtlCol="0"/>
          <a:lstStyle>
            <a:lvl1pPr algn="r">
              <a:defRPr sz="1200"/>
            </a:lvl1pPr>
          </a:lstStyle>
          <a:p>
            <a:fld id="{E77F1F53-FE92-429B-B77C-9410AF2C6D8B}" type="datetimeFigureOut">
              <a:rPr lang="ko-KR" altLang="en-US" smtClean="0"/>
              <a:pPr/>
              <a:t>2020-07-14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0093"/>
            <a:ext cx="2945660" cy="496411"/>
          </a:xfrm>
          <a:prstGeom prst="rect">
            <a:avLst/>
          </a:prstGeom>
        </p:spPr>
        <p:txBody>
          <a:bodyPr vert="horz" lIns="92116" tIns="46058" rIns="92116" bIns="46058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2" y="9430093"/>
            <a:ext cx="2945660" cy="496411"/>
          </a:xfrm>
          <a:prstGeom prst="rect">
            <a:avLst/>
          </a:prstGeom>
        </p:spPr>
        <p:txBody>
          <a:bodyPr vert="horz" lIns="92116" tIns="46058" rIns="92116" bIns="46058" rtlCol="0" anchor="b"/>
          <a:lstStyle>
            <a:lvl1pPr algn="r">
              <a:defRPr sz="1200"/>
            </a:lvl1pPr>
          </a:lstStyle>
          <a:p>
            <a:fld id="{9A56B546-3D56-4EF0-A791-5861F55B30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71313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45660" cy="496411"/>
          </a:xfrm>
          <a:prstGeom prst="rect">
            <a:avLst/>
          </a:prstGeom>
        </p:spPr>
        <p:txBody>
          <a:bodyPr vert="horz" lIns="92116" tIns="46058" rIns="92116" bIns="46058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2" y="3"/>
            <a:ext cx="2945660" cy="496411"/>
          </a:xfrm>
          <a:prstGeom prst="rect">
            <a:avLst/>
          </a:prstGeom>
        </p:spPr>
        <p:txBody>
          <a:bodyPr vert="horz" lIns="92116" tIns="46058" rIns="92116" bIns="46058" rtlCol="0"/>
          <a:lstStyle>
            <a:lvl1pPr algn="r">
              <a:defRPr sz="1200"/>
            </a:lvl1pPr>
          </a:lstStyle>
          <a:p>
            <a:fld id="{22AEFEEA-0787-4FF0-AF68-ECFA46180FCA}" type="datetimeFigureOut">
              <a:rPr lang="ko-KR" altLang="en-US" smtClean="0"/>
              <a:pPr/>
              <a:t>2020-07-14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2950"/>
            <a:ext cx="537845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16" tIns="46058" rIns="92116" bIns="46058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2116" tIns="46058" rIns="92116" bIns="4605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3"/>
            <a:ext cx="2945660" cy="496411"/>
          </a:xfrm>
          <a:prstGeom prst="rect">
            <a:avLst/>
          </a:prstGeom>
        </p:spPr>
        <p:txBody>
          <a:bodyPr vert="horz" lIns="92116" tIns="46058" rIns="92116" bIns="46058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2" y="9430093"/>
            <a:ext cx="2945660" cy="496411"/>
          </a:xfrm>
          <a:prstGeom prst="rect">
            <a:avLst/>
          </a:prstGeom>
        </p:spPr>
        <p:txBody>
          <a:bodyPr vert="horz" lIns="92116" tIns="46058" rIns="92116" bIns="46058" rtlCol="0" anchor="b"/>
          <a:lstStyle>
            <a:lvl1pPr algn="r">
              <a:defRPr sz="1200"/>
            </a:lvl1pPr>
          </a:lstStyle>
          <a:p>
            <a:fld id="{779A4389-525C-4071-91C5-6AA3A3943E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53827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A4389-525C-4071-91C5-6AA3A3943E35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3239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A4389-525C-4071-91C5-6AA3A3943E35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775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A4389-525C-4071-91C5-6AA3A3943E35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297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A4389-525C-4071-91C5-6AA3A3943E35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4625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A4389-525C-4071-91C5-6AA3A3943E35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6790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A4389-525C-4071-91C5-6AA3A3943E35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6413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A4389-525C-4071-91C5-6AA3A3943E35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5753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A4389-525C-4071-91C5-6AA3A3943E35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27849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A4389-525C-4071-91C5-6AA3A3943E35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4903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A4389-525C-4071-91C5-6AA3A3943E35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46104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A4389-525C-4071-91C5-6AA3A3943E35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6558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2950"/>
            <a:ext cx="53784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14:notes"/>
          <p:cNvSpPr txBox="1">
            <a:spLocks noGrp="1"/>
          </p:cNvSpPr>
          <p:nvPr>
            <p:ph type="body" idx="1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00" tIns="46050" rIns="92100" bIns="460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4:notes"/>
          <p:cNvSpPr txBox="1">
            <a:spLocks noGrp="1"/>
          </p:cNvSpPr>
          <p:nvPr>
            <p:ph type="sldNum" idx="12"/>
          </p:nvPr>
        </p:nvSpPr>
        <p:spPr>
          <a:xfrm>
            <a:off x="3850442" y="9430093"/>
            <a:ext cx="2945660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00" tIns="46050" rIns="92100" bIns="460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2950"/>
            <a:ext cx="53784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15:notes"/>
          <p:cNvSpPr txBox="1">
            <a:spLocks noGrp="1"/>
          </p:cNvSpPr>
          <p:nvPr>
            <p:ph type="body" idx="1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00" tIns="46050" rIns="92100" bIns="460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5:notes"/>
          <p:cNvSpPr txBox="1">
            <a:spLocks noGrp="1"/>
          </p:cNvSpPr>
          <p:nvPr>
            <p:ph type="sldNum" idx="12"/>
          </p:nvPr>
        </p:nvSpPr>
        <p:spPr>
          <a:xfrm>
            <a:off x="3850442" y="9430093"/>
            <a:ext cx="2945660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00" tIns="46050" rIns="92100" bIns="460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2950"/>
            <a:ext cx="53784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16:notes"/>
          <p:cNvSpPr txBox="1">
            <a:spLocks noGrp="1"/>
          </p:cNvSpPr>
          <p:nvPr>
            <p:ph type="body" idx="1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00" tIns="46050" rIns="92100" bIns="460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6:notes"/>
          <p:cNvSpPr txBox="1">
            <a:spLocks noGrp="1"/>
          </p:cNvSpPr>
          <p:nvPr>
            <p:ph type="sldNum" idx="12"/>
          </p:nvPr>
        </p:nvSpPr>
        <p:spPr>
          <a:xfrm>
            <a:off x="3850442" y="9430093"/>
            <a:ext cx="2945660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00" tIns="46050" rIns="92100" bIns="460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2950"/>
            <a:ext cx="53784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17:notes"/>
          <p:cNvSpPr txBox="1">
            <a:spLocks noGrp="1"/>
          </p:cNvSpPr>
          <p:nvPr>
            <p:ph type="body" idx="1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00" tIns="46050" rIns="92100" bIns="460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7:notes"/>
          <p:cNvSpPr txBox="1">
            <a:spLocks noGrp="1"/>
          </p:cNvSpPr>
          <p:nvPr>
            <p:ph type="sldNum" idx="12"/>
          </p:nvPr>
        </p:nvSpPr>
        <p:spPr>
          <a:xfrm>
            <a:off x="3850442" y="9430093"/>
            <a:ext cx="2945660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00" tIns="46050" rIns="92100" bIns="460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A4389-525C-4071-91C5-6AA3A3943E35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57890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2950"/>
            <a:ext cx="53784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p19:notes"/>
          <p:cNvSpPr txBox="1">
            <a:spLocks noGrp="1"/>
          </p:cNvSpPr>
          <p:nvPr>
            <p:ph type="body" idx="1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00" tIns="46050" rIns="92100" bIns="460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9:notes"/>
          <p:cNvSpPr txBox="1">
            <a:spLocks noGrp="1"/>
          </p:cNvSpPr>
          <p:nvPr>
            <p:ph type="sldNum" idx="12"/>
          </p:nvPr>
        </p:nvSpPr>
        <p:spPr>
          <a:xfrm>
            <a:off x="3850442" y="9430093"/>
            <a:ext cx="2945660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00" tIns="46050" rIns="92100" bIns="460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80433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2950"/>
            <a:ext cx="53784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p19:notes"/>
          <p:cNvSpPr txBox="1">
            <a:spLocks noGrp="1"/>
          </p:cNvSpPr>
          <p:nvPr>
            <p:ph type="body" idx="1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00" tIns="46050" rIns="92100" bIns="460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9:notes"/>
          <p:cNvSpPr txBox="1">
            <a:spLocks noGrp="1"/>
          </p:cNvSpPr>
          <p:nvPr>
            <p:ph type="sldNum" idx="12"/>
          </p:nvPr>
        </p:nvSpPr>
        <p:spPr>
          <a:xfrm>
            <a:off x="3850442" y="9430093"/>
            <a:ext cx="2945660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00" tIns="46050" rIns="92100" bIns="460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10562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A4389-525C-4071-91C5-6AA3A3943E35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73080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A4389-525C-4071-91C5-6AA3A3943E35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11512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A4389-525C-4071-91C5-6AA3A3943E35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87157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A4389-525C-4071-91C5-6AA3A3943E35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9711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j.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72480" y="1412777"/>
            <a:ext cx="8931992" cy="1188132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72480" y="3429000"/>
            <a:ext cx="6084676" cy="1440160"/>
          </a:xfrm>
        </p:spPr>
        <p:txBody>
          <a:bodyPr>
            <a:normAutofit/>
          </a:bodyPr>
          <a:lstStyle>
            <a:lvl1pPr marL="0" indent="0" algn="l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200472" y="2608337"/>
            <a:ext cx="2653048" cy="0"/>
          </a:xfrm>
          <a:prstGeom prst="line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792760" y="2608337"/>
            <a:ext cx="6913215" cy="0"/>
          </a:xfrm>
          <a:prstGeom prst="line">
            <a:avLst/>
          </a:prstGeom>
          <a:ln w="38100">
            <a:solidFill>
              <a:srgbClr val="3E48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762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j.U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6"/>
          <p:cNvSpPr>
            <a:spLocks noGrp="1"/>
          </p:cNvSpPr>
          <p:nvPr>
            <p:ph type="title"/>
          </p:nvPr>
        </p:nvSpPr>
        <p:spPr>
          <a:xfrm>
            <a:off x="128464" y="27460"/>
            <a:ext cx="7957637" cy="521221"/>
          </a:xfrm>
        </p:spPr>
        <p:txBody>
          <a:bodyPr>
            <a:normAutofit/>
          </a:bodyPr>
          <a:lstStyle>
            <a:lvl1pPr algn="l"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32F75323-EEE5-B441-99FE-573D3ACE3630}"/>
              </a:ext>
            </a:extLst>
          </p:cNvPr>
          <p:cNvSpPr txBox="1">
            <a:spLocks/>
          </p:cNvSpPr>
          <p:nvPr userDrawn="1"/>
        </p:nvSpPr>
        <p:spPr>
          <a:xfrm>
            <a:off x="7526610" y="6510734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80D61F-97A8-4139-ACBF-D3DAEA84C92B}" type="slidenum">
              <a:rPr lang="ko-KR" altLang="en-US" sz="100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pPr/>
              <a:t>‹#›</a:t>
            </a:fld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9" name="직선 연결선 7">
            <a:extLst>
              <a:ext uri="{FF2B5EF4-FFF2-40B4-BE49-F238E27FC236}">
                <a16:creationId xmlns:a16="http://schemas.microsoft.com/office/drawing/2014/main" id="{6E7CB413-020F-FF47-9D75-06E4911C7467}"/>
              </a:ext>
            </a:extLst>
          </p:cNvPr>
          <p:cNvCxnSpPr>
            <a:cxnSpLocks/>
          </p:cNvCxnSpPr>
          <p:nvPr userDrawn="1"/>
        </p:nvCxnSpPr>
        <p:spPr>
          <a:xfrm>
            <a:off x="128464" y="548680"/>
            <a:ext cx="9709546" cy="0"/>
          </a:xfrm>
          <a:prstGeom prst="line">
            <a:avLst/>
          </a:prstGeom>
          <a:ln w="38100">
            <a:solidFill>
              <a:srgbClr val="3E48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83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4679A1C5-199D-4347-A2EC-DD9F98B3E8D4}"/>
              </a:ext>
            </a:extLst>
          </p:cNvPr>
          <p:cNvSpPr txBox="1">
            <a:spLocks/>
          </p:cNvSpPr>
          <p:nvPr userDrawn="1"/>
        </p:nvSpPr>
        <p:spPr>
          <a:xfrm>
            <a:off x="7526610" y="6510734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80D61F-97A8-4139-ACBF-D3DAEA84C92B}" type="slidenum">
              <a:rPr lang="ko-KR" altLang="en-US" sz="100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pPr/>
              <a:t>‹#›</a:t>
            </a:fld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5749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j.텍스트_정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6"/>
          <p:cNvSpPr>
            <a:spLocks noGrp="1"/>
          </p:cNvSpPr>
          <p:nvPr>
            <p:ph type="title"/>
          </p:nvPr>
        </p:nvSpPr>
        <p:spPr>
          <a:xfrm>
            <a:off x="128464" y="27460"/>
            <a:ext cx="7957637" cy="521221"/>
          </a:xfrm>
        </p:spPr>
        <p:txBody>
          <a:bodyPr>
            <a:normAutofit/>
          </a:bodyPr>
          <a:lstStyle>
            <a:lvl1pPr algn="l"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슬라이드 번호 개체 틀 1"/>
          <p:cNvSpPr txBox="1">
            <a:spLocks/>
          </p:cNvSpPr>
          <p:nvPr userDrawn="1"/>
        </p:nvSpPr>
        <p:spPr>
          <a:xfrm>
            <a:off x="7501855" y="6510734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80D61F-97A8-4139-ACBF-D3DAEA84C92B}" type="slidenum">
              <a:rPr lang="ko-KR" altLang="en-US" sz="100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pPr/>
              <a:t>‹#›</a:t>
            </a:fld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44488" y="734575"/>
            <a:ext cx="8856662" cy="1871663"/>
          </a:xfrm>
          <a:ln>
            <a:noFill/>
          </a:ln>
        </p:spPr>
        <p:txBody>
          <a:bodyPr>
            <a:normAutofit/>
          </a:bodyPr>
          <a:lstStyle>
            <a:lvl1pPr>
              <a:defRPr sz="1000">
                <a:ea typeface="나눔고딕" panose="020D0604000000000000"/>
              </a:defRPr>
            </a:lvl1pPr>
            <a:lvl2pPr marL="628650" indent="-171450">
              <a:buFont typeface="Arial" panose="020B0604020202020204" pitchFamily="34" charset="0"/>
              <a:buChar char="•"/>
              <a:defRPr sz="1000">
                <a:ea typeface="나눔고딕" panose="020D0604000000000000"/>
              </a:defRPr>
            </a:lvl2pPr>
            <a:lvl3pPr marL="1085850" indent="-171450">
              <a:buFont typeface="Arial" panose="020B0604020202020204" pitchFamily="34" charset="0"/>
              <a:buChar char="•"/>
              <a:defRPr sz="1000">
                <a:ea typeface="나눔고딕" panose="020D0604000000000000"/>
              </a:defRPr>
            </a:lvl3pPr>
            <a:lvl4pPr marL="1543050" indent="-171450">
              <a:buFont typeface="Arial" panose="020B0604020202020204" pitchFamily="34" charset="0"/>
              <a:buChar char="•"/>
              <a:defRPr sz="1000">
                <a:ea typeface="나눔고딕" panose="020D0604000000000000"/>
              </a:defRPr>
            </a:lvl4pPr>
            <a:lvl5pPr marL="2000250" indent="-171450">
              <a:buFont typeface="Arial" panose="020B0604020202020204" pitchFamily="34" charset="0"/>
              <a:buChar char="•"/>
              <a:defRPr sz="1000">
                <a:ea typeface="나눔고딕" panose="020D060400000000000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7">
            <a:extLst>
              <a:ext uri="{FF2B5EF4-FFF2-40B4-BE49-F238E27FC236}">
                <a16:creationId xmlns:a16="http://schemas.microsoft.com/office/drawing/2014/main" id="{21FF9D1C-219D-B248-BD7C-7ECFCF6C7E9D}"/>
              </a:ext>
            </a:extLst>
          </p:cNvPr>
          <p:cNvCxnSpPr>
            <a:cxnSpLocks/>
          </p:cNvCxnSpPr>
          <p:nvPr userDrawn="1"/>
        </p:nvCxnSpPr>
        <p:spPr>
          <a:xfrm>
            <a:off x="128464" y="548680"/>
            <a:ext cx="9709546" cy="0"/>
          </a:xfrm>
          <a:prstGeom prst="line">
            <a:avLst/>
          </a:prstGeom>
          <a:ln w="38100">
            <a:solidFill>
              <a:srgbClr val="3E48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778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j.텍스트_정책">
  <p:cSld name="4_sj.텍스트_정책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 txBox="1">
            <a:spLocks noGrp="1"/>
          </p:cNvSpPr>
          <p:nvPr>
            <p:ph type="title"/>
          </p:nvPr>
        </p:nvSpPr>
        <p:spPr>
          <a:xfrm>
            <a:off x="128464" y="27460"/>
            <a:ext cx="7957637" cy="521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  <a:defRPr sz="16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7"/>
          <p:cNvSpPr txBox="1"/>
          <p:nvPr/>
        </p:nvSpPr>
        <p:spPr>
          <a:xfrm>
            <a:off x="7501855" y="651073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0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7"/>
          <p:cNvSpPr txBox="1">
            <a:spLocks noGrp="1"/>
          </p:cNvSpPr>
          <p:nvPr>
            <p:ph type="body" idx="1"/>
          </p:nvPr>
        </p:nvSpPr>
        <p:spPr>
          <a:xfrm>
            <a:off x="344488" y="734575"/>
            <a:ext cx="8856662" cy="1871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4" name="Google Shape;24;p27"/>
          <p:cNvCxnSpPr/>
          <p:nvPr/>
        </p:nvCxnSpPr>
        <p:spPr>
          <a:xfrm>
            <a:off x="128464" y="548680"/>
            <a:ext cx="9709546" cy="0"/>
          </a:xfrm>
          <a:prstGeom prst="straightConnector1">
            <a:avLst/>
          </a:prstGeom>
          <a:noFill/>
          <a:ln w="38100" cap="flat" cmpd="sng">
            <a:solidFill>
              <a:srgbClr val="3E484F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887289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0D61F-97A8-4139-ACBF-D3DAEA84C92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011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5" r:id="rId3"/>
    <p:sldLayoutId id="2147483665" r:id="rId4"/>
    <p:sldLayoutId id="2147483666" r:id="rId5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s.tmon.co.kr/daily/buylis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ps.tmon.co.kr/daily/refundlist" TargetMode="External"/><Relationship Id="rId4" Type="http://schemas.openxmlformats.org/officeDocument/2006/relationships/hyperlink" Target="https://ps.tmon.co.kr/daily/cancellist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s.tmon.co.kr/daily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s.tmon.co.kr/daily/buylist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s.tmon.co.kr/daily/cancellis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s.tmon.co.kr/daily/refundlis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s.tmon.co.kr/inquiry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s.tmon.co.kr/inquiry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ps.tmon.co.kr/inquiry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s.tmon.co.kr/finance/salepaper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tour-partner.wd.wemakeprice.com/activity/ticket/manag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tour-partner.wd.wemakeprice.com/activity/oversea/ticket/manage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tour-partner.wd.wemakeprice.com/activity/ticket/manage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tour-partner.wd.wemakeprice.com/activity/oversea/ticket/manage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tour-partner.wd.wemakeprice.com/activity/product/info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hyperlink" Target="https://tour-partner.wd.wemakeprice.com/activity/product/info" TargetMode="Externa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tour-partner.wd.wemakeprice.com/activity/product/info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partner.booking.naver.com/booking-list-view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97472" y="1268760"/>
            <a:ext cx="8931992" cy="1188132"/>
          </a:xfrm>
        </p:spPr>
        <p:txBody>
          <a:bodyPr anchor="b">
            <a:normAutofit/>
          </a:bodyPr>
          <a:lstStyle/>
          <a:p>
            <a:r>
              <a:rPr lang="en-US" altLang="ko-KR">
                <a:solidFill>
                  <a:srgbClr val="4B4C58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/>
            </a:r>
            <a:br>
              <a:rPr lang="en-US" altLang="ko-KR">
                <a:solidFill>
                  <a:srgbClr val="4B4C58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</a:br>
            <a:r>
              <a:rPr lang="en-US" altLang="ko-KR" smtClean="0">
                <a:solidFill>
                  <a:srgbClr val="4B4C58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T-BRIDGE: CRAWLING (THU THẬP)</a:t>
            </a:r>
            <a:endParaRPr lang="ko-KR" altLang="en-US" dirty="0">
              <a:solidFill>
                <a:srgbClr val="FF6948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72480" y="2780928"/>
            <a:ext cx="6084676" cy="1440160"/>
          </a:xfrm>
        </p:spPr>
        <p:txBody>
          <a:bodyPr>
            <a:normAutofit/>
          </a:bodyPr>
          <a:lstStyle/>
          <a:p>
            <a:r>
              <a:rPr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Ngày viết</a:t>
            </a:r>
            <a:r>
              <a:rPr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</a:t>
            </a:r>
            <a:r>
              <a:rPr lang="ko-KR" altLang="en-US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2020.07.13</a:t>
            </a:r>
            <a:endParaRPr lang="en-US" altLang="ko-KR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r>
              <a:rPr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Version</a:t>
            </a:r>
            <a:r>
              <a:rPr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 </a:t>
            </a:r>
            <a:r>
              <a:rPr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v0.5</a:t>
            </a:r>
            <a:endParaRPr lang="ko-KR" altLang="en-US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44888" y="3573016"/>
            <a:ext cx="3384376" cy="115212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vi-VN" sz="1200" b="1" smtClean="0">
                <a:solidFill>
                  <a:schemeClr val="tx1"/>
                </a:solidFill>
                <a:latin typeface="+mj-lt"/>
              </a:rPr>
              <a:t>Slide 1 : Update toàn bộ nội dung</a:t>
            </a:r>
          </a:p>
          <a:p>
            <a:r>
              <a:rPr kumimoji="1" lang="vi-VN" sz="1200" b="1" smtClean="0">
                <a:solidFill>
                  <a:schemeClr val="tx1"/>
                </a:solidFill>
                <a:latin typeface="+mj-lt"/>
              </a:rPr>
              <a:t>Slide 12~13 : Update quản lý quyết toán Tmon</a:t>
            </a:r>
          </a:p>
          <a:p>
            <a:r>
              <a:rPr kumimoji="1" lang="vi-VN" sz="1200" b="1" smtClean="0">
                <a:solidFill>
                  <a:schemeClr val="tx1"/>
                </a:solidFill>
                <a:latin typeface="+mj-lt"/>
              </a:rPr>
              <a:t>Slide 23~24 : Update quản lý quyết toán WMP</a:t>
            </a:r>
          </a:p>
          <a:p>
            <a:r>
              <a:rPr kumimoji="1" lang="vi-VN" sz="1200" b="1" smtClean="0">
                <a:solidFill>
                  <a:schemeClr val="tx1"/>
                </a:solidFill>
                <a:latin typeface="+mj-lt"/>
              </a:rPr>
              <a:t>Slide 26~27 : Update quản lý đơn hàng Naver</a:t>
            </a:r>
            <a:endParaRPr kumimoji="1" lang="en-US" sz="1200" b="1" smtClean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11135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464" y="28"/>
            <a:ext cx="7957637" cy="521221"/>
          </a:xfrm>
          <a:ln w="3175">
            <a:noFil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Chính sách cơ bản</a:t>
            </a:r>
            <a:endParaRPr lang="ko-KR" altLang="en-US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3C786F-A3C2-B242-9681-EAB4CE56838B}"/>
              </a:ext>
            </a:extLst>
          </p:cNvPr>
          <p:cNvSpPr txBox="1"/>
          <p:nvPr/>
        </p:nvSpPr>
        <p:spPr>
          <a:xfrm>
            <a:off x="416496" y="1318469"/>
            <a:ext cx="8928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r>
              <a:rPr kumimoji="1" lang="en-US" altLang="ko-KR" sz="120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Chính sách cơ bản</a:t>
            </a:r>
            <a:endParaRPr kumimoji="1" lang="en-US" altLang="ko-KR" sz="1000" b="1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7188" indent="-160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Lưu dữ liệu thu thập</a:t>
            </a:r>
            <a:r>
              <a:rPr lang="ko-KR" altLang="en-US" sz="100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0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vào DB của T-Bridge</a:t>
            </a:r>
            <a:r>
              <a:rPr lang="ko-KR" altLang="en-US" sz="100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0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--&gt; </a:t>
            </a:r>
            <a:r>
              <a:rPr lang="en-US" altLang="ko-KR" sz="100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Tiêu chuẩn để lưu khác nhau tùy theo kênh bán</a:t>
            </a:r>
            <a:r>
              <a:rPr lang="ko-KR" altLang="en-US" sz="100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00" b="1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(Tham khảo chính sách chi tiết của từng kênh)</a:t>
            </a:r>
            <a:endParaRPr lang="en-US" altLang="ko-KR" sz="1000" b="1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7188" indent="-160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Data mới thì insert </a:t>
            </a:r>
            <a:r>
              <a:rPr lang="en-US" altLang="ko-KR" sz="100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/ </a:t>
            </a:r>
            <a:r>
              <a:rPr lang="en-US" altLang="ko-KR" sz="100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Data cũ thì update theo điều kiện của từng kênh hoặc giữ lại data cũ</a:t>
            </a:r>
            <a:r>
              <a:rPr lang="ko-KR" altLang="en-US" sz="100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00" b="1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(Tham khảo chính sách chi tiết của từng kênh)</a:t>
            </a:r>
            <a:endParaRPr lang="en-US" altLang="ko-KR" sz="100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6EE5C9-CC18-E44F-8DA4-9CF509092460}"/>
              </a:ext>
            </a:extLst>
          </p:cNvPr>
          <p:cNvSpPr txBox="1"/>
          <p:nvPr/>
        </p:nvSpPr>
        <p:spPr>
          <a:xfrm>
            <a:off x="419300" y="836712"/>
            <a:ext cx="60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r>
              <a:rPr kumimoji="1" lang="vi-VN" altLang="ko-KR" sz="120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Đối tượng thu thập</a:t>
            </a:r>
            <a:r>
              <a:rPr kumimoji="1" lang="ko-KR" altLang="en-US" sz="120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200" b="1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</a:t>
            </a:r>
            <a:r>
              <a:rPr kumimoji="1" lang="ko-KR" altLang="en-US" sz="1200" b="1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20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Tmon</a:t>
            </a:r>
            <a:r>
              <a:rPr kumimoji="1" lang="ko-KR" altLang="en-US" sz="120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200" b="1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/</a:t>
            </a:r>
            <a:r>
              <a:rPr kumimoji="1" lang="ko-KR" altLang="en-US" sz="1200" b="1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20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WMP</a:t>
            </a:r>
            <a:r>
              <a:rPr kumimoji="1" lang="ko-KR" altLang="en-US" sz="120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200" b="1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/</a:t>
            </a:r>
            <a:r>
              <a:rPr kumimoji="1" lang="ko-KR" altLang="en-US" sz="1200" b="1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20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Naver</a:t>
            </a:r>
            <a:endParaRPr kumimoji="1" lang="en-US" altLang="ko-KR" sz="1000" b="1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B3CD102-7888-4C43-AF79-796A427FF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493177"/>
              </p:ext>
            </p:extLst>
          </p:nvPr>
        </p:nvGraphicFramePr>
        <p:xfrm>
          <a:off x="488504" y="2492896"/>
          <a:ext cx="8856982" cy="28783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4017676655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76165741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983941417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265158964"/>
                    </a:ext>
                  </a:extLst>
                </a:gridCol>
                <a:gridCol w="1065061">
                  <a:extLst>
                    <a:ext uri="{9D8B030D-6E8A-4147-A177-3AD203B41FA5}">
                      <a16:colId xmlns:a16="http://schemas.microsoft.com/office/drawing/2014/main" val="2483369811"/>
                    </a:ext>
                  </a:extLst>
                </a:gridCol>
                <a:gridCol w="1239195">
                  <a:extLst>
                    <a:ext uri="{9D8B030D-6E8A-4147-A177-3AD203B41FA5}">
                      <a16:colId xmlns:a16="http://schemas.microsoft.com/office/drawing/2014/main" val="3048523527"/>
                    </a:ext>
                  </a:extLst>
                </a:gridCol>
                <a:gridCol w="1075099">
                  <a:extLst>
                    <a:ext uri="{9D8B030D-6E8A-4147-A177-3AD203B41FA5}">
                      <a16:colId xmlns:a16="http://schemas.microsoft.com/office/drawing/2014/main" val="1586417623"/>
                    </a:ext>
                  </a:extLst>
                </a:gridCol>
                <a:gridCol w="1157147">
                  <a:extLst>
                    <a:ext uri="{9D8B030D-6E8A-4147-A177-3AD203B41FA5}">
                      <a16:colId xmlns:a16="http://schemas.microsoft.com/office/drawing/2014/main" val="3406549863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Phân loại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vi-VN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Đăng sản phẩm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Quản lý sản phẩm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vi-VN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Quản lý đơn hàng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Quản lý doanh thu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Quản lý quyết toán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Tình hình quyết toán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Quản lý câu hỏi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491643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Tmon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Không liên kết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Đăng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thủ công lên kênh bán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Không liên kết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Thu thập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(30p/lần)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Không liên kết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Thu thập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(Mỗi ngày 1 lần/lúc 8h sáng)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vi-VN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Tự động sinh ra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Sau đó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quản lý thủ công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Thu thập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(30p/lần)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211486"/>
                  </a:ext>
                </a:extLst>
              </a:tr>
              <a:tr h="9959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WMP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Không liên kết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Không liên kết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Thu thập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(30p/lần)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Không liên kết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Thu thập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(Mỗi ngày 1 lần/lúc 8h sáng)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vi-VN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Tự động sinh ra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</a:t>
                      </a:r>
                      <a:endParaRPr lang="en-US" altLang="ko-KR" sz="1000" smtClean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Sau đó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quản lý thủ công</a:t>
                      </a:r>
                      <a:endParaRPr lang="ko-KR" altLang="en-US" sz="1000" smtClean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Thu thập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(30p/lần)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332340"/>
                  </a:ext>
                </a:extLst>
              </a:tr>
              <a:tr h="7661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Naver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Không liên kết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Không liên kết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Thu thập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(30p/lần)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Không liên kết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Không liên kết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vi-VN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Tự động sinh ra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</a:t>
                      </a:r>
                      <a:endParaRPr lang="en-US" altLang="ko-KR" sz="1000" smtClean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Sau đó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quản lý thủ công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Không liên kết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807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448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5FDC45-E7AC-014E-86A9-FD5CC62B34F5}"/>
              </a:ext>
            </a:extLst>
          </p:cNvPr>
          <p:cNvSpPr txBox="1"/>
          <p:nvPr/>
        </p:nvSpPr>
        <p:spPr>
          <a:xfrm>
            <a:off x="344488" y="2853253"/>
            <a:ext cx="97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mtClean="0">
                <a:solidFill>
                  <a:srgbClr val="4B4C58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Tmon</a:t>
            </a:r>
            <a:endParaRPr lang="en-US" altLang="ko-KR" sz="2400" b="1" dirty="0">
              <a:solidFill>
                <a:srgbClr val="4B4C58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D0E092-EAD1-1449-86F3-6C752A6C7AD9}"/>
              </a:ext>
            </a:extLst>
          </p:cNvPr>
          <p:cNvSpPr txBox="1"/>
          <p:nvPr/>
        </p:nvSpPr>
        <p:spPr>
          <a:xfrm>
            <a:off x="374438" y="2670820"/>
            <a:ext cx="25594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>
                <a:solidFill>
                  <a:srgbClr val="E72F14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Giải pháp bán vé toàn diện - T-Bridge</a:t>
            </a:r>
            <a:r>
              <a:rPr lang="ko-KR" altLang="en-US" sz="1200" smtClean="0">
                <a:solidFill>
                  <a:srgbClr val="E72F14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endParaRPr lang="ko-KR" altLang="en-US" sz="1200" dirty="0">
              <a:solidFill>
                <a:srgbClr val="E72F14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983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464" y="28"/>
            <a:ext cx="7957637" cy="521221"/>
          </a:xfrm>
          <a:ln w="3175">
            <a:noFil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[Tmon]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Quản lý đơn hàng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endParaRPr lang="ko-KR" altLang="en-US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3C786F-A3C2-B242-9681-EAB4CE56838B}"/>
              </a:ext>
            </a:extLst>
          </p:cNvPr>
          <p:cNvSpPr txBox="1"/>
          <p:nvPr/>
        </p:nvSpPr>
        <p:spPr>
          <a:xfrm>
            <a:off x="416496" y="620688"/>
            <a:ext cx="92890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r>
              <a:rPr kumimoji="1"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Vị trí crawling quản lý đơn hàng:</a:t>
            </a:r>
            <a:r>
              <a:rPr kumimoji="1" lang="ko-KR" altLang="en-US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endParaRPr kumimoji="1" lang="en-US" altLang="ko-KR" sz="1050" b="1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Tmon partner center</a:t>
            </a:r>
            <a:r>
              <a:rPr kumimoji="1"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&gt;</a:t>
            </a:r>
            <a:r>
              <a:rPr kumimoji="1" lang="ko-KR" altLang="en-US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Danh sách xử lý sử dụng</a:t>
            </a:r>
            <a:r>
              <a:rPr kumimoji="1"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&gt;</a:t>
            </a:r>
            <a:r>
              <a:rPr kumimoji="1" lang="ko-KR" altLang="en-US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Danh sách  mua hàng </a:t>
            </a:r>
            <a:r>
              <a:rPr lang="en-US" sz="1050" smtClean="0">
                <a:hlinkClick r:id="rId3"/>
              </a:rPr>
              <a:t>https://ps.tmon.co.kr/daily/buylist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Tmon partner center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&gt; </a:t>
            </a:r>
            <a:r>
              <a:rPr kumimoji="1"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Danh sách  xử lý sử dụng</a:t>
            </a:r>
            <a:r>
              <a:rPr kumimoji="1"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&gt; </a:t>
            </a:r>
            <a:r>
              <a:rPr kumimoji="1"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Danh sách 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hủy/hoàn tiền </a:t>
            </a:r>
            <a:r>
              <a:rPr lang="en-US" sz="1050" smtClean="0">
                <a:hlinkClick r:id="rId4"/>
              </a:rPr>
              <a:t>https://ps.tmon.co.kr/daily/cancellist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Tmon partner center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&gt; </a:t>
            </a:r>
            <a:r>
              <a:rPr kumimoji="1"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Danh sách  xử lý sử dụng</a:t>
            </a:r>
            <a:r>
              <a:rPr kumimoji="1"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&gt; </a:t>
            </a:r>
            <a:r>
              <a:rPr kumimoji="1"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Danh sách 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yêu cầu xác nhận hoàn tiền </a:t>
            </a:r>
            <a:r>
              <a:rPr lang="en-US" sz="1050" smtClean="0">
                <a:hlinkClick r:id="rId5"/>
              </a:rPr>
              <a:t>https://ps.tmon.co.kr/daily/refundlist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Phạm vi dữ liệu crawling</a:t>
            </a:r>
            <a:r>
              <a:rPr lang="ko-KR" altLang="en-US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b="1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 </a:t>
            </a:r>
            <a:r>
              <a:rPr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Danh sách mua hàng thỏa điều kiện tìm kiếm sau:</a:t>
            </a:r>
            <a:endParaRPr lang="en-US" altLang="ko-KR" sz="1050" b="1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56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Deal đối tượng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Toàn bộ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56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Trạng thái đơn hàng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</a:t>
            </a:r>
            <a:r>
              <a:rPr lang="ko-KR" altLang="en-US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Toàn bộ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56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Thời gian đơn hàng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</a:t>
            </a:r>
            <a:r>
              <a:rPr lang="ko-KR" altLang="en-US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1 năm gần nhất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(dữ liệu 364 ngày trước, bao gồm hôm nay)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56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Hạng mục dữ liệu crawling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</a:t>
            </a:r>
            <a:r>
              <a:rPr lang="ko-KR" altLang="en-US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mã vé,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tên option,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trạng thái đơn hàng,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thời gian mua,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xử lý sử dụng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(tên người đặt và số điện thoại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có thể gặp vấn đề về bảo mật thông tin cá nhân? )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Chính sách crawling dữ liệu đơn hàng:</a:t>
            </a:r>
            <a:endParaRPr lang="en-US" altLang="ko-KR" sz="1050" b="1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7188" indent="-160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Lưu dữ liệu crawling vào database của T-Bridge theo mã vé.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7188" indent="-160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Dữ liệu danh sách hủy/hoàn tiền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Tự động kiểm tra trạng thái đơn hàng là “Hoàn tiền xong”.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7188" indent="-160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Dữ liệu danh sách yêu cầu xác nhận hoàn tiền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Tự động kiểm tra trạng thái đơn hàng là “Yêu cầu hoàn tiền”.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7188" indent="-160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Sau khi định kỳ thu thập dữ liệu theo điều kiện trên, có mã vé mới thì thêm vào. (cần bàn bạc để quyết định chu kỳ crawling)</a:t>
            </a:r>
          </a:p>
          <a:p>
            <a:pPr marL="357188" indent="-160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Nếu mã vé đã tồn tại trong database thì sánh trạng thái đơn hàng/thời gian mua rồi xử lý (tham khảo các trường hợp xử lý bên dưới)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226799E-48F0-C243-B2AD-9DB0470D4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591957"/>
              </p:ext>
            </p:extLst>
          </p:nvPr>
        </p:nvGraphicFramePr>
        <p:xfrm>
          <a:off x="272480" y="4784575"/>
          <a:ext cx="9361039" cy="19796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6674">
                  <a:extLst>
                    <a:ext uri="{9D8B030D-6E8A-4147-A177-3AD203B41FA5}">
                      <a16:colId xmlns:a16="http://schemas.microsoft.com/office/drawing/2014/main" val="2747307077"/>
                    </a:ext>
                  </a:extLst>
                </a:gridCol>
                <a:gridCol w="2245654">
                  <a:extLst>
                    <a:ext uri="{9D8B030D-6E8A-4147-A177-3AD203B41FA5}">
                      <a16:colId xmlns:a16="http://schemas.microsoft.com/office/drawing/2014/main" val="1761657418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983941417"/>
                    </a:ext>
                  </a:extLst>
                </a:gridCol>
                <a:gridCol w="1061177">
                  <a:extLst>
                    <a:ext uri="{9D8B030D-6E8A-4147-A177-3AD203B41FA5}">
                      <a16:colId xmlns:a16="http://schemas.microsoft.com/office/drawing/2014/main" val="4265158964"/>
                    </a:ext>
                  </a:extLst>
                </a:gridCol>
                <a:gridCol w="2611230">
                  <a:extLst>
                    <a:ext uri="{9D8B030D-6E8A-4147-A177-3AD203B41FA5}">
                      <a16:colId xmlns:a16="http://schemas.microsoft.com/office/drawing/2014/main" val="3406549863"/>
                    </a:ext>
                  </a:extLst>
                </a:gridCol>
              </a:tblGrid>
              <a:tr h="2112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Trường</a:t>
                      </a:r>
                      <a:r>
                        <a:rPr lang="en-US" altLang="ko-KR" sz="9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hợp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Thời gian mua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Thời</a:t>
                      </a:r>
                      <a:r>
                        <a:rPr lang="en-US" altLang="ko-KR" sz="9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gian xử lý sử dụng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Trạng</a:t>
                      </a:r>
                      <a:r>
                        <a:rPr lang="en-US" altLang="ko-KR" sz="9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thái đơn hàng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Nội</a:t>
                      </a:r>
                      <a:r>
                        <a:rPr lang="en-US" altLang="ko-KR" sz="9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dung xử lý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491643"/>
                  </a:ext>
                </a:extLst>
              </a:tr>
              <a:tr h="2503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Giống nhau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Giống nhau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Giống nhau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Không</a:t>
                      </a:r>
                      <a:r>
                        <a:rPr lang="en-US" altLang="ko-KR" sz="9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thay đổi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211486"/>
                  </a:ext>
                </a:extLst>
              </a:tr>
              <a:tr h="3461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Tmon</a:t>
                      </a:r>
                      <a:r>
                        <a:rPr lang="ko-KR" altLang="en-US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&gt; </a:t>
                      </a:r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T-Bridge</a:t>
                      </a:r>
                      <a:r>
                        <a:rPr lang="ko-KR" altLang="en-US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  <a:p>
                      <a:pPr latinLnBrk="1"/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Thời</a:t>
                      </a:r>
                      <a:r>
                        <a:rPr lang="en-US" altLang="ko-KR" sz="9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gian mua ở Tmon mới hơn T-Bridge</a:t>
                      </a:r>
                      <a:r>
                        <a:rPr lang="ko-KR" altLang="en-US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Giống nhau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Khác dữ liệu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vi-VN" altLang="ko-KR" sz="900" smtClean="0"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  <a:sym typeface="Wingdings" pitchFamily="2" charset="2"/>
                        </a:rPr>
                        <a:t>Xem như là vé được khôi phục ở Tmon.</a:t>
                      </a:r>
                    </a:p>
                    <a:p>
                      <a:pPr latinLnBrk="1"/>
                      <a:r>
                        <a:rPr lang="vi-VN" altLang="ko-KR" sz="900" smtClean="0"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  <a:sym typeface="Wingdings" pitchFamily="2" charset="2"/>
                        </a:rPr>
                        <a:t>Update dữ liệu T-Bridge theo dữ liệu Tmon.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4332340"/>
                  </a:ext>
                </a:extLst>
              </a:tr>
              <a:tr h="3379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Giống nhau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vi-VN" altLang="ko-KR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Tmon &gt; T-Bridge</a:t>
                      </a:r>
                    </a:p>
                    <a:p>
                      <a:pPr latinLnBrk="1"/>
                      <a:r>
                        <a:rPr lang="vi-VN" altLang="ko-KR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Thời gian xử lý sử dụng của Tmon mới hơn T-Bridge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Khác dữ liệu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vi-VN" altLang="ko-KR" sz="900" smtClean="0"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  <a:sym typeface="Wingdings" pitchFamily="2" charset="2"/>
                        </a:rPr>
                        <a:t>Update dữ liệu T-Bridge theo dữ liệu Tmon.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807413"/>
                  </a:ext>
                </a:extLst>
              </a:tr>
              <a:tr h="3379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Giống nhau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vi-VN" altLang="ko-KR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Tmon &lt; T-Bridge</a:t>
                      </a:r>
                    </a:p>
                    <a:p>
                      <a:pPr latinLnBrk="1"/>
                      <a:r>
                        <a:rPr lang="vi-VN" altLang="ko-KR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Thời gian xử lý sử dụng của Tmon cũ hơn T-Bridge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Khác dữ liệu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smtClean="0"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  <a:sym typeface="Wingdings" pitchFamily="2" charset="2"/>
                        </a:rPr>
                        <a:t>Update dữ liệu Tmon theo dữ liệu T-Bridge.</a:t>
                      </a:r>
                      <a:endParaRPr lang="en-US" altLang="ko-KR" sz="900" dirty="0" err="1"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  <a:sym typeface="Wingdings" pitchFamily="2" charset="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616429"/>
                  </a:ext>
                </a:extLst>
              </a:tr>
              <a:tr h="2663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Giống nhau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Giống nhau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Khác dữ liệu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smtClean="0"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  <a:sym typeface="Wingdings" pitchFamily="2" charset="2"/>
                        </a:rPr>
                        <a:t>Update dữ liệu Tmon theo dữ liệu T-Bridge.</a:t>
                      </a:r>
                      <a:endParaRPr lang="en-US" altLang="ko-KR" sz="900" dirty="0" err="1"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  <a:sym typeface="Wingdings" pitchFamily="2" charset="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341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2842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464" y="28"/>
            <a:ext cx="9777536" cy="521221"/>
          </a:xfrm>
          <a:ln w="3175">
            <a:noFil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>
            <a:normAutofit/>
          </a:bodyPr>
          <a:lstStyle/>
          <a:p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[Tmon]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Phương án hiển thị dữ liệu thu thập trên danh sách quản lý đơn hàng</a:t>
            </a:r>
            <a:endParaRPr lang="ko-KR" altLang="en-US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BEA422-E74D-3A44-84CD-AF9BE0DE177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2480" y="2060848"/>
            <a:ext cx="9073008" cy="1192662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87C50B0-B4BD-3644-ABB6-54AD21B688F0}"/>
              </a:ext>
            </a:extLst>
          </p:cNvPr>
          <p:cNvCxnSpPr>
            <a:cxnSpLocks/>
          </p:cNvCxnSpPr>
          <p:nvPr/>
        </p:nvCxnSpPr>
        <p:spPr>
          <a:xfrm>
            <a:off x="632520" y="3181502"/>
            <a:ext cx="0" cy="823562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137D104-215C-7549-ABEE-8E792C6B92A2}"/>
              </a:ext>
            </a:extLst>
          </p:cNvPr>
          <p:cNvCxnSpPr/>
          <p:nvPr/>
        </p:nvCxnSpPr>
        <p:spPr>
          <a:xfrm>
            <a:off x="1280592" y="3181502"/>
            <a:ext cx="0" cy="319506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C70FD6AE-95FE-974D-BDF2-B22964DF1F42}"/>
              </a:ext>
            </a:extLst>
          </p:cNvPr>
          <p:cNvCxnSpPr>
            <a:cxnSpLocks/>
          </p:cNvCxnSpPr>
          <p:nvPr/>
        </p:nvCxnSpPr>
        <p:spPr>
          <a:xfrm flipV="1">
            <a:off x="992560" y="1628800"/>
            <a:ext cx="0" cy="432048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C81F10F-D3EA-DD4B-A8B5-60E4B9836C84}"/>
              </a:ext>
            </a:extLst>
          </p:cNvPr>
          <p:cNvCxnSpPr/>
          <p:nvPr/>
        </p:nvCxnSpPr>
        <p:spPr>
          <a:xfrm>
            <a:off x="1856656" y="3181502"/>
            <a:ext cx="0" cy="319506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2E6A1B9-6E8F-3A40-A475-36C3B8318FB1}"/>
              </a:ext>
            </a:extLst>
          </p:cNvPr>
          <p:cNvCxnSpPr/>
          <p:nvPr/>
        </p:nvCxnSpPr>
        <p:spPr>
          <a:xfrm>
            <a:off x="2576736" y="3181502"/>
            <a:ext cx="0" cy="319506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107E2B1A-D19A-184B-ADFC-DDCEB6317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539577"/>
              </p:ext>
            </p:extLst>
          </p:nvPr>
        </p:nvGraphicFramePr>
        <p:xfrm>
          <a:off x="272480" y="4005064"/>
          <a:ext cx="3960440" cy="2284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93794956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747307077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406549863"/>
                    </a:ext>
                  </a:extLst>
                </a:gridCol>
              </a:tblGrid>
              <a:tr h="1589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Vị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trí crawling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vi-VN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Trạng thái đơn hàng Tmon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Trạng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thái vé T-Bridge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491643"/>
                  </a:ext>
                </a:extLst>
              </a:tr>
              <a:tr h="31782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Danh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sách mua hàng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Chờ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gửi tiền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Mua xong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211486"/>
                  </a:ext>
                </a:extLst>
              </a:tr>
              <a:tr h="43956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Nanum Gothic" panose="020D0604000000000000" pitchFamily="34" charset="-127"/>
                        <a:ea typeface="Nanum 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Có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thể sử dụng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Mua xong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4332340"/>
                  </a:ext>
                </a:extLst>
              </a:tr>
              <a:tr h="3381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  <a:latin typeface="Nanum Gothic" panose="020D0604000000000000" pitchFamily="34" charset="-127"/>
                        <a:ea typeface="Nanum 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Sử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dụng xong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Sử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dụng xong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807413"/>
                  </a:ext>
                </a:extLst>
              </a:tr>
              <a:tr h="3381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Danh sách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yêu cầu xác nhận hoàn tiền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  <a:sym typeface="Wingdings" pitchFamily="2" charset="2"/>
                        </a:rPr>
                        <a:t>Đang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  <a:sym typeface="Wingdings" pitchFamily="2" charset="2"/>
                        </a:rPr>
                        <a:t> yêu cầu hoàn tiền </a:t>
                      </a:r>
                      <a:r>
                        <a:rPr lang="en-US" altLang="ko-KR" sz="1000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  <a:sym typeface="Wingdings" pitchFamily="2" charset="2"/>
                        </a:rPr>
                        <a:t> Tạo</a:t>
                      </a:r>
                      <a:r>
                        <a:rPr lang="en-US" altLang="ko-KR" sz="1000" baseline="0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  <a:sym typeface="Wingdings" pitchFamily="2" charset="2"/>
                        </a:rPr>
                        <a:t> mới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616429"/>
                  </a:ext>
                </a:extLst>
              </a:tr>
              <a:tr h="3381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Danh sách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hủy/hoàn tiền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Hoàn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tiền xong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34154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BF1E4D1-1683-DE43-9F7B-BCAACCDF550F}"/>
              </a:ext>
            </a:extLst>
          </p:cNvPr>
          <p:cNvSpPr txBox="1"/>
          <p:nvPr/>
        </p:nvSpPr>
        <p:spPr>
          <a:xfrm>
            <a:off x="957490" y="3501008"/>
            <a:ext cx="574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TMON</a:t>
            </a:r>
            <a:endParaRPr kumimoji="1" lang="ko-KR" altLang="en-US" sz="100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25EB9C-FA17-C746-B252-CE831CD74679}"/>
              </a:ext>
            </a:extLst>
          </p:cNvPr>
          <p:cNvSpPr txBox="1"/>
          <p:nvPr/>
        </p:nvSpPr>
        <p:spPr>
          <a:xfrm>
            <a:off x="1569557" y="3511345"/>
            <a:ext cx="6471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Tự động sinh ra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0DCF73-7CB0-3C42-AFAE-06D76A41C664}"/>
              </a:ext>
            </a:extLst>
          </p:cNvPr>
          <p:cNvSpPr txBox="1"/>
          <p:nvPr/>
        </p:nvSpPr>
        <p:spPr>
          <a:xfrm>
            <a:off x="2279970" y="3511345"/>
            <a:ext cx="11448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Nhập mã vé Tmon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3A6A6A0-98AA-4242-A0D2-8BE1EB2AC740}"/>
              </a:ext>
            </a:extLst>
          </p:cNvPr>
          <p:cNvCxnSpPr>
            <a:cxnSpLocks/>
          </p:cNvCxnSpPr>
          <p:nvPr/>
        </p:nvCxnSpPr>
        <p:spPr>
          <a:xfrm flipV="1">
            <a:off x="3296816" y="1628800"/>
            <a:ext cx="0" cy="648072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541A579-DB10-BA41-9170-9B6DD0362CB6}"/>
              </a:ext>
            </a:extLst>
          </p:cNvPr>
          <p:cNvSpPr txBox="1"/>
          <p:nvPr/>
        </p:nvSpPr>
        <p:spPr>
          <a:xfrm>
            <a:off x="2826174" y="1377411"/>
            <a:ext cx="13420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Hiển thị thời gian mua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0008FF-37FA-4C40-BCAD-84097586E4A4}"/>
              </a:ext>
            </a:extLst>
          </p:cNvPr>
          <p:cNvSpPr txBox="1"/>
          <p:nvPr/>
        </p:nvSpPr>
        <p:spPr>
          <a:xfrm>
            <a:off x="200472" y="764704"/>
            <a:ext cx="21602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vi-VN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Nếu thời gian mua ở Tmon mới hơn T-Bridge</a:t>
            </a:r>
          </a:p>
          <a:p>
            <a:pPr lvl="0"/>
            <a:r>
              <a:rPr lang="vi-VN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--&gt; Hiển thị trạng thái khôi phục là Y</a:t>
            </a:r>
          </a:p>
          <a:p>
            <a:pPr lvl="0"/>
            <a:r>
              <a:rPr lang="vi-VN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(Sau </a:t>
            </a:r>
            <a:r>
              <a:rPr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khi hiển thị </a:t>
            </a:r>
            <a:r>
              <a:rPr lang="vi-VN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là Y thì </a:t>
            </a:r>
            <a:r>
              <a:rPr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những lần sau </a:t>
            </a:r>
            <a:r>
              <a:rPr lang="vi-VN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k0 cần update</a:t>
            </a:r>
            <a:r>
              <a:rPr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trạng thái khôi phục nữa</a:t>
            </a:r>
            <a:r>
              <a:rPr lang="vi-VN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)</a:t>
            </a:r>
            <a:endParaRPr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0519014F-18FA-6A4B-9E3D-85F40695179B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4088904" y="1168857"/>
            <a:ext cx="1081900" cy="1180024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EA50DD4-7AAD-6243-AB7A-E71026578544}"/>
              </a:ext>
            </a:extLst>
          </p:cNvPr>
          <p:cNvSpPr txBox="1"/>
          <p:nvPr/>
        </p:nvSpPr>
        <p:spPr>
          <a:xfrm>
            <a:off x="3552412" y="768747"/>
            <a:ext cx="3236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vi-VN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Nằm ở giao diện tìm kiếm.</a:t>
            </a:r>
          </a:p>
          <a:p>
            <a:r>
              <a:rPr kumimoji="1" lang="vi-VN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Sau khi tìm kiếm theo mã vé thu thập được thì gộp dữ liệu?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3198DFF-3AE7-0648-A6B0-825D64CF1234}"/>
              </a:ext>
            </a:extLst>
          </p:cNvPr>
          <p:cNvSpPr/>
          <p:nvPr/>
        </p:nvSpPr>
        <p:spPr>
          <a:xfrm>
            <a:off x="4448944" y="2060849"/>
            <a:ext cx="1800200" cy="1192662"/>
          </a:xfrm>
          <a:prstGeom prst="rect">
            <a:avLst/>
          </a:prstGeom>
          <a:noFill/>
          <a:ln w="31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2C8F495-0BFF-E04F-BD13-21A00FDFE310}"/>
              </a:ext>
            </a:extLst>
          </p:cNvPr>
          <p:cNvCxnSpPr>
            <a:cxnSpLocks/>
            <a:endCxn id="27" idx="2"/>
          </p:cNvCxnSpPr>
          <p:nvPr/>
        </p:nvCxnSpPr>
        <p:spPr>
          <a:xfrm flipH="1" flipV="1">
            <a:off x="5170804" y="1168857"/>
            <a:ext cx="1438380" cy="1180024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1918037-97FC-0849-A76E-FA829659D9D0}"/>
              </a:ext>
            </a:extLst>
          </p:cNvPr>
          <p:cNvCxnSpPr/>
          <p:nvPr/>
        </p:nvCxnSpPr>
        <p:spPr>
          <a:xfrm>
            <a:off x="7266444" y="3242941"/>
            <a:ext cx="0" cy="319506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5E73FDC-F61C-C942-B815-0E1435CFBCC7}"/>
              </a:ext>
            </a:extLst>
          </p:cNvPr>
          <p:cNvSpPr txBox="1"/>
          <p:nvPr/>
        </p:nvSpPr>
        <p:spPr>
          <a:xfrm>
            <a:off x="6943961" y="3572784"/>
            <a:ext cx="7441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Tên option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D90F8BE4-2EBA-CA48-BE23-2B5E77E46EB1}"/>
              </a:ext>
            </a:extLst>
          </p:cNvPr>
          <p:cNvCxnSpPr/>
          <p:nvPr/>
        </p:nvCxnSpPr>
        <p:spPr>
          <a:xfrm>
            <a:off x="7955818" y="3232604"/>
            <a:ext cx="0" cy="319506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BC675D4-17FC-8C4C-826A-10E7A89CF85F}"/>
              </a:ext>
            </a:extLst>
          </p:cNvPr>
          <p:cNvSpPr txBox="1"/>
          <p:nvPr/>
        </p:nvSpPr>
        <p:spPr>
          <a:xfrm>
            <a:off x="7647399" y="3562447"/>
            <a:ext cx="5459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Tên người đặt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480A3918-2B9D-F341-AC77-43B2965545B2}"/>
              </a:ext>
            </a:extLst>
          </p:cNvPr>
          <p:cNvCxnSpPr/>
          <p:nvPr/>
        </p:nvCxnSpPr>
        <p:spPr>
          <a:xfrm>
            <a:off x="8522199" y="3232604"/>
            <a:ext cx="0" cy="319506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B63076E-5FA1-D342-B056-39486CCCC4B8}"/>
              </a:ext>
            </a:extLst>
          </p:cNvPr>
          <p:cNvSpPr txBox="1"/>
          <p:nvPr/>
        </p:nvSpPr>
        <p:spPr>
          <a:xfrm>
            <a:off x="8213780" y="3562447"/>
            <a:ext cx="8611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Số điện thoại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812BB23-8EE6-0F49-8179-24DC3BC036FB}"/>
              </a:ext>
            </a:extLst>
          </p:cNvPr>
          <p:cNvSpPr/>
          <p:nvPr/>
        </p:nvSpPr>
        <p:spPr>
          <a:xfrm>
            <a:off x="8879347" y="2060848"/>
            <a:ext cx="394133" cy="1192662"/>
          </a:xfrm>
          <a:prstGeom prst="rect">
            <a:avLst/>
          </a:prstGeom>
          <a:noFill/>
          <a:ln w="31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8F31C2D1-0604-EE48-B8F0-41E44D8944D2}"/>
              </a:ext>
            </a:extLst>
          </p:cNvPr>
          <p:cNvCxnSpPr>
            <a:cxnSpLocks/>
          </p:cNvCxnSpPr>
          <p:nvPr/>
        </p:nvCxnSpPr>
        <p:spPr>
          <a:xfrm flipV="1">
            <a:off x="9096050" y="1633968"/>
            <a:ext cx="0" cy="648072"/>
          </a:xfrm>
          <a:prstGeom prst="straightConnector1">
            <a:avLst/>
          </a:prstGeom>
          <a:ln w="3175">
            <a:solidFill>
              <a:srgbClr val="0070C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0FFCA4A-1137-FE4B-BB2B-595B8DD391C3}"/>
              </a:ext>
            </a:extLst>
          </p:cNvPr>
          <p:cNvSpPr txBox="1"/>
          <p:nvPr/>
        </p:nvSpPr>
        <p:spPr>
          <a:xfrm>
            <a:off x="8625408" y="1382579"/>
            <a:ext cx="8851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0070C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K0 có dữ liệu</a:t>
            </a:r>
            <a:endParaRPr kumimoji="1" lang="ko-KR" altLang="en-US" sz="1000" dirty="0">
              <a:solidFill>
                <a:srgbClr val="0070C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84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464" y="28"/>
            <a:ext cx="7957637" cy="521221"/>
          </a:xfrm>
          <a:ln w="3175">
            <a:noFil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>
            <a:normAutofit/>
          </a:bodyPr>
          <a:lstStyle/>
          <a:p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[Tmon]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Quản lý đơn hàng-Main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dirty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(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  <a:hlinkClick r:id="rId3"/>
              </a:rPr>
              <a:t>https://ps.tmon.co.kr/daily/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)</a:t>
            </a:r>
            <a:endParaRPr lang="ko-KR" altLang="en-US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3A8EA0-2FD9-45DC-A011-7A4AED4A96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80" y="836712"/>
            <a:ext cx="9289032" cy="576064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AB96238-515B-4B3D-939A-6337F34A4433}"/>
              </a:ext>
            </a:extLst>
          </p:cNvPr>
          <p:cNvSpPr/>
          <p:nvPr/>
        </p:nvSpPr>
        <p:spPr>
          <a:xfrm>
            <a:off x="3224808" y="1628800"/>
            <a:ext cx="792088" cy="288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30B243E1-C460-4258-BA77-1795768A9556}"/>
              </a:ext>
            </a:extLst>
          </p:cNvPr>
          <p:cNvSpPr/>
          <p:nvPr/>
        </p:nvSpPr>
        <p:spPr>
          <a:xfrm rot="19042525">
            <a:off x="3831987" y="1429523"/>
            <a:ext cx="318173" cy="216024"/>
          </a:xfrm>
          <a:prstGeom prst="corner">
            <a:avLst>
              <a:gd name="adj1" fmla="val 37775"/>
              <a:gd name="adj2" fmla="val 33462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134C05-C9D6-49BB-A927-80F84C3F0E06}"/>
              </a:ext>
            </a:extLst>
          </p:cNvPr>
          <p:cNvSpPr txBox="1"/>
          <p:nvPr/>
        </p:nvSpPr>
        <p:spPr>
          <a:xfrm>
            <a:off x="3802015" y="1166399"/>
            <a:ext cx="502914" cy="24622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>
                <a:latin typeface="Times New Roman" pitchFamily="18" charset="0"/>
                <a:cs typeface="Times New Roman" pitchFamily="18" charset="0"/>
              </a:rPr>
              <a:t>Chọn</a:t>
            </a:r>
            <a:endParaRPr lang="ko-KR" alt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215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2EF1FCB7-228E-46DF-9163-FB69B00F1F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80" y="836712"/>
            <a:ext cx="9289032" cy="576064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464" y="28"/>
            <a:ext cx="9649072" cy="521221"/>
          </a:xfrm>
          <a:ln w="3175">
            <a:noFil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>
            <a:normAutofit fontScale="90000"/>
          </a:bodyPr>
          <a:lstStyle/>
          <a:p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[Tmon]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Quản lý đơn hàng-Danh sách xử lý sử dụng_Danh sách mua hàng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dirty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(</a:t>
            </a:r>
            <a:r>
              <a:rPr lang="en-US" altLang="ko-KR" sz="1600" dirty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  <a:hlinkClick r:id="rId4"/>
              </a:rPr>
              <a:t>https://ps.tmon.co.kr/daily/buylist</a:t>
            </a:r>
            <a:r>
              <a:rPr lang="en-US" altLang="ko-KR" sz="1600" dirty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)</a:t>
            </a:r>
            <a:endParaRPr lang="ko-KR" altLang="en-US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grpSp>
        <p:nvGrpSpPr>
          <p:cNvPr id="3" name="그룹 17">
            <a:extLst>
              <a:ext uri="{FF2B5EF4-FFF2-40B4-BE49-F238E27FC236}">
                <a16:creationId xmlns:a16="http://schemas.microsoft.com/office/drawing/2014/main" id="{3834142C-A44C-4782-B8E3-9EA1CBD17506}"/>
              </a:ext>
            </a:extLst>
          </p:cNvPr>
          <p:cNvGrpSpPr/>
          <p:nvPr/>
        </p:nvGrpSpPr>
        <p:grpSpPr>
          <a:xfrm>
            <a:off x="4407523" y="1956178"/>
            <a:ext cx="1131139" cy="657200"/>
            <a:chOff x="2451084" y="2086000"/>
            <a:chExt cx="1131139" cy="6572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5DC8533-C153-4362-9335-EDAE98E8B0B5}"/>
                </a:ext>
              </a:extLst>
            </p:cNvPr>
            <p:cNvSpPr/>
            <p:nvPr/>
          </p:nvSpPr>
          <p:spPr>
            <a:xfrm>
              <a:off x="2451084" y="2086000"/>
              <a:ext cx="972053" cy="6572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ko-KR" altLang="en-US" sz="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L 도형 10">
              <a:extLst>
                <a:ext uri="{FF2B5EF4-FFF2-40B4-BE49-F238E27FC236}">
                  <a16:creationId xmlns:a16="http://schemas.microsoft.com/office/drawing/2014/main" id="{FCBDF98E-645D-4F91-AA98-D604B6632235}"/>
                </a:ext>
              </a:extLst>
            </p:cNvPr>
            <p:cNvSpPr/>
            <p:nvPr/>
          </p:nvSpPr>
          <p:spPr>
            <a:xfrm rot="19042525">
              <a:off x="3264050" y="2506231"/>
              <a:ext cx="318173" cy="216024"/>
            </a:xfrm>
            <a:prstGeom prst="corner">
              <a:avLst>
                <a:gd name="adj1" fmla="val 37775"/>
                <a:gd name="adj2" fmla="val 33462"/>
              </a:avLst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ko-KR" altLang="en-US" sz="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3" name="왼쪽 중괄호 22">
            <a:extLst>
              <a:ext uri="{FF2B5EF4-FFF2-40B4-BE49-F238E27FC236}">
                <a16:creationId xmlns:a16="http://schemas.microsoft.com/office/drawing/2014/main" id="{86EDA120-1306-4EBA-86D3-95C2952795A0}"/>
              </a:ext>
            </a:extLst>
          </p:cNvPr>
          <p:cNvSpPr/>
          <p:nvPr/>
        </p:nvSpPr>
        <p:spPr>
          <a:xfrm>
            <a:off x="992560" y="4149080"/>
            <a:ext cx="432048" cy="2448272"/>
          </a:xfrm>
          <a:prstGeom prst="leftBrace">
            <a:avLst>
              <a:gd name="adj1" fmla="val 48016"/>
              <a:gd name="adj2" fmla="val 49237"/>
            </a:avLst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AD88F1-31C3-41F0-B973-9596EF0DA84A}"/>
              </a:ext>
            </a:extLst>
          </p:cNvPr>
          <p:cNvSpPr txBox="1"/>
          <p:nvPr/>
        </p:nvSpPr>
        <p:spPr>
          <a:xfrm>
            <a:off x="3363407" y="6391838"/>
            <a:ext cx="3240360" cy="4308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※Chú ý</a:t>
            </a:r>
            <a:r>
              <a:rPr lang="ko-KR" altLang="en-US" sz="1100" b="1" smtClean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altLang="ko-KR" sz="1100" b="1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: </a:t>
            </a:r>
            <a:r>
              <a:rPr lang="en-US" altLang="ko-KR" sz="1100" b="1" smtClean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Đây là dữ liệu thực, không phải dữ liệu test nên cần đặc biệt chú ý!!!!!</a:t>
            </a:r>
            <a:r>
              <a:rPr lang="ko-KR" altLang="en-US" sz="1100" b="1" smtClean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endParaRPr lang="ko-KR" altLang="en-US" sz="1100" b="1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6EA94B-5483-477D-AE86-ADBF9A6BC2A0}"/>
              </a:ext>
            </a:extLst>
          </p:cNvPr>
          <p:cNvSpPr txBox="1"/>
          <p:nvPr/>
        </p:nvSpPr>
        <p:spPr>
          <a:xfrm>
            <a:off x="26259" y="5265494"/>
            <a:ext cx="909625" cy="40011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>
                <a:latin typeface="Times New Roman" pitchFamily="18" charset="0"/>
                <a:cs typeface="Times New Roman" pitchFamily="18" charset="0"/>
              </a:rPr>
              <a:t>Vùng thu thập</a:t>
            </a:r>
            <a:endParaRPr lang="ko-KR" alt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21DB76-CD05-4905-B969-FCF5E7517C3C}"/>
              </a:ext>
            </a:extLst>
          </p:cNvPr>
          <p:cNvSpPr txBox="1"/>
          <p:nvPr/>
        </p:nvSpPr>
        <p:spPr>
          <a:xfrm>
            <a:off x="5241032" y="2669707"/>
            <a:ext cx="502914" cy="24622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>
                <a:latin typeface="Times New Roman" pitchFamily="18" charset="0"/>
                <a:cs typeface="Times New Roman" pitchFamily="18" charset="0"/>
              </a:rPr>
              <a:t>Chọn</a:t>
            </a:r>
            <a:endParaRPr lang="ko-KR" alt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747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03695573-3B0C-45AB-9088-108B49E202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80" y="836712"/>
            <a:ext cx="9289032" cy="576064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464" y="28"/>
            <a:ext cx="9777536" cy="521221"/>
          </a:xfrm>
          <a:ln w="3175">
            <a:noFil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>
            <a:normAutofit fontScale="90000"/>
          </a:bodyPr>
          <a:lstStyle/>
          <a:p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[Tmon]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Quản lý đơn hàng-Danh sách xử lý sử dụng_Danh sách hủy/hoàn tiền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dirty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(</a:t>
            </a:r>
            <a:r>
              <a:rPr lang="en-US" altLang="ko-KR" sz="1600" dirty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  <a:hlinkClick r:id="rId4"/>
              </a:rPr>
              <a:t>https://ps.tmon.co.kr/daily/cancellist</a:t>
            </a:r>
            <a:r>
              <a:rPr lang="en-US" altLang="ko-KR" sz="1600" dirty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)</a:t>
            </a:r>
            <a:endParaRPr lang="ko-KR" altLang="en-US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grpSp>
        <p:nvGrpSpPr>
          <p:cNvPr id="3" name="그룹 5">
            <a:extLst>
              <a:ext uri="{FF2B5EF4-FFF2-40B4-BE49-F238E27FC236}">
                <a16:creationId xmlns:a16="http://schemas.microsoft.com/office/drawing/2014/main" id="{82387DA7-0010-47FC-9871-69296C81C812}"/>
              </a:ext>
            </a:extLst>
          </p:cNvPr>
          <p:cNvGrpSpPr/>
          <p:nvPr/>
        </p:nvGrpSpPr>
        <p:grpSpPr>
          <a:xfrm>
            <a:off x="3393939" y="2023440"/>
            <a:ext cx="1062436" cy="608391"/>
            <a:chOff x="2451084" y="2086000"/>
            <a:chExt cx="1042659" cy="6572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5DC8533-C153-4362-9335-EDAE98E8B0B5}"/>
                </a:ext>
              </a:extLst>
            </p:cNvPr>
            <p:cNvSpPr/>
            <p:nvPr/>
          </p:nvSpPr>
          <p:spPr>
            <a:xfrm>
              <a:off x="2451084" y="2086000"/>
              <a:ext cx="972053" cy="6572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ko-KR" altLang="en-US" sz="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L 도형 10">
              <a:extLst>
                <a:ext uri="{FF2B5EF4-FFF2-40B4-BE49-F238E27FC236}">
                  <a16:creationId xmlns:a16="http://schemas.microsoft.com/office/drawing/2014/main" id="{FCBDF98E-645D-4F91-AA98-D604B6632235}"/>
                </a:ext>
              </a:extLst>
            </p:cNvPr>
            <p:cNvSpPr/>
            <p:nvPr/>
          </p:nvSpPr>
          <p:spPr>
            <a:xfrm rot="19042525">
              <a:off x="3175570" y="2488152"/>
              <a:ext cx="318173" cy="216024"/>
            </a:xfrm>
            <a:prstGeom prst="corner">
              <a:avLst>
                <a:gd name="adj1" fmla="val 37775"/>
                <a:gd name="adj2" fmla="val 33462"/>
              </a:avLst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ko-KR" altLang="en-US" sz="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4" name="왼쪽 중괄호 13">
            <a:extLst>
              <a:ext uri="{FF2B5EF4-FFF2-40B4-BE49-F238E27FC236}">
                <a16:creationId xmlns:a16="http://schemas.microsoft.com/office/drawing/2014/main" id="{B891E933-C0E7-43D3-A7F2-05DD1C69A6C5}"/>
              </a:ext>
            </a:extLst>
          </p:cNvPr>
          <p:cNvSpPr/>
          <p:nvPr/>
        </p:nvSpPr>
        <p:spPr>
          <a:xfrm>
            <a:off x="992560" y="4149080"/>
            <a:ext cx="432048" cy="2016224"/>
          </a:xfrm>
          <a:prstGeom prst="leftBrace">
            <a:avLst>
              <a:gd name="adj1" fmla="val 48016"/>
              <a:gd name="adj2" fmla="val 49237"/>
            </a:avLst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AEDBB4-7944-44F3-8BEA-48F879545C35}"/>
              </a:ext>
            </a:extLst>
          </p:cNvPr>
          <p:cNvSpPr txBox="1"/>
          <p:nvPr/>
        </p:nvSpPr>
        <p:spPr>
          <a:xfrm>
            <a:off x="0" y="5049470"/>
            <a:ext cx="909625" cy="40011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>
                <a:latin typeface="Times New Roman" pitchFamily="18" charset="0"/>
                <a:cs typeface="Times New Roman" pitchFamily="18" charset="0"/>
              </a:rPr>
              <a:t>Vùng thu thập</a:t>
            </a:r>
            <a:endParaRPr lang="ko-KR" alt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A26DED-13D7-4833-B983-95CC6C22C0AE}"/>
              </a:ext>
            </a:extLst>
          </p:cNvPr>
          <p:cNvSpPr txBox="1"/>
          <p:nvPr/>
        </p:nvSpPr>
        <p:spPr>
          <a:xfrm>
            <a:off x="3296816" y="6387338"/>
            <a:ext cx="3240360" cy="4308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※Chú ý</a:t>
            </a:r>
            <a:r>
              <a:rPr lang="ko-KR" altLang="en-US" sz="1100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1100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Đây là dữ liệu thực, không phải dữ liệu test nên cần đặc biệt chú ý!!!!!</a:t>
            </a:r>
            <a:r>
              <a:rPr lang="ko-KR" altLang="en-US" sz="1100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ko-KR" altLang="en-US" sz="11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76CAC0-140A-4CAF-9DF5-EAB6CC4E24B3}"/>
              </a:ext>
            </a:extLst>
          </p:cNvPr>
          <p:cNvSpPr txBox="1"/>
          <p:nvPr/>
        </p:nvSpPr>
        <p:spPr>
          <a:xfrm>
            <a:off x="4198207" y="2653446"/>
            <a:ext cx="502914" cy="24622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>
                <a:latin typeface="Times New Roman" pitchFamily="18" charset="0"/>
                <a:cs typeface="Times New Roman" pitchFamily="18" charset="0"/>
              </a:rPr>
              <a:t>Chọn</a:t>
            </a:r>
            <a:endParaRPr lang="ko-KR" alt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083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292D4B3-5617-4CE0-BC56-19C0BA81DD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80" y="836712"/>
            <a:ext cx="9289032" cy="576064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464" y="28"/>
            <a:ext cx="9777536" cy="521221"/>
          </a:xfrm>
          <a:ln w="3175">
            <a:noFil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>
            <a:normAutofit fontScale="90000"/>
          </a:bodyPr>
          <a:lstStyle/>
          <a:p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[Tmon]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Quản lý đơn hàng-Danh sách xử lý sử dụng_Danh sách yêu cầu xác nhận hoàn tiền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dirty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(</a:t>
            </a:r>
            <a:r>
              <a:rPr lang="en-US" altLang="ko-KR" sz="1600" dirty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  <a:hlinkClick r:id="rId4"/>
              </a:rPr>
              <a:t>https://ps.tmon.co.kr/daily/refundlist</a:t>
            </a:r>
            <a:r>
              <a:rPr lang="en-US" altLang="ko-KR" sz="1600" dirty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)</a:t>
            </a:r>
            <a:endParaRPr lang="ko-KR" altLang="en-US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grpSp>
        <p:nvGrpSpPr>
          <p:cNvPr id="3" name="그룹 4">
            <a:extLst>
              <a:ext uri="{FF2B5EF4-FFF2-40B4-BE49-F238E27FC236}">
                <a16:creationId xmlns:a16="http://schemas.microsoft.com/office/drawing/2014/main" id="{BE6E00E5-3297-41C3-BBB1-049048BAED5F}"/>
              </a:ext>
            </a:extLst>
          </p:cNvPr>
          <p:cNvGrpSpPr/>
          <p:nvPr/>
        </p:nvGrpSpPr>
        <p:grpSpPr>
          <a:xfrm>
            <a:off x="2421777" y="2049854"/>
            <a:ext cx="1158426" cy="602201"/>
            <a:chOff x="2451084" y="2086000"/>
            <a:chExt cx="1131140" cy="666609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5DC8533-C153-4362-9335-EDAE98E8B0B5}"/>
                </a:ext>
              </a:extLst>
            </p:cNvPr>
            <p:cNvSpPr/>
            <p:nvPr/>
          </p:nvSpPr>
          <p:spPr>
            <a:xfrm>
              <a:off x="2451084" y="2086000"/>
              <a:ext cx="972053" cy="6572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ko-KR" altLang="en-US" sz="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L 도형 10">
              <a:extLst>
                <a:ext uri="{FF2B5EF4-FFF2-40B4-BE49-F238E27FC236}">
                  <a16:creationId xmlns:a16="http://schemas.microsoft.com/office/drawing/2014/main" id="{FCBDF98E-645D-4F91-AA98-D604B6632235}"/>
                </a:ext>
              </a:extLst>
            </p:cNvPr>
            <p:cNvSpPr/>
            <p:nvPr/>
          </p:nvSpPr>
          <p:spPr>
            <a:xfrm rot="19042525">
              <a:off x="3264051" y="2536585"/>
              <a:ext cx="318173" cy="216024"/>
            </a:xfrm>
            <a:prstGeom prst="corner">
              <a:avLst>
                <a:gd name="adj1" fmla="val 37775"/>
                <a:gd name="adj2" fmla="val 33462"/>
              </a:avLst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ko-KR" altLang="en-US" sz="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2" name="왼쪽 중괄호 11">
            <a:extLst>
              <a:ext uri="{FF2B5EF4-FFF2-40B4-BE49-F238E27FC236}">
                <a16:creationId xmlns:a16="http://schemas.microsoft.com/office/drawing/2014/main" id="{A9403C3B-C7F9-4DB4-94A2-D942E4AAB9C9}"/>
              </a:ext>
            </a:extLst>
          </p:cNvPr>
          <p:cNvSpPr/>
          <p:nvPr/>
        </p:nvSpPr>
        <p:spPr>
          <a:xfrm>
            <a:off x="992560" y="4077072"/>
            <a:ext cx="432048" cy="576064"/>
          </a:xfrm>
          <a:prstGeom prst="leftBrace">
            <a:avLst>
              <a:gd name="adj1" fmla="val 13798"/>
              <a:gd name="adj2" fmla="val 49237"/>
            </a:avLst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22ED94-0F9D-43DC-A335-F76C281460D6}"/>
              </a:ext>
            </a:extLst>
          </p:cNvPr>
          <p:cNvSpPr txBox="1"/>
          <p:nvPr/>
        </p:nvSpPr>
        <p:spPr>
          <a:xfrm>
            <a:off x="3296816" y="5373216"/>
            <a:ext cx="3240360" cy="4308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※Chú ý</a:t>
            </a:r>
            <a:r>
              <a:rPr lang="ko-KR" altLang="en-US" sz="1100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1100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Đây là dữ liệu thực, không phải dữ liệu test nên cần đặc biệt chú ý!!!!!</a:t>
            </a:r>
            <a:r>
              <a:rPr lang="ko-KR" altLang="en-US" sz="1100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ko-KR" altLang="en-US" sz="11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905AFA-4EC8-4098-B708-0D3202AF82AF}"/>
              </a:ext>
            </a:extLst>
          </p:cNvPr>
          <p:cNvSpPr txBox="1"/>
          <p:nvPr/>
        </p:nvSpPr>
        <p:spPr>
          <a:xfrm>
            <a:off x="0" y="4257382"/>
            <a:ext cx="909625" cy="40011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>
                <a:latin typeface="Times New Roman" pitchFamily="18" charset="0"/>
                <a:cs typeface="Times New Roman" pitchFamily="18" charset="0"/>
              </a:rPr>
              <a:t>Vùng thu thập</a:t>
            </a:r>
            <a:endParaRPr lang="ko-KR" alt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965F57-BD6E-482E-AB4D-37BB1FA78EEA}"/>
              </a:ext>
            </a:extLst>
          </p:cNvPr>
          <p:cNvSpPr txBox="1"/>
          <p:nvPr/>
        </p:nvSpPr>
        <p:spPr>
          <a:xfrm>
            <a:off x="3206526" y="2712797"/>
            <a:ext cx="502914" cy="24622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>
                <a:latin typeface="Times New Roman" pitchFamily="18" charset="0"/>
                <a:cs typeface="Times New Roman" pitchFamily="18" charset="0"/>
              </a:rPr>
              <a:t>Chọn</a:t>
            </a:r>
            <a:endParaRPr lang="ko-KR" alt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639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464" y="28"/>
            <a:ext cx="7957637" cy="521221"/>
          </a:xfrm>
          <a:ln w="3175">
            <a:noFil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[Tmon]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Danh sách câu hỏi</a:t>
            </a:r>
            <a:endParaRPr lang="ko-KR" altLang="en-US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CBB607-AAAB-3247-9F15-58F0D1C0378A}"/>
              </a:ext>
            </a:extLst>
          </p:cNvPr>
          <p:cNvSpPr txBox="1"/>
          <p:nvPr/>
        </p:nvSpPr>
        <p:spPr>
          <a:xfrm>
            <a:off x="416496" y="620688"/>
            <a:ext cx="9289032" cy="3727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r>
              <a:rPr kumimoji="1"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Vị trí thu thập danh sách câu hỏi :</a:t>
            </a:r>
            <a:r>
              <a:rPr kumimoji="1" lang="ko-KR" altLang="en-US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endParaRPr kumimoji="1" lang="en-US" altLang="ko-KR" sz="1050" b="1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Tmon partner center</a:t>
            </a:r>
            <a:r>
              <a:rPr kumimoji="1"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&gt;</a:t>
            </a:r>
            <a:r>
              <a:rPr kumimoji="1" lang="ko-KR" altLang="en-US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Quản lý câu hỏi của khách</a:t>
            </a:r>
            <a:r>
              <a:rPr kumimoji="1"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 </a:t>
            </a:r>
            <a:r>
              <a:rPr lang="en-US" altLang="ko-KR" sz="1050" smtClean="0">
                <a:latin typeface="Times New Roman" pitchFamily="18" charset="0"/>
                <a:cs typeface="Times New Roman" pitchFamily="18" charset="0"/>
                <a:hlinkClick r:id="rId3"/>
              </a:rPr>
              <a:t>https</a:t>
            </a:r>
            <a:r>
              <a:rPr lang="en-US" altLang="ko-KR" sz="1050" dirty="0">
                <a:latin typeface="Times New Roman" pitchFamily="18" charset="0"/>
                <a:cs typeface="Times New Roman" pitchFamily="18" charset="0"/>
                <a:hlinkClick r:id="rId3"/>
              </a:rPr>
              <a:t>://ps.tmon.co.kr/inquiry#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Phạm vi dữ liệu thu thập</a:t>
            </a:r>
            <a:r>
              <a:rPr lang="ko-KR" altLang="en-US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b="1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 </a:t>
            </a:r>
            <a:r>
              <a:rPr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Danh sách mua thỏa điều kiện tìm kiếm sau :</a:t>
            </a:r>
            <a:endParaRPr lang="en-US" altLang="ko-KR" sz="1050" b="1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56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Tìm theo deal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Tất cả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56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Ngày đăng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</a:t>
            </a:r>
            <a:r>
              <a:rPr lang="ko-KR" altLang="en-US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1 năm gần nhất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(364 ngày trước, bao gồm hôm nay)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56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Hạng mục dữ liệu thu thập : tên deal, ID, ngày đăng, nội dung, có mua hay k0, có trả lời hay k0.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184150">
              <a:lnSpc>
                <a:spcPct val="150000"/>
              </a:lnSpc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Chính sách thu thập danh sách câu hỏi :</a:t>
            </a:r>
            <a:endParaRPr lang="en-US" altLang="ko-KR" sz="1050" b="1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7188" lvl="0" indent="-160338">
              <a:lnSpc>
                <a:spcPct val="150000"/>
              </a:lnSpc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Dựa theo người hỏi và ngày đăng, nếu là dữ liệu mới thì</a:t>
            </a:r>
            <a:r>
              <a:rPr lang="ko-KR" altLang="en-US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 </a:t>
            </a: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insert.</a:t>
            </a:r>
          </a:p>
          <a:p>
            <a:pPr marL="357188" lvl="0" indent="-160338">
              <a:lnSpc>
                <a:spcPct val="150000"/>
              </a:lnSpc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Nếu đã thu thập rồi thì update bằng dữ liệu của Tmon.</a:t>
            </a:r>
          </a:p>
          <a:p>
            <a:pPr marL="357188" indent="-160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Chu kỳ thu thập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30 phút/lần.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endParaRPr lang="en-US" altLang="ko-KR" sz="1050" smtClean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7188" indent="-160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Ở danh sách câu hỏi: sau khi thu thập thì chỉ hiển thị câu hỏi chưa trả lời.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endParaRPr lang="en-US" altLang="ko-KR" sz="1050" smtClean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7188" indent="-160338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425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89DEFFE-A66A-493B-A835-133D74EFA2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80" y="836712"/>
            <a:ext cx="9289032" cy="576064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464" y="28"/>
            <a:ext cx="7957637" cy="521221"/>
          </a:xfrm>
          <a:ln w="3175">
            <a:noFil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>
            <a:normAutofit/>
          </a:bodyPr>
          <a:lstStyle/>
          <a:p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[Tmon]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Quản lý câu hỏi khách hàng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dirty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(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  <a:hlinkClick r:id="rId4"/>
              </a:rPr>
              <a:t>https://ps.tmon.co.kr/inquiry#</a:t>
            </a:r>
            <a:r>
              <a:rPr lang="en-US" altLang="ko-KR" dirty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)</a:t>
            </a:r>
            <a:endParaRPr lang="ko-KR" altLang="en-US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grpSp>
        <p:nvGrpSpPr>
          <p:cNvPr id="3" name="그룹 4">
            <a:extLst>
              <a:ext uri="{FF2B5EF4-FFF2-40B4-BE49-F238E27FC236}">
                <a16:creationId xmlns:a16="http://schemas.microsoft.com/office/drawing/2014/main" id="{BE6E00E5-3297-41C3-BBB1-049048BAED5F}"/>
              </a:ext>
            </a:extLst>
          </p:cNvPr>
          <p:cNvGrpSpPr/>
          <p:nvPr/>
        </p:nvGrpSpPr>
        <p:grpSpPr>
          <a:xfrm>
            <a:off x="4191962" y="1535723"/>
            <a:ext cx="907576" cy="272270"/>
            <a:chOff x="2451084" y="2086000"/>
            <a:chExt cx="1131140" cy="666609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5DC8533-C153-4362-9335-EDAE98E8B0B5}"/>
                </a:ext>
              </a:extLst>
            </p:cNvPr>
            <p:cNvSpPr/>
            <p:nvPr/>
          </p:nvSpPr>
          <p:spPr>
            <a:xfrm>
              <a:off x="2451084" y="2086000"/>
              <a:ext cx="972053" cy="6572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ko-KR" altLang="en-US" sz="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L 도형 10">
              <a:extLst>
                <a:ext uri="{FF2B5EF4-FFF2-40B4-BE49-F238E27FC236}">
                  <a16:creationId xmlns:a16="http://schemas.microsoft.com/office/drawing/2014/main" id="{FCBDF98E-645D-4F91-AA98-D604B6632235}"/>
                </a:ext>
              </a:extLst>
            </p:cNvPr>
            <p:cNvSpPr/>
            <p:nvPr/>
          </p:nvSpPr>
          <p:spPr>
            <a:xfrm rot="19042525">
              <a:off x="3264051" y="2536585"/>
              <a:ext cx="318173" cy="216024"/>
            </a:xfrm>
            <a:prstGeom prst="corner">
              <a:avLst>
                <a:gd name="adj1" fmla="val 37775"/>
                <a:gd name="adj2" fmla="val 33462"/>
              </a:avLst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ko-KR" altLang="en-US" sz="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2" name="왼쪽 중괄호 11">
            <a:extLst>
              <a:ext uri="{FF2B5EF4-FFF2-40B4-BE49-F238E27FC236}">
                <a16:creationId xmlns:a16="http://schemas.microsoft.com/office/drawing/2014/main" id="{A9403C3B-C7F9-4DB4-94A2-D942E4AAB9C9}"/>
              </a:ext>
            </a:extLst>
          </p:cNvPr>
          <p:cNvSpPr/>
          <p:nvPr/>
        </p:nvSpPr>
        <p:spPr>
          <a:xfrm>
            <a:off x="992560" y="2708920"/>
            <a:ext cx="432048" cy="3888432"/>
          </a:xfrm>
          <a:prstGeom prst="leftBrace">
            <a:avLst>
              <a:gd name="adj1" fmla="val 21971"/>
              <a:gd name="adj2" fmla="val 50255"/>
            </a:avLst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22ED94-0F9D-43DC-A335-F76C281460D6}"/>
              </a:ext>
            </a:extLst>
          </p:cNvPr>
          <p:cNvSpPr txBox="1"/>
          <p:nvPr/>
        </p:nvSpPr>
        <p:spPr>
          <a:xfrm>
            <a:off x="5817096" y="6237312"/>
            <a:ext cx="3240360" cy="4308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※Chú ý</a:t>
            </a:r>
            <a:r>
              <a:rPr lang="ko-KR" altLang="en-US" sz="1100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1100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Đây là dữ liệu thực, không phải dữ liệu test nên cần đặc biệt chú ý!!!!!</a:t>
            </a:r>
            <a:r>
              <a:rPr lang="ko-KR" altLang="en-US" sz="1100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ko-KR" altLang="en-US" sz="11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905AFA-4EC8-4098-B708-0D3202AF82AF}"/>
              </a:ext>
            </a:extLst>
          </p:cNvPr>
          <p:cNvSpPr txBox="1"/>
          <p:nvPr/>
        </p:nvSpPr>
        <p:spPr>
          <a:xfrm>
            <a:off x="26259" y="4545414"/>
            <a:ext cx="909625" cy="40011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>
                <a:latin typeface="Times New Roman" pitchFamily="18" charset="0"/>
                <a:cs typeface="Times New Roman" pitchFamily="18" charset="0"/>
              </a:rPr>
              <a:t>Vùng thu thập</a:t>
            </a:r>
            <a:endParaRPr lang="ko-KR" alt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965F57-BD6E-482E-AB4D-37BB1FA78EEA}"/>
              </a:ext>
            </a:extLst>
          </p:cNvPr>
          <p:cNvSpPr txBox="1"/>
          <p:nvPr/>
        </p:nvSpPr>
        <p:spPr>
          <a:xfrm>
            <a:off x="5006018" y="1815981"/>
            <a:ext cx="502914" cy="24622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>
                <a:latin typeface="Times New Roman" pitchFamily="18" charset="0"/>
                <a:cs typeface="Times New Roman" pitchFamily="18" charset="0"/>
              </a:rPr>
              <a:t>Chọn</a:t>
            </a:r>
            <a:endParaRPr lang="ko-KR" alt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881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6">
            <a:extLst>
              <a:ext uri="{FF2B5EF4-FFF2-40B4-BE49-F238E27FC236}">
                <a16:creationId xmlns:a16="http://schemas.microsoft.com/office/drawing/2014/main" id="{DB9F7E8D-3E6B-9E42-8772-CBFE380A4A1C}"/>
              </a:ext>
            </a:extLst>
          </p:cNvPr>
          <p:cNvGrpSpPr/>
          <p:nvPr/>
        </p:nvGrpSpPr>
        <p:grpSpPr>
          <a:xfrm>
            <a:off x="920552" y="1412776"/>
            <a:ext cx="7704856" cy="1701072"/>
            <a:chOff x="920552" y="1412776"/>
            <a:chExt cx="7704856" cy="170107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1902518-92F2-8143-B8EA-41F3F8B67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0552" y="1412776"/>
              <a:ext cx="7704856" cy="1701072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E03CB7F-7C07-944D-B058-D04351CCD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2241" y="1730183"/>
              <a:ext cx="7423058" cy="1370925"/>
            </a:xfrm>
            <a:prstGeom prst="rect">
              <a:avLst/>
            </a:prstGeom>
          </p:spPr>
        </p:pic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464" y="28"/>
            <a:ext cx="7957637" cy="521221"/>
          </a:xfrm>
          <a:ln w="3175">
            <a:noFil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>
            <a:normAutofit/>
          </a:bodyPr>
          <a:lstStyle/>
          <a:p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[Tmon]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Phương án hiển thị dữ liệu thu thập trên danh sách câu hỏi</a:t>
            </a:r>
            <a:endParaRPr lang="ko-KR" altLang="en-US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204084CF-C888-7C4D-982E-E231D5288C9B}"/>
              </a:ext>
            </a:extLst>
          </p:cNvPr>
          <p:cNvCxnSpPr>
            <a:cxnSpLocks/>
          </p:cNvCxnSpPr>
          <p:nvPr/>
        </p:nvCxnSpPr>
        <p:spPr>
          <a:xfrm>
            <a:off x="2072680" y="3113848"/>
            <a:ext cx="0" cy="823562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A14ADDE-494C-9948-9845-E109503D434E}"/>
              </a:ext>
            </a:extLst>
          </p:cNvPr>
          <p:cNvSpPr txBox="1"/>
          <p:nvPr/>
        </p:nvSpPr>
        <p:spPr>
          <a:xfrm>
            <a:off x="1739896" y="3937410"/>
            <a:ext cx="1050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Có trả lời hay k0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7D9F3DBD-B3D2-3A4F-B42A-FE5A67B45A42}"/>
              </a:ext>
            </a:extLst>
          </p:cNvPr>
          <p:cNvCxnSpPr>
            <a:cxnSpLocks/>
          </p:cNvCxnSpPr>
          <p:nvPr/>
        </p:nvCxnSpPr>
        <p:spPr>
          <a:xfrm>
            <a:off x="2576736" y="3113848"/>
            <a:ext cx="0" cy="411781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3784E6E-B470-C84E-A641-13F6DAB6EA82}"/>
              </a:ext>
            </a:extLst>
          </p:cNvPr>
          <p:cNvSpPr txBox="1"/>
          <p:nvPr/>
        </p:nvSpPr>
        <p:spPr>
          <a:xfrm>
            <a:off x="2289638" y="3525629"/>
            <a:ext cx="574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TMON</a:t>
            </a:r>
            <a:endParaRPr kumimoji="1" lang="ko-KR" altLang="en-US" sz="100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CAD90B2C-0B3F-1547-BEB4-BCB6C778F429}"/>
              </a:ext>
            </a:extLst>
          </p:cNvPr>
          <p:cNvCxnSpPr>
            <a:cxnSpLocks/>
          </p:cNvCxnSpPr>
          <p:nvPr/>
        </p:nvCxnSpPr>
        <p:spPr>
          <a:xfrm>
            <a:off x="4126086" y="3103511"/>
            <a:ext cx="0" cy="422118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F41EE16-D440-EC4A-B122-813AFA3E4695}"/>
              </a:ext>
            </a:extLst>
          </p:cNvPr>
          <p:cNvSpPr txBox="1"/>
          <p:nvPr/>
        </p:nvSpPr>
        <p:spPr>
          <a:xfrm>
            <a:off x="2732012" y="3535966"/>
            <a:ext cx="25090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Mã đơn hàng</a:t>
            </a:r>
            <a:r>
              <a:rPr kumimoji="1" lang="ko-KR" altLang="en-US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0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+</a:t>
            </a:r>
            <a:r>
              <a:rPr kumimoji="1" lang="ko-KR" altLang="en-US" sz="100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nội dung 10 ký tự</a:t>
            </a:r>
            <a:r>
              <a:rPr kumimoji="1" lang="ko-KR" altLang="en-US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+ dấu “…”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992A44A3-DF34-314F-9CD8-95FB20FDC069}"/>
              </a:ext>
            </a:extLst>
          </p:cNvPr>
          <p:cNvCxnSpPr>
            <a:cxnSpLocks/>
          </p:cNvCxnSpPr>
          <p:nvPr/>
        </p:nvCxnSpPr>
        <p:spPr>
          <a:xfrm>
            <a:off x="5136486" y="3097791"/>
            <a:ext cx="0" cy="823562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EF596E6-C8D7-9D4F-914C-A1F5FCFBC44D}"/>
              </a:ext>
            </a:extLst>
          </p:cNvPr>
          <p:cNvSpPr txBox="1"/>
          <p:nvPr/>
        </p:nvSpPr>
        <p:spPr>
          <a:xfrm>
            <a:off x="4923928" y="3921353"/>
            <a:ext cx="6319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Tên deal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DEC919-6459-3E44-B91C-7A7C4465928F}"/>
              </a:ext>
            </a:extLst>
          </p:cNvPr>
          <p:cNvSpPr txBox="1"/>
          <p:nvPr/>
        </p:nvSpPr>
        <p:spPr>
          <a:xfrm>
            <a:off x="2576736" y="634524"/>
            <a:ext cx="20024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K0 có dữ liệu, hiển thị bằng dấu</a:t>
            </a:r>
            <a:r>
              <a:rPr kumimoji="1" lang="ko-KR" altLang="en-US" sz="100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0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(-)</a:t>
            </a:r>
            <a:endParaRPr kumimoji="1" lang="ko-KR" altLang="en-US" sz="100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94384375-6AA5-B248-B55A-638FE5B2AB3F}"/>
              </a:ext>
            </a:extLst>
          </p:cNvPr>
          <p:cNvCxnSpPr>
            <a:cxnSpLocks/>
          </p:cNvCxnSpPr>
          <p:nvPr/>
        </p:nvCxnSpPr>
        <p:spPr>
          <a:xfrm>
            <a:off x="7977336" y="3097791"/>
            <a:ext cx="0" cy="823562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63DC6F3D-9FC4-8440-A535-F8B0D68D4DBB}"/>
              </a:ext>
            </a:extLst>
          </p:cNvPr>
          <p:cNvSpPr txBox="1"/>
          <p:nvPr/>
        </p:nvSpPr>
        <p:spPr>
          <a:xfrm>
            <a:off x="7617296" y="3933056"/>
            <a:ext cx="7457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Ngày đăng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58F240F-977E-8B49-9F55-533E34E09DF9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20552" y="4595412"/>
            <a:ext cx="4287024" cy="2107335"/>
          </a:xfrm>
          <a:prstGeom prst="rect">
            <a:avLst/>
          </a:prstGeom>
        </p:spPr>
      </p:pic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4276A66D-DD40-894A-B966-7CB7AC9C229B}"/>
              </a:ext>
            </a:extLst>
          </p:cNvPr>
          <p:cNvCxnSpPr>
            <a:cxnSpLocks/>
          </p:cNvCxnSpPr>
          <p:nvPr/>
        </p:nvCxnSpPr>
        <p:spPr>
          <a:xfrm flipV="1">
            <a:off x="3224808" y="853985"/>
            <a:ext cx="0" cy="648072"/>
          </a:xfrm>
          <a:prstGeom prst="straightConnector1">
            <a:avLst/>
          </a:prstGeom>
          <a:ln w="31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73BFE3A-84F0-4745-8AD3-877EDD1ECFFB}"/>
              </a:ext>
            </a:extLst>
          </p:cNvPr>
          <p:cNvSpPr/>
          <p:nvPr/>
        </p:nvSpPr>
        <p:spPr>
          <a:xfrm>
            <a:off x="5397095" y="1427440"/>
            <a:ext cx="394133" cy="1686407"/>
          </a:xfrm>
          <a:prstGeom prst="rect">
            <a:avLst/>
          </a:prstGeom>
          <a:noFill/>
          <a:ln w="31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B665FD7-B307-1840-B27B-38431FF4B504}"/>
              </a:ext>
            </a:extLst>
          </p:cNvPr>
          <p:cNvCxnSpPr>
            <a:cxnSpLocks/>
          </p:cNvCxnSpPr>
          <p:nvPr/>
        </p:nvCxnSpPr>
        <p:spPr>
          <a:xfrm flipV="1">
            <a:off x="5613798" y="1000561"/>
            <a:ext cx="0" cy="648072"/>
          </a:xfrm>
          <a:prstGeom prst="straightConnector1">
            <a:avLst/>
          </a:prstGeom>
          <a:ln w="3175">
            <a:solidFill>
              <a:srgbClr val="0070C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76F6507-E54C-8B4A-9DFE-DCD0049FE89E}"/>
              </a:ext>
            </a:extLst>
          </p:cNvPr>
          <p:cNvSpPr txBox="1"/>
          <p:nvPr/>
        </p:nvSpPr>
        <p:spPr>
          <a:xfrm>
            <a:off x="5346236" y="720791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0070C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Xóa trường này</a:t>
            </a:r>
            <a:endParaRPr kumimoji="1" lang="ko-KR" altLang="en-US" sz="1000" dirty="0">
              <a:solidFill>
                <a:srgbClr val="0070C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E237D29-584D-974F-BD97-71CAF1259662}"/>
              </a:ext>
            </a:extLst>
          </p:cNvPr>
          <p:cNvCxnSpPr>
            <a:cxnSpLocks/>
          </p:cNvCxnSpPr>
          <p:nvPr/>
        </p:nvCxnSpPr>
        <p:spPr>
          <a:xfrm>
            <a:off x="6033125" y="3097791"/>
            <a:ext cx="0" cy="823562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C846C15-43A8-2D4C-A7A8-4ED92C4103F2}"/>
              </a:ext>
            </a:extLst>
          </p:cNvPr>
          <p:cNvSpPr txBox="1"/>
          <p:nvPr/>
        </p:nvSpPr>
        <p:spPr>
          <a:xfrm>
            <a:off x="5673080" y="3933056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Có mua hay k0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4511D0EB-AA9F-D44C-9351-6128110696F6}"/>
              </a:ext>
            </a:extLst>
          </p:cNvPr>
          <p:cNvCxnSpPr>
            <a:cxnSpLocks/>
          </p:cNvCxnSpPr>
          <p:nvPr/>
        </p:nvCxnSpPr>
        <p:spPr>
          <a:xfrm>
            <a:off x="6857740" y="3097791"/>
            <a:ext cx="0" cy="823562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837ACF8-7EE9-CC42-8AA7-5EFE6AFD402D}"/>
              </a:ext>
            </a:extLst>
          </p:cNvPr>
          <p:cNvSpPr txBox="1"/>
          <p:nvPr/>
        </p:nvSpPr>
        <p:spPr>
          <a:xfrm>
            <a:off x="6645182" y="3921353"/>
            <a:ext cx="3209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ID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95BAAA4-7E20-0A4C-A4D2-2157C85195F7}"/>
              </a:ext>
            </a:extLst>
          </p:cNvPr>
          <p:cNvSpPr/>
          <p:nvPr/>
        </p:nvSpPr>
        <p:spPr>
          <a:xfrm>
            <a:off x="920553" y="4797153"/>
            <a:ext cx="842928" cy="360040"/>
          </a:xfrm>
          <a:prstGeom prst="rect">
            <a:avLst/>
          </a:prstGeom>
          <a:noFill/>
          <a:ln w="31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F8E22A5-C2F4-D147-BD09-74BA2F8D924D}"/>
              </a:ext>
            </a:extLst>
          </p:cNvPr>
          <p:cNvSpPr/>
          <p:nvPr/>
        </p:nvSpPr>
        <p:spPr>
          <a:xfrm>
            <a:off x="1763481" y="5358933"/>
            <a:ext cx="288031" cy="86291"/>
          </a:xfrm>
          <a:prstGeom prst="rect">
            <a:avLst/>
          </a:prstGeom>
          <a:noFill/>
          <a:ln w="31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DE1F003-22EF-9D44-86E7-CB9678980EC3}"/>
              </a:ext>
            </a:extLst>
          </p:cNvPr>
          <p:cNvSpPr/>
          <p:nvPr/>
        </p:nvSpPr>
        <p:spPr>
          <a:xfrm>
            <a:off x="2067396" y="5358933"/>
            <a:ext cx="632188" cy="86291"/>
          </a:xfrm>
          <a:prstGeom prst="rect">
            <a:avLst/>
          </a:prstGeom>
          <a:noFill/>
          <a:ln w="31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C2B1B5F-52A9-DC4E-A249-6C6B851C9886}"/>
              </a:ext>
            </a:extLst>
          </p:cNvPr>
          <p:cNvSpPr/>
          <p:nvPr/>
        </p:nvSpPr>
        <p:spPr>
          <a:xfrm>
            <a:off x="1763481" y="5445225"/>
            <a:ext cx="632188" cy="86291"/>
          </a:xfrm>
          <a:prstGeom prst="rect">
            <a:avLst/>
          </a:prstGeom>
          <a:noFill/>
          <a:ln w="31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8B25C3F-9E71-574D-B0B9-1BC790843522}"/>
              </a:ext>
            </a:extLst>
          </p:cNvPr>
          <p:cNvSpPr/>
          <p:nvPr/>
        </p:nvSpPr>
        <p:spPr>
          <a:xfrm>
            <a:off x="1979504" y="4860861"/>
            <a:ext cx="632188" cy="86291"/>
          </a:xfrm>
          <a:prstGeom prst="rect">
            <a:avLst/>
          </a:prstGeom>
          <a:noFill/>
          <a:ln w="31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65A5D85-D877-2749-9B46-57318A06C9CA}"/>
              </a:ext>
            </a:extLst>
          </p:cNvPr>
          <p:cNvSpPr/>
          <p:nvPr/>
        </p:nvSpPr>
        <p:spPr>
          <a:xfrm>
            <a:off x="4518162" y="4595412"/>
            <a:ext cx="269654" cy="921821"/>
          </a:xfrm>
          <a:prstGeom prst="rect">
            <a:avLst/>
          </a:prstGeom>
          <a:noFill/>
          <a:ln w="31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B23CB2C-D66E-D44B-944D-48FE831AF114}"/>
              </a:ext>
            </a:extLst>
          </p:cNvPr>
          <p:cNvSpPr/>
          <p:nvPr/>
        </p:nvSpPr>
        <p:spPr>
          <a:xfrm>
            <a:off x="4843358" y="4585075"/>
            <a:ext cx="269654" cy="921821"/>
          </a:xfrm>
          <a:prstGeom prst="rect">
            <a:avLst/>
          </a:prstGeom>
          <a:noFill/>
          <a:ln w="31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C296D6-B1B0-024E-B079-4DA7E9DB6A0C}"/>
              </a:ext>
            </a:extLst>
          </p:cNvPr>
          <p:cNvSpPr txBox="1"/>
          <p:nvPr/>
        </p:nvSpPr>
        <p:spPr>
          <a:xfrm>
            <a:off x="825324" y="5112712"/>
            <a:ext cx="5389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smtClean="0">
                <a:solidFill>
                  <a:srgbClr val="0070C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Tên deal</a:t>
            </a:r>
            <a:endParaRPr kumimoji="1" lang="ko-KR" altLang="en-US" sz="800" dirty="0">
              <a:solidFill>
                <a:srgbClr val="0070C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E5D530-E9CD-8241-9C51-D2B40C74F046}"/>
              </a:ext>
            </a:extLst>
          </p:cNvPr>
          <p:cNvSpPr txBox="1"/>
          <p:nvPr/>
        </p:nvSpPr>
        <p:spPr>
          <a:xfrm>
            <a:off x="2569836" y="4797153"/>
            <a:ext cx="6303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smtClean="0">
                <a:solidFill>
                  <a:srgbClr val="0070C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Ngày đăng</a:t>
            </a:r>
            <a:endParaRPr kumimoji="1" lang="ko-KR" altLang="en-US" sz="800" dirty="0">
              <a:solidFill>
                <a:srgbClr val="0070C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B196B8-58F0-F443-BBED-AD7AE14EEB6A}"/>
              </a:ext>
            </a:extLst>
          </p:cNvPr>
          <p:cNvSpPr txBox="1"/>
          <p:nvPr/>
        </p:nvSpPr>
        <p:spPr>
          <a:xfrm>
            <a:off x="1670893" y="5186634"/>
            <a:ext cx="2920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smtClean="0">
                <a:solidFill>
                  <a:srgbClr val="0070C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ID</a:t>
            </a:r>
            <a:endParaRPr kumimoji="1" lang="ko-KR" altLang="en-US" sz="800" dirty="0">
              <a:solidFill>
                <a:srgbClr val="0070C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9EEF24A-AB89-D743-A257-7BCF2759BFBB}"/>
              </a:ext>
            </a:extLst>
          </p:cNvPr>
          <p:cNvSpPr txBox="1"/>
          <p:nvPr/>
        </p:nvSpPr>
        <p:spPr>
          <a:xfrm>
            <a:off x="2174660" y="5186634"/>
            <a:ext cx="7280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smtClean="0">
                <a:solidFill>
                  <a:srgbClr val="0070C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Mã đơn hàng</a:t>
            </a:r>
            <a:endParaRPr kumimoji="1" lang="ko-KR" altLang="en-US" sz="800" dirty="0">
              <a:solidFill>
                <a:srgbClr val="0070C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2C7CED8-7757-C94F-A1D7-21CA6AFE71C5}"/>
              </a:ext>
            </a:extLst>
          </p:cNvPr>
          <p:cNvSpPr txBox="1"/>
          <p:nvPr/>
        </p:nvSpPr>
        <p:spPr>
          <a:xfrm>
            <a:off x="2065606" y="5496097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smtClean="0">
                <a:solidFill>
                  <a:srgbClr val="0070C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Nội dung</a:t>
            </a:r>
            <a:endParaRPr kumimoji="1" lang="ko-KR" altLang="en-US" sz="800" dirty="0">
              <a:solidFill>
                <a:srgbClr val="0070C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C60727B-8F32-5046-9875-8E93FD66BD55}"/>
              </a:ext>
            </a:extLst>
          </p:cNvPr>
          <p:cNvSpPr txBox="1"/>
          <p:nvPr/>
        </p:nvSpPr>
        <p:spPr>
          <a:xfrm>
            <a:off x="917075" y="4379968"/>
            <a:ext cx="12073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smtClean="0">
                <a:solidFill>
                  <a:srgbClr val="0070C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Danh sách câu hỏi Tmon</a:t>
            </a:r>
            <a:endParaRPr kumimoji="1" lang="ko-KR" altLang="en-US" sz="800" dirty="0">
              <a:solidFill>
                <a:srgbClr val="0070C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ABBEFE78-1577-6E44-A0EC-10E4686EFA07}"/>
              </a:ext>
            </a:extLst>
          </p:cNvPr>
          <p:cNvSpPr/>
          <p:nvPr/>
        </p:nvSpPr>
        <p:spPr>
          <a:xfrm>
            <a:off x="1202350" y="1502057"/>
            <a:ext cx="537546" cy="1665076"/>
          </a:xfrm>
          <a:prstGeom prst="rect">
            <a:avLst/>
          </a:prstGeom>
          <a:noFill/>
          <a:ln w="31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584AC315-5610-4848-983D-D77F8B9D064A}"/>
              </a:ext>
            </a:extLst>
          </p:cNvPr>
          <p:cNvCxnSpPr>
            <a:cxnSpLocks/>
          </p:cNvCxnSpPr>
          <p:nvPr/>
        </p:nvCxnSpPr>
        <p:spPr>
          <a:xfrm flipH="1" flipV="1">
            <a:off x="632520" y="1324597"/>
            <a:ext cx="519721" cy="825532"/>
          </a:xfrm>
          <a:prstGeom prst="straightConnector1">
            <a:avLst/>
          </a:prstGeom>
          <a:ln w="3175">
            <a:solidFill>
              <a:srgbClr val="0070C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2333CD78-02AB-614F-8363-86ACD2A28CB8}"/>
              </a:ext>
            </a:extLst>
          </p:cNvPr>
          <p:cNvSpPr txBox="1"/>
          <p:nvPr/>
        </p:nvSpPr>
        <p:spPr>
          <a:xfrm>
            <a:off x="388509" y="625394"/>
            <a:ext cx="23322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smtClean="0">
                <a:solidFill>
                  <a:srgbClr val="0070C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Khi click thì mở (ở cửa sổ mới) trang quản lý câu hỏi khách hàng ở partner center của kênh bán.</a:t>
            </a:r>
          </a:p>
          <a:p>
            <a:r>
              <a:rPr kumimoji="1" lang="en-US" altLang="ko-KR" sz="1000" smtClean="0">
                <a:solidFill>
                  <a:srgbClr val="0070C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Tmon</a:t>
            </a:r>
            <a:r>
              <a:rPr kumimoji="1" lang="ko-KR" altLang="en-US" sz="1000" smtClean="0">
                <a:solidFill>
                  <a:srgbClr val="0070C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00" dirty="0">
                <a:solidFill>
                  <a:srgbClr val="0070C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</a:t>
            </a:r>
            <a:r>
              <a:rPr kumimoji="1" lang="ko-KR" altLang="en-US" sz="1000" dirty="0">
                <a:solidFill>
                  <a:srgbClr val="0070C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00" dirty="0">
                <a:latin typeface="Times New Roman" pitchFamily="18" charset="0"/>
                <a:cs typeface="Times New Roman" pitchFamily="18" charset="0"/>
                <a:hlinkClick r:id="rId6"/>
              </a:rPr>
              <a:t>https://ps.tmon.co.kr/inquiry#</a:t>
            </a:r>
            <a:endParaRPr kumimoji="1" lang="ko-KR" altLang="en-US" sz="1000" dirty="0">
              <a:solidFill>
                <a:srgbClr val="0070C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555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464" y="28"/>
            <a:ext cx="7957637" cy="521221"/>
          </a:xfrm>
          <a:ln w="3175">
            <a:noFil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[TMON]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Quản lý quyết toán</a:t>
            </a:r>
            <a:endParaRPr lang="ko-KR" altLang="en-US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CBB607-AAAB-3247-9F15-58F0D1C0378A}"/>
              </a:ext>
            </a:extLst>
          </p:cNvPr>
          <p:cNvSpPr txBox="1"/>
          <p:nvPr/>
        </p:nvSpPr>
        <p:spPr>
          <a:xfrm>
            <a:off x="416496" y="620688"/>
            <a:ext cx="9289032" cy="491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r>
              <a:rPr kumimoji="1"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Vị trí thu thập quản lý quyết toán :</a:t>
            </a:r>
            <a:r>
              <a:rPr kumimoji="1" lang="ko-KR" altLang="en-US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endParaRPr kumimoji="1" lang="en-US" altLang="ko-KR" sz="1050" b="1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Tmon partner center</a:t>
            </a:r>
            <a:r>
              <a:rPr kumimoji="1"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&gt;</a:t>
            </a:r>
            <a:r>
              <a:rPr kumimoji="1" lang="ko-KR" altLang="en-US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Xen doanh thu/quyết toán</a:t>
            </a:r>
            <a:r>
              <a:rPr kumimoji="1"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&gt; </a:t>
            </a:r>
            <a:r>
              <a:rPr kumimoji="1"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Bảng quyết toán online :</a:t>
            </a:r>
            <a:r>
              <a:rPr kumimoji="1"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dirty="0">
                <a:latin typeface="Times New Roman" pitchFamily="18" charset="0"/>
                <a:cs typeface="Times New Roman" pitchFamily="18" charset="0"/>
                <a:hlinkClick r:id="rId3"/>
              </a:rPr>
              <a:t>https://ps.tmon.co.kr/finance/salepaper</a:t>
            </a:r>
            <a:endParaRPr lang="en-US" altLang="ko-KR" sz="1050" dirty="0">
              <a:latin typeface="Times New Roman" pitchFamily="18" charset="0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Phạm vi thu thập data</a:t>
            </a:r>
            <a:r>
              <a:rPr lang="ko-KR" altLang="en-US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b="1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 </a:t>
            </a:r>
            <a:r>
              <a:rPr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Danh sách điều kiện tìm kiếm sau :</a:t>
            </a:r>
            <a:endParaRPr lang="en-US" altLang="ko-KR" sz="1050" b="1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56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Tìm theo deal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56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Setting thời gian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</a:t>
            </a:r>
            <a:r>
              <a:rPr lang="ko-KR" altLang="en-US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1 năm gần nhất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(data 364 ngày trước bao gồm hôm nay)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184150">
              <a:lnSpc>
                <a:spcPct val="150000"/>
              </a:lnSpc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Chính sách thu thập quản lý quyết toán :</a:t>
            </a:r>
            <a:endParaRPr lang="en-US" altLang="ko-KR" sz="1050" b="1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7188" lvl="0" indent="-160338">
              <a:lnSpc>
                <a:spcPct val="150000"/>
              </a:lnSpc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Chu kỳ thu thập</a:t>
            </a:r>
            <a:r>
              <a:rPr lang="ko-KR" altLang="en-US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 </a:t>
            </a:r>
            <a:r>
              <a:rPr lang="en-US" altLang="ko-KR" sz="105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: </a:t>
            </a: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1 lần/ngày</a:t>
            </a:r>
            <a:r>
              <a:rPr lang="ko-KR" altLang="en-US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 </a:t>
            </a: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(lúc 8h sáng hàng ngày)</a:t>
            </a:r>
            <a:endParaRPr lang="ko-KR" altLang="en-US" sz="1050" dirty="0">
              <a:solidFill>
                <a:schemeClr val="dk1"/>
              </a:solidFill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38F506-C468-2E40-B1D4-2E246BE3B192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24608" y="1268760"/>
            <a:ext cx="5457056" cy="243947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E787248-DB6D-7046-AD2C-DA8C8419C648}"/>
              </a:ext>
            </a:extLst>
          </p:cNvPr>
          <p:cNvSpPr/>
          <p:nvPr/>
        </p:nvSpPr>
        <p:spPr>
          <a:xfrm>
            <a:off x="4376936" y="1340768"/>
            <a:ext cx="576064" cy="2160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7BD2C21-3C16-2143-BA20-5A620E85A904}"/>
              </a:ext>
            </a:extLst>
          </p:cNvPr>
          <p:cNvSpPr/>
          <p:nvPr/>
        </p:nvSpPr>
        <p:spPr>
          <a:xfrm>
            <a:off x="3008784" y="1580782"/>
            <a:ext cx="432048" cy="4800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064B00-866B-1D4E-A4CC-85F54728EA49}"/>
              </a:ext>
            </a:extLst>
          </p:cNvPr>
          <p:cNvSpPr txBox="1"/>
          <p:nvPr/>
        </p:nvSpPr>
        <p:spPr>
          <a:xfrm>
            <a:off x="4471080" y="1130260"/>
            <a:ext cx="51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Click</a:t>
            </a:r>
            <a:endParaRPr kumimoji="1" lang="ko-KR" altLang="en-US" sz="1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AD25FE-ECF7-6048-A4E6-94ACA3B1A295}"/>
              </a:ext>
            </a:extLst>
          </p:cNvPr>
          <p:cNvSpPr txBox="1"/>
          <p:nvPr/>
        </p:nvSpPr>
        <p:spPr>
          <a:xfrm>
            <a:off x="3080792" y="2021786"/>
            <a:ext cx="51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Click</a:t>
            </a:r>
            <a:endParaRPr kumimoji="1" lang="ko-KR" altLang="en-US" sz="1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59D00FE-45DA-C74D-81F0-9D273F0C4CE4}"/>
              </a:ext>
            </a:extLst>
          </p:cNvPr>
          <p:cNvSpPr/>
          <p:nvPr/>
        </p:nvSpPr>
        <p:spPr>
          <a:xfrm>
            <a:off x="2072680" y="3228165"/>
            <a:ext cx="4104456" cy="41685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5A19B9-BD37-F844-8B3F-CCAB19775C57}"/>
              </a:ext>
            </a:extLst>
          </p:cNvPr>
          <p:cNvSpPr txBox="1"/>
          <p:nvPr/>
        </p:nvSpPr>
        <p:spPr>
          <a:xfrm>
            <a:off x="4583958" y="2978125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Vùng thu thập</a:t>
            </a:r>
            <a:endParaRPr kumimoji="1" lang="ko-KR" altLang="en-US" sz="1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03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55DC949-0F4F-D84C-83A9-A8EC14B35C5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2480" y="1399463"/>
            <a:ext cx="9145016" cy="930988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7C6EFF81-B262-1C4A-8F2F-82DB90DD0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64" y="28"/>
            <a:ext cx="7957637" cy="521221"/>
          </a:xfrm>
          <a:ln w="3175">
            <a:noFil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>
            <a:normAutofit/>
          </a:bodyPr>
          <a:lstStyle/>
          <a:p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[TMON]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Phương án hiển thị dữ liệu thu thập trên danh sách quản lý quyết toán</a:t>
            </a:r>
            <a:endParaRPr lang="ko-KR" altLang="en-US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3BA4D2F-22B6-204E-A066-8483351EBEF7}"/>
              </a:ext>
            </a:extLst>
          </p:cNvPr>
          <p:cNvCxnSpPr>
            <a:cxnSpLocks/>
          </p:cNvCxnSpPr>
          <p:nvPr/>
        </p:nvCxnSpPr>
        <p:spPr>
          <a:xfrm>
            <a:off x="1424608" y="2230979"/>
            <a:ext cx="0" cy="433363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428B655-0A42-2542-879B-BBA47F0DAA8A}"/>
              </a:ext>
            </a:extLst>
          </p:cNvPr>
          <p:cNvSpPr txBox="1"/>
          <p:nvPr/>
        </p:nvSpPr>
        <p:spPr>
          <a:xfrm>
            <a:off x="1073793" y="2685150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Tên NCC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BED1752-8221-B843-8733-7D4BBC4F665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40832" y="3286135"/>
            <a:ext cx="4145765" cy="2805218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FC6F70A-57C5-374E-96DC-C4F206113624}"/>
              </a:ext>
            </a:extLst>
          </p:cNvPr>
          <p:cNvCxnSpPr>
            <a:cxnSpLocks/>
          </p:cNvCxnSpPr>
          <p:nvPr/>
        </p:nvCxnSpPr>
        <p:spPr>
          <a:xfrm>
            <a:off x="6537176" y="2275557"/>
            <a:ext cx="0" cy="433363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394795F-180C-8041-BB30-D52865B45869}"/>
              </a:ext>
            </a:extLst>
          </p:cNvPr>
          <p:cNvSpPr txBox="1"/>
          <p:nvPr/>
        </p:nvSpPr>
        <p:spPr>
          <a:xfrm>
            <a:off x="6264505" y="2723917"/>
            <a:ext cx="10342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Ngày thanh toán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5E3C9BF-1EA7-E844-8FF7-AD236B56B255}"/>
              </a:ext>
            </a:extLst>
          </p:cNvPr>
          <p:cNvCxnSpPr>
            <a:cxnSpLocks/>
          </p:cNvCxnSpPr>
          <p:nvPr/>
        </p:nvCxnSpPr>
        <p:spPr>
          <a:xfrm>
            <a:off x="8826071" y="2260560"/>
            <a:ext cx="0" cy="433363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0A7DF4A-AEB4-4849-9776-5B1A3B9E3EE9}"/>
              </a:ext>
            </a:extLst>
          </p:cNvPr>
          <p:cNvSpPr txBox="1"/>
          <p:nvPr/>
        </p:nvSpPr>
        <p:spPr>
          <a:xfrm>
            <a:off x="8553400" y="2708920"/>
            <a:ext cx="11144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Số tiền thanh toán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17" name="Google Shape;177;p12">
            <a:extLst>
              <a:ext uri="{FF2B5EF4-FFF2-40B4-BE49-F238E27FC236}">
                <a16:creationId xmlns:a16="http://schemas.microsoft.com/office/drawing/2014/main" id="{ACF36A15-9420-DB46-81B7-BAC52221B4A9}"/>
              </a:ext>
            </a:extLst>
          </p:cNvPr>
          <p:cNvSpPr txBox="1"/>
          <p:nvPr/>
        </p:nvSpPr>
        <p:spPr>
          <a:xfrm>
            <a:off x="320288" y="2708919"/>
            <a:ext cx="57419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dirty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TMON</a:t>
            </a:r>
            <a:endParaRPr sz="1000" dirty="0">
              <a:solidFill>
                <a:schemeClr val="dk1"/>
              </a:solidFill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6EE6099-4BB6-7443-9EC8-129B42446EDB}"/>
              </a:ext>
            </a:extLst>
          </p:cNvPr>
          <p:cNvCxnSpPr>
            <a:cxnSpLocks/>
          </p:cNvCxnSpPr>
          <p:nvPr/>
        </p:nvCxnSpPr>
        <p:spPr>
          <a:xfrm>
            <a:off x="610482" y="2290554"/>
            <a:ext cx="0" cy="433363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6D46025-8173-204D-B00F-C6C1B1A95568}"/>
              </a:ext>
            </a:extLst>
          </p:cNvPr>
          <p:cNvSpPr txBox="1"/>
          <p:nvPr/>
        </p:nvSpPr>
        <p:spPr>
          <a:xfrm>
            <a:off x="3071435" y="855788"/>
            <a:ext cx="19992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0070C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K0 có dữ liệu, hiển thị bằng dấu (-)</a:t>
            </a:r>
            <a:endParaRPr kumimoji="1" lang="ko-KR" altLang="en-US" sz="1000" dirty="0">
              <a:solidFill>
                <a:srgbClr val="0070C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B0B108D-5926-3C4C-80C1-648AB5A77741}"/>
              </a:ext>
            </a:extLst>
          </p:cNvPr>
          <p:cNvSpPr/>
          <p:nvPr/>
        </p:nvSpPr>
        <p:spPr>
          <a:xfrm>
            <a:off x="1568625" y="1355918"/>
            <a:ext cx="4464496" cy="915309"/>
          </a:xfrm>
          <a:prstGeom prst="rect">
            <a:avLst/>
          </a:prstGeom>
          <a:noFill/>
          <a:ln w="31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34D11E41-5DB4-3940-BEA0-DC4C052EC768}"/>
              </a:ext>
            </a:extLst>
          </p:cNvPr>
          <p:cNvCxnSpPr>
            <a:cxnSpLocks/>
          </p:cNvCxnSpPr>
          <p:nvPr/>
        </p:nvCxnSpPr>
        <p:spPr>
          <a:xfrm flipV="1">
            <a:off x="3584848" y="1124744"/>
            <a:ext cx="0" cy="305156"/>
          </a:xfrm>
          <a:prstGeom prst="straightConnector1">
            <a:avLst/>
          </a:prstGeom>
          <a:ln w="3175">
            <a:solidFill>
              <a:srgbClr val="0070C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C31231B-A3C3-DD45-AA7D-F0F061011250}"/>
              </a:ext>
            </a:extLst>
          </p:cNvPr>
          <p:cNvSpPr/>
          <p:nvPr/>
        </p:nvSpPr>
        <p:spPr>
          <a:xfrm>
            <a:off x="6969223" y="1422640"/>
            <a:ext cx="1440161" cy="808339"/>
          </a:xfrm>
          <a:prstGeom prst="rect">
            <a:avLst/>
          </a:prstGeom>
          <a:noFill/>
          <a:ln w="31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BCCB03-9E26-4845-B187-EB16DB2E930C}"/>
              </a:ext>
            </a:extLst>
          </p:cNvPr>
          <p:cNvSpPr txBox="1"/>
          <p:nvPr/>
        </p:nvSpPr>
        <p:spPr>
          <a:xfrm>
            <a:off x="7110950" y="882886"/>
            <a:ext cx="19992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0070C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K0 có dữ liệu, hiển thị bằng dấu (-)</a:t>
            </a:r>
            <a:endParaRPr kumimoji="1" lang="ko-KR" altLang="en-US" sz="1000" dirty="0">
              <a:solidFill>
                <a:srgbClr val="0070C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D011797-D29C-8841-9726-394EEA9DF56D}"/>
              </a:ext>
            </a:extLst>
          </p:cNvPr>
          <p:cNvCxnSpPr>
            <a:cxnSpLocks/>
          </p:cNvCxnSpPr>
          <p:nvPr/>
        </p:nvCxnSpPr>
        <p:spPr>
          <a:xfrm flipV="1">
            <a:off x="7624363" y="1151842"/>
            <a:ext cx="0" cy="305156"/>
          </a:xfrm>
          <a:prstGeom prst="straightConnector1">
            <a:avLst/>
          </a:prstGeom>
          <a:ln w="3175">
            <a:solidFill>
              <a:srgbClr val="0070C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846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5FDC45-E7AC-014E-86A9-FD5CC62B34F5}"/>
              </a:ext>
            </a:extLst>
          </p:cNvPr>
          <p:cNvSpPr txBox="1"/>
          <p:nvPr/>
        </p:nvSpPr>
        <p:spPr>
          <a:xfrm>
            <a:off x="344488" y="2853253"/>
            <a:ext cx="970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mtClean="0">
                <a:solidFill>
                  <a:srgbClr val="4B4C58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WMP</a:t>
            </a:r>
            <a:endParaRPr lang="en-US" altLang="ko-KR" sz="2400" b="1" dirty="0">
              <a:solidFill>
                <a:srgbClr val="4B4C58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D0E092-EAD1-1449-86F3-6C752A6C7AD9}"/>
              </a:ext>
            </a:extLst>
          </p:cNvPr>
          <p:cNvSpPr txBox="1"/>
          <p:nvPr/>
        </p:nvSpPr>
        <p:spPr>
          <a:xfrm>
            <a:off x="374438" y="2670820"/>
            <a:ext cx="2597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>
                <a:solidFill>
                  <a:srgbClr val="E72F14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Giải pháp bán vé toàn diện - </a:t>
            </a:r>
            <a:r>
              <a:rPr lang="ko-KR" altLang="en-US" sz="1200" smtClean="0">
                <a:solidFill>
                  <a:srgbClr val="E72F14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200" smtClean="0">
                <a:solidFill>
                  <a:srgbClr val="E72F14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T-Bridge</a:t>
            </a:r>
            <a:r>
              <a:rPr lang="ko-KR" altLang="en-US" sz="1200" smtClean="0">
                <a:solidFill>
                  <a:srgbClr val="E72F14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endParaRPr lang="ko-KR" altLang="en-US" sz="1200" dirty="0">
              <a:solidFill>
                <a:srgbClr val="E72F14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600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 txBox="1">
            <a:spLocks noGrp="1"/>
          </p:cNvSpPr>
          <p:nvPr>
            <p:ph type="title"/>
          </p:nvPr>
        </p:nvSpPr>
        <p:spPr>
          <a:xfrm>
            <a:off x="128464" y="28"/>
            <a:ext cx="7957637" cy="521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anum Gothic"/>
              <a:buNone/>
            </a:pPr>
            <a:r>
              <a:rPr lang="ko-KR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[</a:t>
            </a:r>
            <a:r>
              <a:rPr lang="en-US" altLang="ko-KR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WMP</a:t>
            </a:r>
            <a:r>
              <a:rPr lang="ko-KR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] </a:t>
            </a:r>
            <a:r>
              <a:rPr lang="en-US" altLang="ko-KR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Quản lý đơn hàng</a:t>
            </a:r>
            <a:r>
              <a:rPr lang="ko-KR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 </a:t>
            </a:r>
            <a:endParaRPr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416496" y="620688"/>
            <a:ext cx="9289032" cy="421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Char char="❖"/>
            </a:pPr>
            <a:r>
              <a:rPr lang="en-US" altLang="ko-KR" sz="1050" b="1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Vị trí thu thập quản lý đơn hàng :</a:t>
            </a:r>
            <a:r>
              <a:rPr lang="ko-KR" sz="1050" b="1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 </a:t>
            </a:r>
            <a:endParaRPr sz="1050" b="1">
              <a:solidFill>
                <a:schemeClr val="dk1"/>
              </a:solidFill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  <a:p>
            <a:pPr marL="3619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WMP tour partner center</a:t>
            </a:r>
            <a:r>
              <a:rPr 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 </a:t>
            </a:r>
            <a:r>
              <a:rPr lang="ko-KR" sz="105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&gt; </a:t>
            </a: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Quản lý vé trong nước :</a:t>
            </a:r>
            <a:r>
              <a:rPr 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  </a:t>
            </a:r>
            <a:r>
              <a:rPr lang="ko-KR" sz="1050" u="sng">
                <a:solidFill>
                  <a:schemeClr val="dk1"/>
                </a:solidFill>
                <a:latin typeface="Times New Roman" pitchFamily="18" charset="0"/>
                <a:ea typeface="Malgun Gothic"/>
                <a:cs typeface="Times New Roman" pitchFamily="18" charset="0"/>
                <a:sym typeface="Malgun Gothic"/>
                <a:hlinkClick r:id="rId3"/>
              </a:rPr>
              <a:t>https://tour-partner.wd.wemakeprice.com/activity/ticket/manage</a:t>
            </a:r>
            <a:endParaRPr sz="1050">
              <a:solidFill>
                <a:schemeClr val="dk1"/>
              </a:solidFill>
              <a:latin typeface="Times New Roman" pitchFamily="18" charset="0"/>
              <a:ea typeface="Malgun Gothic"/>
              <a:cs typeface="Times New Roman" pitchFamily="18" charset="0"/>
              <a:sym typeface="Malgun Gothic"/>
            </a:endParaRPr>
          </a:p>
          <a:p>
            <a:pPr marL="361950" lvl="0" indent="-171450">
              <a:lnSpc>
                <a:spcPct val="150000"/>
              </a:lnSpc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WMP tour partner center</a:t>
            </a:r>
            <a:r>
              <a:rPr lang="ko-KR" altLang="en-US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 </a:t>
            </a:r>
            <a:r>
              <a:rPr 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 </a:t>
            </a:r>
            <a:r>
              <a:rPr lang="ko-KR" sz="105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&gt; </a:t>
            </a: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Quản lý vé nước ngoài :</a:t>
            </a:r>
            <a:r>
              <a:rPr 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 </a:t>
            </a:r>
            <a:r>
              <a:rPr lang="ko-KR" sz="1050" u="sng">
                <a:solidFill>
                  <a:schemeClr val="dk1"/>
                </a:solidFill>
                <a:latin typeface="Times New Roman" pitchFamily="18" charset="0"/>
                <a:ea typeface="Malgun Gothic"/>
                <a:cs typeface="Times New Roman" pitchFamily="18" charset="0"/>
                <a:sym typeface="Malgun Gothic"/>
                <a:hlinkClick r:id="rId4"/>
              </a:rPr>
              <a:t>https://tour-partner.wd.wemakeprice.com/activity/oversea/ticket/manage</a:t>
            </a:r>
            <a:endParaRPr sz="1050">
              <a:solidFill>
                <a:schemeClr val="dk1"/>
              </a:solidFill>
              <a:latin typeface="Times New Roman" pitchFamily="18" charset="0"/>
              <a:ea typeface="Malgun Gothic"/>
              <a:cs typeface="Times New Roman" pitchFamily="18" charset="0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Char char="❖"/>
            </a:pPr>
            <a:r>
              <a:rPr lang="en-US" altLang="ko-KR" sz="1050" b="1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Phạm vi dữ liệu thu thập : Danh sách mua thỏa điều kiện tìm kiếm sau :</a:t>
            </a:r>
            <a:endParaRPr sz="1050" b="1">
              <a:solidFill>
                <a:schemeClr val="dk1"/>
              </a:solidFill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  <a:p>
            <a:pPr marL="35560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Type</a:t>
            </a:r>
            <a:r>
              <a:rPr 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 </a:t>
            </a:r>
            <a:r>
              <a:rPr lang="ko-KR" sz="105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: </a:t>
            </a: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Toàn bộ</a:t>
            </a:r>
            <a:endParaRPr sz="1050">
              <a:solidFill>
                <a:schemeClr val="dk1"/>
              </a:solidFill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  <a:p>
            <a:pPr marL="35560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Trạng thái vé</a:t>
            </a:r>
            <a:r>
              <a:rPr 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 </a:t>
            </a:r>
            <a:r>
              <a:rPr lang="ko-KR" sz="105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: </a:t>
            </a: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Toàn bộ</a:t>
            </a:r>
            <a:endParaRPr sz="1050">
              <a:solidFill>
                <a:schemeClr val="dk1"/>
              </a:solidFill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  <a:p>
            <a:pPr marL="35560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Trạng thái thanh toán</a:t>
            </a:r>
            <a:r>
              <a:rPr 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 </a:t>
            </a:r>
            <a:r>
              <a:rPr lang="ko-KR" sz="105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: </a:t>
            </a: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Toàn bộ</a:t>
            </a:r>
            <a:endParaRPr sz="1050">
              <a:solidFill>
                <a:schemeClr val="dk1"/>
              </a:solidFill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  <a:p>
            <a:pPr marL="35560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Thời gian</a:t>
            </a:r>
            <a:r>
              <a:rPr 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 </a:t>
            </a:r>
            <a:r>
              <a:rPr lang="ko-KR" sz="105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: </a:t>
            </a: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1 năm gần nhất</a:t>
            </a:r>
            <a:r>
              <a:rPr 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 (</a:t>
            </a: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dữ liệu 364 ngày trước bao gồm hôm nay</a:t>
            </a:r>
            <a:r>
              <a:rPr 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)</a:t>
            </a:r>
            <a:endParaRPr>
              <a:latin typeface="Times New Roman" pitchFamily="18" charset="0"/>
              <a:cs typeface="Times New Roman" pitchFamily="18" charset="0"/>
            </a:endParaRPr>
          </a:p>
          <a:p>
            <a:pPr marL="35560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Hạng mục dữ liệu thu thập</a:t>
            </a:r>
            <a:r>
              <a:rPr 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 </a:t>
            </a:r>
            <a:r>
              <a:rPr lang="ko-KR" sz="105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: </a:t>
            </a: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Dữ liệu toàn bộ danh sách.</a:t>
            </a:r>
            <a:endParaRPr sz="1050">
              <a:solidFill>
                <a:schemeClr val="dk1"/>
              </a:solidFill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  <a:p>
            <a:pPr marL="171450" marR="0" lvl="0" indent="-1047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endParaRPr sz="1050">
              <a:solidFill>
                <a:schemeClr val="dk1"/>
              </a:solidFill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Char char="❖"/>
            </a:pPr>
            <a:r>
              <a:rPr lang="en-US" altLang="ko-KR" sz="1050" b="1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Chính sách thu thập dữ liệu đơn hàng :</a:t>
            </a:r>
            <a:endParaRPr sz="1050" b="1">
              <a:solidFill>
                <a:schemeClr val="dk1"/>
              </a:solidFill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  <a:p>
            <a:pPr marL="357188" lvl="0" indent="-160338">
              <a:lnSpc>
                <a:spcPct val="150000"/>
              </a:lnSpc>
              <a:buClr>
                <a:schemeClr val="dk1"/>
              </a:buClr>
              <a:buSzPts val="1050"/>
              <a:buFont typeface="Arial"/>
              <a:buChar char="•"/>
            </a:pPr>
            <a:r>
              <a:rPr lang="vi-VN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Lưu dữ liệu thu thập vào database T-Bridge theo mã vé.</a:t>
            </a:r>
          </a:p>
          <a:p>
            <a:pPr marL="357188" lvl="0" indent="-160338">
              <a:lnSpc>
                <a:spcPct val="150000"/>
              </a:lnSpc>
              <a:buClr>
                <a:schemeClr val="dk1"/>
              </a:buClr>
              <a:buSzPts val="1050"/>
              <a:buFont typeface="Arial"/>
              <a:buChar char="•"/>
            </a:pPr>
            <a:r>
              <a:rPr lang="vi-VN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Hiển thị trong danh sách quản lý đơn theo thứ tự thời gian thanh toán mới nhất, k0 phân biệt trong nước/nước ngoài.</a:t>
            </a:r>
          </a:p>
          <a:p>
            <a:pPr marL="357188" lvl="0" indent="-160338">
              <a:lnSpc>
                <a:spcPct val="150000"/>
              </a:lnSpc>
              <a:buClr>
                <a:schemeClr val="dk1"/>
              </a:buClr>
              <a:buSzPts val="1050"/>
              <a:buFont typeface="Arial"/>
              <a:buChar char="•"/>
            </a:pPr>
            <a:r>
              <a:rPr lang="vi-VN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Sau khi thu thập dữ liệu thỏa điều kiện trên theo chu kỳ, có mã đặt vé mới thì thêm vào.</a:t>
            </a:r>
          </a:p>
          <a:p>
            <a:pPr marL="357188" lvl="0" indent="-160338">
              <a:lnSpc>
                <a:spcPct val="150000"/>
              </a:lnSpc>
              <a:buClr>
                <a:schemeClr val="dk1"/>
              </a:buClr>
              <a:buSzPts val="1050"/>
              <a:buFont typeface="Arial"/>
              <a:buChar char="•"/>
            </a:pPr>
            <a:r>
              <a:rPr lang="vi-VN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Mã đặt vé đã tồn tại trên database rồi thì so sánh thời gian thanh toán/thời gian xử lý sử dụng/trạng thái vé/trạng thái thanh toán (tham khảo các trường hợp bên dưới).</a:t>
            </a:r>
            <a:endParaRPr lang="vi-VN" altLang="ko-KR" sz="1050">
              <a:solidFill>
                <a:schemeClr val="dk1"/>
              </a:solidFill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</p:txBody>
      </p:sp>
      <p:graphicFrame>
        <p:nvGraphicFramePr>
          <p:cNvPr id="223" name="Google Shape;223;p14"/>
          <p:cNvGraphicFramePr/>
          <p:nvPr/>
        </p:nvGraphicFramePr>
        <p:xfrm>
          <a:off x="416496" y="4784575"/>
          <a:ext cx="9034975" cy="155829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8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20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1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smtClean="0">
                          <a:latin typeface="Times New Roman" pitchFamily="18" charset="0"/>
                          <a:cs typeface="Times New Roman" pitchFamily="18" charset="0"/>
                        </a:rPr>
                        <a:t>Trường</a:t>
                      </a:r>
                      <a:r>
                        <a:rPr lang="en-US" sz="900" baseline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aseline="0" smtClean="0">
                          <a:latin typeface="Times New Roman" pitchFamily="18" charset="0"/>
                          <a:cs typeface="Times New Roman" pitchFamily="18" charset="0"/>
                        </a:rPr>
                        <a:t>hợp</a:t>
                      </a:r>
                      <a:endParaRPr sz="9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Thời</a:t>
                      </a:r>
                      <a:r>
                        <a:rPr lang="en-US" altLang="ko-KR" sz="900" u="none" strike="noStrike" cap="none" baseline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gian thanh toán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Thời gian xử lý sử dụng</a:t>
                      </a:r>
                      <a:r>
                        <a:rPr 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</a:t>
                      </a:r>
                      <a:r>
                        <a:rPr lang="ko-KR" sz="900" u="none" strike="noStrike" cap="none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= </a:t>
                      </a:r>
                      <a:r>
                        <a:rPr lang="en-US" alt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Thời gian sử dụng</a:t>
                      </a:r>
                      <a:r>
                        <a:rPr 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?(</a:t>
                      </a:r>
                      <a:r>
                        <a:rPr lang="en-US" alt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cần</a:t>
                      </a:r>
                      <a:r>
                        <a:rPr lang="en-US" altLang="ko-KR" sz="900" u="none" strike="noStrike" cap="none" baseline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kiểm tra</a:t>
                      </a:r>
                      <a:r>
                        <a:rPr 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)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Trạng thái vé </a:t>
                      </a:r>
                      <a:r>
                        <a:rPr 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=</a:t>
                      </a:r>
                      <a:r>
                        <a:rPr lang="en-US" alt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Trạng</a:t>
                      </a:r>
                      <a:r>
                        <a:rPr lang="en-US" altLang="ko-KR" sz="900" u="none" strike="noStrike" cap="none" baseline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thái</a:t>
                      </a:r>
                      <a:endParaRPr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Trạng thái thanh toán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Nội dung xử lý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1</a:t>
                      </a:r>
                      <a:endParaRPr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Giống nhau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anum Gothic"/>
                        <a:buNone/>
                      </a:pPr>
                      <a:r>
                        <a:rPr lang="en-US" alt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Giống nhau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anum Gothic"/>
                        <a:buNone/>
                      </a:pPr>
                      <a:r>
                        <a:rPr lang="en-US" alt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Giống nhau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anum Gothic"/>
                        <a:buNone/>
                      </a:pPr>
                      <a:r>
                        <a:rPr lang="en-US" alt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Giống nhau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Không</a:t>
                      </a:r>
                      <a:r>
                        <a:rPr lang="en-US" altLang="ko-KR" sz="900" u="none" strike="noStrike" cap="none" baseline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thay đổi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anum Gothic"/>
                        <a:buNone/>
                      </a:pPr>
                      <a:r>
                        <a:rPr lang="ko-KR" sz="900" u="none" strike="noStrike" cap="none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3</a:t>
                      </a:r>
                      <a:endParaRPr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Nanum Gothic"/>
                        <a:buNone/>
                      </a:pPr>
                      <a:r>
                        <a:rPr lang="en-US" altLang="ko-KR" sz="900" b="0" i="0" u="none" strike="noStrike" cap="none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Giống nhau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Thời gian xử lý sử dụng mới</a:t>
                      </a:r>
                      <a:r>
                        <a:rPr lang="en-US" altLang="ko-KR" sz="900" u="none" strike="noStrike" cap="none" baseline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hơn TBridge</a:t>
                      </a:r>
                      <a:endParaRPr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anum Gothic"/>
                        <a:buNone/>
                      </a:pPr>
                      <a:r>
                        <a:rPr lang="en-US" alt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Khác dữ liệu</a:t>
                      </a:r>
                      <a:endParaRPr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anum Gothic"/>
                        <a:buNone/>
                      </a:pPr>
                      <a:r>
                        <a:rPr lang="en-US" alt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Khác dữ liệu</a:t>
                      </a:r>
                      <a:endParaRPr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u="none" strike="noStrike" cap="none" smtClean="0"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Update dữ</a:t>
                      </a:r>
                      <a:r>
                        <a:rPr lang="en-US" altLang="ko-KR" sz="900" u="none" strike="noStrike" cap="none" baseline="0" smtClean="0"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liệu TBridge bằng dữ liệu WMP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anum Gothic"/>
                        <a:buNone/>
                      </a:pPr>
                      <a:r>
                        <a:rPr lang="ko-KR" sz="900" u="none" strike="noStrike" cap="none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4</a:t>
                      </a:r>
                      <a:endParaRPr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Nanum Gothic"/>
                        <a:buNone/>
                      </a:pPr>
                      <a:r>
                        <a:rPr lang="en-US" altLang="ko-KR" sz="900" b="0" i="0" u="none" strike="noStrike" cap="none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Giống nhau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anum Gothic"/>
                        <a:buNone/>
                      </a:pPr>
                      <a:r>
                        <a:rPr lang="en-US" alt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Thời gian xử lý sử dụng cũ</a:t>
                      </a:r>
                      <a:r>
                        <a:rPr lang="en-US" altLang="ko-KR" sz="900" u="none" strike="noStrike" cap="none" baseline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hơn TBridge</a:t>
                      </a:r>
                      <a:endParaRPr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anum Gothic"/>
                        <a:buNone/>
                      </a:pPr>
                      <a:r>
                        <a:rPr lang="en-US" alt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Khác dữ liệu</a:t>
                      </a:r>
                      <a:endParaRPr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anum Gothic"/>
                        <a:buNone/>
                      </a:pPr>
                      <a:r>
                        <a:rPr lang="en-US" alt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Khác dữ liệu</a:t>
                      </a:r>
                      <a:endParaRPr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u="none" strike="noStrike" cap="none" smtClean="0"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Update lên</a:t>
                      </a:r>
                      <a:r>
                        <a:rPr lang="en-US" altLang="ko-KR" sz="900" u="none" strike="noStrike" cap="none" baseline="0" smtClean="0"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WMP bằng dữ liệu TBridge</a:t>
                      </a:r>
                      <a:r>
                        <a:rPr lang="ko-KR" sz="900" u="none" strike="noStrike" cap="none" smtClean="0"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anum Gothic"/>
                        <a:buNone/>
                      </a:pPr>
                      <a:r>
                        <a:rPr lang="ko-KR" sz="900" u="none" strike="noStrike" cap="none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5</a:t>
                      </a:r>
                      <a:endParaRPr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Giống nhau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anum Gothic"/>
                        <a:buNone/>
                      </a:pPr>
                      <a:r>
                        <a:rPr lang="en-US" alt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Giống nhau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anum Gothic"/>
                        <a:buNone/>
                      </a:pPr>
                      <a:r>
                        <a:rPr lang="en-US" alt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Khác dữ liệu</a:t>
                      </a:r>
                      <a:endParaRPr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anum Gothic"/>
                        <a:buNone/>
                      </a:pPr>
                      <a:r>
                        <a:rPr lang="en-US" altLang="ko-KR" sz="9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Khác dữ liệu</a:t>
                      </a:r>
                      <a:endParaRPr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u="none" strike="noStrike" cap="none" smtClean="0"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Update lên</a:t>
                      </a:r>
                      <a:r>
                        <a:rPr lang="en-US" altLang="ko-KR" sz="900" u="none" strike="noStrike" cap="none" baseline="0" smtClean="0"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WMP bằng dữ liệu TBridge</a:t>
                      </a:r>
                      <a:r>
                        <a:rPr lang="en-US" altLang="ko-KR" sz="900" u="none" strike="noStrike" cap="none" smtClean="0"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</a:t>
                      </a:r>
                      <a:endParaRPr lang="en-US" sz="9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5"/>
          <p:cNvPicPr preferRelativeResize="0"/>
          <p:nvPr/>
        </p:nvPicPr>
        <p:blipFill rotWithShape="1">
          <a:blip r:embed="rId3" cstate="print">
            <a:alphaModFix/>
          </a:blip>
          <a:srcRect/>
          <a:stretch/>
        </p:blipFill>
        <p:spPr>
          <a:xfrm>
            <a:off x="272480" y="836712"/>
            <a:ext cx="9289032" cy="5760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128464" y="28"/>
            <a:ext cx="9721080" cy="521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anum Gothic"/>
              <a:buNone/>
            </a:pPr>
            <a:r>
              <a:rPr lang="ko-KR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[</a:t>
            </a:r>
            <a:r>
              <a:rPr lang="en-US" altLang="ko-KR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WMP</a:t>
            </a:r>
            <a:r>
              <a:rPr lang="ko-KR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] </a:t>
            </a:r>
            <a:r>
              <a:rPr lang="en-US" altLang="ko-KR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Quản lý đơn hàng</a:t>
            </a:r>
            <a:r>
              <a:rPr lang="ko-KR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-</a:t>
            </a:r>
            <a:r>
              <a:rPr lang="en-US" altLang="ko-KR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Trong nước</a:t>
            </a:r>
            <a:r>
              <a:rPr lang="ko-KR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 </a:t>
            </a:r>
            <a:r>
              <a:rPr lang="ko-KR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(</a:t>
            </a:r>
            <a:r>
              <a:rPr lang="ko-KR" u="sng">
                <a:solidFill>
                  <a:schemeClr val="dk1"/>
                </a:solidFill>
                <a:latin typeface="Times New Roman" pitchFamily="18" charset="0"/>
                <a:ea typeface="Malgun Gothic"/>
                <a:cs typeface="Times New Roman" pitchFamily="18" charset="0"/>
                <a:sym typeface="Malgun Gothic"/>
                <a:hlinkClick r:id="rId4"/>
              </a:rPr>
              <a:t>https://tour-partner.wd.wemakeprice.com/activity/ticket/manage</a:t>
            </a:r>
            <a:r>
              <a:rPr lang="ko-KR">
                <a:solidFill>
                  <a:schemeClr val="dk1"/>
                </a:solidFill>
                <a:latin typeface="Times New Roman" pitchFamily="18" charset="0"/>
                <a:ea typeface="Malgun Gothic"/>
                <a:cs typeface="Times New Roman" pitchFamily="18" charset="0"/>
                <a:sym typeface="Malgun Gothic"/>
              </a:rPr>
              <a:t>)</a:t>
            </a:r>
            <a:endParaRPr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364378" y="2291153"/>
            <a:ext cx="860684" cy="28803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Times New Roman" pitchFamily="18" charset="0"/>
              <a:ea typeface="Malgun Gothic"/>
              <a:cs typeface="Times New Roman" pitchFamily="18" charset="0"/>
              <a:sym typeface="Malgun Gothic"/>
            </a:endParaRPr>
          </a:p>
        </p:txBody>
      </p:sp>
      <p:sp>
        <p:nvSpPr>
          <p:cNvPr id="232" name="Google Shape;232;p15"/>
          <p:cNvSpPr/>
          <p:nvPr/>
        </p:nvSpPr>
        <p:spPr>
          <a:xfrm rot="-2655398">
            <a:off x="971557" y="2091876"/>
            <a:ext cx="318173" cy="216024"/>
          </a:xfrm>
          <a:prstGeom prst="corner">
            <a:avLst>
              <a:gd name="adj1" fmla="val 28906"/>
              <a:gd name="adj2" fmla="val 3191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Times New Roman" pitchFamily="18" charset="0"/>
              <a:ea typeface="Malgun Gothic"/>
              <a:cs typeface="Times New Roman" pitchFamily="18" charset="0"/>
              <a:sym typeface="Malgun Gothic"/>
            </a:endParaRPr>
          </a:p>
        </p:txBody>
      </p:sp>
      <p:sp>
        <p:nvSpPr>
          <p:cNvPr id="233" name="Google Shape;233;p15"/>
          <p:cNvSpPr txBox="1"/>
          <p:nvPr/>
        </p:nvSpPr>
        <p:spPr>
          <a:xfrm>
            <a:off x="941323" y="1887200"/>
            <a:ext cx="502914" cy="246221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smtClean="0">
                <a:solidFill>
                  <a:schemeClr val="dk1"/>
                </a:solidFill>
                <a:latin typeface="Times New Roman" pitchFamily="18" charset="0"/>
                <a:ea typeface="Malgun Gothic"/>
                <a:cs typeface="Times New Roman" pitchFamily="18" charset="0"/>
                <a:sym typeface="Malgun Gothic"/>
              </a:rPr>
              <a:t>Chọn</a:t>
            </a:r>
            <a:endParaRPr sz="1000">
              <a:solidFill>
                <a:schemeClr val="dk1"/>
              </a:solidFill>
              <a:latin typeface="Times New Roman" pitchFamily="18" charset="0"/>
              <a:ea typeface="Malgun Gothic"/>
              <a:cs typeface="Times New Roman" pitchFamily="18" charset="0"/>
              <a:sym typeface="Malgun Gothic"/>
            </a:endParaRPr>
          </a:p>
        </p:txBody>
      </p:sp>
      <p:sp>
        <p:nvSpPr>
          <p:cNvPr id="234" name="Google Shape;234;p15"/>
          <p:cNvSpPr/>
          <p:nvPr/>
        </p:nvSpPr>
        <p:spPr>
          <a:xfrm rot="5400000">
            <a:off x="5258887" y="746848"/>
            <a:ext cx="324327" cy="7416824"/>
          </a:xfrm>
          <a:prstGeom prst="leftBrace">
            <a:avLst>
              <a:gd name="adj1" fmla="val 21971"/>
              <a:gd name="adj2" fmla="val 50255"/>
            </a:avLst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itchFamily="18" charset="0"/>
              <a:ea typeface="Malgun Gothic"/>
              <a:cs typeface="Times New Roman" pitchFamily="18" charset="0"/>
              <a:sym typeface="Malgun Gothic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4831567" y="4000966"/>
            <a:ext cx="1138886" cy="246181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smtClean="0">
                <a:solidFill>
                  <a:schemeClr val="dk1"/>
                </a:solidFill>
                <a:latin typeface="Times New Roman" pitchFamily="18" charset="0"/>
                <a:ea typeface="Malgun Gothic"/>
                <a:cs typeface="Times New Roman" pitchFamily="18" charset="0"/>
                <a:sym typeface="Malgun Gothic"/>
              </a:rPr>
              <a:t>Vùng thu thập</a:t>
            </a:r>
            <a:endParaRPr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16"/>
          <p:cNvPicPr preferRelativeResize="0"/>
          <p:nvPr/>
        </p:nvPicPr>
        <p:blipFill rotWithShape="1">
          <a:blip r:embed="rId3" cstate="print">
            <a:alphaModFix/>
          </a:blip>
          <a:srcRect/>
          <a:stretch/>
        </p:blipFill>
        <p:spPr>
          <a:xfrm>
            <a:off x="272480" y="836712"/>
            <a:ext cx="9289032" cy="576063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6"/>
          <p:cNvSpPr txBox="1">
            <a:spLocks noGrp="1"/>
          </p:cNvSpPr>
          <p:nvPr>
            <p:ph type="title"/>
          </p:nvPr>
        </p:nvSpPr>
        <p:spPr>
          <a:xfrm>
            <a:off x="56456" y="28"/>
            <a:ext cx="9793088" cy="521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anum Gothic"/>
              <a:buNone/>
            </a:pPr>
            <a:r>
              <a:rPr lang="ko-KR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[</a:t>
            </a:r>
            <a:r>
              <a:rPr lang="en-US" altLang="ko-KR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WMP</a:t>
            </a:r>
            <a:r>
              <a:rPr lang="ko-KR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] </a:t>
            </a:r>
            <a:r>
              <a:rPr lang="en-US" altLang="ko-KR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Quản lý đơn hàng</a:t>
            </a:r>
            <a:r>
              <a:rPr lang="ko-KR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-</a:t>
            </a:r>
            <a:r>
              <a:rPr lang="en-US" altLang="ko-KR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Nước ngoài </a:t>
            </a:r>
            <a:r>
              <a:rPr lang="ko-KR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(</a:t>
            </a:r>
            <a:r>
              <a:rPr lang="ko-KR" u="sng" smtClean="0">
                <a:solidFill>
                  <a:schemeClr val="dk1"/>
                </a:solidFill>
                <a:latin typeface="Times New Roman" pitchFamily="18" charset="0"/>
                <a:ea typeface="Malgun Gothic"/>
                <a:cs typeface="Times New Roman" pitchFamily="18" charset="0"/>
                <a:sym typeface="Malgun Gothic"/>
                <a:hlinkClick r:id="rId4"/>
              </a:rPr>
              <a:t>https</a:t>
            </a:r>
            <a:r>
              <a:rPr lang="ko-KR" u="sng">
                <a:solidFill>
                  <a:schemeClr val="dk1"/>
                </a:solidFill>
                <a:latin typeface="Times New Roman" pitchFamily="18" charset="0"/>
                <a:ea typeface="Malgun Gothic"/>
                <a:cs typeface="Times New Roman" pitchFamily="18" charset="0"/>
                <a:sym typeface="Malgun Gothic"/>
                <a:hlinkClick r:id="rId4"/>
              </a:rPr>
              <a:t>://tourpartner.wd.wemakeprice.com/activity/oversea/ticket/manage</a:t>
            </a:r>
            <a:r>
              <a:rPr lang="ko-KR">
                <a:solidFill>
                  <a:schemeClr val="dk1"/>
                </a:solidFill>
                <a:latin typeface="Times New Roman" pitchFamily="18" charset="0"/>
                <a:ea typeface="Malgun Gothic"/>
                <a:cs typeface="Times New Roman" pitchFamily="18" charset="0"/>
                <a:sym typeface="Malgun Gothic"/>
              </a:rPr>
              <a:t>)</a:t>
            </a:r>
            <a:endParaRPr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352655" y="3012123"/>
            <a:ext cx="860684" cy="28803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Times New Roman" pitchFamily="18" charset="0"/>
              <a:ea typeface="Malgun Gothic"/>
              <a:cs typeface="Times New Roman" pitchFamily="18" charset="0"/>
              <a:sym typeface="Malgun Gothic"/>
            </a:endParaRPr>
          </a:p>
        </p:txBody>
      </p:sp>
      <p:sp>
        <p:nvSpPr>
          <p:cNvPr id="244" name="Google Shape;244;p16"/>
          <p:cNvSpPr/>
          <p:nvPr/>
        </p:nvSpPr>
        <p:spPr>
          <a:xfrm rot="-2655398">
            <a:off x="959834" y="2812846"/>
            <a:ext cx="318173" cy="216024"/>
          </a:xfrm>
          <a:prstGeom prst="corner">
            <a:avLst>
              <a:gd name="adj1" fmla="val 28906"/>
              <a:gd name="adj2" fmla="val 3191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Times New Roman" pitchFamily="18" charset="0"/>
              <a:ea typeface="Malgun Gothic"/>
              <a:cs typeface="Times New Roman" pitchFamily="18" charset="0"/>
              <a:sym typeface="Malgun Gothic"/>
            </a:endParaRPr>
          </a:p>
        </p:txBody>
      </p:sp>
      <p:sp>
        <p:nvSpPr>
          <p:cNvPr id="245" name="Google Shape;245;p16"/>
          <p:cNvSpPr txBox="1"/>
          <p:nvPr/>
        </p:nvSpPr>
        <p:spPr>
          <a:xfrm>
            <a:off x="929600" y="2608170"/>
            <a:ext cx="502914" cy="246221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smtClean="0">
                <a:solidFill>
                  <a:schemeClr val="dk1"/>
                </a:solidFill>
                <a:latin typeface="Times New Roman" pitchFamily="18" charset="0"/>
                <a:ea typeface="Malgun Gothic"/>
                <a:cs typeface="Times New Roman" pitchFamily="18" charset="0"/>
                <a:sym typeface="Malgun Gothic"/>
              </a:rPr>
              <a:t>Chọn</a:t>
            </a:r>
            <a:endParaRPr sz="1000">
              <a:solidFill>
                <a:schemeClr val="dk1"/>
              </a:solidFill>
              <a:latin typeface="Times New Roman" pitchFamily="18" charset="0"/>
              <a:ea typeface="Malgun Gothic"/>
              <a:cs typeface="Times New Roman" pitchFamily="18" charset="0"/>
              <a:sym typeface="Malgun Gothic"/>
            </a:endParaRPr>
          </a:p>
        </p:txBody>
      </p:sp>
      <p:sp>
        <p:nvSpPr>
          <p:cNvPr id="246" name="Google Shape;246;p16"/>
          <p:cNvSpPr/>
          <p:nvPr/>
        </p:nvSpPr>
        <p:spPr>
          <a:xfrm rot="-5400000">
            <a:off x="5258888" y="2150712"/>
            <a:ext cx="324327" cy="7416824"/>
          </a:xfrm>
          <a:prstGeom prst="leftBrace">
            <a:avLst>
              <a:gd name="adj1" fmla="val 21971"/>
              <a:gd name="adj2" fmla="val 50255"/>
            </a:avLst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itchFamily="18" charset="0"/>
              <a:ea typeface="Malgun Gothic"/>
              <a:cs typeface="Times New Roman" pitchFamily="18" charset="0"/>
              <a:sym typeface="Malgun Gothic"/>
            </a:endParaRPr>
          </a:p>
        </p:txBody>
      </p:sp>
      <p:sp>
        <p:nvSpPr>
          <p:cNvPr id="247" name="Google Shape;247;p16"/>
          <p:cNvSpPr txBox="1"/>
          <p:nvPr/>
        </p:nvSpPr>
        <p:spPr>
          <a:xfrm>
            <a:off x="5025008" y="6086066"/>
            <a:ext cx="909625" cy="400069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smtClean="0">
                <a:solidFill>
                  <a:schemeClr val="dk1"/>
                </a:solidFill>
                <a:latin typeface="Times New Roman" pitchFamily="18" charset="0"/>
                <a:ea typeface="Malgun Gothic"/>
                <a:cs typeface="Times New Roman" pitchFamily="18" charset="0"/>
                <a:sym typeface="Malgun Gothic"/>
              </a:rPr>
              <a:t>Vùng thu thập</a:t>
            </a:r>
            <a:endParaRPr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"/>
          <p:cNvSpPr txBox="1">
            <a:spLocks noGrp="1"/>
          </p:cNvSpPr>
          <p:nvPr>
            <p:ph type="title"/>
          </p:nvPr>
        </p:nvSpPr>
        <p:spPr>
          <a:xfrm>
            <a:off x="128464" y="28"/>
            <a:ext cx="7957637" cy="521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anum Gothic"/>
              <a:buNone/>
            </a:pPr>
            <a:r>
              <a:rPr lang="ko-KR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[</a:t>
            </a:r>
            <a:r>
              <a:rPr lang="en-US" altLang="ko-KR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WMP</a:t>
            </a:r>
            <a:r>
              <a:rPr lang="ko-KR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] </a:t>
            </a:r>
            <a:r>
              <a:rPr lang="en-US" altLang="ko-KR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Phương án hiển thị dữ liệu thu thập trên danh sách quản lý đơn hàng</a:t>
            </a:r>
            <a:endParaRPr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</p:txBody>
      </p:sp>
      <p:pic>
        <p:nvPicPr>
          <p:cNvPr id="254" name="Google Shape;254;p17"/>
          <p:cNvPicPr preferRelativeResize="0"/>
          <p:nvPr/>
        </p:nvPicPr>
        <p:blipFill rotWithShape="1">
          <a:blip r:embed="rId3" cstate="print">
            <a:alphaModFix/>
          </a:blip>
          <a:srcRect/>
          <a:stretch/>
        </p:blipFill>
        <p:spPr>
          <a:xfrm>
            <a:off x="272480" y="2060848"/>
            <a:ext cx="9073008" cy="11926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" name="Google Shape;255;p17"/>
          <p:cNvCxnSpPr/>
          <p:nvPr/>
        </p:nvCxnSpPr>
        <p:spPr>
          <a:xfrm>
            <a:off x="632520" y="3181502"/>
            <a:ext cx="0" cy="823562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256" name="Google Shape;256;p17"/>
          <p:cNvCxnSpPr/>
          <p:nvPr/>
        </p:nvCxnSpPr>
        <p:spPr>
          <a:xfrm>
            <a:off x="1280592" y="3181502"/>
            <a:ext cx="0" cy="319506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257" name="Google Shape;257;p17"/>
          <p:cNvCxnSpPr/>
          <p:nvPr/>
        </p:nvCxnSpPr>
        <p:spPr>
          <a:xfrm>
            <a:off x="1856656" y="3181502"/>
            <a:ext cx="0" cy="319506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258" name="Google Shape;258;p17"/>
          <p:cNvCxnSpPr/>
          <p:nvPr/>
        </p:nvCxnSpPr>
        <p:spPr>
          <a:xfrm>
            <a:off x="2576736" y="3181502"/>
            <a:ext cx="0" cy="319506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oval" w="med" len="med"/>
            <a:tailEnd type="triangle" w="med" len="med"/>
          </a:ln>
        </p:spPr>
      </p:cxnSp>
      <p:graphicFrame>
        <p:nvGraphicFramePr>
          <p:cNvPr id="259" name="Google Shape;259;p17"/>
          <p:cNvGraphicFramePr/>
          <p:nvPr/>
        </p:nvGraphicFramePr>
        <p:xfrm>
          <a:off x="272480" y="4005064"/>
          <a:ext cx="4104425" cy="18880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0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8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Trạng</a:t>
                      </a:r>
                      <a:r>
                        <a:rPr lang="en-US" sz="1000" u="none" strike="noStrike" cap="none" baseline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thái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baseline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WMP</a:t>
                      </a:r>
                      <a:endParaRPr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Trạng</a:t>
                      </a:r>
                      <a:r>
                        <a:rPr lang="en-US" altLang="ko-KR" sz="1000" u="none" strike="noStrike" cap="none" baseline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thái thanh toán WMP</a:t>
                      </a:r>
                      <a:endParaRPr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Trạng</a:t>
                      </a:r>
                      <a:r>
                        <a:rPr lang="en-US" altLang="ko-KR" sz="1000" u="none" strike="noStrike" cap="none" baseline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thái vé T-Bridge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Chưa</a:t>
                      </a:r>
                      <a:r>
                        <a:rPr lang="en-US" altLang="ko-KR" sz="1000" u="none" strike="noStrike" cap="none" baseline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sử dụng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Thanh toán</a:t>
                      </a:r>
                      <a:r>
                        <a:rPr lang="en-US" altLang="ko-KR" sz="1000" u="none" strike="noStrike" cap="none" baseline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xong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Mua xong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Sử</a:t>
                      </a:r>
                      <a:r>
                        <a:rPr lang="en-US" sz="1000" u="none" strike="noStrike" cap="none" baseline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dụng xong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Thanh toán</a:t>
                      </a:r>
                      <a:r>
                        <a:rPr lang="en-US" altLang="ko-KR" sz="1000" u="none" strike="noStrike" cap="none" baseline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xong</a:t>
                      </a:r>
                      <a:endParaRPr lang="en-US" sz="1000" u="none" strike="noStrike" cap="none" smtClean="0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Sử</a:t>
                      </a:r>
                      <a:r>
                        <a:rPr lang="en-US" altLang="ko-KR" sz="1000" u="none" strike="noStrike" cap="none" baseline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dụng xong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anum Gothic"/>
                        <a:buNone/>
                      </a:pPr>
                      <a:r>
                        <a:rPr lang="ko-KR" sz="1000" u="none" strike="noStrike" cap="none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-</a:t>
                      </a:r>
                      <a:endParaRPr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anum Gothic"/>
                        <a:buNone/>
                      </a:pPr>
                      <a:r>
                        <a:rPr lang="en-US" altLang="ko-KR" sz="10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Yêu</a:t>
                      </a:r>
                      <a:r>
                        <a:rPr lang="en-US" altLang="ko-KR" sz="1000" u="none" strike="noStrike" cap="none" baseline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cầu hủy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Đang</a:t>
                      </a:r>
                      <a:r>
                        <a:rPr lang="en-US" altLang="ko-KR" sz="1000" u="none" strike="noStrike" cap="none" baseline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yêu cầu hoàn tiền </a:t>
                      </a:r>
                      <a:r>
                        <a:rPr lang="en-US" altLang="ko-KR" sz="1000" u="none" strike="noStrike" cap="none" baseline="0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Wingdings" pitchFamily="2" charset="2"/>
                        </a:rPr>
                        <a:t></a:t>
                      </a:r>
                      <a:r>
                        <a:rPr lang="ko-KR" sz="1000" u="none" strike="noStrike" cap="none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</a:t>
                      </a:r>
                      <a:r>
                        <a:rPr lang="en-US" altLang="ko-KR" sz="1000" u="none" strike="noStrike" cap="none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Tạo</a:t>
                      </a:r>
                      <a:r>
                        <a:rPr lang="en-US" altLang="ko-KR" sz="1000" u="none" strike="noStrike" cap="none" baseline="0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mới</a:t>
                      </a:r>
                      <a:endParaRPr sz="1000" u="none" strike="noStrike" cap="none">
                        <a:solidFill>
                          <a:srgbClr val="FF0000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anum Gothic"/>
                        <a:buNone/>
                      </a:pPr>
                      <a:r>
                        <a:rPr lang="ko-KR" sz="1000" u="none" strike="noStrike" cap="none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-</a:t>
                      </a:r>
                      <a:endParaRPr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anum Gothic"/>
                        <a:buNone/>
                      </a:pPr>
                      <a:r>
                        <a:rPr lang="en-US" altLang="ko-KR" sz="10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Hủy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u="none" strike="noStrike" cap="none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Hoàn</a:t>
                      </a:r>
                      <a:r>
                        <a:rPr lang="en-US" altLang="ko-KR" sz="1000" u="none" strike="noStrike" cap="none" baseline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Nanum Gothic"/>
                          <a:cs typeface="Times New Roman" pitchFamily="18" charset="0"/>
                          <a:sym typeface="Nanum Gothic"/>
                        </a:rPr>
                        <a:t> tiền xong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Times New Roman" pitchFamily="18" charset="0"/>
                        <a:ea typeface="Nanum Gothic"/>
                        <a:cs typeface="Times New Roman" pitchFamily="18" charset="0"/>
                        <a:sym typeface="Nanum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0" name="Google Shape;260;p17"/>
          <p:cNvSpPr txBox="1"/>
          <p:nvPr/>
        </p:nvSpPr>
        <p:spPr>
          <a:xfrm>
            <a:off x="846944" y="3501008"/>
            <a:ext cx="76655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wemakep</a:t>
            </a:r>
            <a:endParaRPr sz="1000">
              <a:solidFill>
                <a:schemeClr val="dk1"/>
              </a:solidFill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</p:txBody>
      </p:sp>
      <p:sp>
        <p:nvSpPr>
          <p:cNvPr id="261" name="Google Shape;261;p17"/>
          <p:cNvSpPr txBox="1"/>
          <p:nvPr/>
        </p:nvSpPr>
        <p:spPr>
          <a:xfrm>
            <a:off x="1569557" y="3511345"/>
            <a:ext cx="66556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Tự động sinh ra</a:t>
            </a:r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2" name="Google Shape;262;p17"/>
          <p:cNvSpPr txBox="1"/>
          <p:nvPr/>
        </p:nvSpPr>
        <p:spPr>
          <a:xfrm>
            <a:off x="2279970" y="3511345"/>
            <a:ext cx="66556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Mã vé</a:t>
            </a:r>
            <a:endParaRPr sz="1000">
              <a:solidFill>
                <a:srgbClr val="C00000"/>
              </a:solidFill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</p:txBody>
      </p:sp>
      <p:cxnSp>
        <p:nvCxnSpPr>
          <p:cNvPr id="263" name="Google Shape;263;p17"/>
          <p:cNvCxnSpPr/>
          <p:nvPr/>
        </p:nvCxnSpPr>
        <p:spPr>
          <a:xfrm rot="10800000">
            <a:off x="3296816" y="1628800"/>
            <a:ext cx="0" cy="648072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64" name="Google Shape;264;p17"/>
          <p:cNvSpPr txBox="1"/>
          <p:nvPr/>
        </p:nvSpPr>
        <p:spPr>
          <a:xfrm>
            <a:off x="2879965" y="1272311"/>
            <a:ext cx="864096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Thời gian thanh toán</a:t>
            </a:r>
            <a:endParaRPr sz="1000">
              <a:solidFill>
                <a:srgbClr val="C00000"/>
              </a:solidFill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</p:txBody>
      </p:sp>
      <p:sp>
        <p:nvSpPr>
          <p:cNvPr id="265" name="Google Shape;265;p17"/>
          <p:cNvSpPr txBox="1"/>
          <p:nvPr/>
        </p:nvSpPr>
        <p:spPr>
          <a:xfrm>
            <a:off x="248937" y="1281143"/>
            <a:ext cx="1356462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smtClean="0">
                <a:solidFill>
                  <a:srgbClr val="0070C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K0 có dữ liệu, hiển thị bằng dấu </a:t>
            </a:r>
            <a:r>
              <a:rPr lang="ko-KR" sz="1000" smtClean="0">
                <a:solidFill>
                  <a:srgbClr val="0070C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(-)</a:t>
            </a:r>
            <a:endParaRPr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66" name="Google Shape;266;p17"/>
          <p:cNvCxnSpPr/>
          <p:nvPr/>
        </p:nvCxnSpPr>
        <p:spPr>
          <a:xfrm>
            <a:off x="7266444" y="3242941"/>
            <a:ext cx="0" cy="319506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67" name="Google Shape;267;p17"/>
          <p:cNvSpPr txBox="1"/>
          <p:nvPr/>
        </p:nvSpPr>
        <p:spPr>
          <a:xfrm>
            <a:off x="6943961" y="3572784"/>
            <a:ext cx="545342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Tên option</a:t>
            </a:r>
            <a:endParaRPr sz="1000">
              <a:solidFill>
                <a:srgbClr val="C00000"/>
              </a:solidFill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</p:txBody>
      </p:sp>
      <p:cxnSp>
        <p:nvCxnSpPr>
          <p:cNvPr id="268" name="Google Shape;268;p17"/>
          <p:cNvCxnSpPr/>
          <p:nvPr/>
        </p:nvCxnSpPr>
        <p:spPr>
          <a:xfrm>
            <a:off x="7955818" y="3232604"/>
            <a:ext cx="0" cy="319506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69" name="Google Shape;269;p17"/>
          <p:cNvSpPr txBox="1"/>
          <p:nvPr/>
        </p:nvSpPr>
        <p:spPr>
          <a:xfrm>
            <a:off x="7647399" y="3562447"/>
            <a:ext cx="665567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Tên người đặt</a:t>
            </a:r>
            <a:endParaRPr sz="1000">
              <a:solidFill>
                <a:srgbClr val="C00000"/>
              </a:solidFill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</p:txBody>
      </p:sp>
      <p:cxnSp>
        <p:nvCxnSpPr>
          <p:cNvPr id="270" name="Google Shape;270;p17"/>
          <p:cNvCxnSpPr/>
          <p:nvPr/>
        </p:nvCxnSpPr>
        <p:spPr>
          <a:xfrm>
            <a:off x="8522199" y="3232604"/>
            <a:ext cx="0" cy="319506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71" name="Google Shape;271;p17"/>
          <p:cNvSpPr txBox="1"/>
          <p:nvPr/>
        </p:nvSpPr>
        <p:spPr>
          <a:xfrm>
            <a:off x="8213780" y="3562447"/>
            <a:ext cx="545342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Số điện thoại</a:t>
            </a:r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5451954" y="2060848"/>
            <a:ext cx="771065" cy="119266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Times New Roman" pitchFamily="18" charset="0"/>
              <a:ea typeface="Malgun Gothic"/>
              <a:cs typeface="Times New Roman" pitchFamily="18" charset="0"/>
              <a:sym typeface="Malgun Gothic"/>
            </a:endParaRPr>
          </a:p>
        </p:txBody>
      </p:sp>
      <p:cxnSp>
        <p:nvCxnSpPr>
          <p:cNvPr id="273" name="Google Shape;273;p17"/>
          <p:cNvCxnSpPr/>
          <p:nvPr/>
        </p:nvCxnSpPr>
        <p:spPr>
          <a:xfrm rot="10800000">
            <a:off x="5793891" y="1633968"/>
            <a:ext cx="0" cy="648072"/>
          </a:xfrm>
          <a:prstGeom prst="straightConnector1">
            <a:avLst/>
          </a:prstGeom>
          <a:noFill/>
          <a:ln w="9525" cap="flat" cmpd="sng">
            <a:solidFill>
              <a:srgbClr val="0070C0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74" name="Google Shape;274;p17"/>
          <p:cNvSpPr txBox="1"/>
          <p:nvPr/>
        </p:nvSpPr>
        <p:spPr>
          <a:xfrm>
            <a:off x="5123559" y="1266969"/>
            <a:ext cx="1356462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altLang="ko-KR" sz="1000" smtClean="0">
                <a:solidFill>
                  <a:srgbClr val="0070C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K0 có dữ liệu, hiển thị bằng dấu (-)</a:t>
            </a:r>
            <a:endParaRPr lang="en-US" sz="10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75" name="Google Shape;275;p17"/>
          <p:cNvPicPr preferRelativeResize="0"/>
          <p:nvPr/>
        </p:nvPicPr>
        <p:blipFill rotWithShape="1">
          <a:blip r:embed="rId4" cstate="print">
            <a:alphaModFix/>
          </a:blip>
          <a:srcRect/>
          <a:stretch/>
        </p:blipFill>
        <p:spPr>
          <a:xfrm>
            <a:off x="4577424" y="4149487"/>
            <a:ext cx="5200112" cy="14396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6" name="Google Shape;276;p17"/>
          <p:cNvCxnSpPr/>
          <p:nvPr/>
        </p:nvCxnSpPr>
        <p:spPr>
          <a:xfrm rot="10800000">
            <a:off x="4092729" y="1644069"/>
            <a:ext cx="0" cy="648072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77" name="Google Shape;277;p17"/>
          <p:cNvSpPr txBox="1"/>
          <p:nvPr/>
        </p:nvSpPr>
        <p:spPr>
          <a:xfrm>
            <a:off x="3709406" y="1392680"/>
            <a:ext cx="78481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Mã đặt vé</a:t>
            </a:r>
            <a:endParaRPr sz="1000">
              <a:solidFill>
                <a:srgbClr val="C00000"/>
              </a:solidFill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</p:txBody>
      </p:sp>
      <p:cxnSp>
        <p:nvCxnSpPr>
          <p:cNvPr id="278" name="Google Shape;278;p17"/>
          <p:cNvCxnSpPr/>
          <p:nvPr/>
        </p:nvCxnSpPr>
        <p:spPr>
          <a:xfrm>
            <a:off x="4885573" y="3217335"/>
            <a:ext cx="0" cy="319506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79" name="Google Shape;279;p17"/>
          <p:cNvSpPr txBox="1"/>
          <p:nvPr/>
        </p:nvSpPr>
        <p:spPr>
          <a:xfrm>
            <a:off x="4588807" y="3547178"/>
            <a:ext cx="54854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ID sản phẩm</a:t>
            </a:r>
            <a:endParaRPr sz="1000">
              <a:solidFill>
                <a:srgbClr val="C00000"/>
              </a:solidFill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</p:txBody>
      </p:sp>
      <p:cxnSp>
        <p:nvCxnSpPr>
          <p:cNvPr id="280" name="Google Shape;280;p17"/>
          <p:cNvCxnSpPr/>
          <p:nvPr/>
        </p:nvCxnSpPr>
        <p:spPr>
          <a:xfrm>
            <a:off x="6626883" y="3220958"/>
            <a:ext cx="0" cy="319506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81" name="Google Shape;281;p17"/>
          <p:cNvSpPr txBox="1"/>
          <p:nvPr/>
        </p:nvSpPr>
        <p:spPr>
          <a:xfrm>
            <a:off x="6304400" y="3550801"/>
            <a:ext cx="545342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Tên sản phẩm</a:t>
            </a:r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875575" y="2060848"/>
            <a:ext cx="185170" cy="119266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Times New Roman" pitchFamily="18" charset="0"/>
              <a:ea typeface="Malgun Gothic"/>
              <a:cs typeface="Times New Roman" pitchFamily="18" charset="0"/>
              <a:sym typeface="Malgun Gothic"/>
            </a:endParaRPr>
          </a:p>
        </p:txBody>
      </p:sp>
      <p:cxnSp>
        <p:nvCxnSpPr>
          <p:cNvPr id="283" name="Google Shape;283;p17"/>
          <p:cNvCxnSpPr/>
          <p:nvPr/>
        </p:nvCxnSpPr>
        <p:spPr>
          <a:xfrm rot="10800000">
            <a:off x="911495" y="1633968"/>
            <a:ext cx="0" cy="648072"/>
          </a:xfrm>
          <a:prstGeom prst="straightConnector1">
            <a:avLst/>
          </a:prstGeom>
          <a:noFill/>
          <a:ln w="9525" cap="flat" cmpd="sng">
            <a:solidFill>
              <a:srgbClr val="0070C0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284" name="Google Shape;284;p17"/>
          <p:cNvCxnSpPr/>
          <p:nvPr/>
        </p:nvCxnSpPr>
        <p:spPr>
          <a:xfrm>
            <a:off x="9158744" y="3222293"/>
            <a:ext cx="0" cy="319506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85" name="Google Shape;285;p17"/>
          <p:cNvSpPr txBox="1"/>
          <p:nvPr/>
        </p:nvSpPr>
        <p:spPr>
          <a:xfrm>
            <a:off x="8850325" y="3552136"/>
            <a:ext cx="545342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Giá sản phẩm</a:t>
            </a:r>
            <a:endParaRPr sz="1000">
              <a:solidFill>
                <a:srgbClr val="C00000"/>
              </a:solidFill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464" y="28"/>
            <a:ext cx="7957637" cy="521221"/>
          </a:xfrm>
          <a:ln w="3175">
            <a:noFil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[WMP]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Danh sách câu hỏi</a:t>
            </a:r>
            <a:endParaRPr lang="ko-KR" altLang="en-US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CBB607-AAAB-3247-9F15-58F0D1C0378A}"/>
              </a:ext>
            </a:extLst>
          </p:cNvPr>
          <p:cNvSpPr txBox="1"/>
          <p:nvPr/>
        </p:nvSpPr>
        <p:spPr>
          <a:xfrm>
            <a:off x="416496" y="620688"/>
            <a:ext cx="9289032" cy="3243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r>
              <a:rPr kumimoji="1"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Vị trí thu thập danh sách câu hỏi :</a:t>
            </a:r>
            <a:r>
              <a:rPr kumimoji="1" lang="ko-KR" altLang="en-US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endParaRPr kumimoji="1" lang="en-US" altLang="ko-KR" sz="1050" b="1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WMP partner center</a:t>
            </a:r>
            <a:r>
              <a:rPr kumimoji="1"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ko-KR" altLang="en-US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 </a:t>
            </a: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&gt; </a:t>
            </a:r>
            <a:r>
              <a:rPr lang="en-US" altLang="ko-KR" sz="1050" b="1" smtClean="0">
                <a:solidFill>
                  <a:srgbClr val="1A1A1C"/>
                </a:solidFill>
                <a:latin typeface="Times New Roman" pitchFamily="18" charset="0"/>
                <a:ea typeface="Apple SD Gothic Neo" panose="02000300000000000000" pitchFamily="2" charset="-127"/>
                <a:cs typeface="Times New Roman" pitchFamily="18" charset="0"/>
              </a:rPr>
              <a:t>Tình trạng sản phẩm</a:t>
            </a:r>
            <a:r>
              <a:rPr lang="en-US" altLang="ko-KR" sz="1050" b="1" smtClean="0">
                <a:solidFill>
                  <a:srgbClr val="C0C4CC"/>
                </a:solidFill>
                <a:latin typeface="Times New Roman" pitchFamily="18" charset="0"/>
                <a:ea typeface="Apple SD Gothic Neo" panose="02000300000000000000" pitchFamily="2" charset="-127"/>
                <a:cs typeface="Times New Roman" pitchFamily="18" charset="0"/>
              </a:rPr>
              <a:t>/</a:t>
            </a:r>
            <a:r>
              <a:rPr lang="en-US" altLang="ko-KR" sz="1050" b="1" smtClean="0">
                <a:solidFill>
                  <a:srgbClr val="1A1A1C"/>
                </a:solidFill>
                <a:latin typeface="Times New Roman" pitchFamily="18" charset="0"/>
                <a:ea typeface="Apple SD Gothic Neo" panose="02000300000000000000" pitchFamily="2" charset="-127"/>
                <a:cs typeface="Times New Roman" pitchFamily="18" charset="0"/>
              </a:rPr>
              <a:t>Quản lý sản phẩm trong nước :</a:t>
            </a:r>
            <a:r>
              <a:rPr lang="ko-KR" altLang="en-US" sz="1050" b="1" smtClean="0">
                <a:solidFill>
                  <a:srgbClr val="1A1A1C"/>
                </a:solidFill>
                <a:latin typeface="Times New Roman" pitchFamily="18" charset="0"/>
                <a:ea typeface="Apple SD Gothic Neo" panose="02000300000000000000" pitchFamily="2" charset="-127"/>
                <a:cs typeface="Times New Roman" pitchFamily="18" charset="0"/>
              </a:rPr>
              <a:t>  </a:t>
            </a:r>
            <a:r>
              <a:rPr lang="en-US" altLang="ko-KR" sz="1050" smtClean="0">
                <a:latin typeface="Times New Roman" pitchFamily="18" charset="0"/>
                <a:cs typeface="Times New Roman" pitchFamily="18" charset="0"/>
                <a:hlinkClick r:id="rId3"/>
              </a:rPr>
              <a:t>https://tour-partner.wd.wemakeprice.com/activity/product/info</a:t>
            </a:r>
            <a:endParaRPr lang="en-US" altLang="ko-KR" sz="1050" dirty="0">
              <a:latin typeface="Times New Roman" pitchFamily="18" charset="0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Phạm vi dữ liệu thu thập</a:t>
            </a:r>
            <a:r>
              <a:rPr lang="ko-KR" altLang="en-US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 Danh sách mua thỏa điều kiện tìm kiếm sau :</a:t>
            </a:r>
            <a:endParaRPr lang="en-US" altLang="ko-KR" sz="1050" b="1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56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Toàn bộ danh sách chưa trả lời.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184150">
              <a:lnSpc>
                <a:spcPct val="150000"/>
              </a:lnSpc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Chính sách thu thập danh sách câu hỏi :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endParaRPr lang="en-US" altLang="ko-KR" sz="1050" smtClean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7188" lvl="0" indent="-160338">
              <a:lnSpc>
                <a:spcPct val="150000"/>
              </a:lnSpc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Dựa theo người hỏi và ngày đăng, nếu là dữ liệu mới thì</a:t>
            </a:r>
            <a:r>
              <a:rPr lang="ko-KR" altLang="en-US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 </a:t>
            </a: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insert.</a:t>
            </a:r>
          </a:p>
          <a:p>
            <a:pPr marL="357188" lvl="0" indent="-160338">
              <a:lnSpc>
                <a:spcPct val="150000"/>
              </a:lnSpc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Nếu đã thu thập rồi thì update bằng dữ liệu của WMP.</a:t>
            </a:r>
          </a:p>
          <a:p>
            <a:pPr marL="357188" indent="-160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Chu kỳ thu thập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30 phút/lần.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endParaRPr lang="en-US" altLang="ko-KR" sz="1050" smtClean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7188" indent="-160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Ở danh sách câu hỏi: sau khi thu thập thì chỉ hiển thị câu hỏi chưa trả lời.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endParaRPr lang="en-US" altLang="ko-KR" sz="1050" smtClean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7188" lvl="0" indent="-160338">
              <a:lnSpc>
                <a:spcPct val="150000"/>
              </a:lnSpc>
              <a:buClr>
                <a:schemeClr val="dk1"/>
              </a:buClr>
              <a:buSzPts val="1050"/>
              <a:buFont typeface="Arial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165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6DA3B88-5D4B-104D-AD56-E9DBBFD8F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[WMP] Danh sách câu hỏi (capture</a:t>
            </a:r>
            <a:r>
              <a:rPr lang="ko-KR" alt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1)</a:t>
            </a:r>
            <a:endParaRPr lang="ko-KR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57067EF-B2D8-3C49-A19B-583800CDA91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3327" y="752394"/>
            <a:ext cx="2923928" cy="326301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920AAA9-6261-8F4F-9248-B5DE2DFB5919}"/>
              </a:ext>
            </a:extLst>
          </p:cNvPr>
          <p:cNvSpPr/>
          <p:nvPr/>
        </p:nvSpPr>
        <p:spPr>
          <a:xfrm>
            <a:off x="303327" y="2729948"/>
            <a:ext cx="1035143" cy="1855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22E70EB-21E9-214D-861A-1E77B3AD50FC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57738" y="1062115"/>
            <a:ext cx="7540487" cy="305730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AF3B419-83E1-5741-B155-5A5E1DD73F24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543879" y="4219123"/>
            <a:ext cx="7573617" cy="188666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54746ED-9594-EB42-8FF6-3D4D2B81F70D}"/>
              </a:ext>
            </a:extLst>
          </p:cNvPr>
          <p:cNvSpPr/>
          <p:nvPr/>
        </p:nvSpPr>
        <p:spPr>
          <a:xfrm>
            <a:off x="7568529" y="4803912"/>
            <a:ext cx="647819" cy="97403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6273B2-181E-AA49-8207-CEB3A0145F9E}"/>
              </a:ext>
            </a:extLst>
          </p:cNvPr>
          <p:cNvSpPr txBox="1"/>
          <p:nvPr/>
        </p:nvSpPr>
        <p:spPr>
          <a:xfrm>
            <a:off x="1000140" y="234888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Click</a:t>
            </a:r>
            <a:endParaRPr kumimoji="1" lang="ko-KR" alt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96AF1E-3CF4-564C-B3CD-0D63B632E66C}"/>
              </a:ext>
            </a:extLst>
          </p:cNvPr>
          <p:cNvSpPr txBox="1"/>
          <p:nvPr/>
        </p:nvSpPr>
        <p:spPr>
          <a:xfrm>
            <a:off x="7620568" y="5785066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Click</a:t>
            </a:r>
            <a:endParaRPr kumimoji="1" lang="ko-KR" alt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971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6DA3B88-5D4B-104D-AD56-E9DBBFD8F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[WMP] Capture danh sách câu hỏi</a:t>
            </a:r>
            <a:r>
              <a:rPr lang="ko-KR" alt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Danh sách câu hỏi cuối cùng</a:t>
            </a:r>
            <a:endParaRPr lang="ko-KR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84714B2-9244-0140-AF8C-767221B6FC8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30017" y="1641780"/>
            <a:ext cx="6317568" cy="403401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920AAA9-6261-8F4F-9248-B5DE2DFB5919}"/>
              </a:ext>
            </a:extLst>
          </p:cNvPr>
          <p:cNvSpPr/>
          <p:nvPr/>
        </p:nvSpPr>
        <p:spPr>
          <a:xfrm>
            <a:off x="1827326" y="2345636"/>
            <a:ext cx="5673405" cy="239864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DB40BC-76F4-4741-B0BE-7EFBBFFC9538}"/>
              </a:ext>
            </a:extLst>
          </p:cNvPr>
          <p:cNvSpPr txBox="1"/>
          <p:nvPr/>
        </p:nvSpPr>
        <p:spPr>
          <a:xfrm>
            <a:off x="7544927" y="443650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Vùng thu thập</a:t>
            </a:r>
            <a:endParaRPr kumimoji="1" lang="ko-KR" alt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0807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6">
            <a:extLst>
              <a:ext uri="{FF2B5EF4-FFF2-40B4-BE49-F238E27FC236}">
                <a16:creationId xmlns:a16="http://schemas.microsoft.com/office/drawing/2014/main" id="{DB9F7E8D-3E6B-9E42-8772-CBFE380A4A1C}"/>
              </a:ext>
            </a:extLst>
          </p:cNvPr>
          <p:cNvGrpSpPr/>
          <p:nvPr/>
        </p:nvGrpSpPr>
        <p:grpSpPr>
          <a:xfrm>
            <a:off x="920552" y="1412776"/>
            <a:ext cx="7704856" cy="1701072"/>
            <a:chOff x="920552" y="1412776"/>
            <a:chExt cx="7704856" cy="170107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1902518-92F2-8143-B8EA-41F3F8B67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0552" y="1412776"/>
              <a:ext cx="7704856" cy="1701072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E03CB7F-7C07-944D-B058-D04351CCD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2241" y="1730183"/>
              <a:ext cx="7423058" cy="1370925"/>
            </a:xfrm>
            <a:prstGeom prst="rect">
              <a:avLst/>
            </a:prstGeom>
          </p:spPr>
        </p:pic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464" y="28"/>
            <a:ext cx="7957637" cy="521221"/>
          </a:xfrm>
          <a:ln w="3175">
            <a:noFil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>
            <a:normAutofit/>
          </a:bodyPr>
          <a:lstStyle/>
          <a:p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[WMP]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Phương án hiển thị dữ liệu thu thập trên danh sách quản lý câu hỏi</a:t>
            </a:r>
            <a:endParaRPr lang="ko-KR" altLang="en-US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204084CF-C888-7C4D-982E-E231D5288C9B}"/>
              </a:ext>
            </a:extLst>
          </p:cNvPr>
          <p:cNvCxnSpPr>
            <a:cxnSpLocks/>
          </p:cNvCxnSpPr>
          <p:nvPr/>
        </p:nvCxnSpPr>
        <p:spPr>
          <a:xfrm>
            <a:off x="2072680" y="3113848"/>
            <a:ext cx="0" cy="823562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A14ADDE-494C-9948-9845-E109503D434E}"/>
              </a:ext>
            </a:extLst>
          </p:cNvPr>
          <p:cNvSpPr txBox="1"/>
          <p:nvPr/>
        </p:nvSpPr>
        <p:spPr>
          <a:xfrm>
            <a:off x="524317" y="3937410"/>
            <a:ext cx="2728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Nếu có thời gian trả lời cuối cùng</a:t>
            </a:r>
            <a:r>
              <a:rPr lang="ko-KR" altLang="en-US" sz="1000" smtClean="0">
                <a:solidFill>
                  <a:srgbClr val="C0000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 </a:t>
            </a:r>
            <a:r>
              <a:rPr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: Trả lời xong</a:t>
            </a:r>
            <a:endParaRPr lang="ko-KR" altLang="en-US" sz="1000" smtClean="0">
              <a:solidFill>
                <a:srgbClr val="C00000"/>
              </a:solidFill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  <a:p>
            <a:pPr lvl="0"/>
            <a:r>
              <a:rPr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Nếu k0 có thời gian trả lời cuối cùng</a:t>
            </a:r>
            <a:r>
              <a:rPr lang="ko-KR" altLang="en-US" sz="1000" smtClean="0">
                <a:solidFill>
                  <a:srgbClr val="C0000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 </a:t>
            </a:r>
            <a:r>
              <a:rPr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: Chờ trả lời</a:t>
            </a:r>
            <a:endParaRPr lang="ko-KR" altLang="en-US" sz="1000" dirty="0">
              <a:solidFill>
                <a:srgbClr val="C00000"/>
              </a:solidFill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7D9F3DBD-B3D2-3A4F-B42A-FE5A67B45A42}"/>
              </a:ext>
            </a:extLst>
          </p:cNvPr>
          <p:cNvCxnSpPr>
            <a:cxnSpLocks/>
          </p:cNvCxnSpPr>
          <p:nvPr/>
        </p:nvCxnSpPr>
        <p:spPr>
          <a:xfrm>
            <a:off x="2576736" y="3113848"/>
            <a:ext cx="0" cy="411781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3784E6E-B470-C84E-A641-13F6DAB6EA82}"/>
              </a:ext>
            </a:extLst>
          </p:cNvPr>
          <p:cNvSpPr txBox="1"/>
          <p:nvPr/>
        </p:nvSpPr>
        <p:spPr>
          <a:xfrm>
            <a:off x="2156517" y="3525629"/>
            <a:ext cx="6783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 err="1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wemakep</a:t>
            </a:r>
            <a:endParaRPr kumimoji="1" lang="ko-KR" altLang="en-US" sz="100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CAD90B2C-0B3F-1547-BEB4-BCB6C778F429}"/>
              </a:ext>
            </a:extLst>
          </p:cNvPr>
          <p:cNvCxnSpPr>
            <a:cxnSpLocks/>
          </p:cNvCxnSpPr>
          <p:nvPr/>
        </p:nvCxnSpPr>
        <p:spPr>
          <a:xfrm>
            <a:off x="4126086" y="3103511"/>
            <a:ext cx="0" cy="422118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F41EE16-D440-EC4A-B122-813AFA3E4695}"/>
              </a:ext>
            </a:extLst>
          </p:cNvPr>
          <p:cNvSpPr txBox="1"/>
          <p:nvPr/>
        </p:nvSpPr>
        <p:spPr>
          <a:xfrm>
            <a:off x="3296817" y="3535966"/>
            <a:ext cx="1080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Nội dung 10 ký tự</a:t>
            </a:r>
            <a:r>
              <a:rPr kumimoji="1" lang="ko-KR" altLang="en-US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+ dấu “…”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DEC919-6459-3E44-B91C-7A7C4465928F}"/>
              </a:ext>
            </a:extLst>
          </p:cNvPr>
          <p:cNvSpPr txBox="1"/>
          <p:nvPr/>
        </p:nvSpPr>
        <p:spPr>
          <a:xfrm>
            <a:off x="2576736" y="634524"/>
            <a:ext cx="19992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K0 có dữ liệu, hiển thị bằng dấu</a:t>
            </a:r>
            <a:r>
              <a:rPr kumimoji="1" lang="ko-KR" altLang="en-US" sz="100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0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(-)</a:t>
            </a:r>
            <a:endParaRPr kumimoji="1" lang="ko-KR" altLang="en-US" sz="100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94384375-6AA5-B248-B55A-638FE5B2AB3F}"/>
              </a:ext>
            </a:extLst>
          </p:cNvPr>
          <p:cNvCxnSpPr>
            <a:cxnSpLocks/>
          </p:cNvCxnSpPr>
          <p:nvPr/>
        </p:nvCxnSpPr>
        <p:spPr>
          <a:xfrm>
            <a:off x="7977336" y="3097791"/>
            <a:ext cx="0" cy="823562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63DC6F3D-9FC4-8440-A535-F8B0D68D4DBB}"/>
              </a:ext>
            </a:extLst>
          </p:cNvPr>
          <p:cNvSpPr txBox="1"/>
          <p:nvPr/>
        </p:nvSpPr>
        <p:spPr>
          <a:xfrm>
            <a:off x="7545288" y="3921353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Thời gian đăng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4276A66D-DD40-894A-B966-7CB7AC9C229B}"/>
              </a:ext>
            </a:extLst>
          </p:cNvPr>
          <p:cNvCxnSpPr>
            <a:cxnSpLocks/>
          </p:cNvCxnSpPr>
          <p:nvPr/>
        </p:nvCxnSpPr>
        <p:spPr>
          <a:xfrm flipV="1">
            <a:off x="3224808" y="853985"/>
            <a:ext cx="0" cy="648072"/>
          </a:xfrm>
          <a:prstGeom prst="straightConnector1">
            <a:avLst/>
          </a:prstGeom>
          <a:ln w="31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73BFE3A-84F0-4745-8AD3-877EDD1ECFFB}"/>
              </a:ext>
            </a:extLst>
          </p:cNvPr>
          <p:cNvSpPr/>
          <p:nvPr/>
        </p:nvSpPr>
        <p:spPr>
          <a:xfrm>
            <a:off x="5397095" y="1427440"/>
            <a:ext cx="394133" cy="1686407"/>
          </a:xfrm>
          <a:prstGeom prst="rect">
            <a:avLst/>
          </a:prstGeom>
          <a:noFill/>
          <a:ln w="31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B665FD7-B307-1840-B27B-38431FF4B504}"/>
              </a:ext>
            </a:extLst>
          </p:cNvPr>
          <p:cNvCxnSpPr>
            <a:cxnSpLocks/>
          </p:cNvCxnSpPr>
          <p:nvPr/>
        </p:nvCxnSpPr>
        <p:spPr>
          <a:xfrm flipV="1">
            <a:off x="5613798" y="1000561"/>
            <a:ext cx="0" cy="648072"/>
          </a:xfrm>
          <a:prstGeom prst="straightConnector1">
            <a:avLst/>
          </a:prstGeom>
          <a:ln w="3175">
            <a:solidFill>
              <a:srgbClr val="0070C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76F6507-E54C-8B4A-9DFE-DCD0049FE89E}"/>
              </a:ext>
            </a:extLst>
          </p:cNvPr>
          <p:cNvSpPr txBox="1"/>
          <p:nvPr/>
        </p:nvSpPr>
        <p:spPr>
          <a:xfrm>
            <a:off x="5346236" y="720791"/>
            <a:ext cx="7745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0070C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Xóa trường</a:t>
            </a:r>
            <a:endParaRPr kumimoji="1" lang="ko-KR" altLang="en-US" sz="1000" dirty="0">
              <a:solidFill>
                <a:srgbClr val="0070C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4511D0EB-AA9F-D44C-9351-6128110696F6}"/>
              </a:ext>
            </a:extLst>
          </p:cNvPr>
          <p:cNvCxnSpPr>
            <a:cxnSpLocks/>
          </p:cNvCxnSpPr>
          <p:nvPr/>
        </p:nvCxnSpPr>
        <p:spPr>
          <a:xfrm>
            <a:off x="6857740" y="3097791"/>
            <a:ext cx="0" cy="823562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837ACF8-7EE9-CC42-8AA7-5EFE6AFD402D}"/>
              </a:ext>
            </a:extLst>
          </p:cNvPr>
          <p:cNvSpPr txBox="1"/>
          <p:nvPr/>
        </p:nvSpPr>
        <p:spPr>
          <a:xfrm>
            <a:off x="6465168" y="3921353"/>
            <a:ext cx="8723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ID của khách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ABBEFE78-1577-6E44-A0EC-10E4686EFA07}"/>
              </a:ext>
            </a:extLst>
          </p:cNvPr>
          <p:cNvSpPr/>
          <p:nvPr/>
        </p:nvSpPr>
        <p:spPr>
          <a:xfrm>
            <a:off x="1202350" y="1502057"/>
            <a:ext cx="537546" cy="1665076"/>
          </a:xfrm>
          <a:prstGeom prst="rect">
            <a:avLst/>
          </a:prstGeom>
          <a:noFill/>
          <a:ln w="31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584AC315-5610-4848-983D-D77F8B9D064A}"/>
              </a:ext>
            </a:extLst>
          </p:cNvPr>
          <p:cNvCxnSpPr>
            <a:cxnSpLocks/>
          </p:cNvCxnSpPr>
          <p:nvPr/>
        </p:nvCxnSpPr>
        <p:spPr>
          <a:xfrm flipH="1" flipV="1">
            <a:off x="632520" y="1324597"/>
            <a:ext cx="519721" cy="825532"/>
          </a:xfrm>
          <a:prstGeom prst="straightConnector1">
            <a:avLst/>
          </a:prstGeom>
          <a:ln w="3175">
            <a:solidFill>
              <a:srgbClr val="0070C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2333CD78-02AB-614F-8363-86ACD2A28CB8}"/>
              </a:ext>
            </a:extLst>
          </p:cNvPr>
          <p:cNvSpPr txBox="1"/>
          <p:nvPr/>
        </p:nvSpPr>
        <p:spPr>
          <a:xfrm>
            <a:off x="388509" y="625394"/>
            <a:ext cx="226023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smtClean="0">
                <a:solidFill>
                  <a:srgbClr val="0070C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Khi click thì mở (ở cửa sổ mới) trang quản lý câu hỏi khách hàng ở partner center của kênh bán.</a:t>
            </a:r>
          </a:p>
          <a:p>
            <a:r>
              <a:rPr kumimoji="1" lang="en-US" altLang="ko-KR" sz="1000" smtClean="0">
                <a:solidFill>
                  <a:srgbClr val="0070C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WMP</a:t>
            </a:r>
            <a:r>
              <a:rPr kumimoji="1" lang="ko-KR" altLang="en-US" sz="1000" smtClean="0">
                <a:solidFill>
                  <a:srgbClr val="0070C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00">
                <a:solidFill>
                  <a:srgbClr val="0070C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</a:t>
            </a:r>
            <a:r>
              <a:rPr kumimoji="1" lang="ko-KR" altLang="en-US" sz="1000">
                <a:solidFill>
                  <a:srgbClr val="0070C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endParaRPr kumimoji="1" lang="en-US" altLang="ko-KR" sz="1000" smtClean="0">
              <a:solidFill>
                <a:srgbClr val="0070C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r>
              <a:rPr lang="en-US" altLang="ko-KR" sz="1000" smtClean="0">
                <a:latin typeface="Times New Roman" pitchFamily="18" charset="0"/>
                <a:cs typeface="Times New Roman" pitchFamily="18" charset="0"/>
                <a:hlinkClick r:id="rId5"/>
              </a:rPr>
              <a:t>https://tour-partner.wd.wemakeprice.com/activity/product/info</a:t>
            </a:r>
            <a:endParaRPr kumimoji="1" lang="ko-KR" altLang="en-US" sz="1000" dirty="0">
              <a:solidFill>
                <a:srgbClr val="0070C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31" name="Google Shape;324;p20">
            <a:extLst>
              <a:ext uri="{FF2B5EF4-FFF2-40B4-BE49-F238E27FC236}">
                <a16:creationId xmlns:a16="http://schemas.microsoft.com/office/drawing/2014/main" id="{A9B1F0AE-4A85-6A40-8563-70E8F09C1729}"/>
              </a:ext>
            </a:extLst>
          </p:cNvPr>
          <p:cNvCxnSpPr>
            <a:cxnSpLocks/>
          </p:cNvCxnSpPr>
          <p:nvPr/>
        </p:nvCxnSpPr>
        <p:spPr>
          <a:xfrm flipV="1">
            <a:off x="6128500" y="1149069"/>
            <a:ext cx="280392" cy="3529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2" name="Google Shape;321;p20">
            <a:extLst>
              <a:ext uri="{FF2B5EF4-FFF2-40B4-BE49-F238E27FC236}">
                <a16:creationId xmlns:a16="http://schemas.microsoft.com/office/drawing/2014/main" id="{F637695C-F707-DD43-A14A-24082C805867}"/>
              </a:ext>
            </a:extLst>
          </p:cNvPr>
          <p:cNvSpPr txBox="1"/>
          <p:nvPr/>
        </p:nvSpPr>
        <p:spPr>
          <a:xfrm>
            <a:off x="6061108" y="933465"/>
            <a:ext cx="2132252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kumimoji="1" lang="en-US" altLang="ko-KR" sz="100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K0 có dữ liệu, hiển thị bằng dấu</a:t>
            </a:r>
            <a:r>
              <a:rPr kumimoji="1" lang="ko-KR" altLang="en-US" sz="100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0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(-)</a:t>
            </a:r>
            <a:endParaRPr kumimoji="1" lang="ko-KR" altLang="en-US" sz="100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37" name="Google Shape;319;p20">
            <a:extLst>
              <a:ext uri="{FF2B5EF4-FFF2-40B4-BE49-F238E27FC236}">
                <a16:creationId xmlns:a16="http://schemas.microsoft.com/office/drawing/2014/main" id="{13D06B0C-3BDC-674D-82A1-F06AF24AFE0B}"/>
              </a:ext>
            </a:extLst>
          </p:cNvPr>
          <p:cNvCxnSpPr/>
          <p:nvPr/>
        </p:nvCxnSpPr>
        <p:spPr>
          <a:xfrm>
            <a:off x="5141283" y="3101201"/>
            <a:ext cx="0" cy="422118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8" name="Google Shape;320;p20">
            <a:extLst>
              <a:ext uri="{FF2B5EF4-FFF2-40B4-BE49-F238E27FC236}">
                <a16:creationId xmlns:a16="http://schemas.microsoft.com/office/drawing/2014/main" id="{B1FB0155-D258-B94E-9D9B-497B5AC26132}"/>
              </a:ext>
            </a:extLst>
          </p:cNvPr>
          <p:cNvSpPr txBox="1"/>
          <p:nvPr/>
        </p:nvSpPr>
        <p:spPr>
          <a:xfrm>
            <a:off x="4735837" y="3533656"/>
            <a:ext cx="100230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ID sản phẩm &amp; Tên sản phẩm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9" name="그림 27">
            <a:extLst>
              <a:ext uri="{FF2B5EF4-FFF2-40B4-BE49-F238E27FC236}">
                <a16:creationId xmlns:a16="http://schemas.microsoft.com/office/drawing/2014/main" id="{59317747-AD7D-314C-9127-951019A36EE9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923074" y="4481455"/>
            <a:ext cx="4118378" cy="229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028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464" y="28"/>
            <a:ext cx="7957637" cy="521221"/>
          </a:xfrm>
          <a:ln w="3175">
            <a:noFil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[WMP]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Quản lý quyết toán</a:t>
            </a:r>
            <a:endParaRPr lang="ko-KR" altLang="en-US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CBB607-AAAB-3247-9F15-58F0D1C0378A}"/>
              </a:ext>
            </a:extLst>
          </p:cNvPr>
          <p:cNvSpPr txBox="1"/>
          <p:nvPr/>
        </p:nvSpPr>
        <p:spPr>
          <a:xfrm>
            <a:off x="416496" y="620688"/>
            <a:ext cx="9289032" cy="491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r>
              <a:rPr kumimoji="1"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Vị trí thu thập Quản lý quyết toán</a:t>
            </a:r>
            <a:r>
              <a:rPr kumimoji="1" lang="ko-KR" altLang="en-US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</a:t>
            </a:r>
            <a:r>
              <a:rPr kumimoji="1" lang="ko-KR" altLang="en-US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endParaRPr kumimoji="1" lang="en-US" altLang="ko-KR" sz="1050" b="1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WMP partner center</a:t>
            </a:r>
            <a:r>
              <a:rPr kumimoji="1"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&gt;</a:t>
            </a:r>
            <a:r>
              <a:rPr kumimoji="1" lang="ko-KR" altLang="en-US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Quản lý quyết toán</a:t>
            </a:r>
            <a:r>
              <a:rPr kumimoji="1"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&gt; </a:t>
            </a:r>
            <a:r>
              <a:rPr kumimoji="1"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Xem danh sách thanh toán :</a:t>
            </a:r>
            <a:r>
              <a:rPr kumimoji="1"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dirty="0">
                <a:latin typeface="Times New Roman" pitchFamily="18" charset="0"/>
                <a:cs typeface="Times New Roman" pitchFamily="18" charset="0"/>
                <a:hlinkClick r:id="rId3"/>
              </a:rPr>
              <a:t>https://tour-partner.wd.wemakeprice.com/activity/product/info</a:t>
            </a:r>
            <a:endParaRPr lang="en-US" altLang="ko-KR" sz="1050" dirty="0">
              <a:latin typeface="Times New Roman" pitchFamily="18" charset="0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Phạm vi data thu thập</a:t>
            </a:r>
            <a:r>
              <a:rPr lang="ko-KR" altLang="en-US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b="1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 </a:t>
            </a:r>
            <a:r>
              <a:rPr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Danh sách mua thỏa điều kiện tìm kiếm sau :</a:t>
            </a:r>
            <a:endParaRPr lang="en-US" altLang="ko-KR" sz="1050" b="1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56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Năm + tháng thanh toán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</a:t>
            </a:r>
            <a:r>
              <a:rPr lang="ko-KR" altLang="en-US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1 năm gần nhất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(data 11 tháng trước bao gồm tháng này)</a:t>
            </a:r>
          </a:p>
          <a:p>
            <a:pPr marL="3556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Hạng mục data thu thập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Toàn bộ danh sách thanh toán.</a:t>
            </a:r>
          </a:p>
          <a:p>
            <a:pPr marL="3556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Chính sách thu thập Quản lý quyết toán :</a:t>
            </a:r>
            <a:endParaRPr lang="en-US" altLang="ko-KR" sz="1050" b="1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7188" lvl="0" indent="-160338">
              <a:lnSpc>
                <a:spcPct val="150000"/>
              </a:lnSpc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Chu kỳ thu thập</a:t>
            </a:r>
            <a:r>
              <a:rPr lang="ko-KR" altLang="en-US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 </a:t>
            </a:r>
            <a:r>
              <a:rPr lang="en-US" altLang="ko-KR" sz="105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: </a:t>
            </a: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1 lần/ngày</a:t>
            </a:r>
            <a:r>
              <a:rPr lang="ko-KR" altLang="en-US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 </a:t>
            </a:r>
            <a:r>
              <a:rPr lang="en-US" altLang="ko-KR" sz="1050" smtClean="0">
                <a:solidFill>
                  <a:schemeClr val="dk1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(lúc 8h sáng hàng ngày)</a:t>
            </a:r>
            <a:endParaRPr lang="ko-KR" altLang="en-US" sz="1050" dirty="0">
              <a:solidFill>
                <a:schemeClr val="dk1"/>
              </a:solidFill>
              <a:latin typeface="Times New Roman" pitchFamily="18" charset="0"/>
              <a:ea typeface="Nanum Gothic"/>
              <a:cs typeface="Times New Roman" pitchFamily="18" charset="0"/>
              <a:sym typeface="Nanum Gothic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7A734CA-B3CE-9C41-8F70-DBFEADB7AF8C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08584" y="1268760"/>
            <a:ext cx="1237142" cy="244827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1EAFE97-23F0-B84D-A54F-C4DD5FABA1A6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152800" y="1412776"/>
            <a:ext cx="5256404" cy="249504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436E008-E7B3-A443-9DE8-035CF0F424AE}"/>
              </a:ext>
            </a:extLst>
          </p:cNvPr>
          <p:cNvSpPr/>
          <p:nvPr/>
        </p:nvSpPr>
        <p:spPr>
          <a:xfrm>
            <a:off x="1208585" y="2859527"/>
            <a:ext cx="911068" cy="13785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369AC-CE08-9D44-B9AD-9B9B417FAD6E}"/>
              </a:ext>
            </a:extLst>
          </p:cNvPr>
          <p:cNvSpPr txBox="1"/>
          <p:nvPr/>
        </p:nvSpPr>
        <p:spPr>
          <a:xfrm>
            <a:off x="1712640" y="2636912"/>
            <a:ext cx="51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Click</a:t>
            </a:r>
            <a:endParaRPr kumimoji="1" lang="ko-KR" altLang="en-US" sz="1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7065027-B03A-3D4F-8786-876255D38E9F}"/>
              </a:ext>
            </a:extLst>
          </p:cNvPr>
          <p:cNvCxnSpPr>
            <a:cxnSpLocks/>
          </p:cNvCxnSpPr>
          <p:nvPr/>
        </p:nvCxnSpPr>
        <p:spPr>
          <a:xfrm>
            <a:off x="2119653" y="2913911"/>
            <a:ext cx="745115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656164-158D-9246-A3FB-D05C2092B0A2}"/>
              </a:ext>
            </a:extLst>
          </p:cNvPr>
          <p:cNvSpPr/>
          <p:nvPr/>
        </p:nvSpPr>
        <p:spPr>
          <a:xfrm>
            <a:off x="3800873" y="1686076"/>
            <a:ext cx="1199100" cy="23075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26D02C-9A2D-DF40-B44D-3BF82AFD1A20}"/>
              </a:ext>
            </a:extLst>
          </p:cNvPr>
          <p:cNvSpPr txBox="1"/>
          <p:nvPr/>
        </p:nvSpPr>
        <p:spPr>
          <a:xfrm>
            <a:off x="4592960" y="1463461"/>
            <a:ext cx="899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Chọn tháng</a:t>
            </a:r>
            <a:endParaRPr kumimoji="1" lang="ko-KR" altLang="en-US" sz="1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0EF3C3-F995-A140-8E93-323603799AA1}"/>
              </a:ext>
            </a:extLst>
          </p:cNvPr>
          <p:cNvSpPr/>
          <p:nvPr/>
        </p:nvSpPr>
        <p:spPr>
          <a:xfrm>
            <a:off x="3171986" y="3100362"/>
            <a:ext cx="5237217" cy="80745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90D6FD-051D-E84C-BBF7-A2B20ADF08D8}"/>
              </a:ext>
            </a:extLst>
          </p:cNvPr>
          <p:cNvSpPr txBox="1"/>
          <p:nvPr/>
        </p:nvSpPr>
        <p:spPr>
          <a:xfrm>
            <a:off x="6321152" y="2833855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Vùng thu thập</a:t>
            </a:r>
            <a:endParaRPr kumimoji="1" lang="ko-KR" altLang="en-US" sz="1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842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55DC949-0F4F-D84C-83A9-A8EC14B35C5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2480" y="1399463"/>
            <a:ext cx="9361040" cy="952980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7C6EFF81-B262-1C4A-8F2F-82DB90DD0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64" y="28"/>
            <a:ext cx="7957637" cy="521221"/>
          </a:xfrm>
          <a:ln w="3175">
            <a:noFil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>
            <a:normAutofit/>
          </a:bodyPr>
          <a:lstStyle/>
          <a:p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[WMP]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Phương án hiển thị dữ liệu thu thập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trên danh sách Quản lý quyết toán</a:t>
            </a:r>
            <a:endParaRPr lang="ko-KR" altLang="en-US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3BA4D2F-22B6-204E-A066-8483351EBEF7}"/>
              </a:ext>
            </a:extLst>
          </p:cNvPr>
          <p:cNvCxnSpPr>
            <a:cxnSpLocks/>
          </p:cNvCxnSpPr>
          <p:nvPr/>
        </p:nvCxnSpPr>
        <p:spPr>
          <a:xfrm>
            <a:off x="1496616" y="2275557"/>
            <a:ext cx="0" cy="823562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428B655-0A42-2542-879B-BBA47F0DAA8A}"/>
              </a:ext>
            </a:extLst>
          </p:cNvPr>
          <p:cNvSpPr txBox="1"/>
          <p:nvPr/>
        </p:nvSpPr>
        <p:spPr>
          <a:xfrm>
            <a:off x="1065768" y="310580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Tên NCC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7210FAA-7BD2-DE4C-9226-B52FCFDBB18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2665" y="4365104"/>
            <a:ext cx="5817096" cy="116025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DCF05FE-B75A-A947-83C5-5F0D6B5573AC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15705" y="4653084"/>
            <a:ext cx="3489970" cy="584294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EE8C44F-D5CA-4447-9292-123C173FA929}"/>
              </a:ext>
            </a:extLst>
          </p:cNvPr>
          <p:cNvCxnSpPr>
            <a:cxnSpLocks/>
          </p:cNvCxnSpPr>
          <p:nvPr/>
        </p:nvCxnSpPr>
        <p:spPr>
          <a:xfrm>
            <a:off x="865809" y="2275557"/>
            <a:ext cx="0" cy="823562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8DC4CEC-622F-CE4A-8921-5EC72F3CB31F}"/>
              </a:ext>
            </a:extLst>
          </p:cNvPr>
          <p:cNvSpPr txBox="1"/>
          <p:nvPr/>
        </p:nvSpPr>
        <p:spPr>
          <a:xfrm>
            <a:off x="346465" y="3099118"/>
            <a:ext cx="6783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 err="1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wemakep</a:t>
            </a:r>
            <a:endParaRPr kumimoji="1" lang="ko-KR" altLang="en-US" sz="100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FE95D7E-0AC5-784F-9797-F2594D6829F5}"/>
              </a:ext>
            </a:extLst>
          </p:cNvPr>
          <p:cNvCxnSpPr>
            <a:cxnSpLocks/>
          </p:cNvCxnSpPr>
          <p:nvPr/>
        </p:nvCxnSpPr>
        <p:spPr>
          <a:xfrm>
            <a:off x="2003653" y="2248282"/>
            <a:ext cx="0" cy="823562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288DA9E-9B25-F442-92E6-0F25C6E7E238}"/>
              </a:ext>
            </a:extLst>
          </p:cNvPr>
          <p:cNvSpPr txBox="1"/>
          <p:nvPr/>
        </p:nvSpPr>
        <p:spPr>
          <a:xfrm>
            <a:off x="1730982" y="3071844"/>
            <a:ext cx="723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Chu kỳ </a:t>
            </a:r>
          </a:p>
          <a:p>
            <a:pPr algn="ctr"/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thanh toán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3BA2D8E-D419-F147-981D-E9001BA06E29}"/>
              </a:ext>
            </a:extLst>
          </p:cNvPr>
          <p:cNvCxnSpPr>
            <a:cxnSpLocks/>
          </p:cNvCxnSpPr>
          <p:nvPr/>
        </p:nvCxnSpPr>
        <p:spPr>
          <a:xfrm>
            <a:off x="2747004" y="2240702"/>
            <a:ext cx="0" cy="823562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4804696-B905-8A4B-8BA9-E303ED0053D9}"/>
              </a:ext>
            </a:extLst>
          </p:cNvPr>
          <p:cNvSpPr txBox="1"/>
          <p:nvPr/>
        </p:nvSpPr>
        <p:spPr>
          <a:xfrm>
            <a:off x="2524722" y="3064264"/>
            <a:ext cx="5084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Số lần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0CF32ED-3686-4F49-ACD1-9645F29B13A7}"/>
              </a:ext>
            </a:extLst>
          </p:cNvPr>
          <p:cNvCxnSpPr>
            <a:cxnSpLocks/>
          </p:cNvCxnSpPr>
          <p:nvPr/>
        </p:nvCxnSpPr>
        <p:spPr>
          <a:xfrm>
            <a:off x="5281464" y="2235471"/>
            <a:ext cx="0" cy="823562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CE29E98-D9C5-C54E-B974-AEA954683949}"/>
              </a:ext>
            </a:extLst>
          </p:cNvPr>
          <p:cNvSpPr txBox="1"/>
          <p:nvPr/>
        </p:nvSpPr>
        <p:spPr>
          <a:xfrm>
            <a:off x="4520952" y="3059033"/>
            <a:ext cx="15135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Tổng thời gian thanh toán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15D8E98-C9F8-C84D-A6D7-58B21412F1BD}"/>
              </a:ext>
            </a:extLst>
          </p:cNvPr>
          <p:cNvSpPr/>
          <p:nvPr/>
        </p:nvSpPr>
        <p:spPr>
          <a:xfrm>
            <a:off x="6147754" y="4632381"/>
            <a:ext cx="432048" cy="524811"/>
          </a:xfrm>
          <a:prstGeom prst="rect">
            <a:avLst/>
          </a:prstGeom>
          <a:noFill/>
          <a:ln w="31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92A087D-59AD-924C-86C3-CAE4B66742CD}"/>
              </a:ext>
            </a:extLst>
          </p:cNvPr>
          <p:cNvSpPr/>
          <p:nvPr/>
        </p:nvSpPr>
        <p:spPr>
          <a:xfrm>
            <a:off x="1227655" y="4551468"/>
            <a:ext cx="432048" cy="524811"/>
          </a:xfrm>
          <a:prstGeom prst="rect">
            <a:avLst/>
          </a:prstGeom>
          <a:noFill/>
          <a:ln w="31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83E7FE2-B01C-6F4B-A3C4-58597BE9CC0B}"/>
              </a:ext>
            </a:extLst>
          </p:cNvPr>
          <p:cNvSpPr/>
          <p:nvPr/>
        </p:nvSpPr>
        <p:spPr>
          <a:xfrm>
            <a:off x="349754" y="4612643"/>
            <a:ext cx="432048" cy="524811"/>
          </a:xfrm>
          <a:prstGeom prst="rect">
            <a:avLst/>
          </a:prstGeom>
          <a:noFill/>
          <a:ln w="31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A5A146A-CFDD-A54A-AD83-751C5DE6AA2E}"/>
              </a:ext>
            </a:extLst>
          </p:cNvPr>
          <p:cNvSpPr/>
          <p:nvPr/>
        </p:nvSpPr>
        <p:spPr>
          <a:xfrm>
            <a:off x="3135207" y="4794136"/>
            <a:ext cx="432048" cy="282144"/>
          </a:xfrm>
          <a:prstGeom prst="rect">
            <a:avLst/>
          </a:prstGeom>
          <a:noFill/>
          <a:ln w="31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3FB1987-99B5-D647-ACAA-CC6315571938}"/>
              </a:ext>
            </a:extLst>
          </p:cNvPr>
          <p:cNvSpPr/>
          <p:nvPr/>
        </p:nvSpPr>
        <p:spPr>
          <a:xfrm>
            <a:off x="2105556" y="4607959"/>
            <a:ext cx="984275" cy="467493"/>
          </a:xfrm>
          <a:prstGeom prst="rect">
            <a:avLst/>
          </a:prstGeom>
          <a:noFill/>
          <a:ln w="31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F1B60D7-1746-C34E-889A-0426A9DF9E24}"/>
              </a:ext>
            </a:extLst>
          </p:cNvPr>
          <p:cNvSpPr/>
          <p:nvPr/>
        </p:nvSpPr>
        <p:spPr>
          <a:xfrm>
            <a:off x="3970720" y="4804159"/>
            <a:ext cx="432048" cy="282144"/>
          </a:xfrm>
          <a:prstGeom prst="rect">
            <a:avLst/>
          </a:prstGeom>
          <a:noFill/>
          <a:ln w="31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D60DFC1E-DBD4-0C45-87E5-ADF454F5EB3F}"/>
              </a:ext>
            </a:extLst>
          </p:cNvPr>
          <p:cNvCxnSpPr>
            <a:cxnSpLocks/>
          </p:cNvCxnSpPr>
          <p:nvPr/>
        </p:nvCxnSpPr>
        <p:spPr>
          <a:xfrm>
            <a:off x="6651742" y="2221550"/>
            <a:ext cx="0" cy="823562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16AFB72-C186-164D-99B8-7D4CD8084160}"/>
              </a:ext>
            </a:extLst>
          </p:cNvPr>
          <p:cNvSpPr txBox="1"/>
          <p:nvPr/>
        </p:nvSpPr>
        <p:spPr>
          <a:xfrm>
            <a:off x="6215174" y="3045112"/>
            <a:ext cx="898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Ngày dự kiến thanh oán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894911E5-CBDB-D348-9B6E-8041F874A557}"/>
              </a:ext>
            </a:extLst>
          </p:cNvPr>
          <p:cNvCxnSpPr>
            <a:cxnSpLocks/>
          </p:cNvCxnSpPr>
          <p:nvPr/>
        </p:nvCxnSpPr>
        <p:spPr>
          <a:xfrm>
            <a:off x="7428690" y="2271228"/>
            <a:ext cx="0" cy="823562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B7B5ABF-AD40-5D4F-9157-B69834026580}"/>
              </a:ext>
            </a:extLst>
          </p:cNvPr>
          <p:cNvSpPr txBox="1"/>
          <p:nvPr/>
        </p:nvSpPr>
        <p:spPr>
          <a:xfrm>
            <a:off x="7156019" y="3094790"/>
            <a:ext cx="5886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Giá bán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BF0F872-8891-A045-9C45-7EE024F323F0}"/>
              </a:ext>
            </a:extLst>
          </p:cNvPr>
          <p:cNvCxnSpPr>
            <a:cxnSpLocks/>
          </p:cNvCxnSpPr>
          <p:nvPr/>
        </p:nvCxnSpPr>
        <p:spPr>
          <a:xfrm>
            <a:off x="8129084" y="2248282"/>
            <a:ext cx="0" cy="823562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50CFD80-F5F5-6D4E-A343-6D6F39A07C68}"/>
              </a:ext>
            </a:extLst>
          </p:cNvPr>
          <p:cNvSpPr txBox="1"/>
          <p:nvPr/>
        </p:nvSpPr>
        <p:spPr>
          <a:xfrm>
            <a:off x="7777914" y="3072014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Phí bán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3FCDF949-F4E8-7D43-A70D-8F9D0818645E}"/>
              </a:ext>
            </a:extLst>
          </p:cNvPr>
          <p:cNvCxnSpPr>
            <a:cxnSpLocks/>
          </p:cNvCxnSpPr>
          <p:nvPr/>
        </p:nvCxnSpPr>
        <p:spPr>
          <a:xfrm>
            <a:off x="8991430" y="2275241"/>
            <a:ext cx="0" cy="823562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02FD365-6E7D-DD44-8729-A14A0E0C8633}"/>
              </a:ext>
            </a:extLst>
          </p:cNvPr>
          <p:cNvSpPr txBox="1"/>
          <p:nvPr/>
        </p:nvSpPr>
        <p:spPr>
          <a:xfrm>
            <a:off x="8640260" y="3098973"/>
            <a:ext cx="11144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Số tiền thanh toán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971279-6A1D-4C45-A48A-DE6E675C955E}"/>
              </a:ext>
            </a:extLst>
          </p:cNvPr>
          <p:cNvSpPr txBox="1"/>
          <p:nvPr/>
        </p:nvSpPr>
        <p:spPr>
          <a:xfrm>
            <a:off x="2774078" y="855788"/>
            <a:ext cx="19992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lang="en-US" altLang="ko-KR" sz="1000" smtClean="0">
                <a:solidFill>
                  <a:srgbClr val="0070C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K0 có dữ liệu, hiển thị bằng dấu (-)</a:t>
            </a:r>
            <a:endParaRPr lang="en-US" sz="1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D10B28D-BBF2-4A44-8E9E-491F9A73E671}"/>
              </a:ext>
            </a:extLst>
          </p:cNvPr>
          <p:cNvSpPr/>
          <p:nvPr/>
        </p:nvSpPr>
        <p:spPr>
          <a:xfrm>
            <a:off x="3059355" y="1355918"/>
            <a:ext cx="1011737" cy="915309"/>
          </a:xfrm>
          <a:prstGeom prst="rect">
            <a:avLst/>
          </a:prstGeom>
          <a:noFill/>
          <a:ln w="31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5810294C-6029-0140-9C76-C6097A6F5102}"/>
              </a:ext>
            </a:extLst>
          </p:cNvPr>
          <p:cNvCxnSpPr>
            <a:cxnSpLocks/>
          </p:cNvCxnSpPr>
          <p:nvPr/>
        </p:nvCxnSpPr>
        <p:spPr>
          <a:xfrm flipV="1">
            <a:off x="3584848" y="1124744"/>
            <a:ext cx="0" cy="305156"/>
          </a:xfrm>
          <a:prstGeom prst="straightConnector1">
            <a:avLst/>
          </a:prstGeom>
          <a:ln w="3175">
            <a:solidFill>
              <a:srgbClr val="0070C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430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5FDC45-E7AC-014E-86A9-FD5CC62B34F5}"/>
              </a:ext>
            </a:extLst>
          </p:cNvPr>
          <p:cNvSpPr txBox="1"/>
          <p:nvPr/>
        </p:nvSpPr>
        <p:spPr>
          <a:xfrm>
            <a:off x="344488" y="2853253"/>
            <a:ext cx="989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mtClean="0">
                <a:solidFill>
                  <a:srgbClr val="4B4C58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Naver</a:t>
            </a:r>
            <a:endParaRPr lang="en-US" altLang="ko-KR" sz="2400" b="1" dirty="0">
              <a:solidFill>
                <a:srgbClr val="4B4C58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D0E092-EAD1-1449-86F3-6C752A6C7AD9}"/>
              </a:ext>
            </a:extLst>
          </p:cNvPr>
          <p:cNvSpPr txBox="1"/>
          <p:nvPr/>
        </p:nvSpPr>
        <p:spPr>
          <a:xfrm>
            <a:off x="374438" y="2670820"/>
            <a:ext cx="2597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>
                <a:solidFill>
                  <a:srgbClr val="E72F14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Giải pháp bán vé toàn diện - </a:t>
            </a:r>
            <a:r>
              <a:rPr lang="ko-KR" altLang="en-US" sz="1200" smtClean="0">
                <a:solidFill>
                  <a:srgbClr val="E72F14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200" smtClean="0">
                <a:solidFill>
                  <a:srgbClr val="E72F14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T-Bridge</a:t>
            </a:r>
            <a:r>
              <a:rPr lang="ko-KR" altLang="en-US" sz="1200" smtClean="0">
                <a:solidFill>
                  <a:srgbClr val="E72F14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endParaRPr lang="ko-KR" altLang="en-US" sz="1200" dirty="0">
              <a:solidFill>
                <a:srgbClr val="E72F14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0565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464" y="28"/>
            <a:ext cx="7957637" cy="521221"/>
          </a:xfrm>
          <a:ln w="3175">
            <a:noFil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[Naver Booking]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Quản lý đơn hàng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endParaRPr lang="ko-KR" altLang="en-US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3C786F-A3C2-B242-9681-EAB4CE56838B}"/>
              </a:ext>
            </a:extLst>
          </p:cNvPr>
          <p:cNvSpPr txBox="1"/>
          <p:nvPr/>
        </p:nvSpPr>
        <p:spPr>
          <a:xfrm>
            <a:off x="416496" y="620688"/>
            <a:ext cx="9289032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r>
              <a:rPr kumimoji="1"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Vị trí thu thập quản lý đơn hàng :</a:t>
            </a:r>
            <a:r>
              <a:rPr kumimoji="1" lang="ko-KR" altLang="en-US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endParaRPr kumimoji="1" lang="en-US" altLang="ko-KR" sz="1050" b="1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619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Naver Booking partner center</a:t>
            </a:r>
            <a:r>
              <a:rPr kumimoji="1"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&gt;</a:t>
            </a:r>
            <a:r>
              <a:rPr kumimoji="1" lang="ko-KR" altLang="en-US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Toàn bộ người đặt</a:t>
            </a:r>
            <a:r>
              <a:rPr kumimoji="1"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z="1050" dirty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</a:t>
            </a:r>
            <a:r>
              <a:rPr kumimoji="1" lang="ko-KR" altLang="en-US" sz="1050" dirty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dirty="0">
                <a:latin typeface="Times New Roman" pitchFamily="18" charset="0"/>
                <a:cs typeface="Times New Roman" pitchFamily="18" charset="0"/>
                <a:hlinkClick r:id="rId3"/>
              </a:rPr>
              <a:t>https://partner.booking.naver.com/booking-list-view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Phạm vi dữ liệu thu thập</a:t>
            </a:r>
            <a:r>
              <a:rPr lang="ko-KR" altLang="en-US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b="1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 </a:t>
            </a:r>
            <a:r>
              <a:rPr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Danh sách mua thỏa điều kiện tìm kiếm sau :</a:t>
            </a:r>
            <a:endParaRPr lang="en-US" altLang="ko-KR" sz="1050" b="1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56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Thời gian (dựa theo ngày sử dụng)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</a:t>
            </a:r>
            <a:r>
              <a:rPr lang="ko-KR" altLang="en-US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1 năm gần nhất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(364 ngày trước, bao gồm hôm nay)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56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Trạng thái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</a:t>
            </a:r>
            <a:r>
              <a:rPr lang="ko-KR" altLang="en-US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yêu cầu,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xác nhận,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hủy,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hoàn thành,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no-show.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56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Hạng mục dữ liệu thu thập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:</a:t>
            </a:r>
            <a:r>
              <a:rPr lang="ko-KR" altLang="en-US" sz="105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trạng thái,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người đặt,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số điện thoại,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mã đặt vé,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thời gian sử dụng,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dịch vụ,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sản phẩm,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số lượng/số người,</a:t>
            </a:r>
            <a:r>
              <a:rPr lang="ko-KR" altLang="en-US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phân loại giá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56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ko-KR" sz="1050" b="1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Chính sách thu thập dữ liệu đơn hàng :</a:t>
            </a:r>
            <a:endParaRPr lang="en-US" altLang="ko-KR" sz="1050" b="1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7188" indent="-160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Lưu dữ liệu thu thập vào database T-Bridge theo mã đặt vé.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marL="357188" indent="-160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Có mã đặt vé mới thì thêm vào, mã đặt vé đã tồn tại trên database rồi thì update theo dữ liệu thu thập mới nhất.</a:t>
            </a:r>
          </a:p>
          <a:p>
            <a:pPr marL="357188" indent="-160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Chu kỳ thu thập: 30 phút/lần</a:t>
            </a:r>
            <a:endParaRPr lang="en-US" altLang="ko-KR" sz="105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pic>
        <p:nvPicPr>
          <p:cNvPr id="7" name="그림 10">
            <a:extLst>
              <a:ext uri="{FF2B5EF4-FFF2-40B4-BE49-F238E27FC236}">
                <a16:creationId xmlns:a16="http://schemas.microsoft.com/office/drawing/2014/main" id="{5F75DEFF-6ADC-1E4E-AB3C-9BB63EC7B03F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16496" y="3886977"/>
            <a:ext cx="4060945" cy="2116763"/>
          </a:xfrm>
          <a:prstGeom prst="rect">
            <a:avLst/>
          </a:prstGeom>
        </p:spPr>
      </p:pic>
      <p:pic>
        <p:nvPicPr>
          <p:cNvPr id="8" name="그림 4">
            <a:extLst>
              <a:ext uri="{FF2B5EF4-FFF2-40B4-BE49-F238E27FC236}">
                <a16:creationId xmlns:a16="http://schemas.microsoft.com/office/drawing/2014/main" id="{A9AC928B-333A-9746-93F6-4E4160F173D6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934542" y="3777258"/>
            <a:ext cx="4684421" cy="2432937"/>
          </a:xfrm>
          <a:prstGeom prst="rect">
            <a:avLst/>
          </a:prstGeom>
        </p:spPr>
      </p:pic>
      <p:sp>
        <p:nvSpPr>
          <p:cNvPr id="9" name="직사각형 6">
            <a:extLst>
              <a:ext uri="{FF2B5EF4-FFF2-40B4-BE49-F238E27FC236}">
                <a16:creationId xmlns:a16="http://schemas.microsoft.com/office/drawing/2014/main" id="{059B7106-BA47-B442-8B63-0C528097E6D8}"/>
              </a:ext>
            </a:extLst>
          </p:cNvPr>
          <p:cNvSpPr/>
          <p:nvPr/>
        </p:nvSpPr>
        <p:spPr>
          <a:xfrm>
            <a:off x="3219389" y="4947326"/>
            <a:ext cx="509475" cy="20986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직사각형 7">
            <a:extLst>
              <a:ext uri="{FF2B5EF4-FFF2-40B4-BE49-F238E27FC236}">
                <a16:creationId xmlns:a16="http://schemas.microsoft.com/office/drawing/2014/main" id="{3718D496-C5D0-0446-BD94-A53BE50285EA}"/>
              </a:ext>
            </a:extLst>
          </p:cNvPr>
          <p:cNvSpPr/>
          <p:nvPr/>
        </p:nvSpPr>
        <p:spPr>
          <a:xfrm>
            <a:off x="5673079" y="4945360"/>
            <a:ext cx="3945883" cy="1264836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5DE062-CED5-5042-9549-628117242037}"/>
              </a:ext>
            </a:extLst>
          </p:cNvPr>
          <p:cNvSpPr txBox="1"/>
          <p:nvPr/>
        </p:nvSpPr>
        <p:spPr>
          <a:xfrm>
            <a:off x="5673078" y="5924012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Vùng thu thập</a:t>
            </a:r>
            <a:endParaRPr kumimoji="1" lang="ko-KR" altLang="en-US" sz="1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B39190-692F-A24D-94F0-5A8961E58379}"/>
              </a:ext>
            </a:extLst>
          </p:cNvPr>
          <p:cNvSpPr txBox="1"/>
          <p:nvPr/>
        </p:nvSpPr>
        <p:spPr>
          <a:xfrm>
            <a:off x="3321852" y="4724711"/>
            <a:ext cx="51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Click</a:t>
            </a:r>
            <a:endParaRPr kumimoji="1" lang="ko-KR" altLang="en-US" sz="1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직사각형 11">
            <a:extLst>
              <a:ext uri="{FF2B5EF4-FFF2-40B4-BE49-F238E27FC236}">
                <a16:creationId xmlns:a16="http://schemas.microsoft.com/office/drawing/2014/main" id="{FA7F4719-6CEF-B54A-AAB7-8849166301D5}"/>
              </a:ext>
            </a:extLst>
          </p:cNvPr>
          <p:cNvSpPr/>
          <p:nvPr/>
        </p:nvSpPr>
        <p:spPr>
          <a:xfrm>
            <a:off x="4879546" y="4724711"/>
            <a:ext cx="649518" cy="26470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E878BDF-C9DD-7B49-8D3A-C07A672D6C70}"/>
              </a:ext>
            </a:extLst>
          </p:cNvPr>
          <p:cNvCxnSpPr>
            <a:cxnSpLocks/>
          </p:cNvCxnSpPr>
          <p:nvPr/>
        </p:nvCxnSpPr>
        <p:spPr>
          <a:xfrm>
            <a:off x="3728864" y="5085184"/>
            <a:ext cx="936104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5">
            <a:extLst>
              <a:ext uri="{FF2B5EF4-FFF2-40B4-BE49-F238E27FC236}">
                <a16:creationId xmlns:a16="http://schemas.microsoft.com/office/drawing/2014/main" id="{522E0CD3-56A9-6944-9EE4-679C3B461E7C}"/>
              </a:ext>
            </a:extLst>
          </p:cNvPr>
          <p:cNvCxnSpPr>
            <a:cxnSpLocks/>
          </p:cNvCxnSpPr>
          <p:nvPr/>
        </p:nvCxnSpPr>
        <p:spPr>
          <a:xfrm>
            <a:off x="5313040" y="5024065"/>
            <a:ext cx="360038" cy="349151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9E33BDC-B8E9-1F4B-A68A-D02A50ADB967}"/>
              </a:ext>
            </a:extLst>
          </p:cNvPr>
          <p:cNvSpPr txBox="1"/>
          <p:nvPr/>
        </p:nvSpPr>
        <p:spPr>
          <a:xfrm>
            <a:off x="4573315" y="4509849"/>
            <a:ext cx="51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Click</a:t>
            </a:r>
            <a:endParaRPr kumimoji="1" lang="ko-KR" altLang="en-US" sz="1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0843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464" y="28"/>
            <a:ext cx="7957637" cy="521221"/>
          </a:xfrm>
          <a:ln w="3175">
            <a:noFil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[Naver]</a:t>
            </a:r>
            <a:r>
              <a:rPr kumimoji="1" lang="ko-KR" altLang="en-US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 </a:t>
            </a:r>
            <a:r>
              <a:rPr kumimoji="1" lang="en-US" altLang="ko-KR" smtClean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Phương án hiển thị dữ liệu thu thập trên danh sách quản lý đơn hàng</a:t>
            </a:r>
            <a:endParaRPr lang="ko-KR" altLang="en-US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BEA422-E74D-3A44-84CD-AF9BE0DE177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2480" y="1772816"/>
            <a:ext cx="9073008" cy="1192662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87C50B0-B4BD-3644-ABB6-54AD21B688F0}"/>
              </a:ext>
            </a:extLst>
          </p:cNvPr>
          <p:cNvCxnSpPr>
            <a:cxnSpLocks/>
          </p:cNvCxnSpPr>
          <p:nvPr/>
        </p:nvCxnSpPr>
        <p:spPr>
          <a:xfrm>
            <a:off x="632520" y="2893470"/>
            <a:ext cx="432049" cy="1191701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137D104-215C-7549-ABEE-8E792C6B92A2}"/>
              </a:ext>
            </a:extLst>
          </p:cNvPr>
          <p:cNvCxnSpPr/>
          <p:nvPr/>
        </p:nvCxnSpPr>
        <p:spPr>
          <a:xfrm>
            <a:off x="1280592" y="2893470"/>
            <a:ext cx="0" cy="319506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C81F10F-D3EA-DD4B-A8B5-60E4B9836C84}"/>
              </a:ext>
            </a:extLst>
          </p:cNvPr>
          <p:cNvCxnSpPr/>
          <p:nvPr/>
        </p:nvCxnSpPr>
        <p:spPr>
          <a:xfrm>
            <a:off x="1856656" y="2893470"/>
            <a:ext cx="0" cy="319506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2E6A1B9-6E8F-3A40-A475-36C3B8318FB1}"/>
              </a:ext>
            </a:extLst>
          </p:cNvPr>
          <p:cNvCxnSpPr/>
          <p:nvPr/>
        </p:nvCxnSpPr>
        <p:spPr>
          <a:xfrm>
            <a:off x="2576736" y="2893470"/>
            <a:ext cx="0" cy="319506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107E2B1A-D19A-184B-ADFC-DDCEB6317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459245"/>
              </p:ext>
            </p:extLst>
          </p:nvPr>
        </p:nvGraphicFramePr>
        <p:xfrm>
          <a:off x="933386" y="4112962"/>
          <a:ext cx="2474607" cy="20156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2126">
                  <a:extLst>
                    <a:ext uri="{9D8B030D-6E8A-4147-A177-3AD203B41FA5}">
                      <a16:colId xmlns:a16="http://schemas.microsoft.com/office/drawing/2014/main" val="2747307077"/>
                    </a:ext>
                  </a:extLst>
                </a:gridCol>
                <a:gridCol w="1332481">
                  <a:extLst>
                    <a:ext uri="{9D8B030D-6E8A-4147-A177-3AD203B41FA5}">
                      <a16:colId xmlns:a16="http://schemas.microsoft.com/office/drawing/2014/main" val="3406549863"/>
                    </a:ext>
                  </a:extLst>
                </a:gridCol>
              </a:tblGrid>
              <a:tr h="1589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Trạng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thái NB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Trạng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thái T-Bridge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491643"/>
                  </a:ext>
                </a:extLst>
              </a:tr>
              <a:tr h="3178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Yêu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cầu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Mua xong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211486"/>
                  </a:ext>
                </a:extLst>
              </a:tr>
              <a:tr h="4395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Xác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nhận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Mua xong</a:t>
                      </a:r>
                      <a:endParaRPr lang="ko-KR" altLang="en-US" sz="1000" smtClean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4332340"/>
                  </a:ext>
                </a:extLst>
              </a:tr>
              <a:tr h="3381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Hoàn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tất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Sử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dụng xong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807413"/>
                  </a:ext>
                </a:extLst>
              </a:tr>
              <a:tr h="3381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Hủy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Hoàn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tiền xong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616429"/>
                  </a:ext>
                </a:extLst>
              </a:tr>
              <a:tr h="3381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No-show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Hết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Nanum Gothic" panose="020D0604000000000000" pitchFamily="34" charset="-127"/>
                          <a:cs typeface="Times New Roman" pitchFamily="18" charset="0"/>
                        </a:rPr>
                        <a:t> hạn sử dụng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 New Roman" pitchFamily="18" charset="0"/>
                        <a:ea typeface="Nanum Gothic" panose="020D0604000000000000" pitchFamily="34" charset="-127"/>
                        <a:cs typeface="Times New Roman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34154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BF1E4D1-1683-DE43-9F7B-BCAACCDF550F}"/>
              </a:ext>
            </a:extLst>
          </p:cNvPr>
          <p:cNvSpPr txBox="1"/>
          <p:nvPr/>
        </p:nvSpPr>
        <p:spPr>
          <a:xfrm>
            <a:off x="957490" y="3212976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NAVER</a:t>
            </a:r>
            <a:endParaRPr kumimoji="1" lang="ko-KR" altLang="en-US" sz="1000" dirty="0"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25EB9C-FA17-C746-B252-CE831CD74679}"/>
              </a:ext>
            </a:extLst>
          </p:cNvPr>
          <p:cNvSpPr txBox="1"/>
          <p:nvPr/>
        </p:nvSpPr>
        <p:spPr>
          <a:xfrm>
            <a:off x="1569557" y="3223313"/>
            <a:ext cx="652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vi-VN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Tự động </a:t>
            </a:r>
            <a:endParaRPr kumimoji="1" lang="en-US" altLang="ko-KR" sz="1000" smtClean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  <a:p>
            <a:pPr algn="ctr"/>
            <a:r>
              <a:rPr kumimoji="1" lang="vi-VN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sinh ra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0DCF73-7CB0-3C42-AFAE-06D76A41C664}"/>
              </a:ext>
            </a:extLst>
          </p:cNvPr>
          <p:cNvSpPr txBox="1"/>
          <p:nvPr/>
        </p:nvSpPr>
        <p:spPr>
          <a:xfrm>
            <a:off x="2279970" y="3223313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Mã đặt vé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D90F8BE4-2EBA-CA48-BE23-2B5E77E46EB1}"/>
              </a:ext>
            </a:extLst>
          </p:cNvPr>
          <p:cNvCxnSpPr/>
          <p:nvPr/>
        </p:nvCxnSpPr>
        <p:spPr>
          <a:xfrm>
            <a:off x="7955818" y="2944572"/>
            <a:ext cx="0" cy="319506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BC675D4-17FC-8C4C-826A-10E7A89CF85F}"/>
              </a:ext>
            </a:extLst>
          </p:cNvPr>
          <p:cNvSpPr txBox="1"/>
          <p:nvPr/>
        </p:nvSpPr>
        <p:spPr>
          <a:xfrm>
            <a:off x="7647399" y="3274415"/>
            <a:ext cx="7024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Người đặt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480A3918-2B9D-F341-AC77-43B2965545B2}"/>
              </a:ext>
            </a:extLst>
          </p:cNvPr>
          <p:cNvCxnSpPr/>
          <p:nvPr/>
        </p:nvCxnSpPr>
        <p:spPr>
          <a:xfrm>
            <a:off x="8522199" y="2944572"/>
            <a:ext cx="0" cy="319506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B63076E-5FA1-D342-B056-39486CCCC4B8}"/>
              </a:ext>
            </a:extLst>
          </p:cNvPr>
          <p:cNvSpPr txBox="1"/>
          <p:nvPr/>
        </p:nvSpPr>
        <p:spPr>
          <a:xfrm>
            <a:off x="8213780" y="3274415"/>
            <a:ext cx="4267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SĐT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0E3659F-6963-E54A-8ADA-F2F99BEAD956}"/>
              </a:ext>
            </a:extLst>
          </p:cNvPr>
          <p:cNvSpPr/>
          <p:nvPr/>
        </p:nvSpPr>
        <p:spPr>
          <a:xfrm>
            <a:off x="886430" y="1751910"/>
            <a:ext cx="178139" cy="1192662"/>
          </a:xfrm>
          <a:prstGeom prst="rect">
            <a:avLst/>
          </a:prstGeom>
          <a:noFill/>
          <a:ln w="31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23AB4AA0-DB61-9D45-A580-76B94BC31A35}"/>
              </a:ext>
            </a:extLst>
          </p:cNvPr>
          <p:cNvCxnSpPr>
            <a:cxnSpLocks/>
          </p:cNvCxnSpPr>
          <p:nvPr/>
        </p:nvCxnSpPr>
        <p:spPr>
          <a:xfrm flipV="1">
            <a:off x="968093" y="1213325"/>
            <a:ext cx="0" cy="648072"/>
          </a:xfrm>
          <a:prstGeom prst="straightConnector1">
            <a:avLst/>
          </a:prstGeom>
          <a:ln w="3175">
            <a:solidFill>
              <a:srgbClr val="0070C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2995174-323D-344D-AB85-FBA19A0F1158}"/>
              </a:ext>
            </a:extLst>
          </p:cNvPr>
          <p:cNvSpPr txBox="1"/>
          <p:nvPr/>
        </p:nvSpPr>
        <p:spPr>
          <a:xfrm>
            <a:off x="351193" y="975034"/>
            <a:ext cx="19992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lang="en-US" altLang="ko-KR" sz="1000" smtClean="0">
                <a:solidFill>
                  <a:srgbClr val="0070C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K0 có dữ liệu, hiển thị bằng dấu (-)</a:t>
            </a:r>
            <a:endParaRPr lang="en-US" sz="1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91AF8E83-1ABE-F14D-AB68-526C7C867D06}"/>
              </a:ext>
            </a:extLst>
          </p:cNvPr>
          <p:cNvCxnSpPr/>
          <p:nvPr/>
        </p:nvCxnSpPr>
        <p:spPr>
          <a:xfrm>
            <a:off x="4088084" y="2892509"/>
            <a:ext cx="0" cy="319506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8E38F55-4A0E-2D4A-9503-C7E3CF69D3E0}"/>
              </a:ext>
            </a:extLst>
          </p:cNvPr>
          <p:cNvSpPr txBox="1"/>
          <p:nvPr/>
        </p:nvSpPr>
        <p:spPr>
          <a:xfrm>
            <a:off x="3791318" y="3222352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Mã đặt vé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F53E4D47-0FA2-0A47-8A73-93F9F8EC5C61}"/>
              </a:ext>
            </a:extLst>
          </p:cNvPr>
          <p:cNvCxnSpPr/>
          <p:nvPr/>
        </p:nvCxnSpPr>
        <p:spPr>
          <a:xfrm>
            <a:off x="5042077" y="2916837"/>
            <a:ext cx="0" cy="319506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52F82BD-FE8C-1C40-9712-9DE1D82D1C2D}"/>
              </a:ext>
            </a:extLst>
          </p:cNvPr>
          <p:cNvSpPr txBox="1"/>
          <p:nvPr/>
        </p:nvSpPr>
        <p:spPr>
          <a:xfrm>
            <a:off x="4810707" y="3258383"/>
            <a:ext cx="5950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Dịch vụ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EDCF26B6-7565-0F41-970F-6C6FC83E6D56}"/>
              </a:ext>
            </a:extLst>
          </p:cNvPr>
          <p:cNvCxnSpPr/>
          <p:nvPr/>
        </p:nvCxnSpPr>
        <p:spPr>
          <a:xfrm>
            <a:off x="6553425" y="2951252"/>
            <a:ext cx="0" cy="319506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135D8C5-AB68-9649-955D-387CACFBA136}"/>
              </a:ext>
            </a:extLst>
          </p:cNvPr>
          <p:cNvSpPr txBox="1"/>
          <p:nvPr/>
        </p:nvSpPr>
        <p:spPr>
          <a:xfrm>
            <a:off x="6097669" y="3292798"/>
            <a:ext cx="943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Ngày sử dụng + sản phẩm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CA6F6F39-3444-A145-B903-97A5F3A599D1}"/>
              </a:ext>
            </a:extLst>
          </p:cNvPr>
          <p:cNvCxnSpPr/>
          <p:nvPr/>
        </p:nvCxnSpPr>
        <p:spPr>
          <a:xfrm>
            <a:off x="7391824" y="2950851"/>
            <a:ext cx="0" cy="319506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0E146CA-E5B6-8748-8DB4-2141D6F71D5F}"/>
              </a:ext>
            </a:extLst>
          </p:cNvPr>
          <p:cNvSpPr txBox="1"/>
          <p:nvPr/>
        </p:nvSpPr>
        <p:spPr>
          <a:xfrm>
            <a:off x="7160454" y="3292397"/>
            <a:ext cx="5405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Option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C53677B-E9CC-7E43-B472-9F2B0D11318B}"/>
              </a:ext>
            </a:extLst>
          </p:cNvPr>
          <p:cNvSpPr txBox="1"/>
          <p:nvPr/>
        </p:nvSpPr>
        <p:spPr>
          <a:xfrm>
            <a:off x="8870531" y="3256991"/>
            <a:ext cx="854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smtClean="0">
                <a:solidFill>
                  <a:srgbClr val="C00000"/>
                </a:solidFill>
                <a:latin typeface="Times New Roman" pitchFamily="18" charset="0"/>
                <a:ea typeface="Nanum Gothic" panose="020D0604000000000000" pitchFamily="34" charset="-127"/>
                <a:cs typeface="Times New Roman" pitchFamily="18" charset="0"/>
              </a:rPr>
              <a:t>Phân loại giá</a:t>
            </a:r>
            <a:endParaRPr kumimoji="1" lang="ko-KR" altLang="en-US" sz="1000" dirty="0">
              <a:solidFill>
                <a:srgbClr val="C00000"/>
              </a:solidFill>
              <a:latin typeface="Times New Roman" pitchFamily="18" charset="0"/>
              <a:ea typeface="Nanum Gothic" panose="020D0604000000000000" pitchFamily="34" charset="-127"/>
              <a:cs typeface="Times New Roman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26CAE28-DCF7-A84E-AF44-DC5C49E118B7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64296" y="4085171"/>
            <a:ext cx="5178258" cy="236816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A6A7679-ED96-1A46-A888-2562ED27AC00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28464" y="4200649"/>
            <a:ext cx="693745" cy="1927966"/>
          </a:xfrm>
          <a:prstGeom prst="rect">
            <a:avLst/>
          </a:prstGeom>
        </p:spPr>
      </p:pic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4A60664E-16A1-C34B-9751-2B45AFED817C}"/>
              </a:ext>
            </a:extLst>
          </p:cNvPr>
          <p:cNvCxnSpPr/>
          <p:nvPr/>
        </p:nvCxnSpPr>
        <p:spPr>
          <a:xfrm>
            <a:off x="9142554" y="2944572"/>
            <a:ext cx="0" cy="319506"/>
          </a:xfrm>
          <a:prstGeom prst="straightConnector1">
            <a:avLst/>
          </a:prstGeom>
          <a:ln w="3175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EDB4936-4FCF-E449-AE13-24E274503A0A}"/>
              </a:ext>
            </a:extLst>
          </p:cNvPr>
          <p:cNvSpPr/>
          <p:nvPr/>
        </p:nvSpPr>
        <p:spPr>
          <a:xfrm>
            <a:off x="2945537" y="1759840"/>
            <a:ext cx="738051" cy="1192662"/>
          </a:xfrm>
          <a:prstGeom prst="rect">
            <a:avLst/>
          </a:prstGeom>
          <a:noFill/>
          <a:ln w="31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84EE2CAE-8077-3D45-9B4D-55781FAA5C7F}"/>
              </a:ext>
            </a:extLst>
          </p:cNvPr>
          <p:cNvCxnSpPr>
            <a:cxnSpLocks/>
          </p:cNvCxnSpPr>
          <p:nvPr/>
        </p:nvCxnSpPr>
        <p:spPr>
          <a:xfrm flipV="1">
            <a:off x="3587112" y="1221255"/>
            <a:ext cx="0" cy="648072"/>
          </a:xfrm>
          <a:prstGeom prst="straightConnector1">
            <a:avLst/>
          </a:prstGeom>
          <a:ln w="3175">
            <a:solidFill>
              <a:srgbClr val="0070C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732A24E-377E-FB41-B327-F071A63665FF}"/>
              </a:ext>
            </a:extLst>
          </p:cNvPr>
          <p:cNvSpPr txBox="1"/>
          <p:nvPr/>
        </p:nvSpPr>
        <p:spPr>
          <a:xfrm>
            <a:off x="2970212" y="982964"/>
            <a:ext cx="19992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lang="en-US" altLang="ko-KR" sz="1000" smtClean="0">
                <a:solidFill>
                  <a:srgbClr val="0070C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K0 có dữ liệu, hiển thị bằng dấu (-)</a:t>
            </a:r>
            <a:endParaRPr lang="en-US" sz="1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EA2B108-06FE-D948-9308-CAC9020DA4CB}"/>
              </a:ext>
            </a:extLst>
          </p:cNvPr>
          <p:cNvSpPr/>
          <p:nvPr/>
        </p:nvSpPr>
        <p:spPr>
          <a:xfrm>
            <a:off x="5496711" y="1772816"/>
            <a:ext cx="738051" cy="1192662"/>
          </a:xfrm>
          <a:prstGeom prst="rect">
            <a:avLst/>
          </a:prstGeom>
          <a:noFill/>
          <a:ln w="31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22EE2C02-4101-6B4D-89BA-069B16F26287}"/>
              </a:ext>
            </a:extLst>
          </p:cNvPr>
          <p:cNvCxnSpPr>
            <a:cxnSpLocks/>
          </p:cNvCxnSpPr>
          <p:nvPr/>
        </p:nvCxnSpPr>
        <p:spPr>
          <a:xfrm flipV="1">
            <a:off x="5894407" y="1200242"/>
            <a:ext cx="0" cy="648072"/>
          </a:xfrm>
          <a:prstGeom prst="straightConnector1">
            <a:avLst/>
          </a:prstGeom>
          <a:ln w="3175">
            <a:solidFill>
              <a:srgbClr val="0070C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2D373C2-9E93-B44C-824E-7A315FC5C801}"/>
              </a:ext>
            </a:extLst>
          </p:cNvPr>
          <p:cNvSpPr txBox="1"/>
          <p:nvPr/>
        </p:nvSpPr>
        <p:spPr>
          <a:xfrm>
            <a:off x="5277507" y="961951"/>
            <a:ext cx="19992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lang="en-US" altLang="ko-KR" sz="1000" smtClean="0">
                <a:solidFill>
                  <a:srgbClr val="0070C0"/>
                </a:solidFill>
                <a:latin typeface="Times New Roman" pitchFamily="18" charset="0"/>
                <a:ea typeface="Nanum Gothic"/>
                <a:cs typeface="Times New Roman" pitchFamily="18" charset="0"/>
                <a:sym typeface="Nanum Gothic"/>
              </a:rPr>
              <a:t>K0 có dữ liệu, hiển thị bằng dấu (-)</a:t>
            </a:r>
            <a:endParaRPr lang="en-US" sz="100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613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3175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8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>
              <a:lumMod val="75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0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328339</TotalTime>
  <Words>2737</Words>
  <Application>Microsoft Office PowerPoint</Application>
  <PresentationFormat>A4 Paper (210x297 mm)</PresentationFormat>
  <Paragraphs>440</Paragraphs>
  <Slides>28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Malgun Gothic</vt:lpstr>
      <vt:lpstr>Malgun Gothic</vt:lpstr>
      <vt:lpstr>Apple SD Gothic Neo</vt:lpstr>
      <vt:lpstr>Arial</vt:lpstr>
      <vt:lpstr>Nanum Gothic</vt:lpstr>
      <vt:lpstr>Noto Sans Symbols</vt:lpstr>
      <vt:lpstr>Times New Roman</vt:lpstr>
      <vt:lpstr>Wingdings</vt:lpstr>
      <vt:lpstr>나눔고딕</vt:lpstr>
      <vt:lpstr>Office 테마</vt:lpstr>
      <vt:lpstr> T-BRIDGE: CRAWLING (THU THẬP)</vt:lpstr>
      <vt:lpstr>Chính sách cơ bản</vt:lpstr>
      <vt:lpstr>PowerPoint Presentation</vt:lpstr>
      <vt:lpstr>[Tmon] Quản lý đơn hàng </vt:lpstr>
      <vt:lpstr>[Tmon] Phương án hiển thị dữ liệu thu thập trên danh sách quản lý đơn hàng</vt:lpstr>
      <vt:lpstr>[Tmon] Quản lý đơn hàng-Main (https://ps.tmon.co.kr/daily/)</vt:lpstr>
      <vt:lpstr>[Tmon] Quản lý đơn hàng-Danh sách xử lý sử dụng_Danh sách mua hàng (https://ps.tmon.co.kr/daily/buylist)</vt:lpstr>
      <vt:lpstr>[Tmon] Quản lý đơn hàng-Danh sách xử lý sử dụng_Danh sách hủy/hoàn tiền (https://ps.tmon.co.kr/daily/cancellist)</vt:lpstr>
      <vt:lpstr>[Tmon] Quản lý đơn hàng-Danh sách xử lý sử dụng_Danh sách yêu cầu xác nhận hoàn tiền (https://ps.tmon.co.kr/daily/refundlist)</vt:lpstr>
      <vt:lpstr>[Tmon] Danh sách câu hỏi</vt:lpstr>
      <vt:lpstr>[Tmon] Quản lý câu hỏi khách hàng (https://ps.tmon.co.kr/inquiry#)</vt:lpstr>
      <vt:lpstr>[Tmon] Phương án hiển thị dữ liệu thu thập trên danh sách câu hỏi</vt:lpstr>
      <vt:lpstr>[TMON] Quản lý quyết toán</vt:lpstr>
      <vt:lpstr>[TMON] Phương án hiển thị dữ liệu thu thập trên danh sách quản lý quyết toán</vt:lpstr>
      <vt:lpstr>PowerPoint Presentation</vt:lpstr>
      <vt:lpstr>[WMP] Quản lý đơn hàng </vt:lpstr>
      <vt:lpstr>[WMP] Quản lý đơn hàng-Trong nước (https://tour-partner.wd.wemakeprice.com/activity/ticket/manage)</vt:lpstr>
      <vt:lpstr>[WMP] Quản lý đơn hàng-Nước ngoài (https://tourpartner.wd.wemakeprice.com/activity/oversea/ticket/manage)</vt:lpstr>
      <vt:lpstr>[WMP] Phương án hiển thị dữ liệu thu thập trên danh sách quản lý đơn hàng</vt:lpstr>
      <vt:lpstr>[WMP] Danh sách câu hỏi</vt:lpstr>
      <vt:lpstr>[WMP] Danh sách câu hỏi (capture 1)</vt:lpstr>
      <vt:lpstr>[WMP] Capture danh sách câu hỏi : Danh sách câu hỏi cuối cùng</vt:lpstr>
      <vt:lpstr>[WMP] Phương án hiển thị dữ liệu thu thập trên danh sách quản lý câu hỏi</vt:lpstr>
      <vt:lpstr>[WMP] Quản lý quyết toán</vt:lpstr>
      <vt:lpstr>[WMP] Phương án hiển thị dữ liệu thu thập trên danh sách Quản lý quyết toán</vt:lpstr>
      <vt:lpstr>PowerPoint Presentation</vt:lpstr>
      <vt:lpstr>[Naver Booking] Quản lý đơn hàng </vt:lpstr>
      <vt:lpstr>[Naver] Phương án hiển thị dữ liệu thu thập trên danh sách quản lý đơn hàng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박근철</dc:creator>
  <cp:lastModifiedBy>PC</cp:lastModifiedBy>
  <cp:revision>5566</cp:revision>
  <cp:lastPrinted>2014-12-04T05:42:38Z</cp:lastPrinted>
  <dcterms:created xsi:type="dcterms:W3CDTF">2012-03-06T23:59:53Z</dcterms:created>
  <dcterms:modified xsi:type="dcterms:W3CDTF">2020-07-14T03:45:05Z</dcterms:modified>
</cp:coreProperties>
</file>