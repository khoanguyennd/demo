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83"/>
  </p:notesMasterIdLst>
  <p:handoutMasterIdLst>
    <p:handoutMasterId r:id="rId84"/>
  </p:handoutMasterIdLst>
  <p:sldIdLst>
    <p:sldId id="1283" r:id="rId2"/>
    <p:sldId id="1284" r:id="rId3"/>
    <p:sldId id="1285" r:id="rId4"/>
    <p:sldId id="1229" r:id="rId5"/>
    <p:sldId id="1286" r:id="rId6"/>
    <p:sldId id="1272" r:id="rId7"/>
    <p:sldId id="1209" r:id="rId8"/>
    <p:sldId id="1287" r:id="rId9"/>
    <p:sldId id="1288" r:id="rId10"/>
    <p:sldId id="1289" r:id="rId11"/>
    <p:sldId id="1249" r:id="rId12"/>
    <p:sldId id="1290" r:id="rId13"/>
    <p:sldId id="1291" r:id="rId14"/>
    <p:sldId id="1292" r:id="rId15"/>
    <p:sldId id="1293" r:id="rId16"/>
    <p:sldId id="1294" r:id="rId17"/>
    <p:sldId id="1295" r:id="rId18"/>
    <p:sldId id="1296" r:id="rId19"/>
    <p:sldId id="1275" r:id="rId20"/>
    <p:sldId id="1297" r:id="rId21"/>
    <p:sldId id="1259" r:id="rId22"/>
    <p:sldId id="1298" r:id="rId23"/>
    <p:sldId id="1299" r:id="rId24"/>
    <p:sldId id="1300" r:id="rId25"/>
    <p:sldId id="1301" r:id="rId26"/>
    <p:sldId id="1302" r:id="rId27"/>
    <p:sldId id="1303" r:id="rId28"/>
    <p:sldId id="1304" r:id="rId29"/>
    <p:sldId id="1305" r:id="rId30"/>
    <p:sldId id="1306" r:id="rId31"/>
    <p:sldId id="1307" r:id="rId32"/>
    <p:sldId id="1308" r:id="rId33"/>
    <p:sldId id="1309" r:id="rId34"/>
    <p:sldId id="1310" r:id="rId35"/>
    <p:sldId id="1311" r:id="rId36"/>
    <p:sldId id="1312" r:id="rId37"/>
    <p:sldId id="1313" r:id="rId38"/>
    <p:sldId id="1168" r:id="rId39"/>
    <p:sldId id="1282" r:id="rId40"/>
    <p:sldId id="1314" r:id="rId41"/>
    <p:sldId id="1315" r:id="rId42"/>
    <p:sldId id="1316" r:id="rId43"/>
    <p:sldId id="1317" r:id="rId44"/>
    <p:sldId id="1318" r:id="rId45"/>
    <p:sldId id="1319" r:id="rId46"/>
    <p:sldId id="1320" r:id="rId47"/>
    <p:sldId id="1321" r:id="rId48"/>
    <p:sldId id="1180" r:id="rId49"/>
    <p:sldId id="1273" r:id="rId50"/>
    <p:sldId id="1278" r:id="rId51"/>
    <p:sldId id="1135" r:id="rId52"/>
    <p:sldId id="1186" r:id="rId53"/>
    <p:sldId id="1281" r:id="rId54"/>
    <p:sldId id="1160" r:id="rId55"/>
    <p:sldId id="1263" r:id="rId56"/>
    <p:sldId id="1182" r:id="rId57"/>
    <p:sldId id="1262" r:id="rId58"/>
    <p:sldId id="1277" r:id="rId59"/>
    <p:sldId id="1265" r:id="rId60"/>
    <p:sldId id="1246" r:id="rId61"/>
    <p:sldId id="1183" r:id="rId62"/>
    <p:sldId id="1187" r:id="rId63"/>
    <p:sldId id="1247" r:id="rId64"/>
    <p:sldId id="1245" r:id="rId65"/>
    <p:sldId id="1266" r:id="rId66"/>
    <p:sldId id="1267" r:id="rId67"/>
    <p:sldId id="1162" r:id="rId68"/>
    <p:sldId id="1184" r:id="rId69"/>
    <p:sldId id="1276" r:id="rId70"/>
    <p:sldId id="1174" r:id="rId71"/>
    <p:sldId id="1175" r:id="rId72"/>
    <p:sldId id="1230" r:id="rId73"/>
    <p:sldId id="1165" r:id="rId74"/>
    <p:sldId id="1239" r:id="rId75"/>
    <p:sldId id="1240" r:id="rId76"/>
    <p:sldId id="1241" r:id="rId77"/>
    <p:sldId id="1242" r:id="rId78"/>
    <p:sldId id="1232" r:id="rId79"/>
    <p:sldId id="1234" r:id="rId80"/>
    <p:sldId id="1237" r:id="rId81"/>
    <p:sldId id="1238" r:id="rId82"/>
  </p:sldIdLst>
  <p:sldSz cx="9906000" cy="6858000" type="A4"/>
  <p:notesSz cx="6797675" cy="9928225"/>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사항" id="{09471863-2752-CE44-A505-0F150969471E}">
          <p14:sldIdLst>
            <p14:sldId id="1283"/>
            <p14:sldId id="1284"/>
            <p14:sldId id="1285"/>
            <p14:sldId id="1229"/>
            <p14:sldId id="1286"/>
          </p14:sldIdLst>
        </p14:section>
        <p14:section name="로그인.회원가입" id="{3013DEFF-46D2-5A41-87FC-977C89780F31}">
          <p14:sldIdLst>
            <p14:sldId id="1272"/>
            <p14:sldId id="1209"/>
            <p14:sldId id="1287"/>
            <p14:sldId id="1288"/>
            <p14:sldId id="1289"/>
            <p14:sldId id="1249"/>
            <p14:sldId id="1290"/>
            <p14:sldId id="1291"/>
            <p14:sldId id="1292"/>
            <p14:sldId id="1293"/>
            <p14:sldId id="1294"/>
            <p14:sldId id="1295"/>
            <p14:sldId id="1296"/>
          </p14:sldIdLst>
        </p14:section>
        <p14:section name="정보관리" id="{E8F91B4D-50E0-0B4F-8083-1999218E9EB9}">
          <p14:sldIdLst>
            <p14:sldId id="1275"/>
            <p14:sldId id="1297"/>
            <p14:sldId id="1259"/>
            <p14:sldId id="1298"/>
            <p14:sldId id="1299"/>
            <p14:sldId id="1300"/>
            <p14:sldId id="1301"/>
            <p14:sldId id="1302"/>
            <p14:sldId id="1303"/>
            <p14:sldId id="1304"/>
            <p14:sldId id="1305"/>
            <p14:sldId id="1306"/>
            <p14:sldId id="1307"/>
            <p14:sldId id="1308"/>
            <p14:sldId id="1309"/>
            <p14:sldId id="1310"/>
            <p14:sldId id="1311"/>
            <p14:sldId id="1312"/>
            <p14:sldId id="1313"/>
          </p14:sldIdLst>
        </p14:section>
        <p14:section name="대시보드" id="{6876C0EA-C4A7-CD4F-A28D-CAF91284CDFC}">
          <p14:sldIdLst/>
        </p14:section>
        <p14:section name="상품등록" id="{4E057667-9125-774E-BBB0-9B56FC2781F4}">
          <p14:sldIdLst>
            <p14:sldId id="1168"/>
            <p14:sldId id="1282"/>
            <p14:sldId id="1314"/>
            <p14:sldId id="1315"/>
            <p14:sldId id="1316"/>
            <p14:sldId id="1317"/>
            <p14:sldId id="1318"/>
            <p14:sldId id="1319"/>
            <p14:sldId id="1320"/>
            <p14:sldId id="1321"/>
          </p14:sldIdLst>
        </p14:section>
        <p14:section name="상품관리" id="{9D7042AE-7901-E441-A09F-55295E07D382}">
          <p14:sldIdLst/>
        </p14:section>
        <p14:section name="주문관리" id="{A1226251-E1B3-894E-A366-848E907DE444}">
          <p14:sldIdLst>
            <p14:sldId id="1180"/>
            <p14:sldId id="1273"/>
            <p14:sldId id="1278"/>
            <p14:sldId id="1135"/>
            <p14:sldId id="1186"/>
            <p14:sldId id="1281"/>
          </p14:sldIdLst>
        </p14:section>
        <p14:section name="매출/정산관리" id="{9CB1AE5B-D6A0-DD48-9D67-BDB9C88C291B}">
          <p14:sldIdLst>
            <p14:sldId id="1160"/>
            <p14:sldId id="1263"/>
            <p14:sldId id="1182"/>
            <p14:sldId id="1262"/>
            <p14:sldId id="1277"/>
            <p14:sldId id="1265"/>
            <p14:sldId id="1246"/>
            <p14:sldId id="1183"/>
            <p14:sldId id="1187"/>
            <p14:sldId id="1247"/>
            <p14:sldId id="1245"/>
            <p14:sldId id="1266"/>
            <p14:sldId id="1267"/>
          </p14:sldIdLst>
        </p14:section>
        <p14:section name="문의관리" id="{82B94E56-FD8A-C348-97FA-DC077847013C}">
          <p14:sldIdLst>
            <p14:sldId id="1162"/>
            <p14:sldId id="1184"/>
            <p14:sldId id="1276"/>
          </p14:sldIdLst>
        </p14:section>
        <p14:section name="공지사항" id="{42759B3C-4EC9-6D40-AAFC-56BB2ACDEC4B}">
          <p14:sldIdLst>
            <p14:sldId id="1174"/>
            <p14:sldId id="1175"/>
            <p14:sldId id="1230"/>
          </p14:sldIdLst>
        </p14:section>
        <p14:section name="기타" id="{C64BBB4F-18C1-6B4B-8799-2E6DAD78E704}">
          <p14:sldIdLst>
            <p14:sldId id="1165"/>
            <p14:sldId id="1239"/>
            <p14:sldId id="1240"/>
            <p14:sldId id="1241"/>
            <p14:sldId id="1242"/>
            <p14:sldId id="1232"/>
            <p14:sldId id="1234"/>
            <p14:sldId id="1237"/>
            <p14:sldId id="1238"/>
          </p14:sldIdLst>
        </p14:section>
      </p14:sectionLst>
    </p:ext>
    <p:ext uri="{EFAFB233-063F-42B5-8137-9DF3F51BA10A}">
      <p15:sldGuideLst xmlns:p15="http://schemas.microsoft.com/office/powerpoint/2012/main">
        <p15:guide id="1" orient="horz" pos="586">
          <p15:clr>
            <a:srgbClr val="A4A3A4"/>
          </p15:clr>
        </p15:guide>
        <p15:guide id="2" orient="horz" pos="17">
          <p15:clr>
            <a:srgbClr val="A4A3A4"/>
          </p15:clr>
        </p15:guide>
        <p15:guide id="3" pos="2102">
          <p15:clr>
            <a:srgbClr val="A4A3A4"/>
          </p15:clr>
        </p15:guide>
        <p15:guide id="4" pos="217">
          <p15:clr>
            <a:srgbClr val="A4A3A4"/>
          </p15:clr>
        </p15:guide>
        <p15:guide id="5" pos="3434">
          <p15:clr>
            <a:srgbClr val="A4A3A4"/>
          </p15:clr>
        </p15:guide>
      </p15:sldGuideLst>
    </p:ext>
    <p:ext uri="{2D200454-40CA-4A62-9FC3-DE9A4176ACB9}">
      <p15:notesGuideLst xmlns:p15="http://schemas.microsoft.com/office/powerpoint/2012/main">
        <p15:guide id="1" orient="horz" pos="3160">
          <p15:clr>
            <a:srgbClr val="A4A3A4"/>
          </p15:clr>
        </p15:guide>
        <p15:guide id="2" pos="213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3366CC"/>
    <a:srgbClr val="E4EFFB"/>
    <a:srgbClr val="6BD0C7"/>
    <a:srgbClr val="FFFFFF"/>
    <a:srgbClr val="FF9900"/>
    <a:srgbClr val="FDEADA"/>
    <a:srgbClr val="0000FF"/>
    <a:srgbClr val="7F7F7F"/>
    <a:srgbClr val="DBE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071" autoAdjust="0"/>
  </p:normalViewPr>
  <p:slideViewPr>
    <p:cSldViewPr>
      <p:cViewPr varScale="1">
        <p:scale>
          <a:sx n="91" d="100"/>
          <a:sy n="91" d="100"/>
        </p:scale>
        <p:origin x="1188" y="90"/>
      </p:cViewPr>
      <p:guideLst>
        <p:guide orient="horz" pos="586"/>
        <p:guide orient="horz" pos="17"/>
        <p:guide pos="2102"/>
        <p:guide pos="217"/>
        <p:guide pos="3434"/>
      </p:guideLst>
    </p:cSldViewPr>
  </p:slideViewPr>
  <p:outlineViewPr>
    <p:cViewPr>
      <p:scale>
        <a:sx n="33" d="100"/>
        <a:sy n="33" d="100"/>
      </p:scale>
      <p:origin x="0" y="414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5" d="100"/>
          <a:sy n="75" d="100"/>
        </p:scale>
        <p:origin x="2312" y="184"/>
      </p:cViewPr>
      <p:guideLst>
        <p:guide orient="horz" pos="3160"/>
        <p:guide pos="213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45660" cy="496411"/>
          </a:xfrm>
          <a:prstGeom prst="rect">
            <a:avLst/>
          </a:prstGeom>
        </p:spPr>
        <p:txBody>
          <a:bodyPr vert="horz" lIns="92116" tIns="46058" rIns="92116" bIns="46058" rtlCol="0"/>
          <a:lstStyle>
            <a:lvl1pPr algn="l">
              <a:defRPr sz="1200"/>
            </a:lvl1pPr>
          </a:lstStyle>
          <a:p>
            <a:endParaRPr lang="ko-KR" altLang="en-US" dirty="0"/>
          </a:p>
        </p:txBody>
      </p:sp>
      <p:sp>
        <p:nvSpPr>
          <p:cNvPr id="3" name="날짜 개체 틀 2"/>
          <p:cNvSpPr>
            <a:spLocks noGrp="1"/>
          </p:cNvSpPr>
          <p:nvPr>
            <p:ph type="dt" sz="quarter" idx="1"/>
          </p:nvPr>
        </p:nvSpPr>
        <p:spPr>
          <a:xfrm>
            <a:off x="3850442" y="3"/>
            <a:ext cx="2945660" cy="496411"/>
          </a:xfrm>
          <a:prstGeom prst="rect">
            <a:avLst/>
          </a:prstGeom>
        </p:spPr>
        <p:txBody>
          <a:bodyPr vert="horz" lIns="92116" tIns="46058" rIns="92116" bIns="46058" rtlCol="0"/>
          <a:lstStyle>
            <a:lvl1pPr algn="r">
              <a:defRPr sz="1200"/>
            </a:lvl1pPr>
          </a:lstStyle>
          <a:p>
            <a:fld id="{E77F1F53-FE92-429B-B77C-9410AF2C6D8B}" type="datetimeFigureOut">
              <a:rPr lang="ko-KR" altLang="en-US" smtClean="0"/>
              <a:t>2020-07-06</a:t>
            </a:fld>
            <a:endParaRPr lang="ko-KR" altLang="en-US" dirty="0"/>
          </a:p>
        </p:txBody>
      </p:sp>
      <p:sp>
        <p:nvSpPr>
          <p:cNvPr id="4" name="바닥글 개체 틀 3"/>
          <p:cNvSpPr>
            <a:spLocks noGrp="1"/>
          </p:cNvSpPr>
          <p:nvPr>
            <p:ph type="ftr" sz="quarter" idx="2"/>
          </p:nvPr>
        </p:nvSpPr>
        <p:spPr>
          <a:xfrm>
            <a:off x="0" y="9430093"/>
            <a:ext cx="2945660" cy="496411"/>
          </a:xfrm>
          <a:prstGeom prst="rect">
            <a:avLst/>
          </a:prstGeom>
        </p:spPr>
        <p:txBody>
          <a:bodyPr vert="horz" lIns="92116" tIns="46058" rIns="92116" bIns="46058" rtlCol="0" anchor="b"/>
          <a:lstStyle>
            <a:lvl1pPr algn="l">
              <a:defRPr sz="1200"/>
            </a:lvl1pPr>
          </a:lstStyle>
          <a:p>
            <a:endParaRPr lang="ko-KR" altLang="en-US" dirty="0"/>
          </a:p>
        </p:txBody>
      </p:sp>
      <p:sp>
        <p:nvSpPr>
          <p:cNvPr id="5" name="슬라이드 번호 개체 틀 4"/>
          <p:cNvSpPr>
            <a:spLocks noGrp="1"/>
          </p:cNvSpPr>
          <p:nvPr>
            <p:ph type="sldNum" sz="quarter" idx="3"/>
          </p:nvPr>
        </p:nvSpPr>
        <p:spPr>
          <a:xfrm>
            <a:off x="3850442" y="9430093"/>
            <a:ext cx="2945660" cy="496411"/>
          </a:xfrm>
          <a:prstGeom prst="rect">
            <a:avLst/>
          </a:prstGeom>
        </p:spPr>
        <p:txBody>
          <a:bodyPr vert="horz" lIns="92116" tIns="46058" rIns="92116" bIns="46058" rtlCol="0" anchor="b"/>
          <a:lstStyle>
            <a:lvl1pPr algn="r">
              <a:defRPr sz="1200"/>
            </a:lvl1pPr>
          </a:lstStyle>
          <a:p>
            <a:fld id="{9A56B546-3D56-4EF0-A791-5861F55B3014}" type="slidenum">
              <a:rPr lang="ko-KR" altLang="en-US" smtClean="0"/>
              <a:t>‹#›</a:t>
            </a:fld>
            <a:endParaRPr lang="ko-KR" altLang="en-US"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45660" cy="496411"/>
          </a:xfrm>
          <a:prstGeom prst="rect">
            <a:avLst/>
          </a:prstGeom>
        </p:spPr>
        <p:txBody>
          <a:bodyPr vert="horz" lIns="92116" tIns="46058" rIns="92116" bIns="46058" rtlCol="0"/>
          <a:lstStyle>
            <a:lvl1pPr algn="l">
              <a:defRPr sz="1200"/>
            </a:lvl1pPr>
          </a:lstStyle>
          <a:p>
            <a:endParaRPr lang="ko-KR" altLang="en-US" dirty="0"/>
          </a:p>
        </p:txBody>
      </p:sp>
      <p:sp>
        <p:nvSpPr>
          <p:cNvPr id="3" name="날짜 개체 틀 2"/>
          <p:cNvSpPr>
            <a:spLocks noGrp="1"/>
          </p:cNvSpPr>
          <p:nvPr>
            <p:ph type="dt" idx="1"/>
          </p:nvPr>
        </p:nvSpPr>
        <p:spPr>
          <a:xfrm>
            <a:off x="3850442" y="3"/>
            <a:ext cx="2945660" cy="496411"/>
          </a:xfrm>
          <a:prstGeom prst="rect">
            <a:avLst/>
          </a:prstGeom>
        </p:spPr>
        <p:txBody>
          <a:bodyPr vert="horz" lIns="92116" tIns="46058" rIns="92116" bIns="46058" rtlCol="0"/>
          <a:lstStyle>
            <a:lvl1pPr algn="r">
              <a:defRPr sz="1200"/>
            </a:lvl1pPr>
          </a:lstStyle>
          <a:p>
            <a:fld id="{22AEFEEA-0787-4FF0-AF68-ECFA46180FCA}" type="datetimeFigureOut">
              <a:rPr lang="ko-KR" altLang="en-US" smtClean="0"/>
              <a:t>2020-07-06</a:t>
            </a:fld>
            <a:endParaRPr lang="ko-KR" altLang="en-US" dirty="0"/>
          </a:p>
        </p:txBody>
      </p:sp>
      <p:sp>
        <p:nvSpPr>
          <p:cNvPr id="4" name="슬라이드 이미지 개체 틀 3"/>
          <p:cNvSpPr>
            <a:spLocks noGrp="1" noRot="1" noChangeAspect="1"/>
          </p:cNvSpPr>
          <p:nvPr>
            <p:ph type="sldImg" idx="2"/>
          </p:nvPr>
        </p:nvSpPr>
        <p:spPr>
          <a:xfrm>
            <a:off x="709613" y="742950"/>
            <a:ext cx="5378450" cy="3724275"/>
          </a:xfrm>
          <a:prstGeom prst="rect">
            <a:avLst/>
          </a:prstGeom>
          <a:noFill/>
          <a:ln w="12700">
            <a:solidFill>
              <a:prstClr val="black"/>
            </a:solidFill>
          </a:ln>
        </p:spPr>
        <p:txBody>
          <a:bodyPr vert="horz" lIns="92116" tIns="46058" rIns="92116" bIns="46058" rtlCol="0" anchor="ctr"/>
          <a:lstStyle/>
          <a:p>
            <a:endParaRPr lang="ko-KR" altLang="en-US" dirty="0"/>
          </a:p>
        </p:txBody>
      </p:sp>
      <p:sp>
        <p:nvSpPr>
          <p:cNvPr id="5" name="슬라이드 노트 개체 틀 4"/>
          <p:cNvSpPr>
            <a:spLocks noGrp="1"/>
          </p:cNvSpPr>
          <p:nvPr>
            <p:ph type="body" sz="quarter" idx="3"/>
          </p:nvPr>
        </p:nvSpPr>
        <p:spPr>
          <a:xfrm>
            <a:off x="679768" y="4715908"/>
            <a:ext cx="5438140" cy="4467701"/>
          </a:xfrm>
          <a:prstGeom prst="rect">
            <a:avLst/>
          </a:prstGeom>
        </p:spPr>
        <p:txBody>
          <a:bodyPr vert="horz" lIns="92116" tIns="46058" rIns="92116" bIns="46058"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30093"/>
            <a:ext cx="2945660" cy="496411"/>
          </a:xfrm>
          <a:prstGeom prst="rect">
            <a:avLst/>
          </a:prstGeom>
        </p:spPr>
        <p:txBody>
          <a:bodyPr vert="horz" lIns="92116" tIns="46058" rIns="92116" bIns="4605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2" y="9430093"/>
            <a:ext cx="2945660" cy="496411"/>
          </a:xfrm>
          <a:prstGeom prst="rect">
            <a:avLst/>
          </a:prstGeom>
        </p:spPr>
        <p:txBody>
          <a:bodyPr vert="horz" lIns="92116" tIns="46058" rIns="92116" bIns="46058" rtlCol="0" anchor="b"/>
          <a:lstStyle>
            <a:lvl1pPr algn="r">
              <a:defRPr sz="1200"/>
            </a:lvl1pPr>
          </a:lstStyle>
          <a:p>
            <a:fld id="{779A4389-525C-4071-91C5-6AA3A3943E35}" type="slidenum">
              <a:rPr lang="ko-KR" altLang="en-US" smtClean="0"/>
              <a:t>‹#›</a:t>
            </a:fld>
            <a:endParaRPr lang="ko-KR" altLang="en-US"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3</a:t>
            </a:fld>
            <a:endParaRPr lang="ko-KR"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5</a:t>
            </a:fld>
            <a:endParaRPr lang="ko-KR"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6</a:t>
            </a:fld>
            <a:endParaRPr lang="ko-KR"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25</a:t>
            </a:fld>
            <a:endParaRPr lang="ko-KR"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26</a:t>
            </a:fld>
            <a:endParaRPr lang="ko-KR"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40</a:t>
            </a:fld>
            <a:endParaRPr lang="ko-KR"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41</a:t>
            </a:fld>
            <a:endParaRPr lang="ko-KR"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42</a:t>
            </a:fld>
            <a:endParaRPr lang="ko-KR"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43</a:t>
            </a:fld>
            <a:endParaRPr lang="ko-KR"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48</a:t>
            </a:fld>
            <a:endParaRPr lang="ko-KR"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49</a:t>
            </a:fld>
            <a:endParaRPr lang="ko-KR"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55</a:t>
            </a:fld>
            <a:endParaRPr lang="ko-KR"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56</a:t>
            </a:fld>
            <a:endParaRPr lang="ko-KR"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62</a:t>
            </a:fld>
            <a:endParaRPr lang="ko-KR"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t>65</a:t>
            </a:fld>
            <a:endParaRPr lang="ko-KR"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j. 표지">
    <p:spTree>
      <p:nvGrpSpPr>
        <p:cNvPr id="1" name=""/>
        <p:cNvGrpSpPr/>
        <p:nvPr/>
      </p:nvGrpSpPr>
      <p:grpSpPr>
        <a:xfrm>
          <a:off x="0" y="0"/>
          <a:ext cx="0" cy="0"/>
          <a:chOff x="0" y="0"/>
          <a:chExt cx="0" cy="0"/>
        </a:xfrm>
      </p:grpSpPr>
      <p:sp>
        <p:nvSpPr>
          <p:cNvPr id="2" name="제목 1"/>
          <p:cNvSpPr>
            <a:spLocks noGrp="1"/>
          </p:cNvSpPr>
          <p:nvPr>
            <p:ph type="ctrTitle" hasCustomPrompt="1"/>
          </p:nvPr>
        </p:nvSpPr>
        <p:spPr>
          <a:xfrm>
            <a:off x="272480" y="1412777"/>
            <a:ext cx="8931992" cy="1188132"/>
          </a:xfrm>
        </p:spPr>
        <p:txBody>
          <a:bodyPr>
            <a:normAutofit/>
          </a:bodyPr>
          <a:lstStyle>
            <a:lvl1pPr algn="l">
              <a:defRPr sz="32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3" name="부제목 2"/>
          <p:cNvSpPr>
            <a:spLocks noGrp="1"/>
          </p:cNvSpPr>
          <p:nvPr>
            <p:ph type="subTitle" idx="1" hasCustomPrompt="1"/>
          </p:nvPr>
        </p:nvSpPr>
        <p:spPr>
          <a:xfrm>
            <a:off x="272480" y="3429000"/>
            <a:ext cx="6084676" cy="1440160"/>
          </a:xfrm>
        </p:spPr>
        <p:txBody>
          <a:bodyPr>
            <a:normAutofit/>
          </a:bodyPr>
          <a:lstStyle>
            <a:lvl1pPr marL="0" indent="0" algn="l">
              <a:buNone/>
              <a:defRPr sz="1200" b="1">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cxnSp>
        <p:nvCxnSpPr>
          <p:cNvPr id="11" name="직선 연결선 10"/>
          <p:cNvCxnSpPr/>
          <p:nvPr userDrawn="1"/>
        </p:nvCxnSpPr>
        <p:spPr>
          <a:xfrm>
            <a:off x="200472" y="2608337"/>
            <a:ext cx="2653048"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p:nvPr userDrawn="1"/>
        </p:nvCxnSpPr>
        <p:spPr>
          <a:xfrm>
            <a:off x="2792760" y="2608337"/>
            <a:ext cx="6913215"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j.UI">
    <p:spTree>
      <p:nvGrpSpPr>
        <p:cNvPr id="1" name=""/>
        <p:cNvGrpSpPr/>
        <p:nvPr/>
      </p:nvGrpSpPr>
      <p:grpSpPr>
        <a:xfrm>
          <a:off x="0" y="0"/>
          <a:ext cx="0" cy="0"/>
          <a:chOff x="0" y="0"/>
          <a:chExt cx="0" cy="0"/>
        </a:xfrm>
      </p:grpSpPr>
      <p:sp>
        <p:nvSpPr>
          <p:cNvPr id="17" name="제목 16"/>
          <p:cNvSpPr>
            <a:spLocks noGrp="1"/>
          </p:cNvSpPr>
          <p:nvPr>
            <p:ph type="title" hasCustomPrompt="1"/>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6" name="슬라이드 번호 개체 틀 1"/>
          <p:cNvSpPr txBox="1"/>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t>‹#›</a:t>
            </a:fld>
            <a:endParaRPr lang="ko-KR" altLang="en-US" sz="1000" dirty="0">
              <a:solidFill>
                <a:schemeClr val="bg1">
                  <a:lumMod val="50000"/>
                </a:schemeClr>
              </a:solidFill>
              <a:latin typeface="나눔고딕" pitchFamily="50" charset="-127"/>
              <a:ea typeface="나눔고딕" pitchFamily="50" charset="-127"/>
            </a:endParaRPr>
          </a:p>
        </p:txBody>
      </p:sp>
      <p:cxnSp>
        <p:nvCxnSpPr>
          <p:cNvPr id="9" name="직선 연결선 7"/>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4" name="슬라이드 번호 개체 틀 1"/>
          <p:cNvSpPr txBox="1"/>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t>‹#›</a:t>
            </a:fld>
            <a:endParaRPr lang="ko-KR" altLang="en-US" sz="1000" dirty="0">
              <a:solidFill>
                <a:schemeClr val="bg1">
                  <a:lumMod val="50000"/>
                </a:schemeClr>
              </a:solidFill>
              <a:latin typeface="나눔고딕" pitchFamily="50" charset="-127"/>
              <a:ea typeface="나눔고딕" pitchFamily="50" charset="-127"/>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sj.텍스트">
    <p:spTree>
      <p:nvGrpSpPr>
        <p:cNvPr id="1" name=""/>
        <p:cNvGrpSpPr/>
        <p:nvPr/>
      </p:nvGrpSpPr>
      <p:grpSpPr>
        <a:xfrm>
          <a:off x="0" y="0"/>
          <a:ext cx="0" cy="0"/>
          <a:chOff x="0" y="0"/>
          <a:chExt cx="0" cy="0"/>
        </a:xfrm>
      </p:grpSpPr>
      <p:cxnSp>
        <p:nvCxnSpPr>
          <p:cNvPr id="8" name="직선 연결선 7"/>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hasCustomPrompt="1"/>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t>‹#›</a:t>
            </a:fld>
            <a:endParaRPr lang="ko-KR" altLang="en-US" sz="1000" dirty="0">
              <a:solidFill>
                <a:schemeClr val="bg1">
                  <a:lumMod val="50000"/>
                </a:schemeClr>
              </a:solidFill>
              <a:latin typeface="나눔고딕" pitchFamily="50" charset="-127"/>
              <a:ea typeface="나눔고딕" pitchFamily="50" charset="-127"/>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sj.텍스트_정책">
    <p:spTree>
      <p:nvGrpSpPr>
        <p:cNvPr id="1" name=""/>
        <p:cNvGrpSpPr/>
        <p:nvPr/>
      </p:nvGrpSpPr>
      <p:grpSpPr>
        <a:xfrm>
          <a:off x="0" y="0"/>
          <a:ext cx="0" cy="0"/>
          <a:chOff x="0" y="0"/>
          <a:chExt cx="0" cy="0"/>
        </a:xfrm>
      </p:grpSpPr>
      <p:sp>
        <p:nvSpPr>
          <p:cNvPr id="17" name="제목 16"/>
          <p:cNvSpPr>
            <a:spLocks noGrp="1"/>
          </p:cNvSpPr>
          <p:nvPr>
            <p:ph type="title" hasCustomPrompt="1"/>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0" name="슬라이드 번호 개체 틀 1"/>
          <p:cNvSpPr txBox="1"/>
          <p:nvPr userDrawn="1"/>
        </p:nvSpPr>
        <p:spPr>
          <a:xfrm>
            <a:off x="7501855"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t>‹#›</a:t>
            </a:fld>
            <a:endParaRPr lang="ko-KR" altLang="en-US" sz="1000" dirty="0">
              <a:solidFill>
                <a:schemeClr val="bg1">
                  <a:lumMod val="50000"/>
                </a:schemeClr>
              </a:solidFill>
              <a:latin typeface="나눔고딕" pitchFamily="50" charset="-127"/>
              <a:ea typeface="나눔고딕" pitchFamily="50" charset="-127"/>
            </a:endParaRPr>
          </a:p>
        </p:txBody>
      </p:sp>
      <p:sp>
        <p:nvSpPr>
          <p:cNvPr id="3" name="텍스트 개체 틀 2"/>
          <p:cNvSpPr>
            <a:spLocks noGrp="1"/>
          </p:cNvSpPr>
          <p:nvPr>
            <p:ph type="body" sz="quarter" idx="10" hasCustomPrompt="1"/>
          </p:nvPr>
        </p:nvSpPr>
        <p:spPr>
          <a:xfrm>
            <a:off x="344488" y="734575"/>
            <a:ext cx="8856662" cy="1871663"/>
          </a:xfrm>
          <a:ln>
            <a:noFill/>
          </a:ln>
        </p:spPr>
        <p:txBody>
          <a:bodyPr>
            <a:normAutofit/>
          </a:bodyPr>
          <a:lstStyle>
            <a:lvl1pPr>
              <a:defRPr sz="1000">
                <a:ea typeface="나눔고딕" panose="020D0604000000000000"/>
              </a:defRPr>
            </a:lvl1pPr>
            <a:lvl2pPr marL="628650" indent="-171450">
              <a:buFont typeface="Arial" panose="020B0604020202020204" pitchFamily="34" charset="0"/>
              <a:buChar char="•"/>
              <a:defRPr sz="1000">
                <a:ea typeface="나눔고딕" panose="020D0604000000000000"/>
              </a:defRPr>
            </a:lvl2pPr>
            <a:lvl3pPr marL="1085850" indent="-171450">
              <a:buFont typeface="Arial" panose="020B0604020202020204" pitchFamily="34" charset="0"/>
              <a:buChar char="•"/>
              <a:defRPr sz="1000">
                <a:ea typeface="나눔고딕" panose="020D0604000000000000"/>
              </a:defRPr>
            </a:lvl3pPr>
            <a:lvl4pPr marL="1543050" indent="-171450">
              <a:buFont typeface="Arial" panose="020B0604020202020204" pitchFamily="34" charset="0"/>
              <a:buChar char="•"/>
              <a:defRPr sz="1000">
                <a:ea typeface="나눔고딕" panose="020D0604000000000000"/>
              </a:defRPr>
            </a:lvl4pPr>
            <a:lvl5pPr marL="2000250" indent="-171450">
              <a:buFont typeface="Arial" panose="020B0604020202020204" pitchFamily="34" charset="0"/>
              <a:buChar char="•"/>
              <a:defRPr sz="1000">
                <a:ea typeface="나눔고딕" panose="020D0604000000000000"/>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cxnSp>
        <p:nvCxnSpPr>
          <p:cNvPr id="9" name="직선 연결선 7"/>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dirty="0"/>
          </a:p>
        </p:txBody>
      </p:sp>
      <p:sp>
        <p:nvSpPr>
          <p:cNvPr id="5" name="바닥글 개체 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80D61F-97A8-4139-ACBF-D3DAEA84C92B}" type="slidenum">
              <a:rPr lang="ko-KR" altLang="en-US" smtClean="0"/>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hyperlink" Target="https://developers.open-platform.or.kr/openapi/account"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juso.go.kr/addrlink/devAddrLinkRequestGuide.do?menu=roadApi" TargetMode="Externa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hyperlink" Target="https://docs.google.com/spreadsheets/d/1T8QZxxg-2RdaXTU3r-graJHn85Hu-YIMPva6jHxTov4/edit"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emf"/><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hyperlink" Target="https://ovenapp.io/view/hy3ezlZiSvwHWfkuN5Cn6Pd12N2i0nMP/Q8xcP" TargetMode="Externa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hyperlink" Target="https://ovenapp.io/view/tiQeRpxKtR4ynV4Bkk89wLkHxkycIGSr/HpGnZ" TargetMode="Externa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ovenapp.io/view/gEe0CAMfEMrej8dROCJhqaUm3MZFGrWn/TpjsO" TargetMode="Externa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ovenapp.io/view/4U8vI9wuwmJrVGxaM1ZvbMueRveKAjSP/YigfM" TargetMode="External"/><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ovenapp.io/view/4U8vI9wuwmJrVGxaM1ZvbMueRveKAjSP/YigfM" TargetMode="External"/><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emf"/></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197472" y="1268760"/>
            <a:ext cx="8931992" cy="1188132"/>
          </a:xfrm>
        </p:spPr>
        <p:txBody>
          <a:bodyPr anchor="b">
            <a:normAutofit/>
          </a:bodyPr>
          <a:lstStyle/>
          <a:p>
            <a:r>
              <a:rPr lang="en-US" altLang="ko-KR" dirty="0"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T-Bridge - </a:t>
            </a:r>
            <a:r>
              <a:rPr lang="en-US" altLang="ko-KR" dirty="0" err="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Giải</a:t>
            </a:r>
            <a:r>
              <a:rPr lang="en-US" altLang="ko-KR" dirty="0"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dirty="0" err="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pháp</a:t>
            </a:r>
            <a:r>
              <a:rPr lang="en-US" altLang="ko-KR" dirty="0"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dirty="0" err="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vé</a:t>
            </a:r>
            <a:r>
              <a:rPr lang="en-US" altLang="ko-KR" dirty="0"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dirty="0" err="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tổng</a:t>
            </a:r>
            <a:r>
              <a:rPr lang="en-US" altLang="ko-KR" dirty="0"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dirty="0" err="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hợp_PC</a:t>
            </a:r>
            <a:endParaRPr lang="ko-KR" altLang="en-US" dirty="0">
              <a:solidFill>
                <a:srgbClr val="FF6948"/>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 name="부제목 2"/>
          <p:cNvSpPr>
            <a:spLocks noGrp="1"/>
          </p:cNvSpPr>
          <p:nvPr>
            <p:ph type="subTitle" idx="1"/>
          </p:nvPr>
        </p:nvSpPr>
        <p:spPr>
          <a:xfrm>
            <a:off x="272480" y="2780928"/>
            <a:ext cx="6084676" cy="1440160"/>
          </a:xfrm>
        </p:spPr>
        <p:txBody>
          <a:bodyPr>
            <a:normAutofit/>
          </a:bodyPr>
          <a:lstStyle/>
          <a:p>
            <a:r>
              <a:rPr lang="en-US" altLang="ko-KR" dirty="0" err="1" smtClean="0">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dirty="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dirty="0" err="1" smtClean="0">
                <a:latin typeface="Times New Roman" panose="02020603050405020304" pitchFamily="18" charset="0"/>
                <a:ea typeface="Nanum Gothic" panose="020D0604000000000000" pitchFamily="34" charset="-127"/>
                <a:cs typeface="Times New Roman" panose="02020603050405020304" pitchFamily="18" charset="0"/>
              </a:rPr>
              <a:t>viết</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 12/03/2020</a:t>
            </a:r>
            <a:endParaRPr lang="en-US" altLang="ko-KR" dirty="0" smtClean="0">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dirty="0" smtClean="0">
                <a:latin typeface="Times New Roman" panose="02020603050405020304" pitchFamily="18" charset="0"/>
                <a:ea typeface="Nanum Gothic" panose="020D0604000000000000" pitchFamily="34" charset="-127"/>
                <a:cs typeface="Times New Roman" panose="02020603050405020304" pitchFamily="18" charset="0"/>
              </a:rPr>
              <a:t>Version</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 v2.0</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smtClean="0">
                <a:latin typeface="Times New Roman" panose="02020603050405020304" pitchFamily="18" charset="0"/>
                <a:cs typeface="Times New Roman" panose="02020603050405020304" pitchFamily="18" charset="0"/>
              </a:rPr>
              <a:t>Lịch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sử</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cập</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nhật</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thiết</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kế</a:t>
            </a:r>
            <a:endParaRPr lang="ko-KR" altLang="en-US" dirty="0">
              <a:latin typeface="Times New Roman" panose="02020603050405020304" pitchFamily="18" charset="0"/>
              <a:cs typeface="Times New Roman" panose="02020603050405020304" pitchFamily="18" charset="0"/>
            </a:endParaRPr>
          </a:p>
        </p:txBody>
      </p:sp>
      <p:graphicFrame>
        <p:nvGraphicFramePr>
          <p:cNvPr id="3" name="내용 개체 틀 4"/>
          <p:cNvGraphicFramePr/>
          <p:nvPr/>
        </p:nvGraphicFramePr>
        <p:xfrm>
          <a:off x="263423" y="662028"/>
          <a:ext cx="9422264" cy="2626584"/>
        </p:xfrm>
        <a:graphic>
          <a:graphicData uri="http://schemas.openxmlformats.org/drawingml/2006/table">
            <a:tbl>
              <a:tblPr firstRow="1" bandRow="1">
                <a:tableStyleId>{9D7B26C5-4107-4FEC-AEDC-1716B250A1EF}</a:tableStyleId>
              </a:tblPr>
              <a:tblGrid>
                <a:gridCol w="1017169">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6847383">
                  <a:extLst>
                    <a:ext uri="{9D8B030D-6E8A-4147-A177-3AD203B41FA5}">
                      <a16:colId xmlns:a16="http://schemas.microsoft.com/office/drawing/2014/main" val="20002"/>
                    </a:ext>
                  </a:extLst>
                </a:gridCol>
                <a:gridCol w="909640">
                  <a:extLst>
                    <a:ext uri="{9D8B030D-6E8A-4147-A177-3AD203B41FA5}">
                      <a16:colId xmlns:a16="http://schemas.microsoft.com/office/drawing/2014/main" val="20003"/>
                    </a:ext>
                  </a:extLst>
                </a:gridCol>
              </a:tblGrid>
              <a:tr h="246692">
                <a:tc>
                  <a:txBody>
                    <a:bodyPr/>
                    <a:lstStyle/>
                    <a:p>
                      <a:pPr algn="ctr" latinLnBrk="1"/>
                      <a:r>
                        <a:rPr lang="en-US" altLang="ko-KR" sz="900" b="1" dirty="0" err="1" smtClean="0">
                          <a:solidFill>
                            <a:schemeClr val="bg1"/>
                          </a:solidFill>
                          <a:latin typeface="Times New Roman" panose="02020603050405020304" pitchFamily="18" charset="0"/>
                          <a:ea typeface="나눔고딕" pitchFamily="50" charset="-127"/>
                          <a:cs typeface="Times New Roman" panose="02020603050405020304" pitchFamily="18" charset="0"/>
                        </a:rPr>
                        <a:t>Ngày</a:t>
                      </a:r>
                      <a:r>
                        <a:rPr lang="en-US" altLang="ko-KR" sz="900" b="1" dirty="0" smtClean="0">
                          <a:solidFill>
                            <a:schemeClr val="bg1"/>
                          </a:solidFill>
                          <a:latin typeface="Times New Roman" panose="02020603050405020304" pitchFamily="18" charset="0"/>
                          <a:ea typeface="나눔고딕" pitchFamily="50" charset="-127"/>
                          <a:cs typeface="Times New Roman" panose="02020603050405020304" pitchFamily="18" charset="0"/>
                        </a:rPr>
                        <a:t> </a:t>
                      </a:r>
                      <a:r>
                        <a:rPr lang="en-US" altLang="ko-KR" sz="900" b="1" dirty="0" err="1" smtClean="0">
                          <a:solidFill>
                            <a:schemeClr val="bg1"/>
                          </a:solidFill>
                          <a:latin typeface="Times New Roman" panose="02020603050405020304" pitchFamily="18" charset="0"/>
                          <a:ea typeface="나눔고딕" pitchFamily="50" charset="-127"/>
                          <a:cs typeface="Times New Roman" panose="02020603050405020304" pitchFamily="18" charset="0"/>
                        </a:rPr>
                        <a:t>viết</a:t>
                      </a:r>
                      <a:endParaRPr lang="ko-KR" altLang="en-US" sz="900" b="1" dirty="0">
                        <a:solidFill>
                          <a:schemeClr val="bg1"/>
                        </a:solidFill>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B4C58"/>
                    </a:solidFill>
                  </a:tcPr>
                </a:tc>
                <a:tc>
                  <a:txBody>
                    <a:bodyPr/>
                    <a:lstStyle/>
                    <a:p>
                      <a:pPr algn="ctr" latinLnBrk="1"/>
                      <a:r>
                        <a:rPr lang="en-US" altLang="ko-KR" sz="900" b="1" dirty="0" smtClean="0">
                          <a:solidFill>
                            <a:schemeClr val="bg1"/>
                          </a:solidFill>
                          <a:latin typeface="Times New Roman" panose="02020603050405020304" pitchFamily="18" charset="0"/>
                          <a:ea typeface="나눔고딕" pitchFamily="50" charset="-127"/>
                          <a:cs typeface="Times New Roman" panose="02020603050405020304" pitchFamily="18" charset="0"/>
                        </a:rPr>
                        <a:t>Version</a:t>
                      </a:r>
                      <a:endParaRPr lang="ko-KR" altLang="en-US" sz="900" b="1" dirty="0">
                        <a:solidFill>
                          <a:schemeClr val="bg1"/>
                        </a:solidFill>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B4C58"/>
                    </a:solidFill>
                  </a:tcPr>
                </a:tc>
                <a:tc>
                  <a:txBody>
                    <a:bodyPr/>
                    <a:lstStyle/>
                    <a:p>
                      <a:pPr algn="ctr" latinLnBrk="1"/>
                      <a:r>
                        <a:rPr lang="en-US" altLang="ko-KR" sz="900" b="1" dirty="0" err="1" smtClean="0">
                          <a:solidFill>
                            <a:schemeClr val="bg1"/>
                          </a:solidFill>
                          <a:latin typeface="Times New Roman" panose="02020603050405020304" pitchFamily="18" charset="0"/>
                          <a:ea typeface="나눔고딕" pitchFamily="50" charset="-127"/>
                          <a:cs typeface="Times New Roman" panose="02020603050405020304" pitchFamily="18" charset="0"/>
                        </a:rPr>
                        <a:t>Nội</a:t>
                      </a:r>
                      <a:r>
                        <a:rPr lang="en-US" altLang="ko-KR" sz="900" b="1" dirty="0" smtClean="0">
                          <a:solidFill>
                            <a:schemeClr val="bg1"/>
                          </a:solidFill>
                          <a:latin typeface="Times New Roman" panose="02020603050405020304" pitchFamily="18" charset="0"/>
                          <a:ea typeface="나눔고딕" pitchFamily="50" charset="-127"/>
                          <a:cs typeface="Times New Roman" panose="02020603050405020304" pitchFamily="18" charset="0"/>
                        </a:rPr>
                        <a:t> dung</a:t>
                      </a:r>
                      <a:endParaRPr lang="ko-KR" altLang="en-US" sz="900" b="1" dirty="0">
                        <a:solidFill>
                          <a:schemeClr val="bg1"/>
                        </a:solidFill>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B4C58"/>
                    </a:solidFill>
                  </a:tcPr>
                </a:tc>
                <a:tc>
                  <a:txBody>
                    <a:bodyPr/>
                    <a:lstStyle/>
                    <a:p>
                      <a:pPr algn="ctr" latinLnBrk="1"/>
                      <a:r>
                        <a:rPr lang="vi-VN" altLang="ko-KR" sz="900" b="1" dirty="0" smtClean="0">
                          <a:solidFill>
                            <a:schemeClr val="bg1"/>
                          </a:solidFill>
                          <a:latin typeface="Times New Roman" panose="02020603050405020304" pitchFamily="18" charset="0"/>
                          <a:ea typeface="나눔고딕" pitchFamily="50" charset="-127"/>
                          <a:cs typeface="Times New Roman" panose="02020603050405020304" pitchFamily="18" charset="0"/>
                        </a:rPr>
                        <a:t>Người viết</a:t>
                      </a:r>
                      <a:endParaRPr lang="ko-KR" altLang="en-US" sz="900" b="1" dirty="0">
                        <a:solidFill>
                          <a:schemeClr val="bg1"/>
                        </a:solidFill>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B4C58"/>
                    </a:solidFill>
                  </a:tcPr>
                </a:tc>
                <a:extLst>
                  <a:ext uri="{0D108BD9-81ED-4DB2-BD59-A6C34878D82A}">
                    <a16:rowId xmlns:a16="http://schemas.microsoft.com/office/drawing/2014/main" val="10000"/>
                  </a:ext>
                </a:extLst>
              </a:tr>
              <a:tr h="205689">
                <a:tc>
                  <a:txBody>
                    <a:bodyPr/>
                    <a:lstStyle/>
                    <a:p>
                      <a:pPr algn="ctr" latinLnBrk="1"/>
                      <a:r>
                        <a:rPr lang="en-US" altLang="ko-KR" sz="800" dirty="0">
                          <a:latin typeface="Times New Roman" panose="02020603050405020304" pitchFamily="18" charset="0"/>
                          <a:ea typeface="나눔고딕" pitchFamily="50" charset="-127"/>
                          <a:cs typeface="Times New Roman" panose="02020603050405020304" pitchFamily="18" charset="0"/>
                        </a:rPr>
                        <a:t>2018-08-22</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800" dirty="0">
                          <a:latin typeface="Times New Roman" panose="02020603050405020304" pitchFamily="18" charset="0"/>
                          <a:ea typeface="나눔고딕" pitchFamily="50" charset="-127"/>
                          <a:cs typeface="Times New Roman" panose="02020603050405020304" pitchFamily="18" charset="0"/>
                        </a:rPr>
                        <a:t>0.1</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vi-VN" altLang="ko-KR" sz="800" dirty="0" smtClean="0">
                          <a:latin typeface="Times New Roman" panose="02020603050405020304" pitchFamily="18" charset="0"/>
                          <a:ea typeface="나눔고딕" pitchFamily="50" charset="-127"/>
                          <a:cs typeface="Times New Roman" panose="02020603050405020304" pitchFamily="18" charset="0"/>
                        </a:rPr>
                        <a:t>Giới thiệu dịch vụ, mục đích, kịch bản người dùng, bản thảo kế hoạch</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05689">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800" dirty="0">
                          <a:latin typeface="Times New Roman" panose="02020603050405020304" pitchFamily="18" charset="0"/>
                          <a:ea typeface="나눔고딕" pitchFamily="50" charset="-127"/>
                          <a:cs typeface="Times New Roman" panose="02020603050405020304" pitchFamily="18" charset="0"/>
                        </a:rPr>
                        <a:t>0.2</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err="1" smtClean="0">
                          <a:latin typeface="Times New Roman" panose="02020603050405020304" pitchFamily="18" charset="0"/>
                          <a:ea typeface="나눔고딕" pitchFamily="50" charset="-127"/>
                          <a:cs typeface="Times New Roman" panose="02020603050405020304" pitchFamily="18" charset="0"/>
                        </a:rPr>
                        <a:t>Thêm</a:t>
                      </a:r>
                      <a:r>
                        <a:rPr lang="en-US" altLang="ko-KR" sz="800" dirty="0" smtClean="0">
                          <a:latin typeface="Times New Roman" panose="02020603050405020304" pitchFamily="18" charset="0"/>
                          <a:ea typeface="나눔고딕" pitchFamily="50" charset="-127"/>
                          <a:cs typeface="Times New Roman" panose="02020603050405020304" pitchFamily="18" charset="0"/>
                        </a:rPr>
                        <a:t> mobile</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05689">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800" dirty="0">
                          <a:latin typeface="Times New Roman" panose="02020603050405020304" pitchFamily="18" charset="0"/>
                          <a:ea typeface="나눔고딕" pitchFamily="50" charset="-127"/>
                          <a:cs typeface="Times New Roman" panose="02020603050405020304" pitchFamily="18" charset="0"/>
                        </a:rPr>
                        <a:t>0.3</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err="1" smtClean="0">
                          <a:latin typeface="Times New Roman" panose="02020603050405020304" pitchFamily="18" charset="0"/>
                          <a:ea typeface="나눔고딕" pitchFamily="50" charset="-127"/>
                          <a:cs typeface="Times New Roman" panose="02020603050405020304" pitchFamily="18" charset="0"/>
                        </a:rPr>
                        <a:t>Thêm</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chính</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sách</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05689">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800" dirty="0">
                          <a:latin typeface="Times New Roman" panose="02020603050405020304" pitchFamily="18" charset="0"/>
                          <a:ea typeface="나눔고딕" pitchFamily="50" charset="-127"/>
                          <a:cs typeface="Times New Roman" panose="02020603050405020304" pitchFamily="18" charset="0"/>
                        </a:rPr>
                        <a:t>0.4</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err="1" smtClean="0">
                          <a:latin typeface="Times New Roman" panose="02020603050405020304" pitchFamily="18" charset="0"/>
                          <a:ea typeface="나눔고딕" pitchFamily="50" charset="-127"/>
                          <a:cs typeface="Times New Roman" panose="02020603050405020304" pitchFamily="18" charset="0"/>
                        </a:rPr>
                        <a:t>Thêm</a:t>
                      </a:r>
                      <a:r>
                        <a:rPr lang="en-US" altLang="ko-KR" sz="800" dirty="0" smtClean="0">
                          <a:latin typeface="Times New Roman" panose="02020603050405020304" pitchFamily="18" charset="0"/>
                          <a:ea typeface="나눔고딕" pitchFamily="50" charset="-127"/>
                          <a:cs typeface="Times New Roman" panose="02020603050405020304" pitchFamily="18" charset="0"/>
                        </a:rPr>
                        <a:t> process</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05689">
                <a:tc>
                  <a:txBody>
                    <a:bodyPr/>
                    <a:lstStyle/>
                    <a:p>
                      <a:pPr marL="0" marR="0" lvl="0" indent="0" algn="ctr" defTabSz="914400" rtl="0" eaLnBrk="1" fontAlgn="auto" latinLnBrk="1" hangingPunct="1">
                        <a:lnSpc>
                          <a:spcPct val="100000"/>
                        </a:lnSpc>
                        <a:spcBef>
                          <a:spcPts val="0"/>
                        </a:spcBef>
                        <a:spcAft>
                          <a:spcPts val="0"/>
                        </a:spcAft>
                        <a:buClrTx/>
                        <a:buSzTx/>
                        <a:buFontTx/>
                        <a:buNone/>
                        <a:defRPr/>
                      </a:pP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a:latin typeface="Times New Roman" panose="02020603050405020304" pitchFamily="18" charset="0"/>
                          <a:ea typeface="나눔고딕" pitchFamily="50" charset="-127"/>
                          <a:cs typeface="Times New Roman" panose="02020603050405020304" pitchFamily="18" charset="0"/>
                        </a:rPr>
                        <a:t>0.5</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vi-VN" altLang="ko-KR" sz="800" dirty="0" smtClean="0">
                          <a:latin typeface="Times New Roman" panose="02020603050405020304" pitchFamily="18" charset="0"/>
                          <a:ea typeface="나눔고딕" pitchFamily="50" charset="-127"/>
                          <a:cs typeface="Times New Roman" panose="02020603050405020304" pitchFamily="18" charset="0"/>
                        </a:rPr>
                        <a:t>Thêm chức năng mã vạch</a:t>
                      </a:r>
                      <a:endParaRPr lang="en-US" altLang="ko-KR"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defRPr/>
                      </a:pP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05689">
                <a:tc>
                  <a:txBody>
                    <a:bodyPr/>
                    <a:lstStyle/>
                    <a:p>
                      <a:pPr marL="0" marR="0" lvl="0" indent="0" algn="ctr" defTabSz="914400" rtl="0" eaLnBrk="1" fontAlgn="auto" latinLnBrk="1" hangingPunct="1">
                        <a:lnSpc>
                          <a:spcPct val="100000"/>
                        </a:lnSpc>
                        <a:spcBef>
                          <a:spcPts val="0"/>
                        </a:spcBef>
                        <a:spcAft>
                          <a:spcPts val="0"/>
                        </a:spcAft>
                        <a:buClrTx/>
                        <a:buSzTx/>
                        <a:buFontTx/>
                        <a:buNone/>
                        <a:defRPr/>
                      </a:pP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a:latin typeface="Times New Roman" panose="02020603050405020304" pitchFamily="18" charset="0"/>
                          <a:ea typeface="나눔고딕" pitchFamily="50" charset="-127"/>
                          <a:cs typeface="Times New Roman" panose="02020603050405020304" pitchFamily="18" charset="0"/>
                        </a:rPr>
                        <a:t>0.6</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vi-VN" altLang="ko-KR" sz="800" dirty="0" smtClean="0">
                          <a:latin typeface="Times New Roman" panose="02020603050405020304" pitchFamily="18" charset="0"/>
                          <a:ea typeface="나눔고딕" pitchFamily="50" charset="-127"/>
                          <a:cs typeface="Times New Roman" panose="02020603050405020304" pitchFamily="18" charset="0"/>
                        </a:rPr>
                        <a:t>Chức năng login/password</a:t>
                      </a:r>
                      <a:endParaRPr lang="en-US" altLang="ko-KR"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05689">
                <a:tc>
                  <a:txBody>
                    <a:bodyPr/>
                    <a:lstStyle/>
                    <a:p>
                      <a:pPr marL="0" marR="0" lvl="0" indent="0" algn="ctr" defTabSz="914400" rtl="0" eaLnBrk="1" fontAlgn="auto" latinLnBrk="1" hangingPunct="1">
                        <a:lnSpc>
                          <a:spcPct val="100000"/>
                        </a:lnSpc>
                        <a:spcBef>
                          <a:spcPts val="0"/>
                        </a:spcBef>
                        <a:spcAft>
                          <a:spcPts val="0"/>
                        </a:spcAft>
                        <a:buClrTx/>
                        <a:buSzTx/>
                        <a:buFontTx/>
                        <a:buNone/>
                        <a:defRPr/>
                      </a:pP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a:latin typeface="Times New Roman" panose="02020603050405020304" pitchFamily="18" charset="0"/>
                          <a:ea typeface="나눔고딕" pitchFamily="50" charset="-127"/>
                          <a:cs typeface="Times New Roman" panose="02020603050405020304" pitchFamily="18" charset="0"/>
                        </a:rPr>
                        <a:t>0.7</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800" dirty="0" smtClean="0">
                          <a:latin typeface="Times New Roman" panose="02020603050405020304" pitchFamily="18" charset="0"/>
                          <a:ea typeface="나눔고딕" pitchFamily="50" charset="-127"/>
                          <a:cs typeface="Times New Roman" panose="02020603050405020304" pitchFamily="18" charset="0"/>
                        </a:rPr>
                        <a:t>Update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kế</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hoạch</a:t>
                      </a:r>
                      <a:r>
                        <a:rPr lang="en-US" altLang="ko-KR" sz="800" dirty="0" smtClean="0">
                          <a:latin typeface="Times New Roman" panose="02020603050405020304" pitchFamily="18" charset="0"/>
                          <a:ea typeface="나눔고딕" pitchFamily="50" charset="-127"/>
                          <a:cs typeface="Times New Roman" panose="02020603050405020304" pitchFamily="18" charset="0"/>
                        </a:rPr>
                        <a:t> v2.0,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sửa</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bản</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kế</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hoạch</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dựa</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theo</a:t>
                      </a:r>
                      <a:r>
                        <a:rPr lang="en-US" altLang="ko-KR" sz="800" dirty="0" smtClean="0">
                          <a:latin typeface="Times New Roman" panose="02020603050405020304" pitchFamily="18" charset="0"/>
                          <a:ea typeface="나눔고딕" pitchFamily="50" charset="-127"/>
                          <a:cs typeface="Times New Roman" panose="02020603050405020304" pitchFamily="18" charset="0"/>
                        </a:rPr>
                        <a:t> </a:t>
                      </a:r>
                      <a:r>
                        <a:rPr lang="en-US" altLang="ko-KR" sz="800" dirty="0" err="1" smtClean="0">
                          <a:latin typeface="Times New Roman" panose="02020603050405020304" pitchFamily="18" charset="0"/>
                          <a:ea typeface="나눔고딕" pitchFamily="50" charset="-127"/>
                          <a:cs typeface="Times New Roman" panose="02020603050405020304" pitchFamily="18" charset="0"/>
                        </a:rPr>
                        <a:t>Coupang</a:t>
                      </a:r>
                      <a:endParaRPr lang="en-US" altLang="ko-KR"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05689">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dirty="0">
                          <a:latin typeface="Times New Roman" panose="02020603050405020304" pitchFamily="18" charset="0"/>
                          <a:ea typeface="나눔고딕" pitchFamily="50" charset="-127"/>
                          <a:cs typeface="Times New Roman" panose="02020603050405020304" pitchFamily="18" charset="0"/>
                        </a:rPr>
                        <a:t>2020-02-14</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a:latin typeface="Times New Roman" panose="02020603050405020304" pitchFamily="18" charset="0"/>
                          <a:ea typeface="나눔고딕" pitchFamily="50" charset="-127"/>
                          <a:cs typeface="Times New Roman" panose="02020603050405020304" pitchFamily="18" charset="0"/>
                        </a:rPr>
                        <a:t>1.7</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vi-VN" altLang="ko-KR" sz="800" baseline="0" dirty="0" smtClean="0">
                          <a:solidFill>
                            <a:schemeClr val="tx1"/>
                          </a:solidFill>
                          <a:latin typeface="Times New Roman" panose="02020603050405020304" pitchFamily="18" charset="0"/>
                          <a:ea typeface="나눔고딕" pitchFamily="50" charset="-127"/>
                          <a:cs typeface="Times New Roman" panose="02020603050405020304" pitchFamily="18" charset="0"/>
                        </a:rPr>
                        <a:t>Hoàn thành kế hoạch giai đoạn 1:</a:t>
                      </a:r>
                    </a:p>
                    <a:p>
                      <a:pPr algn="l" latinLnBrk="1"/>
                      <a:r>
                        <a:rPr lang="vi-VN" altLang="ko-KR" sz="800" baseline="0" dirty="0" smtClean="0">
                          <a:solidFill>
                            <a:schemeClr val="tx1"/>
                          </a:solidFill>
                          <a:latin typeface="Times New Roman" panose="02020603050405020304" pitchFamily="18" charset="0"/>
                          <a:ea typeface="나눔고딕" pitchFamily="50" charset="-127"/>
                          <a:cs typeface="Times New Roman" panose="02020603050405020304" pitchFamily="18" charset="0"/>
                        </a:rPr>
                        <a:t>- Chính sách, đăng sản phẩm, quản lý đơn hàng, quản lý doanh thu, quản lý hỏi đáp, thông báo</a:t>
                      </a:r>
                      <a:endParaRPr lang="en-US" altLang="ko-KR" sz="800" baseline="0"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05689">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smtClean="0">
                          <a:latin typeface="Times New Roman" panose="02020603050405020304" pitchFamily="18" charset="0"/>
                          <a:ea typeface="나눔고딕" pitchFamily="50" charset="-127"/>
                          <a:cs typeface="Times New Roman" panose="02020603050405020304" pitchFamily="18" charset="0"/>
                        </a:rPr>
                        <a:t>2020-02-20</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latin typeface="Times New Roman" panose="02020603050405020304" pitchFamily="18" charset="0"/>
                          <a:ea typeface="나눔고딕" pitchFamily="50" charset="-127"/>
                          <a:cs typeface="Times New Roman" panose="02020603050405020304" pitchFamily="18" charset="0"/>
                        </a:rPr>
                        <a:t>1.8</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Sửa lại tất cả giao diện</a:t>
                      </a:r>
                      <a:endParaRPr lang="en-US" altLang="ko-KR" sz="800" baseline="0"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05689">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smtClean="0">
                          <a:latin typeface="Times New Roman" panose="02020603050405020304" pitchFamily="18" charset="0"/>
                          <a:ea typeface="나눔고딕" pitchFamily="50" charset="-127"/>
                          <a:cs typeface="Times New Roman" panose="02020603050405020304" pitchFamily="18" charset="0"/>
                        </a:rPr>
                        <a:t>2020-02-25</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latin typeface="Times New Roman" panose="02020603050405020304" pitchFamily="18" charset="0"/>
                          <a:ea typeface="나눔고딕" pitchFamily="50" charset="-127"/>
                          <a:cs typeface="Times New Roman" panose="02020603050405020304" pitchFamily="18" charset="0"/>
                        </a:rPr>
                        <a:t>1.8.1</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Sửa phần quản lý thông tin</a:t>
                      </a: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05689">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dirty="0">
                          <a:latin typeface="Times New Roman" panose="02020603050405020304" pitchFamily="18" charset="0"/>
                          <a:ea typeface="나눔고딕" pitchFamily="50" charset="-127"/>
                          <a:cs typeface="Times New Roman" panose="02020603050405020304" pitchFamily="18" charset="0"/>
                        </a:rPr>
                        <a:t>2020-03-12</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dirty="0">
                          <a:latin typeface="Times New Roman" panose="02020603050405020304" pitchFamily="18" charset="0"/>
                          <a:ea typeface="나눔고딕" pitchFamily="50" charset="-127"/>
                          <a:cs typeface="Times New Roman" panose="02020603050405020304" pitchFamily="18" charset="0"/>
                        </a:rPr>
                        <a:t>2.0</a:t>
                      </a:r>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800" baseline="0">
                          <a:solidFill>
                            <a:schemeClr val="tx1"/>
                          </a:solidFill>
                          <a:latin typeface="Times New Roman" panose="02020603050405020304" pitchFamily="18" charset="0"/>
                          <a:ea typeface="나눔고딕" pitchFamily="50" charset="-127"/>
                          <a:cs typeface="Times New Roman" panose="02020603050405020304" pitchFamily="18" charset="0"/>
                        </a:rPr>
                        <a:t>- </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Chính sách cuối cùng cho toàn bộ trang. Update lên giao diện.</a:t>
                      </a:r>
                      <a:endParaRPr lang="en-US" altLang="ko-KR" sz="800" baseline="0"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endParaRPr lang="ko-KR" altLang="en-US" sz="800" dirty="0">
                        <a:latin typeface="Times New Roman" panose="02020603050405020304" pitchFamily="18" charset="0"/>
                        <a:ea typeface="나눔고딕" pitchFamily="50" charset="-127"/>
                        <a:cs typeface="Times New Roman" panose="02020603050405020304" pitchFamily="18" charset="0"/>
                      </a:endParaRPr>
                    </a:p>
                  </a:txBody>
                  <a:tcPr marL="69881" marR="69881" marT="39581" marB="3958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smtClean="0">
                <a:latin typeface="Times New Roman" panose="02020603050405020304" pitchFamily="18" charset="0"/>
                <a:cs typeface="Times New Roman" panose="02020603050405020304" pitchFamily="18" charset="0"/>
              </a:rPr>
              <a:t>Giới</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thiệu</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dự</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án</a:t>
            </a:r>
            <a:endParaRPr lang="ko-KR" altLang="en-US"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16496" y="614020"/>
            <a:ext cx="6567824" cy="1061829"/>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vi-VN"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Ý tưởng dịch vụ</a:t>
            </a:r>
            <a:r>
              <a:rPr kumimoji="1" lang="ko-KR" altLang="en-US" sz="1000" b="1"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kumimoji="1" lang="vi-VN" altLang="ko-KR" sz="1000" dirty="0" smtClean="0">
                <a:latin typeface="Times New Roman" panose="02020603050405020304" pitchFamily="18" charset="0"/>
                <a:ea typeface="Nanum Gothic" panose="020D0604000000000000" pitchFamily="34" charset="-127"/>
                <a:cs typeface="Times New Roman" panose="02020603050405020304" pitchFamily="18" charset="0"/>
              </a:rPr>
              <a:t>Giải pháp quản lý bán hàng tổng hợp dành cho người bán vé. </a:t>
            </a:r>
            <a:endParaRPr kumimoji="1" lang="en-US" altLang="ko-KR" sz="1000" dirty="0" smtClean="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vi-VN" altLang="ko-KR" sz="1000" dirty="0" smtClean="0">
                <a:latin typeface="Times New Roman" panose="02020603050405020304" pitchFamily="18" charset="0"/>
                <a:cs typeface="Times New Roman" panose="02020603050405020304" pitchFamily="18" charset="0"/>
              </a:rPr>
              <a:t>Hỗ trợ quản lý tổng hợp: đăng vé lên nhiều kênh bán hàng, thu thập đơn hàng, xử lý sử dụng, quyết toán/thống kê... </a:t>
            </a:r>
            <a:endParaRPr lang="en-US" altLang="ko-KR" sz="1000" dirty="0" smtClean="0">
              <a:latin typeface="Times New Roman" panose="02020603050405020304" pitchFamily="18" charset="0"/>
              <a:cs typeface="Times New Roman" panose="02020603050405020304" pitchFamily="18" charset="0"/>
            </a:endParaRPr>
          </a:p>
          <a:p>
            <a:pPr marL="412750" indent="-228600">
              <a:lnSpc>
                <a:spcPct val="150000"/>
              </a:lnSpc>
              <a:buAutoNum type="arabicPeriod"/>
            </a:pPr>
            <a:r>
              <a:rPr lang="vi-VN" altLang="ko-KR" sz="1000" dirty="0" smtClean="0">
                <a:solidFill>
                  <a:srgbClr val="000000"/>
                </a:solidFill>
                <a:latin typeface="Times New Roman" panose="02020603050405020304" pitchFamily="18" charset="0"/>
                <a:ea typeface="Malgun Gothic" panose="020B0503020000020004" charset="-127"/>
                <a:cs typeface="Times New Roman" panose="02020603050405020304" pitchFamily="18" charset="0"/>
              </a:rPr>
              <a:t>Hỗ trợ hoạt động của người bán. </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 name="TextBox 8"/>
          <p:cNvSpPr txBox="1"/>
          <p:nvPr/>
        </p:nvSpPr>
        <p:spPr>
          <a:xfrm>
            <a:off x="424146" y="1714258"/>
            <a:ext cx="9481854" cy="1061829"/>
          </a:xfrm>
          <a:prstGeom prst="rect">
            <a:avLst/>
          </a:prstGeom>
          <a:noFill/>
        </p:spPr>
        <p:txBody>
          <a:bodyPr wrap="square" rtlCol="0">
            <a:spAutoFit/>
          </a:bodyPr>
          <a:lstStyle/>
          <a:p>
            <a:pPr marL="171450" indent="-171450">
              <a:lnSpc>
                <a:spcPct val="150000"/>
              </a:lnSpc>
              <a:buFont typeface="Wingdings" panose="05000000000000000000" pitchFamily="2" charset="2"/>
              <a:buChar char="v"/>
            </a:pPr>
            <a:r>
              <a:rPr kumimoji="1" lang="vi-VN"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Mục đích của dịch vụ </a:t>
            </a:r>
            <a:r>
              <a:rPr kumimoji="1" lang="ko-KR" altLang="en-US" sz="1000" b="1"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vi-VN" altLang="ko-KR" sz="1000" dirty="0" smtClean="0">
                <a:latin typeface="Times New Roman" panose="02020603050405020304" pitchFamily="18" charset="0"/>
                <a:cs typeface="Times New Roman" panose="02020603050405020304" pitchFamily="18" charset="0"/>
              </a:rPr>
              <a:t>Cung cấp giải pháp đăng sản phẩm tổng hợp, quản lý đơn hàng tổng hợp, xử lý sử dụng tổng hợp, quản lý quyết toán tổng hợp, quản lý hỏi đáp tổng hợp. Cung cấp tiện ích mobile. </a:t>
            </a:r>
            <a:endParaRPr lang="en-US" altLang="ko-KR" sz="1000" dirty="0">
              <a:latin typeface="Times New Roman" panose="02020603050405020304" pitchFamily="18" charset="0"/>
              <a:cs typeface="Times New Roman" panose="02020603050405020304" pitchFamily="18" charset="0"/>
            </a:endParaRPr>
          </a:p>
          <a:p>
            <a:pPr marL="412750" indent="-228600">
              <a:lnSpc>
                <a:spcPct val="150000"/>
              </a:lnSpc>
              <a:buAutoNum type="arabicPeriod"/>
            </a:pPr>
            <a:r>
              <a:rPr kumimoji="1" lang="vi-VN" altLang="ko-KR" sz="1000" dirty="0" smtClean="0">
                <a:latin typeface="Times New Roman" panose="02020603050405020304" pitchFamily="18" charset="0"/>
                <a:ea typeface="Nanum Gothic" panose="020D0604000000000000" pitchFamily="34" charset="-127"/>
                <a:cs typeface="Times New Roman" panose="02020603050405020304" pitchFamily="18" charset="0"/>
              </a:rPr>
              <a:t>Đối tượng liên kết giai đoạn 1: Coupang, Timon, Wemakeprice, Yanolja, Naverbooking/ đối tượng liên kết giai đoạn 2: Goodchoice, 11st, Gmarket, Auction, Smartstore</a:t>
            </a:r>
            <a:r>
              <a:rPr kumimoji="1" lang="en-US" altLang="ko-KR" sz="1000" dirty="0" smtClean="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 name="TextBox 9"/>
          <p:cNvSpPr txBox="1"/>
          <p:nvPr/>
        </p:nvSpPr>
        <p:spPr>
          <a:xfrm>
            <a:off x="416496" y="3501008"/>
            <a:ext cx="1752403" cy="336118"/>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vi-VN"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Kịch bản người dùng</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TextBox 13"/>
          <p:cNvSpPr txBox="1"/>
          <p:nvPr/>
        </p:nvSpPr>
        <p:spPr>
          <a:xfrm>
            <a:off x="439343" y="2636912"/>
            <a:ext cx="8013732" cy="830997"/>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Cấu</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trúc</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và</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chính</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sách</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chủ</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yếu</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ko-KR" altLang="en-US" sz="1000" b="1"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vi-VN" altLang="ko-KR" sz="1000" dirty="0" smtClean="0">
                <a:latin typeface="Times New Roman" panose="02020603050405020304" pitchFamily="18" charset="0"/>
                <a:cs typeface="Times New Roman" panose="02020603050405020304" pitchFamily="18" charset="0"/>
              </a:rPr>
              <a:t>Nhà cung cấp cấp không cần đăng ký ở từng kênh (sử dụng seller tool cũ), T-Bridge sẽ trực tiếp đăng ký tất cả ID. </a:t>
            </a:r>
            <a:endParaRPr lang="en-US" altLang="ko-KR" sz="1000" dirty="0">
              <a:latin typeface="Times New Roman" panose="02020603050405020304" pitchFamily="18" charset="0"/>
              <a:cs typeface="Times New Roman" panose="02020603050405020304" pitchFamily="18" charset="0"/>
            </a:endParaRPr>
          </a:p>
          <a:p>
            <a:pPr marL="412750" indent="-228600">
              <a:lnSpc>
                <a:spcPct val="150000"/>
              </a:lnSpc>
              <a:buFontTx/>
              <a:buAutoNum type="arabicPeriod"/>
            </a:pPr>
            <a:r>
              <a:rPr lang="en-US" altLang="ko-KR" sz="1000" dirty="0" err="1" smtClean="0">
                <a:latin typeface="Times New Roman" panose="02020603050405020304" pitchFamily="18" charset="0"/>
                <a:cs typeface="Times New Roman" panose="02020603050405020304" pitchFamily="18" charset="0"/>
              </a:rPr>
              <a:t>Đối</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với</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những</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trang</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bán</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hàng</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lớn</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chúng</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ta</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sẽ</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thực</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hiện</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theo</a:t>
            </a:r>
            <a:r>
              <a:rPr lang="en-US" altLang="ko-KR" sz="1000" dirty="0" smtClean="0">
                <a:latin typeface="Times New Roman" panose="02020603050405020304" pitchFamily="18" charset="0"/>
                <a:cs typeface="Times New Roman" panose="02020603050405020304" pitchFamily="18" charset="0"/>
              </a:rPr>
              <a:t> API </a:t>
            </a:r>
            <a:r>
              <a:rPr lang="en-US" altLang="ko-KR" sz="1000" dirty="0" err="1" smtClean="0">
                <a:latin typeface="Times New Roman" panose="02020603050405020304" pitchFamily="18" charset="0"/>
                <a:cs typeface="Times New Roman" panose="02020603050405020304" pitchFamily="18" charset="0"/>
              </a:rPr>
              <a:t>của</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họ</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Sau</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này</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cần</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tạo</a:t>
            </a:r>
            <a:r>
              <a:rPr lang="en-US" altLang="ko-KR" sz="1000" dirty="0" smtClean="0">
                <a:latin typeface="Times New Roman" panose="02020603050405020304" pitchFamily="18" charset="0"/>
                <a:cs typeface="Times New Roman" panose="02020603050405020304" pitchFamily="18" charset="0"/>
              </a:rPr>
              <a:t> API </a:t>
            </a:r>
            <a:r>
              <a:rPr lang="en-US" altLang="ko-KR" sz="1000" dirty="0" err="1" smtClean="0">
                <a:latin typeface="Times New Roman" panose="02020603050405020304" pitchFamily="18" charset="0"/>
                <a:cs typeface="Times New Roman" panose="02020603050405020304" pitchFamily="18" charset="0"/>
              </a:rPr>
              <a:t>riêng</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cho</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những</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trang</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liên</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kết</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vừa</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và</a:t>
            </a:r>
            <a:r>
              <a:rPr lang="en-US" altLang="ko-KR" sz="1000" dirty="0" smtClean="0">
                <a:latin typeface="Times New Roman" panose="02020603050405020304" pitchFamily="18" charset="0"/>
                <a:cs typeface="Times New Roman" panose="02020603050405020304" pitchFamily="18" charset="0"/>
              </a:rPr>
              <a:t> </a:t>
            </a:r>
            <a:r>
              <a:rPr lang="en-US" altLang="ko-KR" sz="1000" dirty="0" err="1" smtClean="0">
                <a:latin typeface="Times New Roman" panose="02020603050405020304" pitchFamily="18" charset="0"/>
                <a:cs typeface="Times New Roman" panose="02020603050405020304" pitchFamily="18" charset="0"/>
              </a:rPr>
              <a:t>nhỏ</a:t>
            </a:r>
            <a:r>
              <a:rPr lang="en-US" altLang="ko-KR" sz="1000" dirty="0" smtClean="0">
                <a:latin typeface="Times New Roman" panose="02020603050405020304" pitchFamily="18" charset="0"/>
                <a:cs typeface="Times New Roman" panose="02020603050405020304" pitchFamily="18" charset="0"/>
              </a:rPr>
              <a:t>. </a:t>
            </a:r>
            <a:endParaRPr lang="en-US" altLang="ko-KR" sz="1000" dirty="0">
              <a:latin typeface="Times New Roman" panose="02020603050405020304" pitchFamily="18" charset="0"/>
              <a:cs typeface="Times New Roman" panose="02020603050405020304" pitchFamily="18" charset="0"/>
            </a:endParaRPr>
          </a:p>
        </p:txBody>
      </p:sp>
      <p:graphicFrame>
        <p:nvGraphicFramePr>
          <p:cNvPr id="16" name="표 15"/>
          <p:cNvGraphicFramePr>
            <a:graphicFrameLocks noGrp="1"/>
          </p:cNvGraphicFramePr>
          <p:nvPr/>
        </p:nvGraphicFramePr>
        <p:xfrm>
          <a:off x="742688" y="3800882"/>
          <a:ext cx="6987151" cy="2906360"/>
        </p:xfrm>
        <a:graphic>
          <a:graphicData uri="http://schemas.openxmlformats.org/drawingml/2006/table">
            <a:tbl>
              <a:tblPr firstRow="1" bandRow="1">
                <a:tableStyleId>{5C22544A-7EE6-4342-B048-85BDC9FD1C3A}</a:tableStyleId>
              </a:tblPr>
              <a:tblGrid>
                <a:gridCol w="753928">
                  <a:extLst>
                    <a:ext uri="{9D8B030D-6E8A-4147-A177-3AD203B41FA5}">
                      <a16:colId xmlns:a16="http://schemas.microsoft.com/office/drawing/2014/main" val="20000"/>
                    </a:ext>
                  </a:extLst>
                </a:gridCol>
                <a:gridCol w="6233223">
                  <a:extLst>
                    <a:ext uri="{9D8B030D-6E8A-4147-A177-3AD203B41FA5}">
                      <a16:colId xmlns:a16="http://schemas.microsoft.com/office/drawing/2014/main" val="20001"/>
                    </a:ext>
                  </a:extLst>
                </a:gridCol>
              </a:tblGrid>
              <a:tr h="290097">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1</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fontAlgn="ctr"/>
                      <a:r>
                        <a:rPr lang="vi-VN" altLang="ko-KR" sz="1000" b="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vào menu [Admin tổng hợp-Đăng sản phẩm] rồi đăng đồng loạt sản phẩm lên các kênh</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38013">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2</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fontAlgn="ctr"/>
                      <a:r>
                        <a:rPr lang="vi-VN" altLang="ko-KR" sz="1000" b="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vào menu [Admin tổng hợp-Quản lý sản phẩm] xem danh sách sản phẩm đã đăng</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3</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fontAlgn="ctr"/>
                      <a:r>
                        <a:rPr lang="vi-VN"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vào menu [Admin tổng hợp-Quản lý đơn hàng] xem danh sách đơn hàng của các kênh</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4</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defRPr/>
                      </a:pPr>
                      <a:r>
                        <a:rPr lang="vi-VN"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vào menu [Admin tổng hợp-Quản lý đơn hàng] xem thông tin khách đã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soát</a:t>
                      </a:r>
                      <a:r>
                        <a:rPr lang="en-US" altLang="ko-KR" sz="1000" b="0" i="0" u="none" strike="noStrike" baseline="0"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baseline="0"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vé</a:t>
                      </a:r>
                      <a:r>
                        <a:rPr lang="en-US" altLang="ko-KR" sz="1000" b="0" i="0" u="none" strike="noStrike" baseline="0"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vi-VN"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rồi xử lý sử dụng</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5</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defRPr/>
                      </a:pPr>
                      <a:r>
                        <a:rPr lang="vi-VN"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vào menu [Admin tổng hợp-Quản lý doanh thu] xem doanh thu, số lượng bán, số lượng sử dụng, số lượng hủy theo thời gian, theo kênh</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6</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defRPr/>
                      </a:pP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vào</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menu [Admin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tổng</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hợp-Quản</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lý</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quyết</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toán</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lý</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quyết</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toán</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với</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T-Bridge, in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giấy</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quyết</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toán</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7</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defRPr/>
                      </a:pPr>
                      <a:r>
                        <a:rPr lang="vi-VN"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vào menu [Admin tổng hợp-Quản lý hỏi đáp] xem tất cả câu hỏi của khách trên các kênh rồi trả lời</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8</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fontAlgn="ct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vào</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menu [Mobile T-Bridge]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xem</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liệt</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kê</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bán</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hàng</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theo</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tháng</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theo</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kênh</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9</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defRPr/>
                      </a:pP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Admin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vào</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menu [Mobile T-Bridge]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xem</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tin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khách</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đã</a:t>
                      </a:r>
                      <a:r>
                        <a:rPr lang="en-US" altLang="ko-KR" sz="1000" b="0" i="0" u="none" strike="noStrike" baseline="0"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baseline="0"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soát</a:t>
                      </a:r>
                      <a:r>
                        <a:rPr lang="en-US" altLang="ko-KR" sz="1000" b="0" i="0" u="none" strike="noStrike" baseline="0"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baseline="0"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vé</a:t>
                      </a:r>
                      <a:r>
                        <a:rPr lang="en-US" altLang="ko-KR" sz="1000" b="0" i="0" u="none" strike="noStrike" baseline="0"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rồi</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xử</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lý</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sử</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dụng</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và</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khôi</a:t>
                      </a:r>
                      <a:r>
                        <a:rPr lang="en-US" altLang="ko-KR" sz="1000" b="0" i="0" u="none" strike="noStrike" dirty="0"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rPr>
                        <a:t>phục</a:t>
                      </a:r>
                      <a:endParaRPr lang="ko-KR" altLang="en-US" sz="1000" b="0" i="0" u="none" strike="noStrike" dirty="0">
                        <a:solidFill>
                          <a:schemeClr val="tx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0951">
                <a:tc>
                  <a:txBody>
                    <a:bodyPr/>
                    <a:lstStyle/>
                    <a:p>
                      <a:pPr algn="ctr" latinLnBrk="1"/>
                      <a:r>
                        <a:rPr lang="en-US" altLang="ko-KR"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10</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defRPr/>
                      </a:pP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Admin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vào</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menu [Mobile T-Bridge]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xem</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câu</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hỏi</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khách</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hàng</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và</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trả</a:t>
                      </a:r>
                      <a:r>
                        <a:rPr lang="en-US" altLang="ko-KR" sz="1000" b="0" i="0" u="none" strike="noStrike" dirty="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0" i="0" u="none" strike="noStrike" dirty="0" err="1"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lời</a:t>
                      </a:r>
                      <a:endParaRPr lang="ko-KR" altLang="en-US" sz="10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108000" marR="108000" marT="6793"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lang="en-US" altLang="ko-KR" smtClean="0">
                <a:latin typeface="Times New Roman" panose="02020603050405020304" pitchFamily="18" charset="0"/>
                <a:cs typeface="Times New Roman" panose="02020603050405020304" pitchFamily="18" charset="0"/>
              </a:rPr>
              <a:t>Cấu trúc menu seller office và liên kết với kênh bán</a:t>
            </a:r>
            <a:endParaRPr lang="ko-KR" altLang="en-US" dirty="0">
              <a:latin typeface="Times New Roman" panose="02020603050405020304" pitchFamily="18" charset="0"/>
              <a:cs typeface="Times New Roman" panose="02020603050405020304" pitchFamily="18" charset="0"/>
            </a:endParaRPr>
          </a:p>
        </p:txBody>
      </p:sp>
      <p:sp>
        <p:nvSpPr>
          <p:cNvPr id="135" name="직사각형 134"/>
          <p:cNvSpPr/>
          <p:nvPr/>
        </p:nvSpPr>
        <p:spPr>
          <a:xfrm>
            <a:off x="3152802" y="2034904"/>
            <a:ext cx="1201699" cy="248653"/>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Login</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57" name="꺾인 연결선 114"/>
          <p:cNvCxnSpPr>
            <a:stCxn id="135" idx="2"/>
            <a:endCxn id="245" idx="0"/>
          </p:cNvCxnSpPr>
          <p:nvPr/>
        </p:nvCxnSpPr>
        <p:spPr>
          <a:xfrm rot="5400000">
            <a:off x="1736554" y="1250995"/>
            <a:ext cx="984536" cy="3049661"/>
          </a:xfrm>
          <a:prstGeom prst="bentConnector3">
            <a:avLst>
              <a:gd name="adj1" fmla="val 6567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8" name="꺾인 연결선 120"/>
          <p:cNvCxnSpPr>
            <a:stCxn id="135" idx="2"/>
            <a:endCxn id="321" idx="0"/>
          </p:cNvCxnSpPr>
          <p:nvPr/>
        </p:nvCxnSpPr>
        <p:spPr>
          <a:xfrm rot="16200000" flipH="1">
            <a:off x="6022513" y="14695"/>
            <a:ext cx="984536" cy="5522259"/>
          </a:xfrm>
          <a:prstGeom prst="bentConnector3">
            <a:avLst>
              <a:gd name="adj1" fmla="val 65408"/>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8" name="직사각형 187"/>
          <p:cNvSpPr/>
          <p:nvPr/>
        </p:nvSpPr>
        <p:spPr>
          <a:xfrm>
            <a:off x="1874622" y="2324993"/>
            <a:ext cx="958118" cy="269268"/>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91" name="꺾인 연결선 175"/>
          <p:cNvCxnSpPr>
            <a:stCxn id="135" idx="1"/>
            <a:endCxn id="188" idx="0"/>
          </p:cNvCxnSpPr>
          <p:nvPr/>
        </p:nvCxnSpPr>
        <p:spPr>
          <a:xfrm rot="10800000" flipV="1">
            <a:off x="2353682" y="2159231"/>
            <a:ext cx="799121" cy="165762"/>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8" name="직사각형 237"/>
          <p:cNvSpPr/>
          <p:nvPr/>
        </p:nvSpPr>
        <p:spPr>
          <a:xfrm>
            <a:off x="4423727" y="2034904"/>
            <a:ext cx="1201699" cy="248653"/>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40" name="직사각형 239"/>
          <p:cNvSpPr/>
          <p:nvPr/>
        </p:nvSpPr>
        <p:spPr>
          <a:xfrm>
            <a:off x="3165443" y="1269145"/>
            <a:ext cx="1201699" cy="248653"/>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Trang giới thiệu</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44" name="직선 연결선 108"/>
          <p:cNvCxnSpPr/>
          <p:nvPr/>
        </p:nvCxnSpPr>
        <p:spPr>
          <a:xfrm>
            <a:off x="3766292" y="1561904"/>
            <a:ext cx="1" cy="4717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5" name="직사각형 244"/>
          <p:cNvSpPr/>
          <p:nvPr/>
        </p:nvSpPr>
        <p:spPr>
          <a:xfrm>
            <a:off x="200472" y="3268093"/>
            <a:ext cx="1007037"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46" name="직사각형 245"/>
          <p:cNvSpPr/>
          <p:nvPr/>
        </p:nvSpPr>
        <p:spPr>
          <a:xfrm>
            <a:off x="1275671" y="3268093"/>
            <a:ext cx="955607"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Đăng sp</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48" name="직사각형 247"/>
          <p:cNvSpPr/>
          <p:nvPr/>
        </p:nvSpPr>
        <p:spPr>
          <a:xfrm>
            <a:off x="2282710" y="3268093"/>
            <a:ext cx="926571"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QLSP</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49" name="직사각형 248"/>
          <p:cNvSpPr/>
          <p:nvPr/>
        </p:nvSpPr>
        <p:spPr>
          <a:xfrm>
            <a:off x="3248605" y="3268093"/>
            <a:ext cx="1056118"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QLĐH</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0" name="직사각형 249"/>
          <p:cNvSpPr/>
          <p:nvPr/>
        </p:nvSpPr>
        <p:spPr>
          <a:xfrm>
            <a:off x="4347859" y="3268093"/>
            <a:ext cx="1237627"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QLDT/QT</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1" name="직사각형 250"/>
          <p:cNvSpPr/>
          <p:nvPr/>
        </p:nvSpPr>
        <p:spPr>
          <a:xfrm>
            <a:off x="5624647" y="3268093"/>
            <a:ext cx="984592"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QLHĐ</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7" name="직사각형 266"/>
          <p:cNvSpPr/>
          <p:nvPr/>
        </p:nvSpPr>
        <p:spPr>
          <a:xfrm>
            <a:off x="4475371" y="3587635"/>
            <a:ext cx="823676" cy="248653"/>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68" name="꺾인 연결선 93"/>
          <p:cNvCxnSpPr>
            <a:endCxn id="267" idx="1"/>
          </p:cNvCxnSpPr>
          <p:nvPr/>
        </p:nvCxnSpPr>
        <p:spPr>
          <a:xfrm rot="16200000" flipH="1">
            <a:off x="4324172" y="3560763"/>
            <a:ext cx="210954" cy="91444"/>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9" name="직사각형 268"/>
          <p:cNvSpPr/>
          <p:nvPr/>
        </p:nvSpPr>
        <p:spPr>
          <a:xfrm>
            <a:off x="4475371" y="3933056"/>
            <a:ext cx="823676" cy="248653"/>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Tình hình QT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70" name="꺾인 연결선 93"/>
          <p:cNvCxnSpPr>
            <a:endCxn id="269" idx="1"/>
          </p:cNvCxnSpPr>
          <p:nvPr/>
        </p:nvCxnSpPr>
        <p:spPr>
          <a:xfrm rot="16200000" flipH="1">
            <a:off x="4128946" y="3710957"/>
            <a:ext cx="601407" cy="91444"/>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71" name="직사각형 270"/>
          <p:cNvSpPr/>
          <p:nvPr/>
        </p:nvSpPr>
        <p:spPr>
          <a:xfrm>
            <a:off x="6871661" y="3644657"/>
            <a:ext cx="1105675" cy="248653"/>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T-BRIDGE</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72" name="꺾인 연결선 93"/>
          <p:cNvCxnSpPr>
            <a:endCxn id="271" idx="1"/>
          </p:cNvCxnSpPr>
          <p:nvPr/>
        </p:nvCxnSpPr>
        <p:spPr>
          <a:xfrm rot="16200000" flipH="1">
            <a:off x="6720462" y="3617785"/>
            <a:ext cx="210954" cy="91444"/>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73" name="직사각형 272"/>
          <p:cNvSpPr/>
          <p:nvPr/>
        </p:nvSpPr>
        <p:spPr>
          <a:xfrm>
            <a:off x="6871661" y="3995842"/>
            <a:ext cx="1029369" cy="248653"/>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kênh bán</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74" name="꺾인 연결선 93"/>
          <p:cNvCxnSpPr>
            <a:endCxn id="273" idx="1"/>
          </p:cNvCxnSpPr>
          <p:nvPr/>
        </p:nvCxnSpPr>
        <p:spPr>
          <a:xfrm rot="16200000" flipH="1">
            <a:off x="6525236" y="3773744"/>
            <a:ext cx="601408" cy="91442"/>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 name="그룹 2"/>
          <p:cNvGrpSpPr/>
          <p:nvPr/>
        </p:nvGrpSpPr>
        <p:grpSpPr>
          <a:xfrm>
            <a:off x="8409386" y="1564174"/>
            <a:ext cx="1355000" cy="830997"/>
            <a:chOff x="8164104" y="5517232"/>
            <a:chExt cx="1355000" cy="830997"/>
          </a:xfrm>
        </p:grpSpPr>
        <p:sp>
          <p:nvSpPr>
            <p:cNvPr id="176" name="TextBox 175"/>
            <p:cNvSpPr txBox="1"/>
            <p:nvPr/>
          </p:nvSpPr>
          <p:spPr>
            <a:xfrm>
              <a:off x="8845522" y="5517232"/>
              <a:ext cx="673582" cy="830997"/>
            </a:xfrm>
            <a:prstGeom prst="rect">
              <a:avLst/>
            </a:prstGeom>
            <a:noFill/>
          </p:spPr>
          <p:txBody>
            <a:bodyPr wrap="none" rtlCol="0">
              <a:spAutoFit/>
            </a:bodyPr>
            <a:lstStyle/>
            <a:p>
              <a:pPr>
                <a:lnSpc>
                  <a:spcPct val="150000"/>
                </a:lnSpc>
              </a:pP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Tên dịch vụ</a:t>
              </a:r>
              <a:endParaRPr lang="en-US" altLang="ko-KR" sz="800" dirty="0">
                <a:latin typeface="Times New Roman" panose="02020603050405020304" pitchFamily="18" charset="0"/>
                <a:ea typeface="Nanum Gothic" panose="020D0604000000000000" pitchFamily="34" charset="-127"/>
                <a:cs typeface="Times New Roman" panose="02020603050405020304" pitchFamily="18" charset="0"/>
              </a:endParaRPr>
            </a:p>
            <a:p>
              <a:pPr>
                <a:lnSpc>
                  <a:spcPct val="150000"/>
                </a:lnSpc>
              </a:pP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Menu lớn</a:t>
              </a:r>
              <a:endParaRPr lang="en-US" altLang="ko-KR" sz="800" dirty="0">
                <a:latin typeface="Times New Roman" panose="02020603050405020304" pitchFamily="18" charset="0"/>
                <a:ea typeface="Nanum Gothic" panose="020D0604000000000000" pitchFamily="34" charset="-127"/>
                <a:cs typeface="Times New Roman" panose="02020603050405020304" pitchFamily="18" charset="0"/>
              </a:endParaRPr>
            </a:p>
            <a:p>
              <a:pPr>
                <a:lnSpc>
                  <a:spcPct val="150000"/>
                </a:lnSpc>
              </a:pP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Menu vừa</a:t>
              </a:r>
              <a:endParaRPr lang="en-US" altLang="ko-KR" sz="800" dirty="0">
                <a:latin typeface="Times New Roman" panose="02020603050405020304" pitchFamily="18" charset="0"/>
                <a:ea typeface="Nanum Gothic" panose="020D0604000000000000" pitchFamily="34" charset="-127"/>
                <a:cs typeface="Times New Roman" panose="02020603050405020304" pitchFamily="18" charset="0"/>
              </a:endParaRPr>
            </a:p>
            <a:p>
              <a:pPr>
                <a:lnSpc>
                  <a:spcPct val="150000"/>
                </a:lnSpc>
              </a:pP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Trang riêng</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7" name="직사각형 276"/>
            <p:cNvSpPr/>
            <p:nvPr/>
          </p:nvSpPr>
          <p:spPr>
            <a:xfrm>
              <a:off x="8164104" y="5634295"/>
              <a:ext cx="681418" cy="68306"/>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8" name="직사각형 277"/>
            <p:cNvSpPr/>
            <p:nvPr/>
          </p:nvSpPr>
          <p:spPr>
            <a:xfrm>
              <a:off x="8164104" y="6194391"/>
              <a:ext cx="681418" cy="68306"/>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9" name="직사각형 278"/>
            <p:cNvSpPr/>
            <p:nvPr/>
          </p:nvSpPr>
          <p:spPr>
            <a:xfrm>
              <a:off x="8164104" y="5819664"/>
              <a:ext cx="681418" cy="79004"/>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80" name="직사각형 279"/>
            <p:cNvSpPr/>
            <p:nvPr/>
          </p:nvSpPr>
          <p:spPr>
            <a:xfrm>
              <a:off x="8164104" y="6025319"/>
              <a:ext cx="681418" cy="71771"/>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cxnSp>
        <p:nvCxnSpPr>
          <p:cNvPr id="287" name="꺾인 연결선 120"/>
          <p:cNvCxnSpPr>
            <a:stCxn id="240" idx="2"/>
            <a:endCxn id="238" idx="0"/>
          </p:cNvCxnSpPr>
          <p:nvPr/>
        </p:nvCxnSpPr>
        <p:spPr>
          <a:xfrm rot="16200000" flipH="1">
            <a:off x="4136882" y="1147209"/>
            <a:ext cx="517106" cy="1258284"/>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0" name="직선 연결선 108"/>
          <p:cNvCxnSpPr>
            <a:endCxn id="246" idx="0"/>
          </p:cNvCxnSpPr>
          <p:nvPr/>
        </p:nvCxnSpPr>
        <p:spPr>
          <a:xfrm>
            <a:off x="1748273" y="2939847"/>
            <a:ext cx="5202" cy="32824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6" name="직사각형 305"/>
          <p:cNvSpPr/>
          <p:nvPr/>
        </p:nvSpPr>
        <p:spPr>
          <a:xfrm>
            <a:off x="6663089" y="3268093"/>
            <a:ext cx="1007037"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QLPL</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07" name="직사각형 306"/>
          <p:cNvSpPr/>
          <p:nvPr/>
        </p:nvSpPr>
        <p:spPr>
          <a:xfrm>
            <a:off x="7726194" y="3268093"/>
            <a:ext cx="1007037"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QLTV/QH</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21" name="직사각형 320"/>
          <p:cNvSpPr/>
          <p:nvPr/>
        </p:nvSpPr>
        <p:spPr>
          <a:xfrm>
            <a:off x="8772392" y="3268093"/>
            <a:ext cx="1007037" cy="248653"/>
          </a:xfrm>
          <a:prstGeom prst="rect">
            <a:avLst/>
          </a:prstGeom>
          <a:solidFill>
            <a:schemeClr val="accent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23" name="모서리가 둥근 직사각형 322"/>
          <p:cNvSpPr/>
          <p:nvPr/>
        </p:nvSpPr>
        <p:spPr>
          <a:xfrm>
            <a:off x="6658555" y="3140182"/>
            <a:ext cx="561485" cy="139105"/>
          </a:xfrm>
          <a:prstGeom prst="roundRect">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Master only</a:t>
            </a:r>
            <a:endParaRPr kumimoji="1" lang="ko-KR" altLang="en-US" sz="8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24" name="모서리가 둥근 직사각형 323"/>
          <p:cNvSpPr/>
          <p:nvPr/>
        </p:nvSpPr>
        <p:spPr>
          <a:xfrm>
            <a:off x="7736478" y="3150133"/>
            <a:ext cx="561485" cy="139105"/>
          </a:xfrm>
          <a:prstGeom prst="roundRect">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Master only</a:t>
            </a:r>
            <a:endParaRPr kumimoji="1" lang="ko-KR" altLang="en-US" sz="8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9" name="직사각형 48"/>
          <p:cNvSpPr/>
          <p:nvPr/>
        </p:nvSpPr>
        <p:spPr>
          <a:xfrm>
            <a:off x="4475371" y="4496858"/>
            <a:ext cx="823676" cy="248653"/>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QT kênh bán</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50" name="꺾인 연결선 93"/>
          <p:cNvCxnSpPr>
            <a:endCxn id="49" idx="1"/>
          </p:cNvCxnSpPr>
          <p:nvPr/>
        </p:nvCxnSpPr>
        <p:spPr>
          <a:xfrm rot="16200000" flipH="1">
            <a:off x="4128946" y="4274759"/>
            <a:ext cx="601407" cy="91444"/>
          </a:xfrm>
          <a:prstGeom prst="bentConnector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모서리가 둥근 직사각형 50"/>
          <p:cNvSpPr/>
          <p:nvPr/>
        </p:nvSpPr>
        <p:spPr>
          <a:xfrm>
            <a:off x="1890575" y="2595030"/>
            <a:ext cx="976581" cy="139105"/>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Một số chức năng: master</a:t>
            </a:r>
            <a:r>
              <a:rPr kumimoji="1" lang="ko-KR" altLang="en-US"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only</a:t>
            </a:r>
            <a:endParaRPr kumimoji="1"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2" name="모서리가 둥근 직사각형 51"/>
          <p:cNvSpPr/>
          <p:nvPr/>
        </p:nvSpPr>
        <p:spPr>
          <a:xfrm>
            <a:off x="4422824" y="4174019"/>
            <a:ext cx="976581" cy="139105"/>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Một số chức năng: master</a:t>
            </a:r>
            <a:r>
              <a:rPr kumimoji="1" lang="ko-KR" altLang="en-US"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only</a:t>
            </a:r>
            <a:endParaRPr kumimoji="1"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모서리가 둥근 직사각형 52"/>
          <p:cNvSpPr/>
          <p:nvPr/>
        </p:nvSpPr>
        <p:spPr>
          <a:xfrm>
            <a:off x="8783031" y="3516745"/>
            <a:ext cx="976581" cy="139105"/>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Một số chức năng: master</a:t>
            </a:r>
            <a:r>
              <a:rPr kumimoji="1" lang="ko-KR" altLang="en-US"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only</a:t>
            </a:r>
            <a:endParaRPr kumimoji="1"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62" name="직선 연결선 108"/>
          <p:cNvCxnSpPr/>
          <p:nvPr/>
        </p:nvCxnSpPr>
        <p:spPr>
          <a:xfrm>
            <a:off x="2945877" y="2917878"/>
            <a:ext cx="0" cy="3614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108"/>
          <p:cNvCxnSpPr/>
          <p:nvPr/>
        </p:nvCxnSpPr>
        <p:spPr>
          <a:xfrm>
            <a:off x="4101143" y="2928654"/>
            <a:ext cx="0" cy="3614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108"/>
          <p:cNvCxnSpPr/>
          <p:nvPr/>
        </p:nvCxnSpPr>
        <p:spPr>
          <a:xfrm>
            <a:off x="5145427" y="2939848"/>
            <a:ext cx="0" cy="3614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108"/>
          <p:cNvCxnSpPr/>
          <p:nvPr/>
        </p:nvCxnSpPr>
        <p:spPr>
          <a:xfrm>
            <a:off x="6107484" y="2928653"/>
            <a:ext cx="0" cy="3614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직선 연결선 108"/>
          <p:cNvCxnSpPr/>
          <p:nvPr/>
        </p:nvCxnSpPr>
        <p:spPr>
          <a:xfrm>
            <a:off x="7257258" y="2939847"/>
            <a:ext cx="0" cy="3614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108"/>
          <p:cNvCxnSpPr/>
          <p:nvPr/>
        </p:nvCxnSpPr>
        <p:spPr>
          <a:xfrm>
            <a:off x="8409386" y="2939847"/>
            <a:ext cx="0" cy="3614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4" name="모서리가 둥근 직사각형 53"/>
          <p:cNvSpPr/>
          <p:nvPr/>
        </p:nvSpPr>
        <p:spPr>
          <a:xfrm>
            <a:off x="4475370" y="4399592"/>
            <a:ext cx="561485" cy="139105"/>
          </a:xfrm>
          <a:prstGeom prst="roundRect">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Master only</a:t>
            </a:r>
            <a:endParaRPr kumimoji="1" lang="ko-KR" altLang="en-US" sz="8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5" name="직선 화살표 연결선 4"/>
          <p:cNvCxnSpPr/>
          <p:nvPr/>
        </p:nvCxnSpPr>
        <p:spPr>
          <a:xfrm>
            <a:off x="1779190" y="3627572"/>
            <a:ext cx="0" cy="2174497"/>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 name="직선 연결선[R] 6"/>
          <p:cNvCxnSpPr/>
          <p:nvPr/>
        </p:nvCxnSpPr>
        <p:spPr>
          <a:xfrm>
            <a:off x="128464" y="5380403"/>
            <a:ext cx="9650965" cy="0"/>
          </a:xfrm>
          <a:prstGeom prst="line">
            <a:avLst/>
          </a:prstGeom>
          <a:ln w="317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399547" y="4539201"/>
            <a:ext cx="465967" cy="153888"/>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67"/>
          <p:cNvSpPr/>
          <p:nvPr/>
        </p:nvSpPr>
        <p:spPr>
          <a:xfrm>
            <a:off x="1248574" y="5897402"/>
            <a:ext cx="1071382" cy="323431"/>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105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Đăng sp</a:t>
            </a:r>
            <a:endParaRPr lang="ko-KR" altLang="en-US" sz="105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68"/>
          <p:cNvSpPr/>
          <p:nvPr/>
        </p:nvSpPr>
        <p:spPr>
          <a:xfrm>
            <a:off x="3148780" y="5897402"/>
            <a:ext cx="1071382" cy="323431"/>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105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Danh sách ĐH</a:t>
            </a:r>
            <a:endParaRPr lang="ko-KR" altLang="en-US" sz="105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0" name="직선 화살표 연결선 69"/>
          <p:cNvCxnSpPr/>
          <p:nvPr/>
        </p:nvCxnSpPr>
        <p:spPr>
          <a:xfrm flipV="1">
            <a:off x="3760068" y="3655850"/>
            <a:ext cx="12641" cy="2182312"/>
          </a:xfrm>
          <a:prstGeom prst="straightConnector1">
            <a:avLst/>
          </a:prstGeom>
          <a:ln w="19050">
            <a:solidFill>
              <a:srgbClr val="C00000"/>
            </a:solidFill>
            <a:prstDash val="sys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직선 화살표 연결선 71"/>
          <p:cNvCxnSpPr/>
          <p:nvPr/>
        </p:nvCxnSpPr>
        <p:spPr>
          <a:xfrm>
            <a:off x="3575430" y="3682483"/>
            <a:ext cx="0" cy="2174497"/>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5" name="직사각형 84"/>
          <p:cNvSpPr/>
          <p:nvPr/>
        </p:nvSpPr>
        <p:spPr>
          <a:xfrm>
            <a:off x="156932" y="573160"/>
            <a:ext cx="1201699" cy="248653"/>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 SELLER OFFICE</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TextBox 88"/>
          <p:cNvSpPr txBox="1"/>
          <p:nvPr/>
        </p:nvSpPr>
        <p:spPr>
          <a:xfrm>
            <a:off x="3199748" y="4543864"/>
            <a:ext cx="465967" cy="153888"/>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TextBox 89"/>
          <p:cNvSpPr txBox="1"/>
          <p:nvPr/>
        </p:nvSpPr>
        <p:spPr>
          <a:xfrm>
            <a:off x="3656857" y="4812763"/>
            <a:ext cx="465967" cy="153888"/>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TextBox 90"/>
          <p:cNvSpPr txBox="1"/>
          <p:nvPr/>
        </p:nvSpPr>
        <p:spPr>
          <a:xfrm>
            <a:off x="3570440" y="5007632"/>
            <a:ext cx="648072" cy="138499"/>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Thu thập</a:t>
            </a:r>
            <a:endParaRPr kumimoji="1" lang="ko-KR" altLang="en-US" sz="9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6" name="직사각형 55"/>
          <p:cNvSpPr/>
          <p:nvPr/>
        </p:nvSpPr>
        <p:spPr>
          <a:xfrm>
            <a:off x="142698" y="5380403"/>
            <a:ext cx="1201699" cy="248653"/>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Kênh bán</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93"/>
          <p:cNvSpPr/>
          <p:nvPr/>
        </p:nvSpPr>
        <p:spPr>
          <a:xfrm>
            <a:off x="5588193" y="5895407"/>
            <a:ext cx="1071382" cy="323431"/>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105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Câu hỏi</a:t>
            </a:r>
            <a:endParaRPr lang="ko-KR" altLang="en-US" sz="105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95" name="직선 화살표 연결선 94"/>
          <p:cNvCxnSpPr/>
          <p:nvPr/>
        </p:nvCxnSpPr>
        <p:spPr>
          <a:xfrm flipV="1">
            <a:off x="6199481" y="3653855"/>
            <a:ext cx="12641" cy="2182312"/>
          </a:xfrm>
          <a:prstGeom prst="straightConnector1">
            <a:avLst/>
          </a:prstGeom>
          <a:ln w="19050">
            <a:solidFill>
              <a:srgbClr val="C00000"/>
            </a:solidFill>
            <a:prstDash val="sys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직선 화살표 연결선 95"/>
          <p:cNvCxnSpPr/>
          <p:nvPr/>
        </p:nvCxnSpPr>
        <p:spPr>
          <a:xfrm>
            <a:off x="6014843" y="3680488"/>
            <a:ext cx="0" cy="2174497"/>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5639161" y="4541869"/>
            <a:ext cx="465967" cy="153888"/>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TextBox 97"/>
          <p:cNvSpPr txBox="1"/>
          <p:nvPr/>
        </p:nvSpPr>
        <p:spPr>
          <a:xfrm>
            <a:off x="6096270" y="4810768"/>
            <a:ext cx="465967" cy="153888"/>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0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TextBox 98"/>
          <p:cNvSpPr txBox="1"/>
          <p:nvPr/>
        </p:nvSpPr>
        <p:spPr>
          <a:xfrm>
            <a:off x="6038669" y="5005637"/>
            <a:ext cx="584923" cy="138499"/>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Thu thập</a:t>
            </a:r>
            <a:endParaRPr kumimoji="1" lang="ko-KR" altLang="en-US" sz="9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직사각형 102"/>
          <p:cNvSpPr/>
          <p:nvPr/>
        </p:nvSpPr>
        <p:spPr>
          <a:xfrm>
            <a:off x="4375425" y="5895407"/>
            <a:ext cx="1071382" cy="323431"/>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105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Quyết toán</a:t>
            </a:r>
            <a:endParaRPr lang="ko-KR" altLang="en-US" sz="105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10" name="직선 화살표 연결선 109"/>
          <p:cNvCxnSpPr/>
          <p:nvPr/>
        </p:nvCxnSpPr>
        <p:spPr>
          <a:xfrm flipV="1">
            <a:off x="5061289" y="4745011"/>
            <a:ext cx="0" cy="1109978"/>
          </a:xfrm>
          <a:prstGeom prst="straightConnector1">
            <a:avLst/>
          </a:prstGeom>
          <a:ln w="19050">
            <a:solidFill>
              <a:srgbClr val="C00000"/>
            </a:solidFill>
            <a:prstDash val="sys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4764740" y="5010297"/>
            <a:ext cx="605908" cy="138499"/>
          </a:xfrm>
          <a:prstGeom prst="rect">
            <a:avLst/>
          </a:prstGeom>
          <a:solidFill>
            <a:schemeClr val="accent2">
              <a:lumMod val="20000"/>
              <a:lumOff val="80000"/>
            </a:schemeClr>
          </a:solidFill>
          <a:ln>
            <a:noFill/>
          </a:ln>
        </p:spPr>
        <p:txBody>
          <a:bodyPr wrap="square" lIns="36000" tIns="0" rIns="36000" bIns="0" rtlCol="0">
            <a:spAutoFit/>
          </a:bodyPr>
          <a:lstStyle/>
          <a:p>
            <a:pPr algn="ctr"/>
            <a:r>
              <a:rPr kumimoji="1" lang="en-US" altLang="ko-KR"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Thu thập</a:t>
            </a:r>
            <a:endParaRPr kumimoji="1" lang="ko-KR" altLang="en-US" sz="9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13" name="직선 화살표 연결선 112"/>
          <p:cNvCxnSpPr/>
          <p:nvPr/>
        </p:nvCxnSpPr>
        <p:spPr>
          <a:xfrm>
            <a:off x="7590892" y="5949280"/>
            <a:ext cx="450086" cy="0"/>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5" name="직선 화살표 연결선 114"/>
          <p:cNvCxnSpPr/>
          <p:nvPr/>
        </p:nvCxnSpPr>
        <p:spPr>
          <a:xfrm>
            <a:off x="7590892" y="6182429"/>
            <a:ext cx="450086" cy="0"/>
          </a:xfrm>
          <a:prstGeom prst="straightConnector1">
            <a:avLst/>
          </a:prstGeom>
          <a:ln w="19050">
            <a:solidFill>
              <a:srgbClr val="C00000"/>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8" name="모서리가 둥근 직사각형 117"/>
          <p:cNvSpPr/>
          <p:nvPr/>
        </p:nvSpPr>
        <p:spPr>
          <a:xfrm>
            <a:off x="8409386" y="5895407"/>
            <a:ext cx="999744" cy="120287"/>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From </a:t>
            </a:r>
            <a:r>
              <a:rPr kumimoji="1"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seller office to channel</a:t>
            </a:r>
            <a:endParaRPr kumimoji="1"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1" name="모서리가 둥근 직사각형 120"/>
          <p:cNvSpPr/>
          <p:nvPr/>
        </p:nvSpPr>
        <p:spPr>
          <a:xfrm>
            <a:off x="8409386" y="6107589"/>
            <a:ext cx="999744" cy="120287"/>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From channel to seller office</a:t>
            </a:r>
            <a:endParaRPr kumimoji="1"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4908716" cy="461665"/>
          </a:xfrm>
          <a:prstGeom prst="rect">
            <a:avLst/>
          </a:prstGeom>
          <a:noFill/>
        </p:spPr>
        <p:txBody>
          <a:bodyPr wrap="none" rtlCol="0">
            <a:spAutoFit/>
          </a:bodyPr>
          <a:lstStyle/>
          <a:p>
            <a:r>
              <a:rPr lang="en-US" altLang="ko-KR" sz="2400" b="1">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2400" b="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PC]Đăng nhập/Đăng ký thành viên</a:t>
            </a:r>
            <a:endParaRPr lang="en-US" altLang="ko-KR" sz="2400" b="1" dirty="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 name="TextBox 4"/>
          <p:cNvSpPr txBox="1"/>
          <p:nvPr/>
        </p:nvSpPr>
        <p:spPr>
          <a:xfrm>
            <a:off x="374438" y="2670820"/>
            <a:ext cx="2150269" cy="276999"/>
          </a:xfrm>
          <a:prstGeom prst="rect">
            <a:avLst/>
          </a:prstGeom>
          <a:noFill/>
        </p:spPr>
        <p:txBody>
          <a:bodyPr wrap="none" rtlCol="0">
            <a:spAutoFit/>
          </a:bodyPr>
          <a:lstStyle/>
          <a:p>
            <a:r>
              <a:rPr lang="en-US" altLang="ko-KR" sz="1200" smtClean="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rPr>
              <a:t>T-Bridge Giải pháp vé tổng hợp</a:t>
            </a:r>
            <a:endParaRPr lang="ko-KR" altLang="en-US" sz="1200" dirty="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anose="02020603050405020304" pitchFamily="18" charset="0"/>
                <a:ea typeface="Nanum Gothic" panose="020D0604000000000000" pitchFamily="34" charset="-127"/>
                <a:cs typeface="Times New Roman" panose="02020603050405020304" pitchFamily="18" charset="0"/>
              </a:rPr>
              <a:t>[Chính sách] Đăng ký và Login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8" name="직사각형 37"/>
          <p:cNvSpPr/>
          <p:nvPr/>
        </p:nvSpPr>
        <p:spPr>
          <a:xfrm>
            <a:off x="967460" y="2528983"/>
            <a:ext cx="1515080" cy="395589"/>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0" name="순서도: 판단 30"/>
          <p:cNvSpPr/>
          <p:nvPr/>
        </p:nvSpPr>
        <p:spPr>
          <a:xfrm>
            <a:off x="1049521" y="3212488"/>
            <a:ext cx="1296144" cy="614677"/>
          </a:xfrm>
          <a:prstGeom prst="flowChartDecision">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Kiểm tra mã DN</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4" name="TextBox 43"/>
          <p:cNvSpPr txBox="1"/>
          <p:nvPr/>
        </p:nvSpPr>
        <p:spPr>
          <a:xfrm>
            <a:off x="2240320" y="3212488"/>
            <a:ext cx="795411" cy="215444"/>
          </a:xfrm>
          <a:prstGeom prst="rect">
            <a:avLst/>
          </a:prstGeom>
          <a:noFill/>
        </p:spPr>
        <p:txBody>
          <a:bodyPr wrap="none" rtlCol="0">
            <a:spAutoFit/>
          </a:bodyPr>
          <a:lstStyle/>
          <a:p>
            <a:pPr algn="ctr"/>
            <a:r>
              <a:rPr lang="en-US" altLang="ko-KR" sz="800" smtClean="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rPr>
              <a:t>Mã đã đăng ký</a:t>
            </a:r>
            <a:endParaRPr lang="ko-KR" altLang="en-US" sz="800" dirty="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45" name="직선 화살표 연결선 18"/>
          <p:cNvCxnSpPr/>
          <p:nvPr/>
        </p:nvCxnSpPr>
        <p:spPr>
          <a:xfrm>
            <a:off x="1703550" y="3827165"/>
            <a:ext cx="0" cy="2608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순서도: 판단 40"/>
          <p:cNvSpPr/>
          <p:nvPr/>
        </p:nvSpPr>
        <p:spPr>
          <a:xfrm>
            <a:off x="1038438" y="4077533"/>
            <a:ext cx="1296144" cy="528045"/>
          </a:xfrm>
          <a:prstGeom prst="flowChartDecision">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thực DN</a:t>
            </a:r>
            <a:endParaRPr lang="en-US" altLang="ko-KR" sz="7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47" name="직선 화살표 연결선 18"/>
          <p:cNvCxnSpPr>
            <a:endCxn id="52" idx="1"/>
          </p:cNvCxnSpPr>
          <p:nvPr/>
        </p:nvCxnSpPr>
        <p:spPr>
          <a:xfrm>
            <a:off x="2345665" y="3518252"/>
            <a:ext cx="6838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805111" y="3788320"/>
            <a:ext cx="896400" cy="215444"/>
          </a:xfrm>
          <a:prstGeom prst="rect">
            <a:avLst/>
          </a:prstGeom>
          <a:noFill/>
        </p:spPr>
        <p:txBody>
          <a:bodyPr wrap="none" rtlCol="0">
            <a:spAutoFit/>
          </a:bodyPr>
          <a:lstStyle/>
          <a:p>
            <a:pPr algn="ctr"/>
            <a:r>
              <a:rPr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Mã chưa đăng ký</a:t>
            </a:r>
            <a:endParaRPr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2" name="직사각형 51"/>
          <p:cNvSpPr/>
          <p:nvPr/>
        </p:nvSpPr>
        <p:spPr>
          <a:xfrm>
            <a:off x="3029515" y="3358810"/>
            <a:ext cx="1288131" cy="31888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 đc đăng ký</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 DN đã đc đăng ký</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60" name="직선 화살표 연결선 18"/>
          <p:cNvCxnSpPr/>
          <p:nvPr/>
        </p:nvCxnSpPr>
        <p:spPr>
          <a:xfrm>
            <a:off x="1704580" y="4605703"/>
            <a:ext cx="0" cy="2608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1076003" y="4579686"/>
            <a:ext cx="670376" cy="215444"/>
          </a:xfrm>
          <a:prstGeom prst="rect">
            <a:avLst/>
          </a:prstGeom>
          <a:noFill/>
        </p:spPr>
        <p:txBody>
          <a:bodyPr wrap="none" rtlCol="0">
            <a:spAutoFit/>
          </a:bodyPr>
          <a:lstStyle/>
          <a:p>
            <a:pPr algn="ctr"/>
            <a:r>
              <a:rPr lang="en-US" altLang="ko-KR" sz="800" smtClean="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rPr>
              <a:t>Thành công</a:t>
            </a:r>
            <a:endParaRPr lang="ko-KR" altLang="en-US" sz="800" dirty="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63"/>
          <p:cNvSpPr/>
          <p:nvPr/>
        </p:nvSpPr>
        <p:spPr>
          <a:xfrm>
            <a:off x="946010" y="4866568"/>
            <a:ext cx="1515080" cy="395589"/>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 thông tin</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65" name="직선 화살표 연결선 18"/>
          <p:cNvCxnSpPr/>
          <p:nvPr/>
        </p:nvCxnSpPr>
        <p:spPr>
          <a:xfrm>
            <a:off x="1704580" y="5273090"/>
            <a:ext cx="0" cy="2608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직사각형 65"/>
          <p:cNvSpPr/>
          <p:nvPr/>
        </p:nvSpPr>
        <p:spPr>
          <a:xfrm>
            <a:off x="946010" y="5533955"/>
            <a:ext cx="1515080" cy="395589"/>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ký hoàn tất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67" name="직선 화살표 연결선 18"/>
          <p:cNvCxnSpPr/>
          <p:nvPr/>
        </p:nvCxnSpPr>
        <p:spPr>
          <a:xfrm>
            <a:off x="1703550" y="2951623"/>
            <a:ext cx="0" cy="2608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직선 화살표 연결선 18"/>
          <p:cNvCxnSpPr>
            <a:endCxn id="69" idx="1"/>
          </p:cNvCxnSpPr>
          <p:nvPr/>
        </p:nvCxnSpPr>
        <p:spPr>
          <a:xfrm>
            <a:off x="2326569" y="4344989"/>
            <a:ext cx="683850" cy="4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직사각형 68"/>
          <p:cNvSpPr/>
          <p:nvPr/>
        </p:nvSpPr>
        <p:spPr>
          <a:xfrm>
            <a:off x="3010419" y="4197244"/>
            <a:ext cx="1288131" cy="303542"/>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 đc đăng ký</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 kiểm tra mã DN</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TextBox 71"/>
          <p:cNvSpPr txBox="1"/>
          <p:nvPr/>
        </p:nvSpPr>
        <p:spPr>
          <a:xfrm>
            <a:off x="2402632" y="4093112"/>
            <a:ext cx="522900" cy="215444"/>
          </a:xfrm>
          <a:prstGeom prst="rect">
            <a:avLst/>
          </a:prstGeom>
          <a:noFill/>
        </p:spPr>
        <p:txBody>
          <a:bodyPr wrap="none" rtlCol="0">
            <a:spAutoFit/>
          </a:bodyPr>
          <a:lstStyle/>
          <a:p>
            <a:pPr algn="ctr"/>
            <a:r>
              <a:rPr lang="en-US" altLang="ko-KR" sz="800" smtClean="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rPr>
              <a:t>Thất bại</a:t>
            </a:r>
            <a:endParaRPr lang="ko-KR" altLang="en-US" sz="800" dirty="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TextBox 74"/>
          <p:cNvSpPr txBox="1"/>
          <p:nvPr/>
        </p:nvSpPr>
        <p:spPr>
          <a:xfrm>
            <a:off x="416496" y="816362"/>
            <a:ext cx="5040560" cy="1754326"/>
          </a:xfrm>
          <a:prstGeom prst="rect">
            <a:avLst/>
          </a:prstGeom>
          <a:noFill/>
        </p:spPr>
        <p:txBody>
          <a:bodyPr wrap="square" rtlCol="0">
            <a:spAutoFit/>
          </a:bodyPr>
          <a:lstStyle/>
          <a:p>
            <a:pPr marL="171450" indent="-171450">
              <a:lnSpc>
                <a:spcPct val="150000"/>
              </a:lnSpc>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ký</a:t>
            </a:r>
            <a:r>
              <a:rPr kumimoji="1" lang="ko-KR" altLang="en-US" sz="1000" b="1"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184150">
              <a:lnSpc>
                <a:spcPct val="150000"/>
              </a:lnSpc>
            </a:pP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1.</a:t>
            </a:r>
            <a:r>
              <a:rPr kumimoji="1" lang="ko-KR" altLang="en-US" sz="100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vi-VN" altLang="ko-KR" sz="1000" smtClean="0">
                <a:latin typeface="Times New Roman" panose="02020603050405020304" pitchFamily="18" charset="0"/>
                <a:ea typeface="Nanum Gothic" panose="020D0604000000000000" pitchFamily="34" charset="-127"/>
                <a:cs typeface="Times New Roman" panose="02020603050405020304" pitchFamily="18" charset="0"/>
              </a:rPr>
              <a:t>Phải đăng ký thành viên mới sử dụng được Seller Office.</a:t>
            </a:r>
            <a:endPar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endParaRPr>
          </a:p>
          <a:p>
            <a:pPr marL="184150">
              <a:lnSpc>
                <a:spcPct val="150000"/>
              </a:lnSpc>
            </a:pP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2.</a:t>
            </a:r>
            <a:r>
              <a:rPr kumimoji="1" lang="ko-KR" altLang="en-US" sz="100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vi-VN" altLang="ko-KR" sz="1000" smtClean="0">
                <a:latin typeface="Times New Roman" panose="02020603050405020304" pitchFamily="18" charset="0"/>
                <a:ea typeface="Nanum Gothic" panose="020D0604000000000000" pitchFamily="34" charset="-127"/>
                <a:cs typeface="Times New Roman" panose="02020603050405020304" pitchFamily="18" charset="0"/>
              </a:rPr>
              <a:t>Cách đăng ký thành viên: Đăng ký trực tiếp trên giao diện hoặc nếu là công ty hợp tác thì xử lý đăng ký thủ công.</a:t>
            </a:r>
            <a:endPar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endParaRPr>
          </a:p>
          <a:p>
            <a:pPr marL="184150">
              <a:lnSpc>
                <a:spcPct val="150000"/>
              </a:lnSpc>
            </a:pPr>
            <a:r>
              <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rPr>
              <a:t>3</a:t>
            </a:r>
            <a:r>
              <a:rPr kumimoji="1" lang="en-US" altLang="ko-KR" sz="1000">
                <a:latin typeface="Times New Roman" panose="02020603050405020304" pitchFamily="18" charset="0"/>
                <a:ea typeface="Nanum Gothic" panose="020D0604000000000000" pitchFamily="34" charset="-127"/>
                <a:cs typeface="Times New Roman" panose="02020603050405020304" pitchFamily="18" charset="0"/>
              </a:rPr>
              <a:t>.</a:t>
            </a:r>
            <a:r>
              <a:rPr kumimoji="1" lang="ko-KR" altLang="en-US" sz="10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Mã doanh nghiệp đã đăng ký rồi thì không được đăng ký nữa.</a:t>
            </a:r>
            <a:endPar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endParaRPr>
          </a:p>
          <a:p>
            <a:pPr marL="184150">
              <a:lnSpc>
                <a:spcPct val="150000"/>
              </a:lnSpc>
            </a:pPr>
            <a:r>
              <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rPr>
              <a:t>4</a:t>
            </a:r>
            <a:r>
              <a:rPr kumimoji="1" lang="en-US" altLang="ko-KR" sz="1000">
                <a:latin typeface="Times New Roman" panose="02020603050405020304" pitchFamily="18" charset="0"/>
                <a:ea typeface="Nanum Gothic" panose="020D0604000000000000" pitchFamily="34" charset="-127"/>
                <a:cs typeface="Times New Roman" panose="02020603050405020304" pitchFamily="18" charset="0"/>
              </a:rPr>
              <a:t>.</a:t>
            </a:r>
            <a:r>
              <a:rPr kumimoji="1" lang="ko-KR" altLang="en-US" sz="10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Nếu xác thực doanh nghiệp thất bại thì không được đăng ký.</a:t>
            </a:r>
            <a:r>
              <a:rPr kumimoji="1" lang="ko-KR" altLang="en-US" sz="1000"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endParaRPr>
          </a:p>
          <a:p>
            <a:pPr marL="184150">
              <a:lnSpc>
                <a:spcPct val="150000"/>
              </a:lnSpc>
            </a:pPr>
            <a:r>
              <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rPr>
              <a:t>5</a:t>
            </a:r>
            <a:r>
              <a:rPr kumimoji="1" lang="en-US" altLang="ko-KR" sz="1000">
                <a:latin typeface="Times New Roman" panose="02020603050405020304" pitchFamily="18" charset="0"/>
                <a:ea typeface="Nanum Gothic" panose="020D0604000000000000" pitchFamily="34" charset="-127"/>
                <a:cs typeface="Times New Roman" panose="02020603050405020304" pitchFamily="18" charset="0"/>
              </a:rPr>
              <a:t>.</a:t>
            </a:r>
            <a:r>
              <a:rPr kumimoji="1" lang="ko-KR" altLang="en-US" sz="10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Thay đổi thông tin DN sau khi đăng ký: gọi điện hoặc gửi mail để master sửa thủ công.</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8407092" y="3288439"/>
            <a:ext cx="1299456" cy="31888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 đc login</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 kiểm tra ID </a:t>
            </a:r>
            <a:r>
              <a:rPr lang="en-US" altLang="ko-KR" sz="9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or</a:t>
            </a:r>
            <a:r>
              <a:rPr lang="ko-KR" altLang="en-US" sz="9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pw</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8" name="직선 화살표 연결선 18"/>
          <p:cNvCxnSpPr>
            <a:stCxn id="82" idx="3"/>
            <a:endCxn id="77" idx="1"/>
          </p:cNvCxnSpPr>
          <p:nvPr/>
        </p:nvCxnSpPr>
        <p:spPr>
          <a:xfrm flipV="1">
            <a:off x="7321752" y="3447881"/>
            <a:ext cx="108534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7270013" y="3271187"/>
            <a:ext cx="343364" cy="215444"/>
          </a:xfrm>
          <a:prstGeom prst="rect">
            <a:avLst/>
          </a:prstGeom>
          <a:noFill/>
        </p:spPr>
        <p:txBody>
          <a:bodyPr wrap="none" rtlCol="0">
            <a:spAutoFit/>
          </a:bodyPr>
          <a:lstStyle/>
          <a:p>
            <a:r>
              <a:rPr lang="en-US" altLang="ko-KR"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NO</a:t>
            </a:r>
            <a:endParaRPr lang="ko-KR" altLang="en-US" sz="80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직사각형 79"/>
          <p:cNvSpPr/>
          <p:nvPr/>
        </p:nvSpPr>
        <p:spPr>
          <a:xfrm>
            <a:off x="5930621" y="5118794"/>
            <a:ext cx="1515080" cy="31938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Login thành công</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(Vào trang măc định: Dashboard)</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80"/>
          <p:cNvSpPr/>
          <p:nvPr/>
        </p:nvSpPr>
        <p:spPr>
          <a:xfrm>
            <a:off x="5938885" y="2476894"/>
            <a:ext cx="1515080" cy="395589"/>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Seller office admin</a:t>
            </a:r>
            <a:r>
              <a:rPr lang="ko-KR" altLang="en-US"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 ID</a:t>
            </a:r>
            <a:r>
              <a:rPr lang="ko-KR" altLang="en-US"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&amp; </a:t>
            </a:r>
            <a:r>
              <a:rPr lang="en-US" altLang="ko-KR" sz="9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PW </a:t>
            </a: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login</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순서도: 판단 30"/>
          <p:cNvSpPr/>
          <p:nvPr/>
        </p:nvSpPr>
        <p:spPr>
          <a:xfrm>
            <a:off x="6025608" y="3140543"/>
            <a:ext cx="1296144" cy="614677"/>
          </a:xfrm>
          <a:prstGeom prst="flowChartDecision">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ID &amp; PW</a:t>
            </a: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đúng</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83" name="직선 화살표 연결선 18"/>
          <p:cNvCxnSpPr/>
          <p:nvPr/>
        </p:nvCxnSpPr>
        <p:spPr>
          <a:xfrm>
            <a:off x="6684763" y="2879913"/>
            <a:ext cx="0" cy="2608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6294472" y="3746419"/>
            <a:ext cx="378630" cy="215444"/>
          </a:xfrm>
          <a:prstGeom prst="rect">
            <a:avLst/>
          </a:prstGeom>
          <a:noFill/>
        </p:spPr>
        <p:txBody>
          <a:bodyPr wrap="none" rtlCol="0">
            <a:spAutoFit/>
          </a:bodyPr>
          <a:lstStyle/>
          <a:p>
            <a:pPr algn="r"/>
            <a:r>
              <a:rPr lang="en-US" altLang="ko-KR" sz="800" dirty="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rPr>
              <a:t>YES</a:t>
            </a:r>
            <a:endParaRPr lang="ko-KR" altLang="en-US" sz="80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85" name="직선 화살표 연결선 18"/>
          <p:cNvCxnSpPr/>
          <p:nvPr/>
        </p:nvCxnSpPr>
        <p:spPr>
          <a:xfrm>
            <a:off x="6673102" y="3757551"/>
            <a:ext cx="0" cy="2608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순서도: 판단 40"/>
          <p:cNvSpPr/>
          <p:nvPr/>
        </p:nvSpPr>
        <p:spPr>
          <a:xfrm>
            <a:off x="6036691" y="4006951"/>
            <a:ext cx="1296144" cy="528045"/>
          </a:xfrm>
          <a:prstGeom prst="flowChartDecision">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Master duyệt</a:t>
            </a:r>
            <a:endParaRPr lang="en-US" altLang="ko-KR" sz="7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TextBox 86"/>
          <p:cNvSpPr txBox="1"/>
          <p:nvPr/>
        </p:nvSpPr>
        <p:spPr>
          <a:xfrm>
            <a:off x="5690141" y="4534996"/>
            <a:ext cx="982961" cy="215444"/>
          </a:xfrm>
          <a:prstGeom prst="rect">
            <a:avLst/>
          </a:prstGeom>
          <a:noFill/>
        </p:spPr>
        <p:txBody>
          <a:bodyPr wrap="none" rtlCol="0">
            <a:spAutoFit/>
          </a:bodyPr>
          <a:lstStyle/>
          <a:p>
            <a:pPr algn="r"/>
            <a:r>
              <a:rPr lang="en-US" altLang="ko-KR" sz="800" smtClean="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rPr>
              <a:t>Trạng thái đã duyệt</a:t>
            </a:r>
            <a:endParaRPr lang="ko-KR" altLang="en-US" sz="800" dirty="0">
              <a:solidFill>
                <a:srgbClr val="0000FF"/>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88" name="직선 화살표 연결선 18"/>
          <p:cNvCxnSpPr/>
          <p:nvPr/>
        </p:nvCxnSpPr>
        <p:spPr>
          <a:xfrm>
            <a:off x="6673102" y="4546128"/>
            <a:ext cx="0" cy="5449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직선 화살표 연결선 18"/>
          <p:cNvCxnSpPr>
            <a:stCxn id="86" idx="3"/>
            <a:endCxn id="91" idx="1"/>
          </p:cNvCxnSpPr>
          <p:nvPr/>
        </p:nvCxnSpPr>
        <p:spPr>
          <a:xfrm flipV="1">
            <a:off x="7332835" y="4270973"/>
            <a:ext cx="107425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7270013" y="4063560"/>
            <a:ext cx="1037463" cy="215444"/>
          </a:xfrm>
          <a:prstGeom prst="rect">
            <a:avLst/>
          </a:prstGeom>
          <a:noFill/>
        </p:spPr>
        <p:txBody>
          <a:bodyPr wrap="none" rtlCol="0">
            <a:spAutoFit/>
          </a:bodyPr>
          <a:lstStyle/>
          <a:p>
            <a:r>
              <a:rPr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Trạng thái chờ duyệt</a:t>
            </a:r>
            <a:endParaRPr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직사각형 90"/>
          <p:cNvSpPr/>
          <p:nvPr/>
        </p:nvSpPr>
        <p:spPr>
          <a:xfrm>
            <a:off x="8407092" y="4111531"/>
            <a:ext cx="1299456" cy="31888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 đc login</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 đang chờ duyệt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TextBox 91"/>
          <p:cNvSpPr txBox="1"/>
          <p:nvPr/>
        </p:nvSpPr>
        <p:spPr>
          <a:xfrm>
            <a:off x="5539817" y="1391599"/>
            <a:ext cx="4366183" cy="830997"/>
          </a:xfrm>
          <a:prstGeom prst="rect">
            <a:avLst/>
          </a:prstGeom>
          <a:noFill/>
        </p:spPr>
        <p:txBody>
          <a:bodyPr wrap="square" rtlCol="0">
            <a:spAutoFit/>
          </a:bodyPr>
          <a:lstStyle/>
          <a:p>
            <a:pPr marL="171450" indent="-171450">
              <a:lnSpc>
                <a:spcPct val="150000"/>
              </a:lnSpc>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Login</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311150" indent="-127000">
              <a:lnSpc>
                <a:spcPct val="150000"/>
              </a:lnSpc>
              <a:buAutoNum type="arabicPeriod"/>
            </a:pP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Chỉ sử dụng được sau khi master duyệt trên menu quản lý thành viên.</a:t>
            </a:r>
            <a:endPar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endParaRPr>
          </a:p>
          <a:p>
            <a:pPr marL="311150" indent="-127000">
              <a:lnSpc>
                <a:spcPct val="150000"/>
              </a:lnSpc>
              <a:buAutoNum type="arabicPeriod"/>
            </a:pP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Sau khi đăng nhập có thể sử dụng dịch vụ theo quyền hạn.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anose="02020603050405020304" pitchFamily="18" charset="0"/>
                <a:ea typeface="Nanum Gothic" panose="020D0604000000000000" pitchFamily="34" charset="-127"/>
                <a:cs typeface="Times New Roman" panose="02020603050405020304" pitchFamily="18" charset="0"/>
              </a:rPr>
              <a:t>[Chính sách] Quyền hạn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 name="TextBox 4"/>
          <p:cNvSpPr txBox="1"/>
          <p:nvPr/>
        </p:nvSpPr>
        <p:spPr>
          <a:xfrm>
            <a:off x="272481" y="987207"/>
            <a:ext cx="9633520" cy="1061829"/>
          </a:xfrm>
          <a:prstGeom prst="rect">
            <a:avLst/>
          </a:prstGeom>
          <a:noFill/>
        </p:spPr>
        <p:txBody>
          <a:bodyPr wrap="square" rtlCol="0">
            <a:spAutoFit/>
          </a:bodyPr>
          <a:lstStyle/>
          <a:p>
            <a:pPr marL="171450" indent="-171450">
              <a:lnSpc>
                <a:spcPct val="150000"/>
              </a:lnSpc>
              <a:buFont typeface="Wingdings" panose="05000000000000000000" pitchFamily="2" charset="2"/>
              <a:buChar char="v"/>
            </a:pP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Quyền</a:t>
            </a:r>
            <a:r>
              <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err="1" smtClean="0">
                <a:latin typeface="Times New Roman" panose="02020603050405020304" pitchFamily="18" charset="0"/>
                <a:ea typeface="Nanum Gothic" panose="020D0604000000000000" pitchFamily="34" charset="-127"/>
                <a:cs typeface="Times New Roman" panose="02020603050405020304" pitchFamily="18" charset="0"/>
              </a:rPr>
              <a:t>hạn</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kumimoji="1" lang="vi-VN" altLang="ko-KR" sz="1000" dirty="0" smtClean="0">
                <a:latin typeface="Times New Roman" panose="02020603050405020304" pitchFamily="18" charset="0"/>
                <a:ea typeface="Nanum Gothic" panose="020D0604000000000000" pitchFamily="34" charset="-127"/>
                <a:cs typeface="Times New Roman" panose="02020603050405020304" pitchFamily="18" charset="0"/>
              </a:rPr>
              <a:t>Có 3 loại quyền hạn (Mặc định: người bán</a:t>
            </a:r>
            <a:r>
              <a:rPr kumimoji="1" lang="vi-VN" altLang="ko-KR" sz="1000" smtClean="0">
                <a:latin typeface="Times New Roman" panose="02020603050405020304" pitchFamily="18" charset="0"/>
                <a:ea typeface="Nanum Gothic" panose="020D0604000000000000" pitchFamily="34" charset="-127"/>
                <a:cs typeface="Times New Roman" panose="02020603050405020304" pitchFamily="18" charset="0"/>
              </a:rPr>
              <a:t>)</a:t>
            </a:r>
            <a:r>
              <a:rPr kumimoji="1" lang="ko-KR" altLang="en-US" sz="1000"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dirty="0" smtClean="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Khi đăng ký thành viên thì quyền hạn được tự động setting là người bán và không thể sửa. Quyền master do người quản lý hệ thống sửa thủ công trên menu quản lý thành viên</a:t>
            </a:r>
          </a:p>
          <a:p>
            <a:pPr marL="412750" indent="-228600">
              <a:lnSpc>
                <a:spcPct val="150000"/>
              </a:lnSpc>
              <a:buAutoNum type="arabicPeriod"/>
            </a:pP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Trên trang quản lý thông tin, khi người bán đăng ký công ty làm nhà cung cấp thì tự động thay đổi thành quyền hạn nhà cung cấp.</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6" name="표 7"/>
          <p:cNvGraphicFramePr>
            <a:graphicFrameLocks noGrp="1"/>
          </p:cNvGraphicFramePr>
          <p:nvPr/>
        </p:nvGraphicFramePr>
        <p:xfrm>
          <a:off x="918177" y="2144135"/>
          <a:ext cx="7995263" cy="2148961"/>
        </p:xfrm>
        <a:graphic>
          <a:graphicData uri="http://schemas.openxmlformats.org/drawingml/2006/table">
            <a:tbl>
              <a:tblPr firstRow="1" bandRow="1">
                <a:tableStyleId>{5C22544A-7EE6-4342-B048-85BDC9FD1C3A}</a:tableStyleId>
              </a:tblPr>
              <a:tblGrid>
                <a:gridCol w="920087">
                  <a:extLst>
                    <a:ext uri="{9D8B030D-6E8A-4147-A177-3AD203B41FA5}">
                      <a16:colId xmlns:a16="http://schemas.microsoft.com/office/drawing/2014/main" val="20000"/>
                    </a:ext>
                  </a:extLst>
                </a:gridCol>
                <a:gridCol w="3732841">
                  <a:extLst>
                    <a:ext uri="{9D8B030D-6E8A-4147-A177-3AD203B41FA5}">
                      <a16:colId xmlns:a16="http://schemas.microsoft.com/office/drawing/2014/main" val="20001"/>
                    </a:ext>
                  </a:extLst>
                </a:gridCol>
                <a:gridCol w="3342335">
                  <a:extLst>
                    <a:ext uri="{9D8B030D-6E8A-4147-A177-3AD203B41FA5}">
                      <a16:colId xmlns:a16="http://schemas.microsoft.com/office/drawing/2014/main" val="20002"/>
                    </a:ext>
                  </a:extLst>
                </a:gridCol>
              </a:tblGrid>
              <a:tr h="203390">
                <a:tc>
                  <a:txBody>
                    <a:bodyPr/>
                    <a:lstStyle/>
                    <a:p>
                      <a:pPr algn="ctr" latinLnBrk="1"/>
                      <a:r>
                        <a:rPr lang="en-US" altLang="ko-KR" sz="9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Loại</a:t>
                      </a:r>
                      <a:r>
                        <a:rPr lang="en-US" altLang="ko-KR" sz="9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quyền</a:t>
                      </a:r>
                      <a:r>
                        <a:rPr lang="en-US" altLang="ko-KR" sz="9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hạn</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defRPr/>
                      </a:pPr>
                      <a:r>
                        <a:rPr lang="en-US" altLang="ko-KR" sz="900" b="0" u="none"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Định</a:t>
                      </a:r>
                      <a:r>
                        <a:rPr lang="en-US" altLang="ko-KR" sz="900" b="0" u="none"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Nghĩa</a:t>
                      </a:r>
                      <a:endParaRPr lang="ko-KR" altLang="en-US" sz="900" b="0" u="none"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defRPr/>
                      </a:pPr>
                      <a:r>
                        <a:rPr lang="vi-VN" altLang="ko-KR" sz="900" b="0" u="none"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Menu và chức năng được sử dụng</a:t>
                      </a:r>
                      <a:endParaRPr lang="ko-KR" altLang="en-US" sz="900" b="0" u="none"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0000"/>
                  </a:ext>
                </a:extLst>
              </a:tr>
              <a:tr h="642839">
                <a:tc>
                  <a:txBody>
                    <a:bodyPr/>
                    <a:lstStyle/>
                    <a:p>
                      <a:pPr algn="ctr" latinLnBrk="1"/>
                      <a:r>
                        <a:rPr lang="en-US" altLang="ko-KR" sz="900" b="1"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Master</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74295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Là</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nhân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viên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nội</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bộ</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Seller Office.</a:t>
                      </a:r>
                      <a:r>
                        <a:rPr lang="ko-KR" altLang="en-US"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9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pPr marL="171450" marR="0" lvl="0" indent="-171450" algn="l" defTabSz="74295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Thực</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hiện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theo</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dõi</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toàn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bộ</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phẩm</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lý</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loại</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phẩm</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lý</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quyết</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toán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lý</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thành</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viên</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a:t>
                      </a:r>
                      <a:endParaRPr lang="en-US" altLang="ko-KR" sz="9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74295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Có</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thể</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vào</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tất</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cả</a:t>
                      </a:r>
                      <a:r>
                        <a:rPr lang="en-US" altLang="ko-KR" sz="900" b="0" u="none"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menu.</a:t>
                      </a:r>
                      <a:endParaRPr lang="en-US" altLang="ko-KR" sz="900" b="0" u="none" baseline="0"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pPr marL="171450" marR="0" lvl="0" indent="-171450" algn="l" defTabSz="74295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Ở menu "quản lý quyết toán", "thông báo" có một số chức năng chỉ master mới sử dụng được.</a:t>
                      </a:r>
                      <a:endParaRPr lang="en-US" altLang="ko-KR" sz="9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49017">
                <a:tc>
                  <a:txBody>
                    <a:bodyPr/>
                    <a:lstStyle/>
                    <a:p>
                      <a:pPr algn="ctr" latinLnBrk="1"/>
                      <a:r>
                        <a:rPr lang="vi-VN" altLang="ko-KR" sz="900" b="1"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Người bán</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latinLnBrk="1">
                        <a:buFont typeface="Arial" panose="020B0604020202020204" pitchFamily="34" charset="0"/>
                        <a:buChar char="•"/>
                      </a:pPr>
                      <a:r>
                        <a:rPr lang="vi-VN"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Công ty có nhiều hơn 1 nhà cung cấp.</a:t>
                      </a:r>
                      <a:endPar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pPr marL="171450" indent="-171450" algn="l" latinLnBrk="1">
                        <a:buFont typeface="Arial" panose="020B0604020202020204" pitchFamily="34" charset="0"/>
                        <a:buChar char="•"/>
                      </a:pP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Có</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thể</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tìm</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kiếm</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và</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lý</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tất</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cả</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dữ</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liệu</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của</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nhà</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cung</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cấp</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trực</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u="none" baseline="0"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thuộc</a:t>
                      </a:r>
                      <a:r>
                        <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pPr marL="171450" indent="-171450" algn="l" latinLnBrk="1">
                        <a:buFont typeface="Arial" panose="020B0604020202020204" pitchFamily="34" charset="0"/>
                        <a:buChar char="•"/>
                      </a:pPr>
                      <a:r>
                        <a:rPr lang="vi-VN"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Nếu số nhà cung cấp bằng 0 thì người bán có thể đăng sản phẩm (người bán=nhà cung cấp)</a:t>
                      </a:r>
                      <a:endParaRPr lang="en-US" altLang="ko-KR" sz="900" b="0" u="none" baseline="0"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indent="-171450" algn="l" latinLnBrk="1">
                        <a:buFont typeface="Arial" panose="020B0604020202020204" pitchFamily="34" charset="0"/>
                        <a:buChar char="•"/>
                      </a:pPr>
                      <a:r>
                        <a:rPr lang="vi-VN"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Không được vào menu quản lý phân loại, quản lý thành viên, quản lý quyền hạn.</a:t>
                      </a:r>
                      <a:endParaRPr lang="en-US" altLang="ko-KR" sz="900" b="0" u="none" baseline="0"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3715">
                <a:tc>
                  <a:txBody>
                    <a:bodyPr/>
                    <a:lstStyle/>
                    <a:p>
                      <a:pPr algn="ctr" latinLnBrk="1"/>
                      <a:r>
                        <a:rPr lang="en-US" altLang="ko-KR" sz="900" b="1"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Nhà</a:t>
                      </a:r>
                      <a:r>
                        <a:rPr lang="en-US" altLang="ko-KR" sz="900" b="1"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1"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cung</a:t>
                      </a:r>
                      <a:r>
                        <a:rPr lang="en-US" altLang="ko-KR" sz="900" b="1"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1" dirty="0" err="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cấp</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74295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Có quyền đăng sản phẩm.</a:t>
                      </a:r>
                      <a:endParaRPr lang="en-US" altLang="ko-KR" sz="900" b="0" u="none" baseline="0"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pPr marL="171450" marR="0" lvl="0" indent="-171450" algn="l" defTabSz="74295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900" b="0" i="1" u="none" baseline="0" dirty="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Chỉ được xem và quản lý dữ liệu của nhà cung cấp đó.</a:t>
                      </a:r>
                      <a:endParaRPr lang="en-US" altLang="ko-KR" sz="900" b="0" i="1" u="none" baseline="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74295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900" b="0" u="none" baseline="0" dirty="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Không được vào menu quản lý phân loại, quản lý thành viên, quản lý quyền hạn.</a:t>
                      </a:r>
                      <a:endParaRPr lang="en-US" altLang="ko-KR" sz="900" b="0" u="none" baseline="0"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Trang giới thiệu</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 name="직사각형 24"/>
          <p:cNvSpPr/>
          <p:nvPr/>
        </p:nvSpPr>
        <p:spPr>
          <a:xfrm>
            <a:off x="488504" y="1124744"/>
            <a:ext cx="6696744" cy="43204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6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0" name="직사각형 39"/>
          <p:cNvSpPr/>
          <p:nvPr/>
        </p:nvSpPr>
        <p:spPr>
          <a:xfrm>
            <a:off x="504528" y="1556793"/>
            <a:ext cx="6680720" cy="230425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T-Bridge : Người tiên phong trong quản lý b</a:t>
            </a:r>
            <a:r>
              <a:rPr lang="en-US"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á</a:t>
            </a:r>
            <a:r>
              <a:rPr lang="vi-VN"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 hàng sản phẩm vé/du lịch trực tuyến!</a:t>
            </a:r>
          </a:p>
          <a:p>
            <a:endParaRPr lang="vi-VN"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vi-VN"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Giải pháp quản lý doanh thu tổng hợp.</a:t>
            </a:r>
          </a:p>
          <a:p>
            <a:r>
              <a:rPr lang="vi-VN"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Từ quản lý đơn hàng của nhiều kênh bán hàng, cho đến xử lý sử dụng/xử lý hoàn tiền và gửi mã PIN.</a:t>
            </a:r>
          </a:p>
          <a:p>
            <a:r>
              <a:rPr lang="vi-VN"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Các công việc quản lý bán hàng và quản lý sử dụng phức tạp đó có thể giải quyết bằng một giải pháp duy nhất.</a:t>
            </a:r>
            <a:endParaRPr lang="en-US" altLang="ko-KR" sz="12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1" name="직사각형 40"/>
          <p:cNvSpPr/>
          <p:nvPr/>
        </p:nvSpPr>
        <p:spPr>
          <a:xfrm>
            <a:off x="4953000" y="1191384"/>
            <a:ext cx="1169148" cy="298769"/>
          </a:xfrm>
          <a:prstGeom prst="rect">
            <a:avLst/>
          </a:prstGeom>
          <a:solidFill>
            <a:schemeClr val="bg1"/>
          </a:solid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Hướng dẫn sử dụng</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2" name="직사각형 41"/>
          <p:cNvSpPr/>
          <p:nvPr/>
        </p:nvSpPr>
        <p:spPr>
          <a:xfrm>
            <a:off x="6177136" y="1191384"/>
            <a:ext cx="903678" cy="298769"/>
          </a:xfrm>
          <a:prstGeom prst="rect">
            <a:avLst/>
          </a:prstGeom>
          <a:solidFill>
            <a:schemeClr val="bg1"/>
          </a:solid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3" name="직사각형 42"/>
          <p:cNvSpPr/>
          <p:nvPr/>
        </p:nvSpPr>
        <p:spPr>
          <a:xfrm>
            <a:off x="504528" y="4077073"/>
            <a:ext cx="2063824" cy="166456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4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Chức năng chính 1</a:t>
            </a:r>
            <a:endParaRPr lang="en-US" altLang="ko-KR" sz="14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4" name="직사각형 43"/>
          <p:cNvSpPr/>
          <p:nvPr/>
        </p:nvSpPr>
        <p:spPr>
          <a:xfrm>
            <a:off x="2812976" y="4077073"/>
            <a:ext cx="2063824" cy="166456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4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Chức năng chính 2</a:t>
            </a:r>
            <a:endParaRPr lang="en-US" altLang="ko-KR" sz="14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5" name="Rectangle 189"/>
          <p:cNvSpPr>
            <a:spLocks noChangeArrowheads="1"/>
          </p:cNvSpPr>
          <p:nvPr/>
        </p:nvSpPr>
        <p:spPr bwMode="auto">
          <a:xfrm>
            <a:off x="2411729" y="3356992"/>
            <a:ext cx="2831976" cy="360039"/>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Đăng ký miễn phí</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6" name="직사각형 45"/>
          <p:cNvSpPr/>
          <p:nvPr/>
        </p:nvSpPr>
        <p:spPr>
          <a:xfrm>
            <a:off x="5090236" y="4077073"/>
            <a:ext cx="2063824" cy="166456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4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Chức năng chính 3</a:t>
            </a:r>
            <a:endParaRPr lang="en-US" altLang="ko-KR" sz="14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 name="타원 11"/>
          <p:cNvSpPr/>
          <p:nvPr/>
        </p:nvSpPr>
        <p:spPr>
          <a:xfrm>
            <a:off x="4880992" y="110561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12" name="타원 12"/>
          <p:cNvSpPr/>
          <p:nvPr/>
        </p:nvSpPr>
        <p:spPr>
          <a:xfrm>
            <a:off x="6955596" y="110561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13" name="타원 13"/>
          <p:cNvSpPr/>
          <p:nvPr/>
        </p:nvSpPr>
        <p:spPr>
          <a:xfrm>
            <a:off x="2321626" y="326688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graphicFrame>
        <p:nvGraphicFramePr>
          <p:cNvPr id="14" name="표 10"/>
          <p:cNvGraphicFramePr>
            <a:graphicFrameLocks noGrp="1"/>
          </p:cNvGraphicFramePr>
          <p:nvPr/>
        </p:nvGraphicFramePr>
        <p:xfrm>
          <a:off x="7453089" y="836962"/>
          <a:ext cx="2357214" cy="5817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Download file hướng dẫn sử dụng (chưa có)</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chuyển sang trang login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chuyển sang trang đăng ký</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8" name="직사각형 27"/>
          <p:cNvSpPr/>
          <p:nvPr/>
        </p:nvSpPr>
        <p:spPr>
          <a:xfrm>
            <a:off x="2252319" y="1610105"/>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ID</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9" name="직사각형 28"/>
          <p:cNvSpPr/>
          <p:nvPr/>
        </p:nvSpPr>
        <p:spPr>
          <a:xfrm>
            <a:off x="2252319" y="2014227"/>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PW</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0" name="Rectangle 189"/>
          <p:cNvSpPr>
            <a:spLocks noChangeArrowheads="1"/>
          </p:cNvSpPr>
          <p:nvPr/>
        </p:nvSpPr>
        <p:spPr bwMode="auto">
          <a:xfrm>
            <a:off x="2252319" y="2634372"/>
            <a:ext cx="2831976" cy="238066"/>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1" name="직사각형 30"/>
          <p:cNvSpPr/>
          <p:nvPr/>
        </p:nvSpPr>
        <p:spPr>
          <a:xfrm>
            <a:off x="2966338" y="1127348"/>
            <a:ext cx="1679242" cy="461665"/>
          </a:xfrm>
          <a:prstGeom prst="rect">
            <a:avLst/>
          </a:prstGeom>
        </p:spPr>
        <p:txBody>
          <a:bodyPr wrap="none">
            <a:spAutoFit/>
          </a:bodyPr>
          <a:lstStyle/>
          <a:p>
            <a:r>
              <a:rPr lang="en-US" altLang="ko-KR" sz="2400" b="1" smtClean="0">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24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54"/>
          <p:cNvSpPr/>
          <p:nvPr/>
        </p:nvSpPr>
        <p:spPr>
          <a:xfrm>
            <a:off x="2761251" y="980728"/>
            <a:ext cx="2145139" cy="215444"/>
          </a:xfrm>
          <a:prstGeom prst="rect">
            <a:avLst/>
          </a:prstGeom>
        </p:spPr>
        <p:txBody>
          <a:bodyPr wrap="none">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Giải pháp tổng hợp cho người bán vé/du lịch</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74"/>
          <p:cNvSpPr/>
          <p:nvPr/>
        </p:nvSpPr>
        <p:spPr>
          <a:xfrm>
            <a:off x="2250319" y="2909512"/>
            <a:ext cx="903678" cy="303464"/>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Tìm ID</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75"/>
          <p:cNvSpPr/>
          <p:nvPr/>
        </p:nvSpPr>
        <p:spPr>
          <a:xfrm>
            <a:off x="3221951" y="2911860"/>
            <a:ext cx="903678" cy="298769"/>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Tìm PW</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4180617" y="2911860"/>
            <a:ext cx="903678" cy="298769"/>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en-US" altLang="ko-KR"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77"/>
          <p:cNvSpPr/>
          <p:nvPr/>
        </p:nvSpPr>
        <p:spPr>
          <a:xfrm>
            <a:off x="2250319" y="4416434"/>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mirage</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직사각형 78"/>
          <p:cNvSpPr/>
          <p:nvPr/>
        </p:nvSpPr>
        <p:spPr>
          <a:xfrm>
            <a:off x="2250319" y="4820556"/>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Rectangle 189"/>
          <p:cNvSpPr>
            <a:spLocks noChangeArrowheads="1"/>
          </p:cNvSpPr>
          <p:nvPr/>
        </p:nvSpPr>
        <p:spPr bwMode="auto">
          <a:xfrm>
            <a:off x="2250319" y="5517232"/>
            <a:ext cx="2831976" cy="238066"/>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3" name="직사각형 82"/>
          <p:cNvSpPr/>
          <p:nvPr/>
        </p:nvSpPr>
        <p:spPr>
          <a:xfrm>
            <a:off x="2248319" y="5792372"/>
            <a:ext cx="903678" cy="303464"/>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Tìm ID</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83"/>
          <p:cNvSpPr/>
          <p:nvPr/>
        </p:nvSpPr>
        <p:spPr>
          <a:xfrm>
            <a:off x="3219951" y="5794720"/>
            <a:ext cx="903678" cy="298769"/>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Tìm PW</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84"/>
          <p:cNvSpPr/>
          <p:nvPr/>
        </p:nvSpPr>
        <p:spPr>
          <a:xfrm>
            <a:off x="4178617" y="5794720"/>
            <a:ext cx="903678" cy="298769"/>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en-US" altLang="ko-KR"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TextBox 85"/>
          <p:cNvSpPr txBox="1"/>
          <p:nvPr/>
        </p:nvSpPr>
        <p:spPr>
          <a:xfrm>
            <a:off x="3107966" y="5213346"/>
            <a:ext cx="1552028"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ID hoặc mật khẩu không đúng.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직사각형 86"/>
          <p:cNvSpPr/>
          <p:nvPr/>
        </p:nvSpPr>
        <p:spPr>
          <a:xfrm>
            <a:off x="2950733" y="3945282"/>
            <a:ext cx="1679242" cy="461665"/>
          </a:xfrm>
          <a:prstGeom prst="rect">
            <a:avLst/>
          </a:prstGeom>
        </p:spPr>
        <p:txBody>
          <a:bodyPr wrap="none">
            <a:spAutoFit/>
          </a:bodyPr>
          <a:lstStyle/>
          <a:p>
            <a:r>
              <a:rPr lang="en-US" altLang="ko-KR" sz="2400" b="1" smtClean="0">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24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직사각형 87"/>
          <p:cNvSpPr/>
          <p:nvPr/>
        </p:nvSpPr>
        <p:spPr>
          <a:xfrm>
            <a:off x="2745646" y="3798662"/>
            <a:ext cx="2145139" cy="215444"/>
          </a:xfrm>
          <a:prstGeom prst="rect">
            <a:avLst/>
          </a:prstGeom>
        </p:spPr>
        <p:txBody>
          <a:bodyPr wrap="none">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Giải pháp tổng hợp cho người bán vé/du lịch</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88"/>
          <p:cNvSpPr/>
          <p:nvPr/>
        </p:nvSpPr>
        <p:spPr>
          <a:xfrm>
            <a:off x="2207436" y="2374835"/>
            <a:ext cx="615874" cy="215444"/>
          </a:xfrm>
          <a:prstGeom prst="rect">
            <a:avLst/>
          </a:prstGeom>
        </p:spPr>
        <p:txBody>
          <a:bodyPr wrap="non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Lưu ID</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89"/>
          <p:cNvSpPr/>
          <p:nvPr/>
        </p:nvSpPr>
        <p:spPr>
          <a:xfrm>
            <a:off x="2207436" y="5213346"/>
            <a:ext cx="615874" cy="215444"/>
          </a:xfrm>
          <a:prstGeom prst="rect">
            <a:avLst/>
          </a:prstGeom>
        </p:spPr>
        <p:txBody>
          <a:bodyPr wrap="none">
            <a:spAutoFit/>
          </a:bodyPr>
          <a:lstStyle/>
          <a:p>
            <a:r>
              <a:rPr lang="ko-KR" altLang="en-US" sz="8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Lưu ID</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 name="타원 37"/>
          <p:cNvSpPr/>
          <p:nvPr/>
        </p:nvSpPr>
        <p:spPr>
          <a:xfrm>
            <a:off x="1996819" y="188144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23" name="타원 38"/>
          <p:cNvSpPr/>
          <p:nvPr/>
        </p:nvSpPr>
        <p:spPr>
          <a:xfrm>
            <a:off x="2047685" y="241007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24" name="왼쪽 대괄호[L] 2"/>
          <p:cNvSpPr/>
          <p:nvPr/>
        </p:nvSpPr>
        <p:spPr>
          <a:xfrm>
            <a:off x="2137788" y="1778781"/>
            <a:ext cx="110531" cy="404122"/>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25" name="타원 39"/>
          <p:cNvSpPr/>
          <p:nvPr/>
        </p:nvSpPr>
        <p:spPr>
          <a:xfrm>
            <a:off x="2137787" y="269266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
        <p:nvSpPr>
          <p:cNvPr id="26" name="타원 40"/>
          <p:cNvSpPr/>
          <p:nvPr/>
        </p:nvSpPr>
        <p:spPr>
          <a:xfrm>
            <a:off x="2158216" y="310683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4</a:t>
            </a:r>
            <a:endParaRPr lang="ko-KR" altLang="en-US" sz="900" b="1" dirty="0">
              <a:latin typeface="나눔고딕" pitchFamily="50" charset="-127"/>
              <a:ea typeface="나눔고딕" pitchFamily="50" charset="-127"/>
            </a:endParaRPr>
          </a:p>
        </p:txBody>
      </p:sp>
      <p:sp>
        <p:nvSpPr>
          <p:cNvPr id="27" name="직사각형 3"/>
          <p:cNvSpPr/>
          <p:nvPr/>
        </p:nvSpPr>
        <p:spPr>
          <a:xfrm>
            <a:off x="2227890" y="2386876"/>
            <a:ext cx="950737" cy="180726"/>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32" name="타원 41"/>
          <p:cNvSpPr/>
          <p:nvPr/>
        </p:nvSpPr>
        <p:spPr>
          <a:xfrm>
            <a:off x="3246100" y="313001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5</a:t>
            </a:r>
            <a:endParaRPr lang="ko-KR" altLang="en-US" sz="900" b="1" dirty="0">
              <a:latin typeface="나눔고딕" pitchFamily="50" charset="-127"/>
              <a:ea typeface="나눔고딕" pitchFamily="50" charset="-127"/>
            </a:endParaRPr>
          </a:p>
        </p:txBody>
      </p:sp>
      <p:sp>
        <p:nvSpPr>
          <p:cNvPr id="33" name="타원 42"/>
          <p:cNvSpPr/>
          <p:nvPr/>
        </p:nvSpPr>
        <p:spPr>
          <a:xfrm>
            <a:off x="5039195" y="312052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6</a:t>
            </a:r>
            <a:endParaRPr lang="ko-KR" altLang="en-US" sz="900" b="1" dirty="0">
              <a:latin typeface="나눔고딕" pitchFamily="50" charset="-127"/>
              <a:ea typeface="나눔고딕" pitchFamily="50" charset="-127"/>
            </a:endParaRPr>
          </a:p>
        </p:txBody>
      </p:sp>
      <p:sp>
        <p:nvSpPr>
          <p:cNvPr id="34" name="타원 43"/>
          <p:cNvSpPr/>
          <p:nvPr/>
        </p:nvSpPr>
        <p:spPr>
          <a:xfrm>
            <a:off x="5219401" y="523096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7</a:t>
            </a:r>
            <a:endParaRPr lang="ko-KR" altLang="en-US" sz="900" b="1" dirty="0">
              <a:latin typeface="나눔고딕" pitchFamily="50" charset="-127"/>
              <a:ea typeface="나눔고딕" pitchFamily="50" charset="-127"/>
            </a:endParaRPr>
          </a:p>
        </p:txBody>
      </p:sp>
      <p:sp>
        <p:nvSpPr>
          <p:cNvPr id="35" name="직사각형 44"/>
          <p:cNvSpPr/>
          <p:nvPr/>
        </p:nvSpPr>
        <p:spPr>
          <a:xfrm>
            <a:off x="3077904" y="5201921"/>
            <a:ext cx="2141497" cy="209249"/>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graphicFrame>
        <p:nvGraphicFramePr>
          <p:cNvPr id="36" name="표 21"/>
          <p:cNvGraphicFramePr>
            <a:graphicFrameLocks noGrp="1"/>
          </p:cNvGraphicFramePr>
          <p:nvPr/>
        </p:nvGraphicFramePr>
        <p:xfrm>
          <a:off x="7453089" y="836962"/>
          <a:ext cx="2357214" cy="18451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Trường nhập ID</a:t>
                      </a: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PW</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được check: Nếu login thành công, thì khi login lại ID sẽ mặc định đc nhập.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Button chỉ click đc khi ID</a:t>
                      </a:r>
                      <a:r>
                        <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PW</a:t>
                      </a:r>
                      <a:r>
                        <a:rPr lang="ko-KR" altLang="en-US"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đều đã đc nhập.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vào sẽ chuyển sang trang tìm ID/PW.</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Tab tìm ID mặc định đc chọn.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vào sẽ chuyển sang trang tìm ID/PW.</a:t>
                      </a: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Tab tìm PW mặc định đc chọn.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vào sẽ chuyển sang trang đăng ký thành viên.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1 trong 2 thông tin ID</a:t>
                      </a:r>
                      <a:r>
                        <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PW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k0 đúng thì hiển thị câu thông báo.</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nhập</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Tìm ID</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1" name="직사각형 30"/>
          <p:cNvSpPr/>
          <p:nvPr/>
        </p:nvSpPr>
        <p:spPr>
          <a:xfrm>
            <a:off x="3141863" y="830565"/>
            <a:ext cx="1679242" cy="461665"/>
          </a:xfrm>
          <a:prstGeom prst="rect">
            <a:avLst/>
          </a:prstGeom>
        </p:spPr>
        <p:txBody>
          <a:bodyPr wrap="none">
            <a:spAutoFit/>
          </a:bodyPr>
          <a:lstStyle/>
          <a:p>
            <a:r>
              <a:rPr lang="en-US" altLang="ko-KR" sz="2400" b="1" smtClean="0">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24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54"/>
          <p:cNvSpPr/>
          <p:nvPr/>
        </p:nvSpPr>
        <p:spPr>
          <a:xfrm>
            <a:off x="2936776" y="683945"/>
            <a:ext cx="2145139" cy="215444"/>
          </a:xfrm>
          <a:prstGeom prst="rect">
            <a:avLst/>
          </a:prstGeom>
        </p:spPr>
        <p:txBody>
          <a:bodyPr wrap="none">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Giải pháp tổng hợp cho người bán vé/du lịch</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 name="직사각형 24"/>
          <p:cNvSpPr/>
          <p:nvPr/>
        </p:nvSpPr>
        <p:spPr>
          <a:xfrm>
            <a:off x="3852111" y="1493136"/>
            <a:ext cx="2068860" cy="365207"/>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PW</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26"/>
          <p:cNvGrpSpPr/>
          <p:nvPr/>
        </p:nvGrpSpPr>
        <p:grpSpPr>
          <a:xfrm>
            <a:off x="1791217" y="1493136"/>
            <a:ext cx="2037856" cy="365207"/>
            <a:chOff x="2500958" y="1307006"/>
            <a:chExt cx="861132" cy="209794"/>
          </a:xfrm>
        </p:grpSpPr>
        <p:sp>
          <p:nvSpPr>
            <p:cNvPr id="32" name="직사각형 31"/>
            <p:cNvSpPr/>
            <p:nvPr/>
          </p:nvSpPr>
          <p:spPr>
            <a:xfrm>
              <a:off x="2500958" y="1307006"/>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ID</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33" name="직선 연결선[R] 32"/>
            <p:cNvCxnSpPr/>
            <p:nvPr/>
          </p:nvCxnSpPr>
          <p:spPr>
            <a:xfrm>
              <a:off x="2503288" y="1516800"/>
              <a:ext cx="858802"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 name="직사각형 33"/>
          <p:cNvSpPr/>
          <p:nvPr/>
        </p:nvSpPr>
        <p:spPr>
          <a:xfrm>
            <a:off x="2088125" y="2130813"/>
            <a:ext cx="3470867" cy="321277"/>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Mã đăng ký doanh nghiệp</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5" name="직사각형 34"/>
          <p:cNvSpPr/>
          <p:nvPr/>
        </p:nvSpPr>
        <p:spPr>
          <a:xfrm>
            <a:off x="2088125" y="2534935"/>
            <a:ext cx="3458585" cy="327775"/>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Nhập địa chỉ email mà bạn đã cung cấp khi đăng ký thành viên</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6" name="Rectangle 189"/>
          <p:cNvSpPr>
            <a:spLocks noChangeArrowheads="1"/>
          </p:cNvSpPr>
          <p:nvPr/>
        </p:nvSpPr>
        <p:spPr bwMode="auto">
          <a:xfrm>
            <a:off x="2075843" y="2971175"/>
            <a:ext cx="3470867" cy="293944"/>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Tìm ID</a:t>
            </a:r>
            <a:endParaRPr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TextBox 73"/>
          <p:cNvSpPr txBox="1"/>
          <p:nvPr/>
        </p:nvSpPr>
        <p:spPr>
          <a:xfrm>
            <a:off x="419860" y="5341897"/>
            <a:ext cx="1194558"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không đúng.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75"/>
          <p:cNvSpPr/>
          <p:nvPr/>
        </p:nvSpPr>
        <p:spPr>
          <a:xfrm>
            <a:off x="2072407" y="3317664"/>
            <a:ext cx="1697789" cy="303464"/>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3823559" y="3317664"/>
            <a:ext cx="1697789" cy="298769"/>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en-US" altLang="ko-KR"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7" name="타원 39"/>
          <p:cNvSpPr/>
          <p:nvPr/>
        </p:nvSpPr>
        <p:spPr>
          <a:xfrm>
            <a:off x="1982304" y="300884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18" name="타원 41"/>
          <p:cNvSpPr/>
          <p:nvPr/>
        </p:nvSpPr>
        <p:spPr>
          <a:xfrm>
            <a:off x="1820907" y="237308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19" name="왼쪽 대괄호[L] 42"/>
          <p:cNvSpPr/>
          <p:nvPr/>
        </p:nvSpPr>
        <p:spPr>
          <a:xfrm>
            <a:off x="1961876" y="2270427"/>
            <a:ext cx="110531" cy="404122"/>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20" name="타원 43"/>
          <p:cNvSpPr/>
          <p:nvPr/>
        </p:nvSpPr>
        <p:spPr>
          <a:xfrm>
            <a:off x="2006832" y="350530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
        <p:nvSpPr>
          <p:cNvPr id="21" name="타원 47"/>
          <p:cNvSpPr/>
          <p:nvPr/>
        </p:nvSpPr>
        <p:spPr>
          <a:xfrm>
            <a:off x="5394505" y="349344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4</a:t>
            </a:r>
            <a:endParaRPr lang="ko-KR" altLang="en-US" sz="900" b="1" dirty="0">
              <a:latin typeface="나눔고딕" pitchFamily="50" charset="-127"/>
              <a:ea typeface="나눔고딕" pitchFamily="50" charset="-127"/>
            </a:endParaRPr>
          </a:p>
        </p:txBody>
      </p:sp>
      <p:sp>
        <p:nvSpPr>
          <p:cNvPr id="22" name="직사각형 17"/>
          <p:cNvSpPr/>
          <p:nvPr/>
        </p:nvSpPr>
        <p:spPr>
          <a:xfrm>
            <a:off x="381244" y="4479403"/>
            <a:ext cx="3470867" cy="321277"/>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chemeClr val="tx1"/>
                </a:solidFill>
                <a:latin typeface="Nanum Gothic" panose="020D0604000000000000" pitchFamily="34" charset="-127"/>
                <a:ea typeface="Nanum Gothic" panose="020D0604000000000000" pitchFamily="34" charset="-127"/>
              </a:rPr>
              <a:t>111-11-11111</a:t>
            </a:r>
            <a:endParaRPr lang="ko-KR" altLang="en-US" sz="900" dirty="0">
              <a:solidFill>
                <a:schemeClr val="tx1"/>
              </a:solidFill>
              <a:latin typeface="Nanum Gothic" panose="020D0604000000000000" pitchFamily="34" charset="-127"/>
              <a:ea typeface="Nanum Gothic" panose="020D0604000000000000" pitchFamily="34" charset="-127"/>
            </a:endParaRPr>
          </a:p>
        </p:txBody>
      </p:sp>
      <p:sp>
        <p:nvSpPr>
          <p:cNvPr id="23" name="직사각형 18"/>
          <p:cNvSpPr/>
          <p:nvPr/>
        </p:nvSpPr>
        <p:spPr>
          <a:xfrm>
            <a:off x="381244" y="4883525"/>
            <a:ext cx="3458585" cy="327775"/>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err="1">
                <a:solidFill>
                  <a:schemeClr val="tx1"/>
                </a:solidFill>
                <a:latin typeface="Nanum Gothic" panose="020D0604000000000000" pitchFamily="34" charset="-127"/>
                <a:ea typeface="Nanum Gothic" panose="020D0604000000000000" pitchFamily="34" charset="-127"/>
              </a:rPr>
              <a:t>tbridge</a:t>
            </a:r>
            <a:r>
              <a:rPr lang="en-US" altLang="ko-KR" sz="900" dirty="0">
                <a:solidFill>
                  <a:schemeClr val="tx1"/>
                </a:solidFill>
                <a:latin typeface="Nanum Gothic" panose="020D0604000000000000" pitchFamily="34" charset="-127"/>
                <a:ea typeface="Nanum Gothic" panose="020D0604000000000000" pitchFamily="34" charset="-127"/>
              </a:rPr>
              <a:t> @ </a:t>
            </a:r>
            <a:r>
              <a:rPr lang="en-US" altLang="ko-KR" sz="900" dirty="0" err="1">
                <a:solidFill>
                  <a:schemeClr val="tx1"/>
                </a:solidFill>
                <a:latin typeface="Nanum Gothic" panose="020D0604000000000000" pitchFamily="34" charset="-127"/>
                <a:ea typeface="Nanum Gothic" panose="020D0604000000000000" pitchFamily="34" charset="-127"/>
              </a:rPr>
              <a:t>ppp.com</a:t>
            </a:r>
            <a:endParaRPr lang="ko-KR" altLang="en-US" sz="900" dirty="0">
              <a:solidFill>
                <a:schemeClr val="tx1"/>
              </a:solidFill>
              <a:latin typeface="Nanum Gothic" panose="020D0604000000000000" pitchFamily="34" charset="-127"/>
              <a:ea typeface="Nanum Gothic" panose="020D0604000000000000" pitchFamily="34" charset="-127"/>
            </a:endParaRPr>
          </a:p>
        </p:txBody>
      </p:sp>
      <p:sp>
        <p:nvSpPr>
          <p:cNvPr id="24" name="Rectangle 189"/>
          <p:cNvSpPr>
            <a:spLocks noChangeArrowheads="1"/>
          </p:cNvSpPr>
          <p:nvPr/>
        </p:nvSpPr>
        <p:spPr bwMode="auto">
          <a:xfrm>
            <a:off x="368962" y="5596223"/>
            <a:ext cx="3470867" cy="293944"/>
          </a:xfrm>
          <a:prstGeom prst="rect">
            <a:avLst/>
          </a:prstGeom>
          <a:solidFill>
            <a:schemeClr val="tx2">
              <a:lumMod val="75000"/>
            </a:schemeClr>
          </a:solidFill>
          <a:ln w="9525">
            <a:solidFill>
              <a:srgbClr val="808080"/>
            </a:solidFill>
            <a:miter lim="800000"/>
          </a:ln>
          <a:effectLst/>
        </p:spPr>
        <p:txBody>
          <a:bodyPr wrap="none" anchor="ctr"/>
          <a:lstStyle/>
          <a:p>
            <a:pPr algn="ctr"/>
            <a:r>
              <a:rPr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Tìm ID</a:t>
            </a:r>
            <a:endParaRPr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 name="직사각형 21"/>
          <p:cNvSpPr/>
          <p:nvPr/>
        </p:nvSpPr>
        <p:spPr>
          <a:xfrm>
            <a:off x="365526" y="5942712"/>
            <a:ext cx="1697789" cy="303464"/>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8" name="직사각형 22"/>
          <p:cNvSpPr/>
          <p:nvPr/>
        </p:nvSpPr>
        <p:spPr>
          <a:xfrm>
            <a:off x="2116678" y="5942712"/>
            <a:ext cx="1697789" cy="298769"/>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en-US" altLang="ko-KR"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9" name="직사각형 27"/>
          <p:cNvSpPr/>
          <p:nvPr/>
        </p:nvSpPr>
        <p:spPr>
          <a:xfrm>
            <a:off x="4615234" y="4442298"/>
            <a:ext cx="3470867" cy="32127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chemeClr val="tx1"/>
                </a:solidFill>
                <a:latin typeface="Nanum Gothic" panose="020D0604000000000000" pitchFamily="34" charset="-127"/>
                <a:ea typeface="Nanum Gothic" panose="020D0604000000000000" pitchFamily="34" charset="-127"/>
              </a:rPr>
              <a:t>111-11-11111</a:t>
            </a:r>
            <a:endParaRPr lang="ko-KR" altLang="en-US" sz="900" dirty="0">
              <a:solidFill>
                <a:schemeClr val="tx1"/>
              </a:solidFill>
              <a:latin typeface="Nanum Gothic" panose="020D0604000000000000" pitchFamily="34" charset="-127"/>
              <a:ea typeface="Nanum Gothic" panose="020D0604000000000000" pitchFamily="34" charset="-127"/>
            </a:endParaRPr>
          </a:p>
        </p:txBody>
      </p:sp>
      <p:sp>
        <p:nvSpPr>
          <p:cNvPr id="30" name="직사각형 28"/>
          <p:cNvSpPr/>
          <p:nvPr/>
        </p:nvSpPr>
        <p:spPr>
          <a:xfrm>
            <a:off x="4615234" y="4846420"/>
            <a:ext cx="3458585" cy="327775"/>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err="1">
                <a:solidFill>
                  <a:schemeClr val="tx1"/>
                </a:solidFill>
                <a:latin typeface="Nanum Gothic" panose="020D0604000000000000" pitchFamily="34" charset="-127"/>
                <a:ea typeface="Nanum Gothic" panose="020D0604000000000000" pitchFamily="34" charset="-127"/>
              </a:rPr>
              <a:t>tbridge</a:t>
            </a:r>
            <a:r>
              <a:rPr lang="en-US" altLang="ko-KR" sz="900" dirty="0">
                <a:solidFill>
                  <a:schemeClr val="tx1"/>
                </a:solidFill>
                <a:latin typeface="Nanum Gothic" panose="020D0604000000000000" pitchFamily="34" charset="-127"/>
                <a:ea typeface="Nanum Gothic" panose="020D0604000000000000" pitchFamily="34" charset="-127"/>
              </a:rPr>
              <a:t> @ </a:t>
            </a:r>
            <a:r>
              <a:rPr lang="en-US" altLang="ko-KR" sz="900" dirty="0" err="1">
                <a:solidFill>
                  <a:schemeClr val="tx1"/>
                </a:solidFill>
                <a:latin typeface="Nanum Gothic" panose="020D0604000000000000" pitchFamily="34" charset="-127"/>
                <a:ea typeface="Nanum Gothic" panose="020D0604000000000000" pitchFamily="34" charset="-127"/>
              </a:rPr>
              <a:t>ppp.com</a:t>
            </a:r>
            <a:endParaRPr lang="ko-KR" altLang="en-US" sz="900" dirty="0">
              <a:solidFill>
                <a:schemeClr val="tx1"/>
              </a:solidFill>
              <a:latin typeface="Nanum Gothic" panose="020D0604000000000000" pitchFamily="34" charset="-127"/>
              <a:ea typeface="Nanum Gothic" panose="020D0604000000000000" pitchFamily="34" charset="-127"/>
            </a:endParaRPr>
          </a:p>
        </p:txBody>
      </p:sp>
      <p:sp>
        <p:nvSpPr>
          <p:cNvPr id="37" name="Rectangle 189"/>
          <p:cNvSpPr>
            <a:spLocks noChangeArrowheads="1"/>
          </p:cNvSpPr>
          <p:nvPr/>
        </p:nvSpPr>
        <p:spPr bwMode="auto">
          <a:xfrm>
            <a:off x="4602952" y="5559118"/>
            <a:ext cx="3470867" cy="293944"/>
          </a:xfrm>
          <a:prstGeom prst="rect">
            <a:avLst/>
          </a:prstGeom>
          <a:solidFill>
            <a:schemeClr val="tx2">
              <a:lumMod val="75000"/>
            </a:schemeClr>
          </a:solidFill>
          <a:ln w="9525">
            <a:solidFill>
              <a:srgbClr val="808080"/>
            </a:solidFill>
            <a:miter lim="800000"/>
          </a:ln>
          <a:effectLst/>
        </p:spPr>
        <p:txBody>
          <a:bodyPr wrap="none" anchor="ctr"/>
          <a:lstStyle/>
          <a:p>
            <a:pPr algn="ctr"/>
            <a:r>
              <a:rPr lang="ko-KR" altLang="en-US" sz="1000" b="1" dirty="0">
                <a:solidFill>
                  <a:schemeClr val="bg1"/>
                </a:solidFill>
                <a:latin typeface="Nanum Gothic" panose="020D0604000000000000" pitchFamily="34" charset="-127"/>
                <a:ea typeface="Nanum Gothic" panose="020D0604000000000000" pitchFamily="34" charset="-127"/>
              </a:rPr>
              <a:t>아이디 찾기</a:t>
            </a:r>
          </a:p>
        </p:txBody>
      </p:sp>
      <p:sp>
        <p:nvSpPr>
          <p:cNvPr id="38" name="직사각형 37"/>
          <p:cNvSpPr/>
          <p:nvPr/>
        </p:nvSpPr>
        <p:spPr>
          <a:xfrm>
            <a:off x="4599516" y="5905607"/>
            <a:ext cx="1697789" cy="303464"/>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9" name="직사각형 38"/>
          <p:cNvSpPr/>
          <p:nvPr/>
        </p:nvSpPr>
        <p:spPr>
          <a:xfrm>
            <a:off x="6350668" y="5905607"/>
            <a:ext cx="1697789" cy="298769"/>
          </a:xfrm>
          <a:prstGeom prst="rect">
            <a:avLst/>
          </a:prstGeom>
          <a:solidFill>
            <a:schemeClr val="bg1"/>
          </a:solid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en-US" altLang="ko-KR"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40" name="그룹 5"/>
          <p:cNvGrpSpPr/>
          <p:nvPr/>
        </p:nvGrpSpPr>
        <p:grpSpPr>
          <a:xfrm>
            <a:off x="4420395" y="4617850"/>
            <a:ext cx="3835980" cy="1189084"/>
            <a:chOff x="7448527" y="2816065"/>
            <a:chExt cx="2569125" cy="796382"/>
          </a:xfrm>
        </p:grpSpPr>
        <p:sp>
          <p:nvSpPr>
            <p:cNvPr id="41" name="직사각형 58"/>
            <p:cNvSpPr/>
            <p:nvPr/>
          </p:nvSpPr>
          <p:spPr>
            <a:xfrm>
              <a:off x="7448527" y="2816065"/>
              <a:ext cx="2569125" cy="79638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en-US" altLang="ko-KR" sz="12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12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ID của quý khách là </a:t>
              </a:r>
              <a:r>
                <a:rPr lang="en-US" altLang="ko-KR" sz="12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gdasdsfad</a:t>
              </a:r>
              <a:r>
                <a:rPr lang="en-US" altLang="ko-KR" sz="12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a:p>
              <a:pPr algn="ctr"/>
              <a:endParaRPr lang="en-US" altLang="ko-KR" sz="12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12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en-US" altLang="ko-KR" sz="12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2" name="십자형 34"/>
            <p:cNvSpPr/>
            <p:nvPr/>
          </p:nvSpPr>
          <p:spPr>
            <a:xfrm rot="18900000">
              <a:off x="9755948" y="2861246"/>
              <a:ext cx="158074" cy="158074"/>
            </a:xfrm>
            <a:prstGeom prst="plus">
              <a:avLst>
                <a:gd name="adj" fmla="val 4864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3" name="직사각형 40"/>
          <p:cNvSpPr/>
          <p:nvPr/>
        </p:nvSpPr>
        <p:spPr>
          <a:xfrm>
            <a:off x="273284" y="5327657"/>
            <a:ext cx="1426492" cy="231202"/>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44" name="타원 48"/>
          <p:cNvSpPr/>
          <p:nvPr/>
        </p:nvSpPr>
        <p:spPr>
          <a:xfrm>
            <a:off x="206176" y="526333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5</a:t>
            </a:r>
            <a:endParaRPr lang="ko-KR" altLang="en-US" sz="900" b="1" dirty="0">
              <a:latin typeface="나눔고딕" pitchFamily="50" charset="-127"/>
              <a:ea typeface="나눔고딕" pitchFamily="50" charset="-127"/>
            </a:endParaRPr>
          </a:p>
        </p:txBody>
      </p:sp>
      <p:sp>
        <p:nvSpPr>
          <p:cNvPr id="45" name="타원 49"/>
          <p:cNvSpPr/>
          <p:nvPr/>
        </p:nvSpPr>
        <p:spPr>
          <a:xfrm>
            <a:off x="4318010" y="483351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6</a:t>
            </a:r>
            <a:endParaRPr lang="ko-KR" altLang="en-US" sz="900" b="1" dirty="0">
              <a:latin typeface="나눔고딕" pitchFamily="50" charset="-127"/>
              <a:ea typeface="나눔고딕" pitchFamily="50" charset="-127"/>
            </a:endParaRPr>
          </a:p>
        </p:txBody>
      </p:sp>
      <p:sp>
        <p:nvSpPr>
          <p:cNvPr id="46" name="타원 50"/>
          <p:cNvSpPr/>
          <p:nvPr/>
        </p:nvSpPr>
        <p:spPr>
          <a:xfrm>
            <a:off x="6823041" y="489095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7</a:t>
            </a:r>
            <a:endParaRPr lang="ko-KR" altLang="en-US" sz="900" b="1" dirty="0">
              <a:latin typeface="나눔고딕" pitchFamily="50" charset="-127"/>
              <a:ea typeface="나눔고딕" pitchFamily="50" charset="-127"/>
            </a:endParaRPr>
          </a:p>
        </p:txBody>
      </p:sp>
      <p:sp>
        <p:nvSpPr>
          <p:cNvPr id="47" name="직사각형 51"/>
          <p:cNvSpPr/>
          <p:nvPr/>
        </p:nvSpPr>
        <p:spPr>
          <a:xfrm>
            <a:off x="6609184" y="5023278"/>
            <a:ext cx="689663" cy="20705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48" name="직사각형 52"/>
          <p:cNvSpPr/>
          <p:nvPr/>
        </p:nvSpPr>
        <p:spPr>
          <a:xfrm>
            <a:off x="5846380" y="5388095"/>
            <a:ext cx="901849" cy="20705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49" name="타원 53"/>
          <p:cNvSpPr/>
          <p:nvPr/>
        </p:nvSpPr>
        <p:spPr>
          <a:xfrm>
            <a:off x="5720786" y="546749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8</a:t>
            </a:r>
            <a:endParaRPr lang="ko-KR" altLang="en-US" sz="900" b="1" dirty="0">
              <a:latin typeface="나눔고딕" pitchFamily="50" charset="-127"/>
              <a:ea typeface="나눔고딕" pitchFamily="50" charset="-127"/>
            </a:endParaRPr>
          </a:p>
        </p:txBody>
      </p:sp>
      <p:sp>
        <p:nvSpPr>
          <p:cNvPr id="50" name="직사각형 55"/>
          <p:cNvSpPr/>
          <p:nvPr/>
        </p:nvSpPr>
        <p:spPr>
          <a:xfrm>
            <a:off x="7805450" y="4575095"/>
            <a:ext cx="397669" cy="39511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51" name="타원 56"/>
          <p:cNvSpPr/>
          <p:nvPr/>
        </p:nvSpPr>
        <p:spPr>
          <a:xfrm>
            <a:off x="8060423" y="449378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9</a:t>
            </a:r>
            <a:endParaRPr lang="ko-KR" altLang="en-US" sz="900" b="1" dirty="0">
              <a:latin typeface="나눔고딕" pitchFamily="50" charset="-127"/>
              <a:ea typeface="나눔고딕" pitchFamily="50" charset="-127"/>
            </a:endParaRPr>
          </a:p>
        </p:txBody>
      </p:sp>
      <p:graphicFrame>
        <p:nvGraphicFramePr>
          <p:cNvPr id="52" name="표 16"/>
          <p:cNvGraphicFramePr>
            <a:graphicFrameLocks noGrp="1"/>
          </p:cNvGraphicFramePr>
          <p:nvPr/>
        </p:nvGraphicFramePr>
        <p:xfrm>
          <a:off x="7453089" y="836962"/>
          <a:ext cx="2357214" cy="22329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Trường nhập mã ĐKDN, email</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Button chỉ bấm đc khi tất cả thông tin ở 1 đã đc nhập.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chuyển sang trang login</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chuyển sang trang đăng ký</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Nếu 1 trong 2 thông tin ở 1 k0 đúng thì hiển thị thông báo.</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Nếu thông tin đúng thì hiển thị layer thông báo ID.</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#Sử dụng popup layer đc design.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ID</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8</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chuyển sang trang login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9</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đóng layer lại và refresh trang tìm ID, các thông tin đã nhập biến mất.</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nhập</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Tìm PW</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1" name="직사각형 40"/>
          <p:cNvSpPr/>
          <p:nvPr/>
        </p:nvSpPr>
        <p:spPr>
          <a:xfrm>
            <a:off x="2997847" y="948660"/>
            <a:ext cx="1679242" cy="461665"/>
          </a:xfrm>
          <a:prstGeom prst="rect">
            <a:avLst/>
          </a:prstGeom>
        </p:spPr>
        <p:txBody>
          <a:bodyPr wrap="none">
            <a:spAutoFit/>
          </a:bodyPr>
          <a:lstStyle/>
          <a:p>
            <a:r>
              <a:rPr lang="en-US" altLang="ko-KR" sz="2400" b="1" smtClean="0">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24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2" name="직사각형 41"/>
          <p:cNvSpPr/>
          <p:nvPr/>
        </p:nvSpPr>
        <p:spPr>
          <a:xfrm>
            <a:off x="2792760" y="802040"/>
            <a:ext cx="2145139" cy="215444"/>
          </a:xfrm>
          <a:prstGeom prst="rect">
            <a:avLst/>
          </a:prstGeom>
        </p:spPr>
        <p:txBody>
          <a:bodyPr wrap="none">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Giải pháp tổng hợp cho người bán vé/du lịch</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6" name="직사각형 45"/>
          <p:cNvSpPr/>
          <p:nvPr/>
        </p:nvSpPr>
        <p:spPr>
          <a:xfrm>
            <a:off x="1664903" y="1458689"/>
            <a:ext cx="2032342" cy="365206"/>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ID</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52"/>
          <p:cNvSpPr/>
          <p:nvPr/>
        </p:nvSpPr>
        <p:spPr>
          <a:xfrm>
            <a:off x="1944109" y="1980107"/>
            <a:ext cx="3470867" cy="321277"/>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ID</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4" name="직사각형 53"/>
          <p:cNvSpPr/>
          <p:nvPr/>
        </p:nvSpPr>
        <p:spPr>
          <a:xfrm>
            <a:off x="1944109" y="2384229"/>
            <a:ext cx="2473557" cy="327775"/>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Nhập địa chỉ email mà bạn đã cung cấp khi đăng ký thành viên</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6" name="Rectangle 189"/>
          <p:cNvSpPr>
            <a:spLocks noChangeArrowheads="1"/>
          </p:cNvSpPr>
          <p:nvPr/>
        </p:nvSpPr>
        <p:spPr bwMode="auto">
          <a:xfrm>
            <a:off x="1944109" y="3660704"/>
            <a:ext cx="3470867" cy="293944"/>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Xác nhận người dùng</a:t>
            </a:r>
            <a:endParaRPr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7" name="직사각형 56"/>
          <p:cNvSpPr/>
          <p:nvPr/>
        </p:nvSpPr>
        <p:spPr>
          <a:xfrm>
            <a:off x="4492119" y="2384231"/>
            <a:ext cx="1180961" cy="327773"/>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Gửi mã xác thực</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57"/>
          <p:cNvSpPr/>
          <p:nvPr/>
        </p:nvSpPr>
        <p:spPr>
          <a:xfrm>
            <a:off x="1944109" y="3041473"/>
            <a:ext cx="2473557" cy="327775"/>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mã xác thực được gửi đến email của bạn.</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63"/>
          <p:cNvSpPr/>
          <p:nvPr/>
        </p:nvSpPr>
        <p:spPr>
          <a:xfrm>
            <a:off x="466892" y="4694372"/>
            <a:ext cx="3483863" cy="1942257"/>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noAutofit/>
          </a:bodyPr>
          <a:lstStyle/>
          <a:p>
            <a:r>
              <a:rPr lang="en-US" altLang="ko-KR" sz="12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Thay đổi mật khẩu mới</a:t>
            </a:r>
            <a:endParaRPr lang="en-US" altLang="ko-KR" sz="12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십자형 34"/>
          <p:cNvSpPr/>
          <p:nvPr/>
        </p:nvSpPr>
        <p:spPr>
          <a:xfrm rot="18900000">
            <a:off x="3624028" y="4730234"/>
            <a:ext cx="158074" cy="158074"/>
          </a:xfrm>
          <a:prstGeom prst="plus">
            <a:avLst>
              <a:gd name="adj" fmla="val 4864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69" name="직사각형 68"/>
          <p:cNvSpPr/>
          <p:nvPr/>
        </p:nvSpPr>
        <p:spPr>
          <a:xfrm>
            <a:off x="668109" y="5228040"/>
            <a:ext cx="3146732" cy="321277"/>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Mật khẩu mới</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70"/>
          <p:cNvSpPr/>
          <p:nvPr/>
        </p:nvSpPr>
        <p:spPr>
          <a:xfrm>
            <a:off x="668109" y="5616959"/>
            <a:ext cx="3146732" cy="321277"/>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Nhập lại mật khẩu mới</a:t>
            </a:r>
            <a:endParaRPr lang="ko-KR" altLang="en-US" sz="9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Rectangle 189"/>
          <p:cNvSpPr>
            <a:spLocks noChangeArrowheads="1"/>
          </p:cNvSpPr>
          <p:nvPr/>
        </p:nvSpPr>
        <p:spPr bwMode="auto">
          <a:xfrm>
            <a:off x="668109" y="6233206"/>
            <a:ext cx="3146731" cy="293944"/>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5" name="그룹 4"/>
          <p:cNvGrpSpPr/>
          <p:nvPr/>
        </p:nvGrpSpPr>
        <p:grpSpPr>
          <a:xfrm>
            <a:off x="3675560" y="1463732"/>
            <a:ext cx="2068860" cy="365207"/>
            <a:chOff x="6692158" y="1855127"/>
            <a:chExt cx="2068860" cy="365207"/>
          </a:xfrm>
        </p:grpSpPr>
        <p:sp>
          <p:nvSpPr>
            <p:cNvPr id="43" name="직사각형 42"/>
            <p:cNvSpPr/>
            <p:nvPr/>
          </p:nvSpPr>
          <p:spPr>
            <a:xfrm>
              <a:off x="6692158" y="1855127"/>
              <a:ext cx="2068860" cy="36520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PW</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3" name="직선 연결선[R] 72"/>
            <p:cNvCxnSpPr/>
            <p:nvPr/>
          </p:nvCxnSpPr>
          <p:spPr>
            <a:xfrm>
              <a:off x="6710417" y="2220334"/>
              <a:ext cx="2032342"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 name="직사각형 36"/>
          <p:cNvSpPr/>
          <p:nvPr/>
        </p:nvSpPr>
        <p:spPr>
          <a:xfrm>
            <a:off x="1942667" y="4042048"/>
            <a:ext cx="1697789" cy="303464"/>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ko-KR" altLang="en-US"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8" name="직사각형 37"/>
          <p:cNvSpPr/>
          <p:nvPr/>
        </p:nvSpPr>
        <p:spPr>
          <a:xfrm>
            <a:off x="3693819" y="4042048"/>
            <a:ext cx="1697789" cy="298769"/>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9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en-US" altLang="ko-KR" sz="9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9" name="직사각형 38"/>
          <p:cNvSpPr/>
          <p:nvPr/>
        </p:nvSpPr>
        <p:spPr>
          <a:xfrm>
            <a:off x="4485736" y="3041473"/>
            <a:ext cx="1331360" cy="327773"/>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nhận mã xác thực</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0" name="TextBox 39"/>
          <p:cNvSpPr txBox="1"/>
          <p:nvPr/>
        </p:nvSpPr>
        <p:spPr>
          <a:xfrm>
            <a:off x="578056" y="4927182"/>
            <a:ext cx="3366832" cy="338554"/>
          </a:xfrm>
          <a:prstGeom prst="rect">
            <a:avLst/>
          </a:prstGeom>
          <a:noFill/>
        </p:spPr>
        <p:txBody>
          <a:bodyPr wrap="square" rtlCol="0">
            <a:spAutoFit/>
          </a:bodyPr>
          <a:lstStyle/>
          <a:p>
            <a:r>
              <a:rPr lang="vi-VN" altLang="ko-KR" sz="800" b="1" smtClean="0">
                <a:latin typeface="Times New Roman" panose="02020603050405020304" pitchFamily="18" charset="0"/>
                <a:ea typeface="Nanum Gothic" panose="020D0604000000000000" pitchFamily="34" charset="-127"/>
                <a:cs typeface="Times New Roman" panose="02020603050405020304" pitchFamily="18" charset="0"/>
              </a:rPr>
              <a:t>Đã xác nhận người dùng thành công. Vui lòng sử dụng sau khi thay đổi mật khẩu mới.</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4" name="직사각형 43"/>
          <p:cNvSpPr/>
          <p:nvPr/>
        </p:nvSpPr>
        <p:spPr>
          <a:xfrm>
            <a:off x="4639878" y="5246138"/>
            <a:ext cx="2569125" cy="79638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lvl="1" algn="ctr"/>
            <a:endPar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8255" lvl="1" algn="ctr"/>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Đã thay đổi mật khẩu mới. </a:t>
            </a:r>
          </a:p>
          <a:p>
            <a:pPr lvl="1" algn="ctr"/>
            <a:endPar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nhập]</a:t>
            </a:r>
            <a:endParaRPr lang="en-US" altLang="ko-KR"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8" name="십자형 34"/>
          <p:cNvSpPr/>
          <p:nvPr/>
        </p:nvSpPr>
        <p:spPr>
          <a:xfrm rot="18900000">
            <a:off x="6947299" y="5291319"/>
            <a:ext cx="158074" cy="158074"/>
          </a:xfrm>
          <a:prstGeom prst="plus">
            <a:avLst>
              <a:gd name="adj" fmla="val 4864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49" name="TextBox 48"/>
          <p:cNvSpPr txBox="1"/>
          <p:nvPr/>
        </p:nvSpPr>
        <p:spPr>
          <a:xfrm>
            <a:off x="1872459" y="3396305"/>
            <a:ext cx="1838965"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chính xác mã xác thực.</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0" name="TextBox 49"/>
          <p:cNvSpPr txBox="1"/>
          <p:nvPr/>
        </p:nvSpPr>
        <p:spPr>
          <a:xfrm>
            <a:off x="1901638" y="2737121"/>
            <a:ext cx="1866217"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chính xác địa chỉ email.</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29" name="표 28"/>
          <p:cNvGraphicFramePr>
            <a:graphicFrameLocks noGrp="1"/>
          </p:cNvGraphicFramePr>
          <p:nvPr/>
        </p:nvGraphicFramePr>
        <p:xfrm>
          <a:off x="7453089" y="836962"/>
          <a:ext cx="2357214" cy="45993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thông báo khi k0 gửi đc mã xác thực.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Thông báo khi gửi mã xác thực thành công:</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Thông báo khi xác nhận mã xác thực thành công/thất bại:</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vi-VN" altLang="ko-KR" sz="800" b="1"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Button chỉ click đc khi ID có tồn tại và xác nhận mã xác thực thành công.</a:t>
                      </a:r>
                      <a:endParaRPr kumimoji="0" lang="en-US" altLang="ko-KR" sz="800" b="1"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kumimoji="0" lang="en-US" altLang="ko-KR" sz="800" b="1"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en-US" altLang="ko-KR" sz="800" b="1"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xử lý theo từng trường hợp:</a:t>
                      </a:r>
                      <a:endParaRPr kumimoji="0" lang="en-US" altLang="ko-KR" sz="800" b="1"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ID có tồn tại, mã xác thực đúng: hiển thị layer số 5.</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ID k0 tồn tại: hiển thị thông báo:</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805" marR="0" lvl="0" indent="-9080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Button OK chỉ click đc khi cả 2 trường đc điền giống nhau.</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0805" marR="0" lvl="0" indent="-9080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hiển thị thông báo.</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Thông báo khi mật khẩu mới đc nhập ở 2 trường k0 giống mật khẩu tạm đc gửi mail.</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chuyển sang trang login.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8</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Đóng thông báo và refresh trang tìm PW.</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graphicFrame>
        <p:nvGraphicFramePr>
          <p:cNvPr id="3" name="표 2"/>
          <p:cNvGraphicFramePr>
            <a:graphicFrameLocks noGrp="1"/>
          </p:cNvGraphicFramePr>
          <p:nvPr/>
        </p:nvGraphicFramePr>
        <p:xfrm>
          <a:off x="7058648" y="2156633"/>
          <a:ext cx="2792760" cy="438840"/>
        </p:xfrm>
        <a:graphic>
          <a:graphicData uri="http://schemas.openxmlformats.org/drawingml/2006/table">
            <a:tbl>
              <a:tblPr firstRow="1" bandRow="1">
                <a:tableStyleId>{5940675A-B579-460E-94D1-54222C63F5DA}</a:tableStyleId>
              </a:tblPr>
              <a:tblGrid>
                <a:gridCol w="1065023">
                  <a:extLst>
                    <a:ext uri="{9D8B030D-6E8A-4147-A177-3AD203B41FA5}">
                      <a16:colId xmlns:a16="http://schemas.microsoft.com/office/drawing/2014/main" val="20000"/>
                    </a:ext>
                  </a:extLst>
                </a:gridCol>
                <a:gridCol w="1727737">
                  <a:extLst>
                    <a:ext uri="{9D8B030D-6E8A-4147-A177-3AD203B41FA5}">
                      <a16:colId xmlns:a16="http://schemas.microsoft.com/office/drawing/2014/main" val="20001"/>
                    </a:ext>
                  </a:extLst>
                </a:gridCol>
              </a:tblGrid>
              <a:tr h="24492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xác thực đúng</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Xác</a:t>
                      </a:r>
                      <a:r>
                        <a:rPr lang="en-US" altLang="ko-KR" sz="800" b="1"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thực thành công.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xác thực sai</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chính xác mã xác thực.</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31" name="직사각형 30"/>
          <p:cNvSpPr/>
          <p:nvPr/>
        </p:nvSpPr>
        <p:spPr>
          <a:xfrm>
            <a:off x="7113240" y="1218295"/>
            <a:ext cx="2520280" cy="55452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vi-VN" altLang="ko-KR" sz="800" smtClean="0">
                <a:solidFill>
                  <a:schemeClr val="tx1"/>
                </a:solidFill>
                <a:latin typeface="Times New Roman" panose="02020603050405020304" pitchFamily="18" charset="0"/>
                <a:cs typeface="Times New Roman" panose="02020603050405020304" pitchFamily="18" charset="0"/>
              </a:rPr>
              <a:t>Mã xác thực đã được gửi đến email.</a:t>
            </a:r>
          </a:p>
          <a:p>
            <a:pPr algn="ctr"/>
            <a:r>
              <a:rPr lang="vi-VN" altLang="ko-KR" sz="800" smtClean="0">
                <a:solidFill>
                  <a:schemeClr val="tx1"/>
                </a:solidFill>
                <a:latin typeface="Times New Roman" panose="02020603050405020304" pitchFamily="18" charset="0"/>
                <a:cs typeface="Times New Roman" panose="02020603050405020304" pitchFamily="18" charset="0"/>
              </a:rPr>
              <a:t>Vui lòng kiểm tra tại email mà bạn đã cung cấp.</a:t>
            </a:r>
          </a:p>
          <a:p>
            <a:pPr algn="ctr"/>
            <a:r>
              <a:rPr lang="vi-VN" altLang="ko-KR" sz="800" smtClean="0">
                <a:solidFill>
                  <a:schemeClr val="tx1"/>
                </a:solidFill>
                <a:latin typeface="Times New Roman" panose="02020603050405020304" pitchFamily="18" charset="0"/>
                <a:cs typeface="Times New Roman" panose="02020603050405020304" pitchFamily="18" charset="0"/>
              </a:rPr>
              <a:t>Nếu không thấy trong Inbox, vui lòng kiểm tra hộp thư Spam.</a:t>
            </a:r>
            <a:endParaRPr lang="en-US" altLang="ko-KR" sz="800" smtClean="0">
              <a:solidFill>
                <a:schemeClr val="tx1"/>
              </a:solidFill>
              <a:latin typeface="Times New Roman" panose="02020603050405020304" pitchFamily="18" charset="0"/>
              <a:cs typeface="Times New Roman" panose="02020603050405020304" pitchFamily="18" charset="0"/>
            </a:endParaRPr>
          </a:p>
          <a:p>
            <a:pPr marL="8255" lvl="1"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2" name="십자형 34"/>
          <p:cNvSpPr/>
          <p:nvPr/>
        </p:nvSpPr>
        <p:spPr>
          <a:xfrm rot="18900000">
            <a:off x="9461174" y="1237598"/>
            <a:ext cx="158074" cy="158074"/>
          </a:xfrm>
          <a:prstGeom prst="plus">
            <a:avLst>
              <a:gd name="adj" fmla="val 4864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33" name="직사각형 32"/>
          <p:cNvSpPr/>
          <p:nvPr/>
        </p:nvSpPr>
        <p:spPr>
          <a:xfrm>
            <a:off x="7045377" y="3733526"/>
            <a:ext cx="2411240" cy="51056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marL="8255" lvl="1"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ID không tồn tại. </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8255" lvl="1"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4" name="십자형 34"/>
          <p:cNvSpPr/>
          <p:nvPr/>
        </p:nvSpPr>
        <p:spPr>
          <a:xfrm rot="18900000">
            <a:off x="9194913" y="3778707"/>
            <a:ext cx="158074" cy="158074"/>
          </a:xfrm>
          <a:prstGeom prst="plus">
            <a:avLst>
              <a:gd name="adj" fmla="val 4864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35" name="TextBox 34"/>
          <p:cNvSpPr txBox="1"/>
          <p:nvPr/>
        </p:nvSpPr>
        <p:spPr>
          <a:xfrm>
            <a:off x="677180" y="5977999"/>
            <a:ext cx="1726755"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chính xác mật khẩu.</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6" name="직선 화살표 연결선 5"/>
          <p:cNvCxnSpPr>
            <a:stCxn id="56" idx="1"/>
          </p:cNvCxnSpPr>
          <p:nvPr/>
        </p:nvCxnSpPr>
        <p:spPr>
          <a:xfrm rot="10800000" flipV="1">
            <a:off x="1136577" y="3807676"/>
            <a:ext cx="807532" cy="886696"/>
          </a:xfrm>
          <a:prstGeom prst="bentConnector2">
            <a:avLst/>
          </a:prstGeom>
          <a:ln w="3175">
            <a:solidFill>
              <a:srgbClr val="C00000"/>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4795" y="3925471"/>
            <a:ext cx="1071781" cy="338554"/>
          </a:xfrm>
          <a:prstGeom prst="rect">
            <a:avLst/>
          </a:prstGeom>
          <a:noFill/>
        </p:spPr>
        <p:txBody>
          <a:bodyPr wrap="square" rtlCol="0">
            <a:spAutoFit/>
          </a:bodyPr>
          <a:lstStyle/>
          <a:p>
            <a:r>
              <a:rPr kumimoji="1" lang="en-US" altLang="ko-KR" sz="800" i="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Khi ID có tồn tại và xác thực thành công</a:t>
            </a:r>
            <a:endParaRPr kumimoji="1" lang="ko-KR" altLang="en-US" sz="800" i="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62" name="직선 화살표 연결선 5"/>
          <p:cNvCxnSpPr>
            <a:stCxn id="72" idx="3"/>
            <a:endCxn id="44" idx="1"/>
          </p:cNvCxnSpPr>
          <p:nvPr/>
        </p:nvCxnSpPr>
        <p:spPr>
          <a:xfrm flipV="1">
            <a:off x="3814840" y="5644329"/>
            <a:ext cx="825038" cy="735849"/>
          </a:xfrm>
          <a:prstGeom prst="bentConnector3">
            <a:avLst>
              <a:gd name="adj1" fmla="val 50000"/>
            </a:avLst>
          </a:prstGeom>
          <a:ln w="3175">
            <a:solidFill>
              <a:srgbClr val="C00000"/>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4217135" y="6150338"/>
            <a:ext cx="2735044" cy="215444"/>
          </a:xfrm>
          <a:prstGeom prst="rect">
            <a:avLst/>
          </a:prstGeom>
          <a:noFill/>
        </p:spPr>
        <p:txBody>
          <a:bodyPr wrap="none" rtlCol="0">
            <a:spAutoFit/>
          </a:bodyPr>
          <a:lstStyle/>
          <a:p>
            <a:r>
              <a:rPr kumimoji="1" lang="en-US" altLang="ko-KR" sz="800" i="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Khi mật khẩu mới đc nhập ở 2 trường giống với mật khẩu tạm</a:t>
            </a:r>
            <a:endParaRPr kumimoji="1" lang="ko-KR" altLang="en-US" sz="800" i="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타원 64"/>
          <p:cNvSpPr/>
          <p:nvPr/>
        </p:nvSpPr>
        <p:spPr>
          <a:xfrm>
            <a:off x="5827070" y="178820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66" name="직사각형 65"/>
          <p:cNvSpPr/>
          <p:nvPr/>
        </p:nvSpPr>
        <p:spPr>
          <a:xfrm>
            <a:off x="1784648" y="2745006"/>
            <a:ext cx="2016224" cy="18698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67" name="타원 66"/>
          <p:cNvSpPr/>
          <p:nvPr/>
        </p:nvSpPr>
        <p:spPr>
          <a:xfrm>
            <a:off x="1766986" y="282440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cxnSp>
        <p:nvCxnSpPr>
          <p:cNvPr id="70" name="직선 화살표 연결선 5"/>
          <p:cNvCxnSpPr>
            <a:stCxn id="57" idx="3"/>
            <a:endCxn id="31" idx="1"/>
          </p:cNvCxnSpPr>
          <p:nvPr/>
        </p:nvCxnSpPr>
        <p:spPr>
          <a:xfrm flipV="1">
            <a:off x="5673080" y="1495556"/>
            <a:ext cx="1440160" cy="1052562"/>
          </a:xfrm>
          <a:prstGeom prst="bentConnector3">
            <a:avLst>
              <a:gd name="adj1" fmla="val 50000"/>
            </a:avLst>
          </a:prstGeom>
          <a:ln w="3175">
            <a:solidFill>
              <a:srgbClr val="C00000"/>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937588" y="1764663"/>
            <a:ext cx="979755" cy="215444"/>
          </a:xfrm>
          <a:prstGeom prst="rect">
            <a:avLst/>
          </a:prstGeom>
          <a:noFill/>
        </p:spPr>
        <p:txBody>
          <a:bodyPr wrap="none" rtlCol="0">
            <a:spAutoFit/>
          </a:bodyPr>
          <a:lstStyle/>
          <a:p>
            <a:r>
              <a:rPr kumimoji="1" lang="en-US" altLang="ko-KR" sz="800" i="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Khi gửi thành công</a:t>
            </a:r>
            <a:endParaRPr kumimoji="1" lang="ko-KR" altLang="en-US" sz="800" i="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74"/>
          <p:cNvSpPr/>
          <p:nvPr/>
        </p:nvSpPr>
        <p:spPr>
          <a:xfrm>
            <a:off x="1664902" y="3403588"/>
            <a:ext cx="1991953" cy="18698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76" name="타원 75"/>
          <p:cNvSpPr/>
          <p:nvPr/>
        </p:nvSpPr>
        <p:spPr>
          <a:xfrm>
            <a:off x="1647241" y="348298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77" name="타원 76"/>
          <p:cNvSpPr/>
          <p:nvPr/>
        </p:nvSpPr>
        <p:spPr>
          <a:xfrm>
            <a:off x="2016242" y="373525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78" name="타원 77"/>
          <p:cNvSpPr/>
          <p:nvPr/>
        </p:nvSpPr>
        <p:spPr>
          <a:xfrm>
            <a:off x="1892474" y="627313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5</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79" name="타원 78"/>
          <p:cNvSpPr/>
          <p:nvPr/>
        </p:nvSpPr>
        <p:spPr>
          <a:xfrm>
            <a:off x="2577722" y="600458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6</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0" name="타원 79"/>
          <p:cNvSpPr/>
          <p:nvPr/>
        </p:nvSpPr>
        <p:spPr>
          <a:xfrm>
            <a:off x="5402876" y="577759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7</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1" name="직사각형 80"/>
          <p:cNvSpPr/>
          <p:nvPr/>
        </p:nvSpPr>
        <p:spPr>
          <a:xfrm>
            <a:off x="6846542" y="5163642"/>
            <a:ext cx="397669" cy="39511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82" name="타원 81"/>
          <p:cNvSpPr/>
          <p:nvPr/>
        </p:nvSpPr>
        <p:spPr>
          <a:xfrm>
            <a:off x="7101515" y="508232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8</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60" name="직사각형 74"/>
          <p:cNvSpPr/>
          <p:nvPr/>
        </p:nvSpPr>
        <p:spPr>
          <a:xfrm>
            <a:off x="625696" y="5985140"/>
            <a:ext cx="1991953" cy="18698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Nội dung email hướng dẫn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8" name="직사각형 17"/>
          <p:cNvSpPr/>
          <p:nvPr/>
        </p:nvSpPr>
        <p:spPr>
          <a:xfrm>
            <a:off x="1568624" y="1835474"/>
            <a:ext cx="1224136" cy="28803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05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 name="TextBox 18"/>
          <p:cNvSpPr txBox="1"/>
          <p:nvPr/>
        </p:nvSpPr>
        <p:spPr>
          <a:xfrm>
            <a:off x="2143951" y="2491934"/>
            <a:ext cx="3310522" cy="415498"/>
          </a:xfrm>
          <a:prstGeom prst="rect">
            <a:avLst/>
          </a:prstGeom>
          <a:noFill/>
        </p:spPr>
        <p:txBody>
          <a:bodyPr wrap="none" rtlCol="0">
            <a:spAutoFit/>
          </a:bodyPr>
          <a:lstStyle/>
          <a:p>
            <a:r>
              <a:rPr lang="vi-VN" altLang="ko-KR" sz="1050" smtClean="0">
                <a:latin typeface="Times New Roman" panose="02020603050405020304" pitchFamily="18" charset="0"/>
                <a:cs typeface="Times New Roman" panose="02020603050405020304" pitchFamily="18" charset="0"/>
              </a:rPr>
              <a:t>Xin chào bạn. Đây là mã xác thực của T-Bridge.</a:t>
            </a:r>
          </a:p>
          <a:p>
            <a:r>
              <a:rPr lang="vi-VN" altLang="ko-KR" sz="1050" smtClean="0">
                <a:latin typeface="Times New Roman" panose="02020603050405020304" pitchFamily="18" charset="0"/>
                <a:cs typeface="Times New Roman" panose="02020603050405020304" pitchFamily="18" charset="0"/>
              </a:rPr>
              <a:t>Vui lòng nhập mã bên dưới vào khung mã xác thực email.</a:t>
            </a:r>
            <a:endParaRPr lang="ko-KR" altLang="en-US" sz="105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2861872" y="2892044"/>
            <a:ext cx="1223412" cy="369332"/>
          </a:xfrm>
          <a:prstGeom prst="rect">
            <a:avLst/>
          </a:prstGeom>
          <a:noFill/>
        </p:spPr>
        <p:txBody>
          <a:bodyPr wrap="none" rtlCol="0">
            <a:spAutoFit/>
          </a:bodyPr>
          <a:lstStyle/>
          <a:p>
            <a:r>
              <a:rPr lang="en-US" altLang="ko-KR" b="1" dirty="0">
                <a:latin typeface="Times New Roman" panose="02020603050405020304" pitchFamily="18" charset="0"/>
                <a:ea typeface="Nanum Gothic" panose="020D0604000000000000" pitchFamily="34" charset="-127"/>
                <a:cs typeface="Times New Roman" panose="02020603050405020304" pitchFamily="18" charset="0"/>
              </a:rPr>
              <a:t>712341234</a:t>
            </a:r>
            <a:endParaRPr lang="ko-KR" altLang="en-US"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1" name="직사각형 20"/>
          <p:cNvSpPr/>
          <p:nvPr/>
        </p:nvSpPr>
        <p:spPr>
          <a:xfrm>
            <a:off x="1568624" y="1834808"/>
            <a:ext cx="3816424" cy="1715997"/>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9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3" name="TextBox 22"/>
          <p:cNvSpPr txBox="1"/>
          <p:nvPr/>
        </p:nvSpPr>
        <p:spPr>
          <a:xfrm>
            <a:off x="2143951" y="5395593"/>
            <a:ext cx="2864887" cy="415498"/>
          </a:xfrm>
          <a:prstGeom prst="rect">
            <a:avLst/>
          </a:prstGeom>
          <a:noFill/>
        </p:spPr>
        <p:txBody>
          <a:bodyPr wrap="none" rtlCol="0">
            <a:spAutoFit/>
          </a:bodyPr>
          <a:lstStyle/>
          <a:p>
            <a:r>
              <a:rPr lang="vi-VN" altLang="ko-KR" sz="1050" smtClean="0">
                <a:latin typeface="Times New Roman" panose="02020603050405020304" pitchFamily="18" charset="0"/>
                <a:cs typeface="Times New Roman" panose="02020603050405020304" pitchFamily="18" charset="0"/>
              </a:rPr>
              <a:t>Xin chào bạn. Đây là mật khẩu tạm của T-Bridge.</a:t>
            </a:r>
          </a:p>
          <a:p>
            <a:r>
              <a:rPr lang="vi-VN" altLang="ko-KR" sz="1050" smtClean="0">
                <a:latin typeface="Times New Roman" panose="02020603050405020304" pitchFamily="18" charset="0"/>
                <a:cs typeface="Times New Roman" panose="02020603050405020304" pitchFamily="18" charset="0"/>
              </a:rPr>
              <a:t>Sau khi đăng nhập vui lòng thay đổi mật khẩu.</a:t>
            </a:r>
            <a:endParaRPr lang="ko-KR" altLang="en-US" sz="1050"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2861872" y="5795703"/>
            <a:ext cx="1438214" cy="369332"/>
          </a:xfrm>
          <a:prstGeom prst="rect">
            <a:avLst/>
          </a:prstGeom>
          <a:noFill/>
        </p:spPr>
        <p:txBody>
          <a:bodyPr wrap="none" rtlCol="0">
            <a:spAutoFit/>
          </a:bodyPr>
          <a:lstStyle/>
          <a:p>
            <a:r>
              <a:rPr lang="en-US" altLang="ko-KR" b="1" dirty="0">
                <a:latin typeface="Times New Roman" panose="02020603050405020304" pitchFamily="18" charset="0"/>
                <a:ea typeface="Nanum Gothic" panose="020D0604000000000000" pitchFamily="34" charset="-127"/>
                <a:cs typeface="Times New Roman" panose="02020603050405020304" pitchFamily="18" charset="0"/>
              </a:rPr>
              <a:t>ASDF42!@!</a:t>
            </a:r>
            <a:endParaRPr lang="ko-KR" altLang="en-US"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 name="직사각형 24"/>
          <p:cNvSpPr/>
          <p:nvPr/>
        </p:nvSpPr>
        <p:spPr>
          <a:xfrm>
            <a:off x="1542906" y="4762911"/>
            <a:ext cx="3816424" cy="1715997"/>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9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 name="직사각형 25"/>
          <p:cNvSpPr/>
          <p:nvPr/>
        </p:nvSpPr>
        <p:spPr>
          <a:xfrm>
            <a:off x="1528868" y="4762911"/>
            <a:ext cx="1224136" cy="28803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05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 name="TextBox 2"/>
          <p:cNvSpPr txBox="1"/>
          <p:nvPr/>
        </p:nvSpPr>
        <p:spPr>
          <a:xfrm>
            <a:off x="1083404" y="908465"/>
            <a:ext cx="4926349" cy="477054"/>
          </a:xfrm>
          <a:prstGeom prst="rect">
            <a:avLst/>
          </a:prstGeom>
          <a:noFill/>
        </p:spPr>
        <p:txBody>
          <a:bodyPr wrap="none" rtlCol="0">
            <a:spAutoFit/>
          </a:bodyPr>
          <a:lstStyle/>
          <a:p>
            <a:r>
              <a:rPr kumimoji="1" lang="en-US" altLang="ko-KR" sz="1400" b="1" u="sng" smtClean="0">
                <a:latin typeface="Times New Roman" panose="02020603050405020304" pitchFamily="18" charset="0"/>
                <a:ea typeface="Nanum Gothic" panose="020D0604000000000000" pitchFamily="34" charset="-127"/>
                <a:cs typeface="Times New Roman" panose="02020603050405020304" pitchFamily="18" charset="0"/>
              </a:rPr>
              <a:t>[Nội dung email hướng dẫn</a:t>
            </a:r>
            <a:r>
              <a:rPr kumimoji="1" lang="ko-KR" altLang="en-US" sz="1400" b="1" u="sng"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400" b="1" u="sng" smtClean="0">
                <a:latin typeface="Times New Roman" panose="02020603050405020304" pitchFamily="18" charset="0"/>
                <a:ea typeface="Nanum Gothic" panose="020D0604000000000000" pitchFamily="34" charset="-127"/>
                <a:cs typeface="Times New Roman" panose="02020603050405020304" pitchFamily="18" charset="0"/>
              </a:rPr>
              <a:t>1]</a:t>
            </a:r>
          </a:p>
          <a:p>
            <a:r>
              <a:rPr kumimoji="1" lang="vi-VN" altLang="ko-KR" sz="1100" smtClean="0">
                <a:latin typeface="Times New Roman" panose="02020603050405020304" pitchFamily="18" charset="0"/>
                <a:ea typeface="Nanum Gothic" panose="020D0604000000000000" pitchFamily="34" charset="-127"/>
                <a:cs typeface="Times New Roman" panose="02020603050405020304" pitchFamily="18" charset="0"/>
              </a:rPr>
              <a:t>Trường hợp xác thực email khi đăng ký thành viên / tìm ID - PW/ thay đổi thông tin</a:t>
            </a:r>
            <a:endParaRPr kumimoji="1" lang="ko-KR" altLang="en-US" sz="14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9" name="TextBox 28"/>
          <p:cNvSpPr txBox="1"/>
          <p:nvPr/>
        </p:nvSpPr>
        <p:spPr>
          <a:xfrm>
            <a:off x="1083404" y="4009222"/>
            <a:ext cx="2476960" cy="477054"/>
          </a:xfrm>
          <a:prstGeom prst="rect">
            <a:avLst/>
          </a:prstGeom>
          <a:noFill/>
        </p:spPr>
        <p:txBody>
          <a:bodyPr wrap="none" rtlCol="0">
            <a:spAutoFit/>
          </a:bodyPr>
          <a:lstStyle/>
          <a:p>
            <a:r>
              <a:rPr kumimoji="1" lang="en-US" altLang="ko-KR" sz="1400" b="1" u="sng" smtClean="0">
                <a:latin typeface="Times New Roman" panose="02020603050405020304" pitchFamily="18" charset="0"/>
                <a:ea typeface="Nanum Gothic" panose="020D0604000000000000" pitchFamily="34" charset="-127"/>
                <a:cs typeface="Times New Roman" panose="02020603050405020304" pitchFamily="18" charset="0"/>
              </a:rPr>
              <a:t>[Nội dung email hướng dẫn</a:t>
            </a:r>
            <a:r>
              <a:rPr kumimoji="1" lang="ko-KR" altLang="en-US" sz="1400" b="1" u="sng"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400" b="1" u="sng" smtClean="0">
                <a:latin typeface="Times New Roman" panose="02020603050405020304" pitchFamily="18" charset="0"/>
                <a:ea typeface="Nanum Gothic" panose="020D0604000000000000" pitchFamily="34" charset="-127"/>
                <a:cs typeface="Times New Roman" panose="02020603050405020304" pitchFamily="18" charset="0"/>
              </a:rPr>
              <a:t>2]</a:t>
            </a:r>
          </a:p>
          <a:p>
            <a:r>
              <a:rPr kumimoji="1" lang="en-US" altLang="ko-KR" sz="1100" smtClean="0">
                <a:latin typeface="Times New Roman" panose="02020603050405020304" pitchFamily="18" charset="0"/>
                <a:ea typeface="Nanum Gothic" panose="020D0604000000000000" pitchFamily="34" charset="-127"/>
                <a:cs typeface="Times New Roman" panose="02020603050405020304" pitchFamily="18" charset="0"/>
              </a:rPr>
              <a:t>Trường hợp gửi mật khẩu tạm</a:t>
            </a:r>
            <a:endParaRPr kumimoji="1" lang="ko-KR" altLang="en-US" sz="11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 name="TextBox 12"/>
          <p:cNvSpPr txBox="1"/>
          <p:nvPr/>
        </p:nvSpPr>
        <p:spPr>
          <a:xfrm>
            <a:off x="1516127" y="1507826"/>
            <a:ext cx="2420856" cy="261610"/>
          </a:xfrm>
          <a:prstGeom prst="rect">
            <a:avLst/>
          </a:prstGeom>
          <a:noFill/>
        </p:spPr>
        <p:txBody>
          <a:bodyPr wrap="none" rtlCol="0">
            <a:spAutoFit/>
          </a:bodyPr>
          <a:lstStyle/>
          <a:p>
            <a:r>
              <a:rPr kumimoji="1" lang="en-US" altLang="ko-KR" sz="1100" smtClean="0">
                <a:latin typeface="Times New Roman" panose="02020603050405020304" pitchFamily="18" charset="0"/>
                <a:ea typeface="Nanum Gothic" panose="020D0604000000000000" pitchFamily="34" charset="-127"/>
                <a:cs typeface="Times New Roman" panose="02020603050405020304" pitchFamily="18" charset="0"/>
              </a:rPr>
              <a:t>Tiêu đề mail </a:t>
            </a:r>
            <a:r>
              <a:rPr kumimoji="1" lang="en-US" altLang="ko-KR" sz="11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100" smtClean="0">
                <a:latin typeface="Times New Roman" panose="02020603050405020304" pitchFamily="18" charset="0"/>
                <a:ea typeface="Nanum Gothic" panose="020D0604000000000000" pitchFamily="34" charset="-127"/>
                <a:cs typeface="Times New Roman" panose="02020603050405020304" pitchFamily="18" charset="0"/>
              </a:rPr>
              <a:t>T-Bridge</a:t>
            </a:r>
            <a:r>
              <a:rPr kumimoji="1" lang="ko-KR" altLang="en-US" sz="110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1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100" smtClean="0">
                <a:latin typeface="Times New Roman" panose="02020603050405020304" pitchFamily="18" charset="0"/>
                <a:ea typeface="Nanum Gothic" panose="020D0604000000000000" pitchFamily="34" charset="-127"/>
                <a:cs typeface="Times New Roman" panose="02020603050405020304" pitchFamily="18" charset="0"/>
              </a:rPr>
              <a:t>Mã xác thực</a:t>
            </a:r>
            <a:endParaRPr kumimoji="1" lang="ko-KR" altLang="en-US" sz="11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TextBox 13"/>
          <p:cNvSpPr txBox="1"/>
          <p:nvPr/>
        </p:nvSpPr>
        <p:spPr>
          <a:xfrm>
            <a:off x="1516127" y="4510017"/>
            <a:ext cx="2499402" cy="261610"/>
          </a:xfrm>
          <a:prstGeom prst="rect">
            <a:avLst/>
          </a:prstGeom>
          <a:noFill/>
        </p:spPr>
        <p:txBody>
          <a:bodyPr wrap="none" rtlCol="0">
            <a:spAutoFit/>
          </a:bodyPr>
          <a:lstStyle/>
          <a:p>
            <a:r>
              <a:rPr kumimoji="1" lang="en-US" altLang="ko-KR" sz="1100" smtClean="0">
                <a:latin typeface="Times New Roman" panose="02020603050405020304" pitchFamily="18" charset="0"/>
                <a:ea typeface="Nanum Gothic" panose="020D0604000000000000" pitchFamily="34" charset="-127"/>
                <a:cs typeface="Times New Roman" panose="02020603050405020304" pitchFamily="18" charset="0"/>
              </a:rPr>
              <a:t>Tiêu đề mail </a:t>
            </a:r>
            <a:r>
              <a:rPr kumimoji="1" lang="en-US" altLang="ko-KR" sz="11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100" smtClean="0">
                <a:latin typeface="Times New Roman" panose="02020603050405020304" pitchFamily="18" charset="0"/>
                <a:ea typeface="Nanum Gothic" panose="020D0604000000000000" pitchFamily="34" charset="-127"/>
                <a:cs typeface="Times New Roman" panose="02020603050405020304" pitchFamily="18" charset="0"/>
              </a:rPr>
              <a:t>T-Bridge</a:t>
            </a:r>
            <a:r>
              <a:rPr kumimoji="1" lang="ko-KR" altLang="en-US" sz="110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1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100" smtClean="0">
                <a:latin typeface="Times New Roman" panose="02020603050405020304" pitchFamily="18" charset="0"/>
                <a:ea typeface="Nanum Gothic" panose="020D0604000000000000" pitchFamily="34" charset="-127"/>
                <a:cs typeface="Times New Roman" panose="02020603050405020304" pitchFamily="18" charset="0"/>
              </a:rPr>
              <a:t>Mật khẩu tạm</a:t>
            </a:r>
            <a:endParaRPr kumimoji="1" lang="ko-KR" altLang="en-US" sz="1100"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ký thành viên</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Xác thực doanh nghiệp</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 name="직사각형 24"/>
          <p:cNvSpPr/>
          <p:nvPr/>
        </p:nvSpPr>
        <p:spPr>
          <a:xfrm>
            <a:off x="416496" y="692695"/>
            <a:ext cx="6768752" cy="43204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r>
              <a:rPr lang="ko-KR" altLang="en-US" sz="16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Đăng ký thành viên miễn phí</a:t>
            </a:r>
            <a:endParaRPr lang="ko-KR" altLang="en-US" sz="12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 name="직사각형 7"/>
          <p:cNvSpPr/>
          <p:nvPr/>
        </p:nvSpPr>
        <p:spPr>
          <a:xfrm>
            <a:off x="416496" y="1124744"/>
            <a:ext cx="6768752" cy="5472608"/>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11" name="직사각형 10"/>
          <p:cNvSpPr/>
          <p:nvPr/>
        </p:nvSpPr>
        <p:spPr>
          <a:xfrm>
            <a:off x="632917" y="1269387"/>
            <a:ext cx="3120082" cy="572241"/>
          </a:xfrm>
          <a:prstGeom prst="rect">
            <a:avLst/>
          </a:prstGeom>
          <a:solidFill>
            <a:schemeClr val="bg1">
              <a:lumMod val="95000"/>
            </a:schemeClr>
          </a:solid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12" name="타원 11"/>
          <p:cNvSpPr/>
          <p:nvPr/>
        </p:nvSpPr>
        <p:spPr>
          <a:xfrm>
            <a:off x="796298" y="1413599"/>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 name="TextBox 12"/>
          <p:cNvSpPr txBox="1"/>
          <p:nvPr/>
        </p:nvSpPr>
        <p:spPr>
          <a:xfrm>
            <a:off x="1106913" y="1344593"/>
            <a:ext cx="2529860" cy="430887"/>
          </a:xfrm>
          <a:prstGeom prst="rect">
            <a:avLst/>
          </a:prstGeom>
          <a:noFill/>
        </p:spPr>
        <p:txBody>
          <a:bodyPr wrap="none" rtlCol="0">
            <a:spAutoFit/>
          </a:bodyPr>
          <a:lstStyle/>
          <a:p>
            <a:r>
              <a:rPr kumimoji="1" lang="en-US" altLang="ko-KR" sz="120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Xác thực doanh nghiệp</a:t>
            </a:r>
            <a:endParaRPr kumimoji="1" lang="en-US" altLang="ko-KR" sz="12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r>
              <a:rPr kumimoji="1" lang="en-US" altLang="ko-KR" sz="100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xác thực mã đăng ký doanh nghiệp.</a:t>
            </a:r>
            <a:endParaRPr kumimoji="1" lang="ko-KR" altLang="en-US" sz="100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타원 13"/>
          <p:cNvSpPr/>
          <p:nvPr/>
        </p:nvSpPr>
        <p:spPr>
          <a:xfrm>
            <a:off x="4016561" y="1413599"/>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2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2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8" name="직사각형 17"/>
          <p:cNvSpPr/>
          <p:nvPr/>
        </p:nvSpPr>
        <p:spPr>
          <a:xfrm>
            <a:off x="3849142" y="1272583"/>
            <a:ext cx="3120082" cy="572241"/>
          </a:xfrm>
          <a:prstGeom prst="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20" name="TextBox 19"/>
          <p:cNvSpPr txBox="1"/>
          <p:nvPr/>
        </p:nvSpPr>
        <p:spPr>
          <a:xfrm>
            <a:off x="4327631" y="1344593"/>
            <a:ext cx="2024913" cy="430887"/>
          </a:xfrm>
          <a:prstGeom prst="rect">
            <a:avLst/>
          </a:prstGeom>
          <a:noFill/>
        </p:spPr>
        <p:txBody>
          <a:bodyPr wrap="none" rtlCol="0">
            <a:spAutoFit/>
          </a:bodyPr>
          <a:lstStyle/>
          <a:p>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Nhập thông tin</a:t>
            </a:r>
            <a:endPar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endParaRPr>
          </a:p>
          <a:p>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Nhập thông tin để sử dụng dịch vụ.</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 name="직사각형 21"/>
          <p:cNvSpPr/>
          <p:nvPr/>
        </p:nvSpPr>
        <p:spPr>
          <a:xfrm>
            <a:off x="1596743" y="2030905"/>
            <a:ext cx="1345732" cy="24757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3 ký tự số</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4" name="직사각형 23"/>
          <p:cNvSpPr/>
          <p:nvPr/>
        </p:nvSpPr>
        <p:spPr>
          <a:xfrm>
            <a:off x="487890" y="2001482"/>
            <a:ext cx="1234125" cy="461665"/>
          </a:xfrm>
          <a:prstGeom prst="rect">
            <a:avLst/>
          </a:prstGeom>
        </p:spPr>
        <p:txBody>
          <a:bodyPr wrap="square">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Mã đăng ký doanh nghiệp</a:t>
            </a:r>
            <a:endParaRPr lang="ko-KR" altLang="en-US" sz="105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 name="직사각형 25"/>
          <p:cNvSpPr/>
          <p:nvPr/>
        </p:nvSpPr>
        <p:spPr>
          <a:xfrm>
            <a:off x="3093428" y="2035214"/>
            <a:ext cx="1345732" cy="24757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2 ký tự số</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 name="직사각형 26"/>
          <p:cNvSpPr/>
          <p:nvPr/>
        </p:nvSpPr>
        <p:spPr>
          <a:xfrm>
            <a:off x="4612608" y="2038411"/>
            <a:ext cx="1345732" cy="24757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5 ký tự số</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8" name="직사각형 27"/>
          <p:cNvSpPr/>
          <p:nvPr/>
        </p:nvSpPr>
        <p:spPr>
          <a:xfrm>
            <a:off x="2849321" y="6022961"/>
            <a:ext cx="903678" cy="322337"/>
          </a:xfrm>
          <a:prstGeom prst="rect">
            <a:avLst/>
          </a:prstGeom>
          <a:solidFill>
            <a:schemeClr val="bg1"/>
          </a:solid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Về trang đầu</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9" name="직사각형 28"/>
          <p:cNvSpPr/>
          <p:nvPr/>
        </p:nvSpPr>
        <p:spPr>
          <a:xfrm>
            <a:off x="1913957" y="3492985"/>
            <a:ext cx="2102604" cy="246221"/>
          </a:xfrm>
          <a:prstGeom prst="rect">
            <a:avLst/>
          </a:prstGeom>
        </p:spPr>
        <p:txBody>
          <a:bodyPr wrap="square">
            <a:spAutoFit/>
          </a:bodyPr>
          <a:lstStyle/>
          <a:p>
            <a:r>
              <a:rPr lang="ko-KR" altLang="en-US" sz="10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Đồng ý với điều khoản sử dụng.</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9" name="직사각형 38"/>
          <p:cNvSpPr/>
          <p:nvPr/>
        </p:nvSpPr>
        <p:spPr>
          <a:xfrm>
            <a:off x="3856852" y="3485782"/>
            <a:ext cx="2289208" cy="400110"/>
          </a:xfrm>
          <a:prstGeom prst="rect">
            <a:avLst/>
          </a:prstGeom>
        </p:spPr>
        <p:txBody>
          <a:bodyPr wrap="square">
            <a:spAutoFit/>
          </a:bodyPr>
          <a:lstStyle/>
          <a:p>
            <a:pPr algn="ctr"/>
            <a:r>
              <a:rPr lang="ko-KR" altLang="en-US" sz="10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 Đồng ý với chính sách thu thập/sử dụng thông tin cá nhận.</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3" name="직사각형 42"/>
          <p:cNvSpPr/>
          <p:nvPr/>
        </p:nvSpPr>
        <p:spPr>
          <a:xfrm>
            <a:off x="4077201" y="3901825"/>
            <a:ext cx="2068860"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Chính sách sử dụng thông tin cá nhân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4" name="직사각형 43"/>
          <p:cNvSpPr/>
          <p:nvPr/>
        </p:nvSpPr>
        <p:spPr>
          <a:xfrm>
            <a:off x="2019179" y="4111619"/>
            <a:ext cx="4126881" cy="128012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t"/>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Nội dung điều khoản.</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4"/>
          <p:cNvGrpSpPr/>
          <p:nvPr/>
        </p:nvGrpSpPr>
        <p:grpSpPr>
          <a:xfrm>
            <a:off x="2016307" y="3901825"/>
            <a:ext cx="2037856" cy="209794"/>
            <a:chOff x="2500958" y="1307006"/>
            <a:chExt cx="861132" cy="209794"/>
          </a:xfrm>
        </p:grpSpPr>
        <p:sp>
          <p:nvSpPr>
            <p:cNvPr id="46" name="직사각형 45"/>
            <p:cNvSpPr/>
            <p:nvPr/>
          </p:nvSpPr>
          <p:spPr>
            <a:xfrm>
              <a:off x="2500958" y="1307006"/>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Điều khoản sử dụng</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47" name="직선 연결선[R] 46"/>
            <p:cNvCxnSpPr/>
            <p:nvPr/>
          </p:nvCxnSpPr>
          <p:spPr>
            <a:xfrm>
              <a:off x="2503288" y="1516800"/>
              <a:ext cx="858802"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9" name="직사각형 48"/>
          <p:cNvSpPr/>
          <p:nvPr/>
        </p:nvSpPr>
        <p:spPr>
          <a:xfrm>
            <a:off x="3891291" y="6022961"/>
            <a:ext cx="1267668" cy="32233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Tiếp theo</a:t>
            </a:r>
            <a:endParaRPr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0" name="TextBox 49"/>
          <p:cNvSpPr txBox="1"/>
          <p:nvPr/>
        </p:nvSpPr>
        <p:spPr>
          <a:xfrm>
            <a:off x="1523068" y="2343472"/>
            <a:ext cx="2173993"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kiểm tra mã đăng ký doanh nghiệp.</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1" name="TextBox 50"/>
          <p:cNvSpPr txBox="1"/>
          <p:nvPr/>
        </p:nvSpPr>
        <p:spPr>
          <a:xfrm>
            <a:off x="2016423" y="5501374"/>
            <a:ext cx="1609736"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đồng ý với điều khoản.</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1" name="직사각형 33"/>
          <p:cNvSpPr/>
          <p:nvPr/>
        </p:nvSpPr>
        <p:spPr>
          <a:xfrm>
            <a:off x="517907" y="2703404"/>
            <a:ext cx="1234125" cy="276999"/>
          </a:xfrm>
          <a:prstGeom prst="rect">
            <a:avLst/>
          </a:prstGeom>
        </p:spPr>
        <p:txBody>
          <a:bodyPr wrap="square">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Giấy ĐKKD</a:t>
            </a:r>
            <a:endParaRPr lang="ko-KR" altLang="en-US" sz="105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2" name="직사각형 35"/>
          <p:cNvSpPr/>
          <p:nvPr/>
        </p:nvSpPr>
        <p:spPr>
          <a:xfrm>
            <a:off x="1596743" y="2717943"/>
            <a:ext cx="1409888" cy="27117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giấy ĐKKD</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4" name="직사각형 22"/>
          <p:cNvSpPr/>
          <p:nvPr/>
        </p:nvSpPr>
        <p:spPr>
          <a:xfrm>
            <a:off x="6100990" y="2045990"/>
            <a:ext cx="1049581" cy="243332"/>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Xác thực DN</a:t>
            </a:r>
            <a:endParaRPr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5" name="TextBox 34"/>
          <p:cNvSpPr txBox="1"/>
          <p:nvPr/>
        </p:nvSpPr>
        <p:spPr>
          <a:xfrm>
            <a:off x="3079932" y="2743518"/>
            <a:ext cx="692818" cy="215444"/>
          </a:xfrm>
          <a:prstGeom prst="rect">
            <a:avLst/>
          </a:prstGeom>
          <a:noFill/>
        </p:spPr>
        <p:txBody>
          <a:bodyPr wrap="none" rtlCol="0">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Tên file.pdf</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6" name="직사각형 40"/>
          <p:cNvSpPr/>
          <p:nvPr/>
        </p:nvSpPr>
        <p:spPr>
          <a:xfrm>
            <a:off x="3139612" y="2725662"/>
            <a:ext cx="605887" cy="227857"/>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37" name="타원 41"/>
          <p:cNvSpPr/>
          <p:nvPr/>
        </p:nvSpPr>
        <p:spPr>
          <a:xfrm>
            <a:off x="3735807" y="285124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38" name="직사각형 33"/>
          <p:cNvSpPr/>
          <p:nvPr/>
        </p:nvSpPr>
        <p:spPr>
          <a:xfrm>
            <a:off x="508695" y="3293984"/>
            <a:ext cx="1491977" cy="276999"/>
          </a:xfrm>
          <a:prstGeom prst="rect">
            <a:avLst/>
          </a:prstGeom>
        </p:spPr>
        <p:txBody>
          <a:bodyPr wrap="square">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Đồng ý điều khoản</a:t>
            </a:r>
            <a:endParaRPr lang="ko-KR" altLang="en-US" sz="105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0" name="타원 36"/>
          <p:cNvSpPr/>
          <p:nvPr/>
        </p:nvSpPr>
        <p:spPr>
          <a:xfrm>
            <a:off x="1337592" y="239580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41" name="타원 39"/>
          <p:cNvSpPr/>
          <p:nvPr/>
        </p:nvSpPr>
        <p:spPr>
          <a:xfrm>
            <a:off x="1500014" y="282032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42" name="직사각형 40"/>
          <p:cNvSpPr/>
          <p:nvPr/>
        </p:nvSpPr>
        <p:spPr>
          <a:xfrm>
            <a:off x="1496616" y="2348880"/>
            <a:ext cx="2248883" cy="227857"/>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45" name="직사각형 40"/>
          <p:cNvSpPr/>
          <p:nvPr/>
        </p:nvSpPr>
        <p:spPr>
          <a:xfrm>
            <a:off x="1994057" y="5491728"/>
            <a:ext cx="1590792" cy="227857"/>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48" name="타원 47"/>
          <p:cNvSpPr/>
          <p:nvPr/>
        </p:nvSpPr>
        <p:spPr>
          <a:xfrm>
            <a:off x="1834718" y="552623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52" name="타원 52"/>
          <p:cNvSpPr/>
          <p:nvPr/>
        </p:nvSpPr>
        <p:spPr>
          <a:xfrm>
            <a:off x="2740777" y="594796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5</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53" name="타원 53"/>
          <p:cNvSpPr/>
          <p:nvPr/>
        </p:nvSpPr>
        <p:spPr>
          <a:xfrm>
            <a:off x="5029470" y="594796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6</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54" name="표 30"/>
          <p:cNvGraphicFramePr>
            <a:graphicFrameLocks noGrp="1"/>
          </p:cNvGraphicFramePr>
          <p:nvPr/>
        </p:nvGraphicFramePr>
        <p:xfrm>
          <a:off x="7453089" y="836962"/>
          <a:ext cx="2357214" cy="30643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Tất cả các trường đều là bắt buộc.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API xác thực DN </a:t>
                      </a: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đang kiểm tra</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xác thực DN thì hiển thị thông báo tùy theo tình huống:</a:t>
                      </a:r>
                      <a:r>
                        <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r>
                      <a:br>
                        <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b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mở cửa sổ chọn file.</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Không hạn chế loại file có thể upload.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tên file và phần mở rộng đã upload.</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vi-VN"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thông báo khi k0 check cả 2 điều khoản mà click button tiếp theo.</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giá trị đã nhập sẽ biến mất và chuyển sang trang giới thiệu</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Xác thực DN thành công &amp; hoàn tất đăng ký DN &amp; đã check cả 2 điều khoản</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chuyển sang trang nhập thông tin.</a:t>
                      </a:r>
                      <a:endPar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Giá trị đã nhập được lưu tạm trên database, chỉ khi nào hoàn thành phần nhập thông tin mới lưu chính thức.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aphicFrame>
        <p:nvGraphicFramePr>
          <p:cNvPr id="55" name="표 31"/>
          <p:cNvGraphicFramePr>
            <a:graphicFrameLocks noGrp="1"/>
          </p:cNvGraphicFramePr>
          <p:nvPr/>
        </p:nvGraphicFramePr>
        <p:xfrm>
          <a:off x="7292756" y="1464308"/>
          <a:ext cx="2454702" cy="43884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1518598">
                  <a:extLst>
                    <a:ext uri="{9D8B030D-6E8A-4147-A177-3AD203B41FA5}">
                      <a16:colId xmlns:a16="http://schemas.microsoft.com/office/drawing/2014/main" val="20001"/>
                    </a:ext>
                  </a:extLst>
                </a:gridCol>
              </a:tblGrid>
              <a:tr h="24492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Xác</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thực thành công</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Đã</a:t>
                      </a:r>
                      <a:r>
                        <a:rPr lang="en-US" altLang="ko-KR" sz="800" b="1"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xác thực thành công.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Xác</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thực thất bại</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1"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Vui lòng kiểm tra mã ĐKDN.</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직사각형 17"/>
          <p:cNvSpPr/>
          <p:nvPr/>
        </p:nvSpPr>
        <p:spPr>
          <a:xfrm>
            <a:off x="3616240" y="1272583"/>
            <a:ext cx="3120082" cy="572241"/>
          </a:xfrm>
          <a:prstGeom prst="rect">
            <a:avLst/>
          </a:prstGeom>
          <a:solidFill>
            <a:schemeClr val="bg1">
              <a:lumMod val="95000"/>
            </a:schemeClr>
          </a:solid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ký thành viên</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Nhập thông tin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 name="직사각형 24"/>
          <p:cNvSpPr/>
          <p:nvPr/>
        </p:nvSpPr>
        <p:spPr>
          <a:xfrm>
            <a:off x="183594" y="692695"/>
            <a:ext cx="6768752" cy="43204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2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r>
              <a:rPr lang="ko-KR" altLang="en-US" sz="2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16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6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Đăng ký thành viên miễn phí</a:t>
            </a:r>
            <a:endParaRPr lang="ko-KR" altLang="en-US" sz="16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 name="직사각형 7"/>
          <p:cNvSpPr/>
          <p:nvPr/>
        </p:nvSpPr>
        <p:spPr>
          <a:xfrm>
            <a:off x="183594" y="1124744"/>
            <a:ext cx="6768752" cy="500364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11" name="직사각형 10"/>
          <p:cNvSpPr/>
          <p:nvPr/>
        </p:nvSpPr>
        <p:spPr>
          <a:xfrm>
            <a:off x="400015" y="1269387"/>
            <a:ext cx="3120082" cy="572241"/>
          </a:xfrm>
          <a:prstGeom prst="rect">
            <a:avLst/>
          </a:prstGeom>
          <a:noFill/>
          <a:ln w="317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12" name="타원 11"/>
          <p:cNvSpPr/>
          <p:nvPr/>
        </p:nvSpPr>
        <p:spPr>
          <a:xfrm>
            <a:off x="563396" y="1413599"/>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2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2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 name="TextBox 12"/>
          <p:cNvSpPr txBox="1"/>
          <p:nvPr/>
        </p:nvSpPr>
        <p:spPr>
          <a:xfrm>
            <a:off x="874011" y="1344593"/>
            <a:ext cx="2497800" cy="430887"/>
          </a:xfrm>
          <a:prstGeom prst="rect">
            <a:avLst/>
          </a:prstGeom>
          <a:noFill/>
        </p:spPr>
        <p:txBody>
          <a:bodyPr wrap="none" rtlCol="0">
            <a:spAutoFit/>
          </a:bodyPr>
          <a:lstStyle/>
          <a:p>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Xác thực doanh nghiệp</a:t>
            </a:r>
          </a:p>
          <a:p>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Vui lòng xác thực mã đăng ký doanh nghiệp.</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타원 13"/>
          <p:cNvSpPr/>
          <p:nvPr/>
        </p:nvSpPr>
        <p:spPr>
          <a:xfrm>
            <a:off x="3783659" y="1413599"/>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0" name="TextBox 19"/>
          <p:cNvSpPr txBox="1"/>
          <p:nvPr/>
        </p:nvSpPr>
        <p:spPr>
          <a:xfrm>
            <a:off x="4094729" y="1344593"/>
            <a:ext cx="1992853" cy="430887"/>
          </a:xfrm>
          <a:prstGeom prst="rect">
            <a:avLst/>
          </a:prstGeom>
          <a:noFill/>
        </p:spPr>
        <p:txBody>
          <a:bodyPr wrap="none" rtlCol="0">
            <a:spAutoFit/>
          </a:bodyPr>
          <a:lstStyle/>
          <a:p>
            <a:r>
              <a:rPr kumimoji="1" lang="en-US" altLang="ko-KR" sz="120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Nhập thông tin</a:t>
            </a:r>
            <a:endParaRPr kumimoji="1" lang="en-US" altLang="ko-KR" sz="12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r>
              <a:rPr kumimoji="1" lang="vi-VN" altLang="ko-KR" sz="100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Nhập thông tin để sử dụng dịch vụ.</a:t>
            </a:r>
            <a:endParaRPr kumimoji="1" lang="ko-KR" altLang="en-US" sz="100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9" name="표 18"/>
          <p:cNvGraphicFramePr>
            <a:graphicFrameLocks noGrp="1"/>
          </p:cNvGraphicFramePr>
          <p:nvPr/>
        </p:nvGraphicFramePr>
        <p:xfrm>
          <a:off x="535138" y="2030743"/>
          <a:ext cx="5900517" cy="1446272"/>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0">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sử dụng T-Bridge</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09224">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ID</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r>
                        <a:rPr lang="ko-KR" altLang="en-US" sz="800" b="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Tổ</a:t>
                      </a:r>
                      <a:r>
                        <a:rPr lang="en-US" altLang="ko-KR" sz="800" b="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hợp từ 4 ký tự trở lên bao gồm chữ, số</a:t>
                      </a:r>
                      <a:endParaRPr lang="ko-KR" altLang="en-US" sz="800" b="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922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PW</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Tổ</a:t>
                      </a:r>
                      <a:r>
                        <a:rPr lang="en-US" altLang="ko-KR" sz="80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hợp 6~20 ký tự, bao gồm số/chữ/ký tự đặc biệt</a:t>
                      </a:r>
                      <a:endParaRPr lang="ko-KR" altLang="en-US" sz="80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803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lại PW</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graphicFrame>
        <p:nvGraphicFramePr>
          <p:cNvPr id="48" name="표 47"/>
          <p:cNvGraphicFramePr>
            <a:graphicFrameLocks noGrp="1"/>
          </p:cNvGraphicFramePr>
          <p:nvPr/>
        </p:nvGraphicFramePr>
        <p:xfrm>
          <a:off x="535138" y="4147977"/>
          <a:ext cx="5900517" cy="1729295"/>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0">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người phụ trách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6980">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người phụ trách</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004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58435">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Email</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800" b="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ý : Hóa đơn thuế được gửi đến email cung cấp.</a:t>
                      </a:r>
                      <a:endParaRPr lang="en-US" altLang="ko-KR" sz="800" b="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9" name="직사각형 48"/>
          <p:cNvSpPr/>
          <p:nvPr/>
        </p:nvSpPr>
        <p:spPr>
          <a:xfrm>
            <a:off x="1623754" y="2317750"/>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0" name="직사각형 49"/>
          <p:cNvSpPr/>
          <p:nvPr/>
        </p:nvSpPr>
        <p:spPr>
          <a:xfrm>
            <a:off x="1618815" y="2776578"/>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1" name="직사각형 50"/>
          <p:cNvSpPr/>
          <p:nvPr/>
        </p:nvSpPr>
        <p:spPr>
          <a:xfrm>
            <a:off x="1620070" y="3214975"/>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lại PW.</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2" name="직사각형 51"/>
          <p:cNvSpPr/>
          <p:nvPr/>
        </p:nvSpPr>
        <p:spPr>
          <a:xfrm>
            <a:off x="1618815" y="4458617"/>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52"/>
          <p:cNvSpPr/>
          <p:nvPr/>
        </p:nvSpPr>
        <p:spPr>
          <a:xfrm>
            <a:off x="1625980" y="4805434"/>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010-0000-0000</a:t>
            </a:r>
            <a:endParaRPr lang="ko-KR" altLang="en-US"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4" name="직사각형 53"/>
          <p:cNvSpPr/>
          <p:nvPr/>
        </p:nvSpPr>
        <p:spPr>
          <a:xfrm>
            <a:off x="4599962" y="5157461"/>
            <a:ext cx="1056240" cy="21575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Gửi mã xác thực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54"/>
          <p:cNvSpPr/>
          <p:nvPr/>
        </p:nvSpPr>
        <p:spPr>
          <a:xfrm>
            <a:off x="1625980" y="5157461"/>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Cutout"/>
          <p:cNvGrpSpPr/>
          <p:nvPr/>
        </p:nvGrpSpPr>
        <p:grpSpPr>
          <a:xfrm rot="5400000">
            <a:off x="3550293" y="2594142"/>
            <a:ext cx="112127" cy="7068483"/>
            <a:chOff x="1216056" y="-1216056"/>
            <a:chExt cx="239717" cy="933450"/>
          </a:xfrm>
          <a:solidFill>
            <a:srgbClr val="FFFFFF"/>
          </a:solidFill>
        </p:grpSpPr>
        <p:sp>
          <p:nvSpPr>
            <p:cNvPr id="61" name="Fill"/>
            <p:cNvSpPr/>
            <p:nvPr/>
          </p:nvSpPr>
          <p:spPr bwMode="auto">
            <a:xfrm>
              <a:off x="1216060" y="-1216056"/>
              <a:ext cx="239713" cy="933450"/>
            </a:xfrm>
            <a:custGeom>
              <a:avLst/>
              <a:gdLst>
                <a:gd name="T0" fmla="*/ 74 w 151"/>
                <a:gd name="T1" fmla="*/ 588 h 588"/>
                <a:gd name="T2" fmla="*/ 151 w 151"/>
                <a:gd name="T3" fmla="*/ 518 h 588"/>
                <a:gd name="T4" fmla="*/ 74 w 151"/>
                <a:gd name="T5" fmla="*/ 441 h 588"/>
                <a:gd name="T6" fmla="*/ 151 w 151"/>
                <a:gd name="T7" fmla="*/ 375 h 588"/>
                <a:gd name="T8" fmla="*/ 74 w 151"/>
                <a:gd name="T9" fmla="*/ 294 h 588"/>
                <a:gd name="T10" fmla="*/ 151 w 151"/>
                <a:gd name="T11" fmla="*/ 231 h 588"/>
                <a:gd name="T12" fmla="*/ 74 w 151"/>
                <a:gd name="T13" fmla="*/ 147 h 588"/>
                <a:gd name="T14" fmla="*/ 151 w 151"/>
                <a:gd name="T15" fmla="*/ 88 h 588"/>
                <a:gd name="T16" fmla="*/ 74 w 151"/>
                <a:gd name="T17" fmla="*/ 0 h 588"/>
                <a:gd name="T18" fmla="*/ 0 w 151"/>
                <a:gd name="T19" fmla="*/ 0 h 588"/>
                <a:gd name="T20" fmla="*/ 78 w 151"/>
                <a:gd name="T21" fmla="*/ 88 h 588"/>
                <a:gd name="T22" fmla="*/ 0 w 151"/>
                <a:gd name="T23" fmla="*/ 147 h 588"/>
                <a:gd name="T24" fmla="*/ 78 w 151"/>
                <a:gd name="T25" fmla="*/ 231 h 588"/>
                <a:gd name="T26" fmla="*/ 0 w 151"/>
                <a:gd name="T27" fmla="*/ 294 h 588"/>
                <a:gd name="T28" fmla="*/ 78 w 151"/>
                <a:gd name="T29" fmla="*/ 375 h 588"/>
                <a:gd name="T30" fmla="*/ 0 w 151"/>
                <a:gd name="T31" fmla="*/ 441 h 588"/>
                <a:gd name="T32" fmla="*/ 78 w 151"/>
                <a:gd name="T33" fmla="*/ 518 h 588"/>
                <a:gd name="T34" fmla="*/ 0 w 151"/>
                <a:gd name="T35" fmla="*/ 588 h 588"/>
                <a:gd name="T36" fmla="*/ 74 w 151"/>
                <a:gd name="T37" fmla="*/ 588 h 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1" h="588">
                  <a:moveTo>
                    <a:pt x="74" y="588"/>
                  </a:moveTo>
                  <a:lnTo>
                    <a:pt x="151" y="518"/>
                  </a:lnTo>
                  <a:lnTo>
                    <a:pt x="74" y="441"/>
                  </a:lnTo>
                  <a:lnTo>
                    <a:pt x="151" y="375"/>
                  </a:lnTo>
                  <a:lnTo>
                    <a:pt x="74" y="294"/>
                  </a:lnTo>
                  <a:lnTo>
                    <a:pt x="151" y="231"/>
                  </a:lnTo>
                  <a:lnTo>
                    <a:pt x="74" y="147"/>
                  </a:lnTo>
                  <a:lnTo>
                    <a:pt x="151" y="88"/>
                  </a:lnTo>
                  <a:lnTo>
                    <a:pt x="74" y="0"/>
                  </a:lnTo>
                  <a:lnTo>
                    <a:pt x="0" y="0"/>
                  </a:lnTo>
                  <a:lnTo>
                    <a:pt x="78" y="88"/>
                  </a:lnTo>
                  <a:lnTo>
                    <a:pt x="0" y="147"/>
                  </a:lnTo>
                  <a:lnTo>
                    <a:pt x="78" y="231"/>
                  </a:lnTo>
                  <a:lnTo>
                    <a:pt x="0" y="294"/>
                  </a:lnTo>
                  <a:lnTo>
                    <a:pt x="78" y="375"/>
                  </a:lnTo>
                  <a:lnTo>
                    <a:pt x="0" y="441"/>
                  </a:lnTo>
                  <a:lnTo>
                    <a:pt x="78" y="518"/>
                  </a:lnTo>
                  <a:lnTo>
                    <a:pt x="0" y="588"/>
                  </a:lnTo>
                  <a:lnTo>
                    <a:pt x="74" y="588"/>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900">
                <a:solidFill>
                  <a:srgbClr val="5F5F5F"/>
                </a:solidFill>
                <a:latin typeface="Times New Roman" panose="02020603050405020304" pitchFamily="18" charset="0"/>
                <a:cs typeface="Times New Roman" panose="02020603050405020304" pitchFamily="18" charset="0"/>
              </a:endParaRPr>
            </a:p>
          </p:txBody>
        </p:sp>
        <p:sp>
          <p:nvSpPr>
            <p:cNvPr id="62" name="Border"/>
            <p:cNvSpPr>
              <a:spLocks noEditPoints="1"/>
            </p:cNvSpPr>
            <p:nvPr/>
          </p:nvSpPr>
          <p:spPr bwMode="auto">
            <a:xfrm>
              <a:off x="1216056" y="-1216056"/>
              <a:ext cx="239713" cy="933450"/>
            </a:xfrm>
            <a:custGeom>
              <a:avLst/>
              <a:gdLst>
                <a:gd name="T0" fmla="*/ 0 w 909"/>
                <a:gd name="T1" fmla="*/ 0 h 3585"/>
                <a:gd name="T2" fmla="*/ 467 w 909"/>
                <a:gd name="T3" fmla="*/ 535 h 3585"/>
                <a:gd name="T4" fmla="*/ 0 w 909"/>
                <a:gd name="T5" fmla="*/ 896 h 3585"/>
                <a:gd name="T6" fmla="*/ 467 w 909"/>
                <a:gd name="T7" fmla="*/ 1409 h 3585"/>
                <a:gd name="T8" fmla="*/ 0 w 909"/>
                <a:gd name="T9" fmla="*/ 1793 h 3585"/>
                <a:gd name="T10" fmla="*/ 467 w 909"/>
                <a:gd name="T11" fmla="*/ 2284 h 3585"/>
                <a:gd name="T12" fmla="*/ 0 w 909"/>
                <a:gd name="T13" fmla="*/ 2689 h 3585"/>
                <a:gd name="T14" fmla="*/ 467 w 909"/>
                <a:gd name="T15" fmla="*/ 3158 h 3585"/>
                <a:gd name="T16" fmla="*/ 0 w 909"/>
                <a:gd name="T17" fmla="*/ 3585 h 3585"/>
                <a:gd name="T18" fmla="*/ 442 w 909"/>
                <a:gd name="T19" fmla="*/ 3585 h 3585"/>
                <a:gd name="T20" fmla="*/ 909 w 909"/>
                <a:gd name="T21" fmla="*/ 3158 h 3585"/>
                <a:gd name="T22" fmla="*/ 442 w 909"/>
                <a:gd name="T23" fmla="*/ 2689 h 3585"/>
                <a:gd name="T24" fmla="*/ 909 w 909"/>
                <a:gd name="T25" fmla="*/ 2284 h 3585"/>
                <a:gd name="T26" fmla="*/ 442 w 909"/>
                <a:gd name="T27" fmla="*/ 1793 h 3585"/>
                <a:gd name="T28" fmla="*/ 909 w 909"/>
                <a:gd name="T29" fmla="*/ 1409 h 3585"/>
                <a:gd name="T30" fmla="*/ 442 w 909"/>
                <a:gd name="T31" fmla="*/ 896 h 3585"/>
                <a:gd name="T32" fmla="*/ 909 w 909"/>
                <a:gd name="T33" fmla="*/ 535 h 3585"/>
                <a:gd name="T34" fmla="*/ 442 w 909"/>
                <a:gd name="T35" fmla="*/ 0 h 3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9" h="3585">
                  <a:moveTo>
                    <a:pt x="0" y="0"/>
                  </a:moveTo>
                  <a:lnTo>
                    <a:pt x="467" y="535"/>
                  </a:lnTo>
                  <a:lnTo>
                    <a:pt x="0" y="896"/>
                  </a:lnTo>
                  <a:lnTo>
                    <a:pt x="467" y="1409"/>
                  </a:lnTo>
                  <a:lnTo>
                    <a:pt x="0" y="1793"/>
                  </a:lnTo>
                  <a:lnTo>
                    <a:pt x="467" y="2284"/>
                  </a:lnTo>
                  <a:lnTo>
                    <a:pt x="0" y="2689"/>
                  </a:lnTo>
                  <a:lnTo>
                    <a:pt x="467" y="3158"/>
                  </a:lnTo>
                  <a:lnTo>
                    <a:pt x="0" y="3585"/>
                  </a:lnTo>
                  <a:moveTo>
                    <a:pt x="442" y="3585"/>
                  </a:moveTo>
                  <a:lnTo>
                    <a:pt x="909" y="3158"/>
                  </a:lnTo>
                  <a:lnTo>
                    <a:pt x="442" y="2689"/>
                  </a:lnTo>
                  <a:lnTo>
                    <a:pt x="909" y="2284"/>
                  </a:lnTo>
                  <a:lnTo>
                    <a:pt x="442" y="1793"/>
                  </a:lnTo>
                  <a:lnTo>
                    <a:pt x="909" y="1409"/>
                  </a:lnTo>
                  <a:lnTo>
                    <a:pt x="442" y="896"/>
                  </a:lnTo>
                  <a:lnTo>
                    <a:pt x="909" y="535"/>
                  </a:lnTo>
                  <a:lnTo>
                    <a:pt x="442" y="0"/>
                  </a:lnTo>
                </a:path>
              </a:pathLst>
            </a:custGeom>
            <a:noFill/>
            <a:ln w="63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900">
                <a:solidFill>
                  <a:srgbClr val="5F5F5F"/>
                </a:solidFill>
                <a:latin typeface="Times New Roman" panose="02020603050405020304" pitchFamily="18" charset="0"/>
                <a:cs typeface="Times New Roman" panose="02020603050405020304" pitchFamily="18" charset="0"/>
              </a:endParaRPr>
            </a:p>
          </p:txBody>
        </p:sp>
      </p:grpSp>
      <p:sp>
        <p:nvSpPr>
          <p:cNvPr id="96" name="직사각형 95"/>
          <p:cNvSpPr/>
          <p:nvPr/>
        </p:nvSpPr>
        <p:spPr>
          <a:xfrm>
            <a:off x="1618815" y="5614044"/>
            <a:ext cx="2894137" cy="22299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mã xác thực được gửi đến email của bạn.</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직사각형 96"/>
          <p:cNvSpPr/>
          <p:nvPr/>
        </p:nvSpPr>
        <p:spPr>
          <a:xfrm>
            <a:off x="4599962" y="5611680"/>
            <a:ext cx="1056240" cy="2655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nhận mã xác thực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7" name="직사각형 36"/>
          <p:cNvSpPr/>
          <p:nvPr/>
        </p:nvSpPr>
        <p:spPr>
          <a:xfrm>
            <a:off x="4571474" y="2326763"/>
            <a:ext cx="792088"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Kiểm tra trùng</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8" name="TextBox 37"/>
          <p:cNvSpPr txBox="1"/>
          <p:nvPr/>
        </p:nvSpPr>
        <p:spPr>
          <a:xfrm>
            <a:off x="5363562" y="2333065"/>
            <a:ext cx="798617"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Sử dụng được</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9" name="TextBox 38"/>
          <p:cNvSpPr txBox="1"/>
          <p:nvPr/>
        </p:nvSpPr>
        <p:spPr>
          <a:xfrm>
            <a:off x="4581926" y="3219934"/>
            <a:ext cx="952505"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Không đồng nhất</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1" name="TextBox 40"/>
          <p:cNvSpPr txBox="1"/>
          <p:nvPr/>
        </p:nvSpPr>
        <p:spPr>
          <a:xfrm>
            <a:off x="5710958" y="5635370"/>
            <a:ext cx="1247457"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Đã xác nhận thành công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5" name="직사각형 55"/>
          <p:cNvSpPr/>
          <p:nvPr/>
        </p:nvSpPr>
        <p:spPr>
          <a:xfrm>
            <a:off x="5382644" y="2324730"/>
            <a:ext cx="901849" cy="20705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36" name="타원 33"/>
          <p:cNvSpPr/>
          <p:nvPr/>
        </p:nvSpPr>
        <p:spPr>
          <a:xfrm>
            <a:off x="4427365" y="218500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40" name="타원 56"/>
          <p:cNvSpPr/>
          <p:nvPr/>
        </p:nvSpPr>
        <p:spPr>
          <a:xfrm>
            <a:off x="6187594" y="223123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42" name="TextBox 41"/>
          <p:cNvSpPr txBox="1"/>
          <p:nvPr/>
        </p:nvSpPr>
        <p:spPr>
          <a:xfrm>
            <a:off x="4532021" y="2776299"/>
            <a:ext cx="1481496"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ít nhất 6 ký tự.</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3" name="직사각형 64"/>
          <p:cNvSpPr/>
          <p:nvPr/>
        </p:nvSpPr>
        <p:spPr>
          <a:xfrm>
            <a:off x="4564305" y="2744950"/>
            <a:ext cx="1396807" cy="24182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44" name="타원 65"/>
          <p:cNvSpPr/>
          <p:nvPr/>
        </p:nvSpPr>
        <p:spPr>
          <a:xfrm>
            <a:off x="5821299" y="265171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45" name="직사각형 66"/>
          <p:cNvSpPr/>
          <p:nvPr/>
        </p:nvSpPr>
        <p:spPr>
          <a:xfrm>
            <a:off x="4563791" y="3210650"/>
            <a:ext cx="1276259" cy="24182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46" name="타원 67"/>
          <p:cNvSpPr/>
          <p:nvPr/>
        </p:nvSpPr>
        <p:spPr>
          <a:xfrm>
            <a:off x="5769029" y="322955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47" name="타원 71"/>
          <p:cNvSpPr/>
          <p:nvPr/>
        </p:nvSpPr>
        <p:spPr>
          <a:xfrm>
            <a:off x="1503324" y="435777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5</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56" name="타원 72"/>
          <p:cNvSpPr/>
          <p:nvPr/>
        </p:nvSpPr>
        <p:spPr>
          <a:xfrm>
            <a:off x="1480188" y="482281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6</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57" name="직사각형 2"/>
          <p:cNvSpPr/>
          <p:nvPr/>
        </p:nvSpPr>
        <p:spPr>
          <a:xfrm>
            <a:off x="4532418" y="4492448"/>
            <a:ext cx="367408" cy="215444"/>
          </a:xfrm>
          <a:prstGeom prst="rect">
            <a:avLst/>
          </a:prstGeom>
        </p:spPr>
        <p:txBody>
          <a:bodyPr wrap="none">
            <a:spAutoFit/>
          </a:bodyPr>
          <a:lstStyle/>
          <a:p>
            <a:r>
              <a:rPr lang="en-US" altLang="ko-KR" sz="800" dirty="0">
                <a:latin typeface="Times New Roman" panose="02020603050405020304" pitchFamily="18" charset="0"/>
                <a:ea typeface="Nanum Gothic" panose="020D0604000000000000" pitchFamily="34" charset="-127"/>
                <a:cs typeface="Times New Roman" panose="02020603050405020304" pitchFamily="18" charset="0"/>
              </a:rPr>
              <a:t>0/10</a:t>
            </a:r>
            <a:endParaRPr lang="ko-KR" altLang="en-US" sz="800" dirty="0">
              <a:latin typeface="Times New Roman" panose="02020603050405020304" pitchFamily="18" charset="0"/>
              <a:cs typeface="Times New Roman" panose="02020603050405020304" pitchFamily="18" charset="0"/>
            </a:endParaRPr>
          </a:p>
        </p:txBody>
      </p:sp>
      <p:sp>
        <p:nvSpPr>
          <p:cNvPr id="58" name="타원 73"/>
          <p:cNvSpPr/>
          <p:nvPr/>
        </p:nvSpPr>
        <p:spPr>
          <a:xfrm>
            <a:off x="5689015" y="512102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7</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59" name="TextBox 58"/>
          <p:cNvSpPr txBox="1"/>
          <p:nvPr/>
        </p:nvSpPr>
        <p:spPr>
          <a:xfrm>
            <a:off x="5799575" y="5205299"/>
            <a:ext cx="1545616"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chính xác email.</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76"/>
          <p:cNvSpPr/>
          <p:nvPr/>
        </p:nvSpPr>
        <p:spPr>
          <a:xfrm>
            <a:off x="5804035" y="5205299"/>
            <a:ext cx="1584495" cy="240505"/>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63" name="직사각형 78"/>
          <p:cNvSpPr/>
          <p:nvPr/>
        </p:nvSpPr>
        <p:spPr>
          <a:xfrm>
            <a:off x="5709881" y="5603451"/>
            <a:ext cx="1098449" cy="24182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64" name="타원 74"/>
          <p:cNvSpPr/>
          <p:nvPr/>
        </p:nvSpPr>
        <p:spPr>
          <a:xfrm>
            <a:off x="5668768" y="581063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8</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65" name="표 35"/>
          <p:cNvGraphicFramePr>
            <a:graphicFrameLocks noGrp="1"/>
          </p:cNvGraphicFramePr>
          <p:nvPr/>
        </p:nvGraphicFramePr>
        <p:xfrm>
          <a:off x="7482679" y="836712"/>
          <a:ext cx="2357214" cy="50371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Chỉ click đc khi thông tin đc nhập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kiểm tra trùng thì hiển thị thông báo tùy từng trường hợp:</a:t>
                      </a:r>
                      <a:endPar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Kiểm tra giá trị nhập rồi hiển thị thông báo tùy từng trường hợp:</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thông báo khi nhập lại PW k0 đúng.</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Nhập tối đa 10 ký tự.</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Từ ký tự thứ 11 k0 nhập đc.</a:t>
                      </a:r>
                      <a:r>
                        <a:rPr kumimoji="0" lang="ko-KR" altLang="en-US"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số ký tự đã nhập.</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Chỉ đc nhập số.</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thông báo khi gửi mã xác thực thất bại.</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thông báo khi gửi mã xác thực thành công.</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8</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Thông báo khi xác nhận mã xác thực thành công/thất bại:</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Tx/>
                        <a:buChar char="-"/>
                        <a:defRPr/>
                      </a:pP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aphicFrame>
        <p:nvGraphicFramePr>
          <p:cNvPr id="66" name="표 39"/>
          <p:cNvGraphicFramePr>
            <a:graphicFrameLocks noGrp="1"/>
          </p:cNvGraphicFramePr>
          <p:nvPr/>
        </p:nvGraphicFramePr>
        <p:xfrm>
          <a:off x="7480658" y="1350096"/>
          <a:ext cx="2371462" cy="754680"/>
        </p:xfrm>
        <a:graphic>
          <a:graphicData uri="http://schemas.openxmlformats.org/drawingml/2006/table">
            <a:tbl>
              <a:tblPr firstRow="1" bandRow="1">
                <a:tableStyleId>{5940675A-B579-460E-94D1-54222C63F5DA}</a:tableStyleId>
              </a:tblPr>
              <a:tblGrid>
                <a:gridCol w="1047279">
                  <a:extLst>
                    <a:ext uri="{9D8B030D-6E8A-4147-A177-3AD203B41FA5}">
                      <a16:colId xmlns:a16="http://schemas.microsoft.com/office/drawing/2014/main" val="20000"/>
                    </a:ext>
                  </a:extLst>
                </a:gridCol>
                <a:gridCol w="1324183">
                  <a:extLst>
                    <a:ext uri="{9D8B030D-6E8A-4147-A177-3AD203B41FA5}">
                      <a16:colId xmlns:a16="http://schemas.microsoft.com/office/drawing/2014/main" val="20001"/>
                    </a:ext>
                  </a:extLst>
                </a:gridCol>
              </a:tblGrid>
              <a:tr h="244920">
                <a:tc>
                  <a:txBody>
                    <a:bodyPr/>
                    <a:lstStyle/>
                    <a:p>
                      <a:pPr algn="ctr" latinLnBrk="1"/>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Trùng</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800" b="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sử dụng</a:t>
                      </a:r>
                      <a:endParaRPr lang="ko-KR" altLang="en-US" sz="800" b="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Không</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trùng</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0"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Sử dụng được</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Không</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thỏa điều kiện</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0"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Cần nhập ít nhất 4 ký tự chữ, số.</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67" name="직사각형 41"/>
          <p:cNvSpPr/>
          <p:nvPr/>
        </p:nvSpPr>
        <p:spPr>
          <a:xfrm>
            <a:off x="7329264" y="4603151"/>
            <a:ext cx="2522856" cy="55452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vi-VN" altLang="ko-KR" sz="800" smtClean="0">
                <a:solidFill>
                  <a:schemeClr val="tx1"/>
                </a:solidFill>
                <a:latin typeface="Times New Roman" panose="02020603050405020304" pitchFamily="18" charset="0"/>
                <a:cs typeface="Times New Roman" panose="02020603050405020304" pitchFamily="18" charset="0"/>
              </a:rPr>
              <a:t>Mã xác thực đã được gửi đến email.</a:t>
            </a:r>
          </a:p>
          <a:p>
            <a:pPr algn="ctr"/>
            <a:r>
              <a:rPr lang="vi-VN" altLang="ko-KR" sz="800" smtClean="0">
                <a:solidFill>
                  <a:schemeClr val="tx1"/>
                </a:solidFill>
                <a:latin typeface="Times New Roman" panose="02020603050405020304" pitchFamily="18" charset="0"/>
                <a:cs typeface="Times New Roman" panose="02020603050405020304" pitchFamily="18" charset="0"/>
              </a:rPr>
              <a:t>Vui lòng kiểm tra tại email mà bạn đã cung cấp.</a:t>
            </a:r>
          </a:p>
          <a:p>
            <a:pPr algn="ctr"/>
            <a:r>
              <a:rPr lang="vi-VN" altLang="ko-KR" sz="800" smtClean="0">
                <a:solidFill>
                  <a:schemeClr val="tx1"/>
                </a:solidFill>
                <a:latin typeface="Times New Roman" panose="02020603050405020304" pitchFamily="18" charset="0"/>
                <a:cs typeface="Times New Roman" panose="02020603050405020304" pitchFamily="18" charset="0"/>
              </a:rPr>
              <a:t>Nếu không thấy trong Inbox, vui lòng kiểm tra hộp thư Spam.</a:t>
            </a:r>
            <a:endParaRPr lang="en-US" altLang="ko-KR" sz="800" smtClean="0">
              <a:solidFill>
                <a:schemeClr val="tx1"/>
              </a:solidFill>
              <a:latin typeface="Times New Roman" panose="02020603050405020304" pitchFamily="18" charset="0"/>
              <a:cs typeface="Times New Roman" panose="02020603050405020304" pitchFamily="18" charset="0"/>
            </a:endParaRPr>
          </a:p>
          <a:p>
            <a:pPr marL="8255" lvl="1"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십자형 34"/>
          <p:cNvSpPr/>
          <p:nvPr/>
        </p:nvSpPr>
        <p:spPr>
          <a:xfrm rot="18900000">
            <a:off x="9607282" y="4635889"/>
            <a:ext cx="158074" cy="158074"/>
          </a:xfrm>
          <a:prstGeom prst="plus">
            <a:avLst>
              <a:gd name="adj" fmla="val 4864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graphicFrame>
        <p:nvGraphicFramePr>
          <p:cNvPr id="69" name="표 63"/>
          <p:cNvGraphicFramePr>
            <a:graphicFrameLocks noGrp="1"/>
          </p:cNvGraphicFramePr>
          <p:nvPr/>
        </p:nvGraphicFramePr>
        <p:xfrm>
          <a:off x="7454698" y="2564904"/>
          <a:ext cx="2371462" cy="754680"/>
        </p:xfrm>
        <a:graphic>
          <a:graphicData uri="http://schemas.openxmlformats.org/drawingml/2006/table">
            <a:tbl>
              <a:tblPr firstRow="1" bandRow="1">
                <a:tableStyleId>{5940675A-B579-460E-94D1-54222C63F5DA}</a:tableStyleId>
              </a:tblPr>
              <a:tblGrid>
                <a:gridCol w="1047279">
                  <a:extLst>
                    <a:ext uri="{9D8B030D-6E8A-4147-A177-3AD203B41FA5}">
                      <a16:colId xmlns:a16="http://schemas.microsoft.com/office/drawing/2014/main" val="20000"/>
                    </a:ext>
                  </a:extLst>
                </a:gridCol>
                <a:gridCol w="1324183">
                  <a:extLst>
                    <a:ext uri="{9D8B030D-6E8A-4147-A177-3AD203B41FA5}">
                      <a16:colId xmlns:a16="http://schemas.microsoft.com/office/drawing/2014/main" val="20001"/>
                    </a:ext>
                  </a:extLst>
                </a:gridCol>
              </a:tblGrid>
              <a:tr h="24492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K0 đủ</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6 ký tự</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ít nhất 6 ký tự.</a:t>
                      </a:r>
                      <a:endParaRPr lang="ko-KR" altLang="en-US" sz="800" b="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Quá</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20 ký tự</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0"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Vui lòng nhập dưới 20 ký tự.</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Thiếu</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1 trong các loại: số/chữ/ký tự đặc biệt</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0"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Phải bao gồm ký tự số/chữ/ký tự đặc biệt.</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aphicFrame>
        <p:nvGraphicFramePr>
          <p:cNvPr id="70" name="표 69"/>
          <p:cNvGraphicFramePr>
            <a:graphicFrameLocks noGrp="1"/>
          </p:cNvGraphicFramePr>
          <p:nvPr/>
        </p:nvGraphicFramePr>
        <p:xfrm>
          <a:off x="7440880" y="5510440"/>
          <a:ext cx="2454702" cy="56076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1518598">
                  <a:extLst>
                    <a:ext uri="{9D8B030D-6E8A-4147-A177-3AD203B41FA5}">
                      <a16:colId xmlns:a16="http://schemas.microsoft.com/office/drawing/2014/main" val="20001"/>
                    </a:ext>
                  </a:extLst>
                </a:gridCol>
              </a:tblGrid>
              <a:tr h="24492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xác thực đúng</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Đã</a:t>
                      </a:r>
                      <a:r>
                        <a:rPr lang="en-US" altLang="ko-KR" sz="800" b="1"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xác nhận thành công.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xác thực sai</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1"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Vui lòng nhập chính xác mã xác thực.</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ký thành viên</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Nhập thông tin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 name="직사각형 7"/>
          <p:cNvSpPr/>
          <p:nvPr/>
        </p:nvSpPr>
        <p:spPr>
          <a:xfrm>
            <a:off x="416496" y="1124744"/>
            <a:ext cx="6768752" cy="5472608"/>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graphicFrame>
        <p:nvGraphicFramePr>
          <p:cNvPr id="48" name="표 47"/>
          <p:cNvGraphicFramePr>
            <a:graphicFrameLocks noGrp="1"/>
          </p:cNvGraphicFramePr>
          <p:nvPr/>
        </p:nvGraphicFramePr>
        <p:xfrm>
          <a:off x="768040" y="1668830"/>
          <a:ext cx="5900517" cy="3486318"/>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0">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doanh nghiệp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6980">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doanh nghiệp</a:t>
                      </a:r>
                      <a:endParaRPr lang="ko-KR" altLang="en-US"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004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đại diện pháp luật</a:t>
                      </a:r>
                      <a:endParaRPr lang="ko-KR" altLang="en-US"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5726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đăng ký doanh nghiệp</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000</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-00</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00000</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5726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Trạng thái DN/</a:t>
                      </a:r>
                    </a:p>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ngành nghề</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01089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tài khoản ngân hàng</a:t>
                      </a:r>
                      <a:endParaRPr lang="ko-KR" altLang="en-US"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32048">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Bản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sao sổ tài khoản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2" name="직사각형 51"/>
          <p:cNvSpPr/>
          <p:nvPr/>
        </p:nvSpPr>
        <p:spPr>
          <a:xfrm>
            <a:off x="1851717" y="1979470"/>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52"/>
          <p:cNvSpPr/>
          <p:nvPr/>
        </p:nvSpPr>
        <p:spPr>
          <a:xfrm>
            <a:off x="1858882" y="2326287"/>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54"/>
          <p:cNvSpPr/>
          <p:nvPr/>
        </p:nvSpPr>
        <p:spPr>
          <a:xfrm>
            <a:off x="1858882" y="3095597"/>
            <a:ext cx="2302030"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trạng thái DN.</a:t>
            </a:r>
            <a:endParaRPr lang="ko-KR" altLang="en-US" sz="900" dirty="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57"/>
          <p:cNvSpPr/>
          <p:nvPr/>
        </p:nvSpPr>
        <p:spPr>
          <a:xfrm>
            <a:off x="1856656" y="3400819"/>
            <a:ext cx="2302030"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ngành nghề.</a:t>
            </a:r>
            <a:endParaRPr lang="ko-KR" altLang="en-US" sz="900" dirty="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58"/>
          <p:cNvSpPr/>
          <p:nvPr/>
        </p:nvSpPr>
        <p:spPr>
          <a:xfrm>
            <a:off x="1851717" y="3827062"/>
            <a:ext cx="2302030"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Chọn ngân hàng</a:t>
            </a:r>
            <a:r>
              <a:rPr lang="ko-KR" altLang="en-US"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60" name="직사각형 59"/>
          <p:cNvSpPr/>
          <p:nvPr/>
        </p:nvSpPr>
        <p:spPr>
          <a:xfrm>
            <a:off x="1858882" y="4410557"/>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số tài khoản không có dấu</a:t>
            </a:r>
            <a:r>
              <a:rPr lang="ko-KR" altLang="en-US"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Cutout"/>
          <p:cNvGrpSpPr/>
          <p:nvPr/>
        </p:nvGrpSpPr>
        <p:grpSpPr>
          <a:xfrm rot="5400000">
            <a:off x="3696935" y="-2428081"/>
            <a:ext cx="112127" cy="7068483"/>
            <a:chOff x="1216056" y="-1216056"/>
            <a:chExt cx="239717" cy="933450"/>
          </a:xfrm>
          <a:solidFill>
            <a:srgbClr val="FFFFFF"/>
          </a:solidFill>
        </p:grpSpPr>
        <p:sp>
          <p:nvSpPr>
            <p:cNvPr id="65" name="Fill"/>
            <p:cNvSpPr/>
            <p:nvPr/>
          </p:nvSpPr>
          <p:spPr bwMode="auto">
            <a:xfrm>
              <a:off x="1216060" y="-1216056"/>
              <a:ext cx="239713" cy="933450"/>
            </a:xfrm>
            <a:custGeom>
              <a:avLst/>
              <a:gdLst>
                <a:gd name="T0" fmla="*/ 74 w 151"/>
                <a:gd name="T1" fmla="*/ 588 h 588"/>
                <a:gd name="T2" fmla="*/ 151 w 151"/>
                <a:gd name="T3" fmla="*/ 518 h 588"/>
                <a:gd name="T4" fmla="*/ 74 w 151"/>
                <a:gd name="T5" fmla="*/ 441 h 588"/>
                <a:gd name="T6" fmla="*/ 151 w 151"/>
                <a:gd name="T7" fmla="*/ 375 h 588"/>
                <a:gd name="T8" fmla="*/ 74 w 151"/>
                <a:gd name="T9" fmla="*/ 294 h 588"/>
                <a:gd name="T10" fmla="*/ 151 w 151"/>
                <a:gd name="T11" fmla="*/ 231 h 588"/>
                <a:gd name="T12" fmla="*/ 74 w 151"/>
                <a:gd name="T13" fmla="*/ 147 h 588"/>
                <a:gd name="T14" fmla="*/ 151 w 151"/>
                <a:gd name="T15" fmla="*/ 88 h 588"/>
                <a:gd name="T16" fmla="*/ 74 w 151"/>
                <a:gd name="T17" fmla="*/ 0 h 588"/>
                <a:gd name="T18" fmla="*/ 0 w 151"/>
                <a:gd name="T19" fmla="*/ 0 h 588"/>
                <a:gd name="T20" fmla="*/ 78 w 151"/>
                <a:gd name="T21" fmla="*/ 88 h 588"/>
                <a:gd name="T22" fmla="*/ 0 w 151"/>
                <a:gd name="T23" fmla="*/ 147 h 588"/>
                <a:gd name="T24" fmla="*/ 78 w 151"/>
                <a:gd name="T25" fmla="*/ 231 h 588"/>
                <a:gd name="T26" fmla="*/ 0 w 151"/>
                <a:gd name="T27" fmla="*/ 294 h 588"/>
                <a:gd name="T28" fmla="*/ 78 w 151"/>
                <a:gd name="T29" fmla="*/ 375 h 588"/>
                <a:gd name="T30" fmla="*/ 0 w 151"/>
                <a:gd name="T31" fmla="*/ 441 h 588"/>
                <a:gd name="T32" fmla="*/ 78 w 151"/>
                <a:gd name="T33" fmla="*/ 518 h 588"/>
                <a:gd name="T34" fmla="*/ 0 w 151"/>
                <a:gd name="T35" fmla="*/ 588 h 588"/>
                <a:gd name="T36" fmla="*/ 74 w 151"/>
                <a:gd name="T37" fmla="*/ 588 h 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1" h="588">
                  <a:moveTo>
                    <a:pt x="74" y="588"/>
                  </a:moveTo>
                  <a:lnTo>
                    <a:pt x="151" y="518"/>
                  </a:lnTo>
                  <a:lnTo>
                    <a:pt x="74" y="441"/>
                  </a:lnTo>
                  <a:lnTo>
                    <a:pt x="151" y="375"/>
                  </a:lnTo>
                  <a:lnTo>
                    <a:pt x="74" y="294"/>
                  </a:lnTo>
                  <a:lnTo>
                    <a:pt x="151" y="231"/>
                  </a:lnTo>
                  <a:lnTo>
                    <a:pt x="74" y="147"/>
                  </a:lnTo>
                  <a:lnTo>
                    <a:pt x="151" y="88"/>
                  </a:lnTo>
                  <a:lnTo>
                    <a:pt x="74" y="0"/>
                  </a:lnTo>
                  <a:lnTo>
                    <a:pt x="0" y="0"/>
                  </a:lnTo>
                  <a:lnTo>
                    <a:pt x="78" y="88"/>
                  </a:lnTo>
                  <a:lnTo>
                    <a:pt x="0" y="147"/>
                  </a:lnTo>
                  <a:lnTo>
                    <a:pt x="78" y="231"/>
                  </a:lnTo>
                  <a:lnTo>
                    <a:pt x="0" y="294"/>
                  </a:lnTo>
                  <a:lnTo>
                    <a:pt x="78" y="375"/>
                  </a:lnTo>
                  <a:lnTo>
                    <a:pt x="0" y="441"/>
                  </a:lnTo>
                  <a:lnTo>
                    <a:pt x="78" y="518"/>
                  </a:lnTo>
                  <a:lnTo>
                    <a:pt x="0" y="588"/>
                  </a:lnTo>
                  <a:lnTo>
                    <a:pt x="74" y="588"/>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900">
                <a:solidFill>
                  <a:srgbClr val="5F5F5F"/>
                </a:solidFill>
                <a:latin typeface="Times New Roman" panose="02020603050405020304" pitchFamily="18" charset="0"/>
                <a:cs typeface="Times New Roman" panose="02020603050405020304" pitchFamily="18" charset="0"/>
              </a:endParaRPr>
            </a:p>
          </p:txBody>
        </p:sp>
        <p:sp>
          <p:nvSpPr>
            <p:cNvPr id="66" name="Border"/>
            <p:cNvSpPr>
              <a:spLocks noEditPoints="1"/>
            </p:cNvSpPr>
            <p:nvPr/>
          </p:nvSpPr>
          <p:spPr bwMode="auto">
            <a:xfrm>
              <a:off x="1216056" y="-1216056"/>
              <a:ext cx="239713" cy="933450"/>
            </a:xfrm>
            <a:custGeom>
              <a:avLst/>
              <a:gdLst>
                <a:gd name="T0" fmla="*/ 0 w 909"/>
                <a:gd name="T1" fmla="*/ 0 h 3585"/>
                <a:gd name="T2" fmla="*/ 467 w 909"/>
                <a:gd name="T3" fmla="*/ 535 h 3585"/>
                <a:gd name="T4" fmla="*/ 0 w 909"/>
                <a:gd name="T5" fmla="*/ 896 h 3585"/>
                <a:gd name="T6" fmla="*/ 467 w 909"/>
                <a:gd name="T7" fmla="*/ 1409 h 3585"/>
                <a:gd name="T8" fmla="*/ 0 w 909"/>
                <a:gd name="T9" fmla="*/ 1793 h 3585"/>
                <a:gd name="T10" fmla="*/ 467 w 909"/>
                <a:gd name="T11" fmla="*/ 2284 h 3585"/>
                <a:gd name="T12" fmla="*/ 0 w 909"/>
                <a:gd name="T13" fmla="*/ 2689 h 3585"/>
                <a:gd name="T14" fmla="*/ 467 w 909"/>
                <a:gd name="T15" fmla="*/ 3158 h 3585"/>
                <a:gd name="T16" fmla="*/ 0 w 909"/>
                <a:gd name="T17" fmla="*/ 3585 h 3585"/>
                <a:gd name="T18" fmla="*/ 442 w 909"/>
                <a:gd name="T19" fmla="*/ 3585 h 3585"/>
                <a:gd name="T20" fmla="*/ 909 w 909"/>
                <a:gd name="T21" fmla="*/ 3158 h 3585"/>
                <a:gd name="T22" fmla="*/ 442 w 909"/>
                <a:gd name="T23" fmla="*/ 2689 h 3585"/>
                <a:gd name="T24" fmla="*/ 909 w 909"/>
                <a:gd name="T25" fmla="*/ 2284 h 3585"/>
                <a:gd name="T26" fmla="*/ 442 w 909"/>
                <a:gd name="T27" fmla="*/ 1793 h 3585"/>
                <a:gd name="T28" fmla="*/ 909 w 909"/>
                <a:gd name="T29" fmla="*/ 1409 h 3585"/>
                <a:gd name="T30" fmla="*/ 442 w 909"/>
                <a:gd name="T31" fmla="*/ 896 h 3585"/>
                <a:gd name="T32" fmla="*/ 909 w 909"/>
                <a:gd name="T33" fmla="*/ 535 h 3585"/>
                <a:gd name="T34" fmla="*/ 442 w 909"/>
                <a:gd name="T35" fmla="*/ 0 h 3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9" h="3585">
                  <a:moveTo>
                    <a:pt x="0" y="0"/>
                  </a:moveTo>
                  <a:lnTo>
                    <a:pt x="467" y="535"/>
                  </a:lnTo>
                  <a:lnTo>
                    <a:pt x="0" y="896"/>
                  </a:lnTo>
                  <a:lnTo>
                    <a:pt x="467" y="1409"/>
                  </a:lnTo>
                  <a:lnTo>
                    <a:pt x="0" y="1793"/>
                  </a:lnTo>
                  <a:lnTo>
                    <a:pt x="467" y="2284"/>
                  </a:lnTo>
                  <a:lnTo>
                    <a:pt x="0" y="2689"/>
                  </a:lnTo>
                  <a:lnTo>
                    <a:pt x="467" y="3158"/>
                  </a:lnTo>
                  <a:lnTo>
                    <a:pt x="0" y="3585"/>
                  </a:lnTo>
                  <a:moveTo>
                    <a:pt x="442" y="3585"/>
                  </a:moveTo>
                  <a:lnTo>
                    <a:pt x="909" y="3158"/>
                  </a:lnTo>
                  <a:lnTo>
                    <a:pt x="442" y="2689"/>
                  </a:lnTo>
                  <a:lnTo>
                    <a:pt x="909" y="2284"/>
                  </a:lnTo>
                  <a:lnTo>
                    <a:pt x="442" y="1793"/>
                  </a:lnTo>
                  <a:lnTo>
                    <a:pt x="909" y="1409"/>
                  </a:lnTo>
                  <a:lnTo>
                    <a:pt x="442" y="896"/>
                  </a:lnTo>
                  <a:lnTo>
                    <a:pt x="909" y="535"/>
                  </a:lnTo>
                  <a:lnTo>
                    <a:pt x="442" y="0"/>
                  </a:lnTo>
                </a:path>
              </a:pathLst>
            </a:custGeom>
            <a:noFill/>
            <a:ln w="63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900">
                <a:solidFill>
                  <a:srgbClr val="5F5F5F"/>
                </a:solidFill>
                <a:latin typeface="Times New Roman" panose="02020603050405020304" pitchFamily="18" charset="0"/>
                <a:cs typeface="Times New Roman" panose="02020603050405020304" pitchFamily="18" charset="0"/>
              </a:endParaRPr>
            </a:p>
          </p:txBody>
        </p:sp>
      </p:grpSp>
      <p:sp>
        <p:nvSpPr>
          <p:cNvPr id="18" name="직사각형 17"/>
          <p:cNvSpPr/>
          <p:nvPr/>
        </p:nvSpPr>
        <p:spPr>
          <a:xfrm>
            <a:off x="1851717" y="4151255"/>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Tên chủ tài khoản</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 name="직사각형 18"/>
          <p:cNvSpPr/>
          <p:nvPr/>
        </p:nvSpPr>
        <p:spPr>
          <a:xfrm>
            <a:off x="1874250" y="4849499"/>
            <a:ext cx="1566582"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bản sao sổ tài khoản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1" name="직사각형 60"/>
          <p:cNvSpPr/>
          <p:nvPr/>
        </p:nvSpPr>
        <p:spPr>
          <a:xfrm>
            <a:off x="4779622" y="4418785"/>
            <a:ext cx="1037474" cy="188923"/>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thực tài khoản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 name="직사각형 61"/>
          <p:cNvSpPr/>
          <p:nvPr/>
        </p:nvSpPr>
        <p:spPr>
          <a:xfrm>
            <a:off x="2849321" y="5943272"/>
            <a:ext cx="903678" cy="322337"/>
          </a:xfrm>
          <a:prstGeom prst="rect">
            <a:avLst/>
          </a:prstGeom>
          <a:solidFill>
            <a:schemeClr val="bg1"/>
          </a:solid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Về trang đầu</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3" name="직사각형 62"/>
          <p:cNvSpPr/>
          <p:nvPr/>
        </p:nvSpPr>
        <p:spPr>
          <a:xfrm>
            <a:off x="3891291" y="5943272"/>
            <a:ext cx="1267668" cy="32233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Đăng ký</a:t>
            </a:r>
            <a:endParaRPr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 name="직사각형 20"/>
          <p:cNvSpPr/>
          <p:nvPr/>
        </p:nvSpPr>
        <p:spPr>
          <a:xfrm>
            <a:off x="4774640" y="2041044"/>
            <a:ext cx="367408" cy="215444"/>
          </a:xfrm>
          <a:prstGeom prst="rect">
            <a:avLst/>
          </a:prstGeom>
        </p:spPr>
        <p:txBody>
          <a:bodyPr wrap="none">
            <a:spAutoFit/>
          </a:bodyPr>
          <a:lstStyle/>
          <a:p>
            <a:r>
              <a:rPr lang="en-US" altLang="ko-KR" sz="800" dirty="0">
                <a:latin typeface="Times New Roman" panose="02020603050405020304" pitchFamily="18" charset="0"/>
                <a:ea typeface="Nanum Gothic" panose="020D0604000000000000" pitchFamily="34" charset="-127"/>
                <a:cs typeface="Times New Roman" panose="02020603050405020304" pitchFamily="18" charset="0"/>
              </a:rPr>
              <a:t>0/50</a:t>
            </a:r>
            <a:endParaRPr lang="ko-KR" altLang="en-US" sz="800" dirty="0">
              <a:latin typeface="Times New Roman" panose="02020603050405020304" pitchFamily="18" charset="0"/>
              <a:cs typeface="Times New Roman" panose="02020603050405020304" pitchFamily="18" charset="0"/>
            </a:endParaRPr>
          </a:p>
        </p:txBody>
      </p:sp>
      <p:sp>
        <p:nvSpPr>
          <p:cNvPr id="28" name="직사각형 21"/>
          <p:cNvSpPr/>
          <p:nvPr/>
        </p:nvSpPr>
        <p:spPr>
          <a:xfrm>
            <a:off x="4764977" y="2370332"/>
            <a:ext cx="367408" cy="215444"/>
          </a:xfrm>
          <a:prstGeom prst="rect">
            <a:avLst/>
          </a:prstGeom>
        </p:spPr>
        <p:txBody>
          <a:bodyPr wrap="none">
            <a:spAutoFit/>
          </a:bodyPr>
          <a:lstStyle/>
          <a:p>
            <a:r>
              <a:rPr lang="en-US" altLang="ko-KR" sz="800" dirty="0">
                <a:latin typeface="Times New Roman" panose="02020603050405020304" pitchFamily="18" charset="0"/>
                <a:ea typeface="Nanum Gothic" panose="020D0604000000000000" pitchFamily="34" charset="-127"/>
                <a:cs typeface="Times New Roman" panose="02020603050405020304" pitchFamily="18" charset="0"/>
              </a:rPr>
              <a:t>0/10</a:t>
            </a:r>
            <a:endParaRPr lang="ko-KR" altLang="en-US" sz="800" dirty="0">
              <a:latin typeface="Times New Roman" panose="02020603050405020304" pitchFamily="18" charset="0"/>
              <a:cs typeface="Times New Roman" panose="02020603050405020304" pitchFamily="18" charset="0"/>
            </a:endParaRPr>
          </a:p>
        </p:txBody>
      </p:sp>
      <p:sp>
        <p:nvSpPr>
          <p:cNvPr id="29" name="직사각형 21"/>
          <p:cNvSpPr/>
          <p:nvPr/>
        </p:nvSpPr>
        <p:spPr>
          <a:xfrm>
            <a:off x="4222287" y="3090806"/>
            <a:ext cx="367408" cy="215444"/>
          </a:xfrm>
          <a:prstGeom prst="rect">
            <a:avLst/>
          </a:prstGeom>
        </p:spPr>
        <p:txBody>
          <a:bodyPr wrap="none">
            <a:spAutoFit/>
          </a:bodyPr>
          <a:lstStyle/>
          <a:p>
            <a:r>
              <a:rPr lang="en-US" altLang="ko-KR" sz="800" dirty="0">
                <a:latin typeface="Times New Roman" panose="02020603050405020304" pitchFamily="18" charset="0"/>
                <a:ea typeface="Nanum Gothic" panose="020D0604000000000000" pitchFamily="34" charset="-127"/>
                <a:cs typeface="Times New Roman" panose="02020603050405020304" pitchFamily="18" charset="0"/>
              </a:rPr>
              <a:t>0/10</a:t>
            </a:r>
            <a:endParaRPr lang="ko-KR" altLang="en-US" sz="800" dirty="0">
              <a:latin typeface="Times New Roman" panose="02020603050405020304" pitchFamily="18" charset="0"/>
              <a:cs typeface="Times New Roman" panose="02020603050405020304" pitchFamily="18" charset="0"/>
            </a:endParaRPr>
          </a:p>
        </p:txBody>
      </p:sp>
      <p:sp>
        <p:nvSpPr>
          <p:cNvPr id="30" name="직사각형 21"/>
          <p:cNvSpPr/>
          <p:nvPr/>
        </p:nvSpPr>
        <p:spPr>
          <a:xfrm>
            <a:off x="4222287" y="3423793"/>
            <a:ext cx="367408" cy="215444"/>
          </a:xfrm>
          <a:prstGeom prst="rect">
            <a:avLst/>
          </a:prstGeom>
        </p:spPr>
        <p:txBody>
          <a:bodyPr wrap="none">
            <a:spAutoFit/>
          </a:bodyPr>
          <a:lstStyle/>
          <a:p>
            <a:r>
              <a:rPr lang="en-US" altLang="ko-KR" sz="800" dirty="0">
                <a:latin typeface="Times New Roman" panose="02020603050405020304" pitchFamily="18" charset="0"/>
                <a:ea typeface="Nanum Gothic" panose="020D0604000000000000" pitchFamily="34" charset="-127"/>
                <a:cs typeface="Times New Roman" panose="02020603050405020304" pitchFamily="18" charset="0"/>
              </a:rPr>
              <a:t>0/10</a:t>
            </a:r>
            <a:endParaRPr lang="ko-KR" altLang="en-US" sz="800" dirty="0">
              <a:latin typeface="Times New Roman" panose="02020603050405020304" pitchFamily="18" charset="0"/>
              <a:cs typeface="Times New Roman" panose="02020603050405020304" pitchFamily="18" charset="0"/>
            </a:endParaRPr>
          </a:p>
        </p:txBody>
      </p:sp>
      <p:sp>
        <p:nvSpPr>
          <p:cNvPr id="31" name="타원 31"/>
          <p:cNvSpPr/>
          <p:nvPr/>
        </p:nvSpPr>
        <p:spPr>
          <a:xfrm>
            <a:off x="1754080" y="195268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9</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32" name="타원 32"/>
          <p:cNvSpPr/>
          <p:nvPr/>
        </p:nvSpPr>
        <p:spPr>
          <a:xfrm>
            <a:off x="1761245" y="232610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10</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33" name="타원 33"/>
          <p:cNvSpPr/>
          <p:nvPr/>
        </p:nvSpPr>
        <p:spPr>
          <a:xfrm>
            <a:off x="1733439" y="268020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34" name="타원 34"/>
          <p:cNvSpPr/>
          <p:nvPr/>
        </p:nvSpPr>
        <p:spPr>
          <a:xfrm>
            <a:off x="1733439" y="371589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35" name="타원 37"/>
          <p:cNvSpPr/>
          <p:nvPr/>
        </p:nvSpPr>
        <p:spPr>
          <a:xfrm>
            <a:off x="1768779" y="321357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36" name="TextBox 35"/>
          <p:cNvSpPr txBox="1"/>
          <p:nvPr/>
        </p:nvSpPr>
        <p:spPr>
          <a:xfrm>
            <a:off x="5845547" y="4382453"/>
            <a:ext cx="1245854"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Đã xác thực thành công.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7" name="타원 35"/>
          <p:cNvSpPr/>
          <p:nvPr/>
        </p:nvSpPr>
        <p:spPr>
          <a:xfrm>
            <a:off x="5874882" y="421887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14</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38" name="직사각형 38"/>
          <p:cNvSpPr/>
          <p:nvPr/>
        </p:nvSpPr>
        <p:spPr>
          <a:xfrm>
            <a:off x="5895202" y="4352819"/>
            <a:ext cx="1276259" cy="24182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39" name="직사각형 30"/>
          <p:cNvSpPr/>
          <p:nvPr/>
        </p:nvSpPr>
        <p:spPr>
          <a:xfrm>
            <a:off x="3575370" y="4825321"/>
            <a:ext cx="667170" cy="215444"/>
          </a:xfrm>
          <a:prstGeom prst="rect">
            <a:avLst/>
          </a:prstGeom>
        </p:spPr>
        <p:txBody>
          <a:bodyPr wrap="non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Tên file.pdf</a:t>
            </a:r>
            <a:endParaRPr lang="ko-KR" altLang="en-US" sz="800" dirty="0">
              <a:latin typeface="Times New Roman" panose="02020603050405020304" pitchFamily="18" charset="0"/>
              <a:cs typeface="Times New Roman" panose="02020603050405020304" pitchFamily="18" charset="0"/>
            </a:endParaRPr>
          </a:p>
        </p:txBody>
      </p:sp>
      <p:sp>
        <p:nvSpPr>
          <p:cNvPr id="40" name="타원 36"/>
          <p:cNvSpPr/>
          <p:nvPr/>
        </p:nvSpPr>
        <p:spPr>
          <a:xfrm>
            <a:off x="4150834" y="474395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15</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41" name="직사각형 39"/>
          <p:cNvSpPr/>
          <p:nvPr/>
        </p:nvSpPr>
        <p:spPr>
          <a:xfrm>
            <a:off x="3609621" y="4836080"/>
            <a:ext cx="721419" cy="200760"/>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graphicFrame>
        <p:nvGraphicFramePr>
          <p:cNvPr id="42" name="표 19"/>
          <p:cNvGraphicFramePr>
            <a:graphicFrameLocks noGrp="1"/>
          </p:cNvGraphicFramePr>
          <p:nvPr/>
        </p:nvGraphicFramePr>
        <p:xfrm>
          <a:off x="7482679" y="836712"/>
          <a:ext cx="2357214" cy="38179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9</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Nhập tối đa 50 ký tự</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Ký tự 51 k0 nhập đc</a:t>
                      </a:r>
                      <a:r>
                        <a:rPr kumimoji="0" lang="ko-KR" altLang="en-US"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số ký tự đã nhập</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10</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Nhập tối đa 10 ký tự</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Ký tự 11 k0 nhập đc</a:t>
                      </a:r>
                      <a:r>
                        <a:rPr kumimoji="0" lang="ko-KR" altLang="en-US"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số ký tự đã nhập</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11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mã ĐKDN đã nhập trước đó</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K0 sửa được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12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Cả 2 trường đều là bắt buộc</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Nhập tối đa 10 ký tự</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Ký tự 11 k0 nhập đc</a:t>
                      </a:r>
                      <a:r>
                        <a:rPr kumimoji="0" lang="ko-KR" altLang="en-US"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số ký tự đã nhập</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13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Chọn tên ngân hàng</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Option combobox: tham khảo file excel</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14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thông báo tùy trường hợp xác thực thành công/thất bại:</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15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Chỉ được upload 1 file.</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tên file đã upload ở bên cạch button.</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0" lang="en-US" altLang="ko-KR" sz="800" b="1"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[API xác thực tài khoản]</a:t>
                      </a:r>
                      <a:endParaRPr kumimoji="0" lang="en-US" altLang="ko-KR" sz="800" b="1"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i="0" u="sng" dirty="0">
                          <a:solidFill>
                            <a:srgbClr val="1155CC"/>
                          </a:solidFill>
                          <a:effectLst/>
                          <a:latin typeface="Times New Roman" panose="02020603050405020304" pitchFamily="18" charset="0"/>
                          <a:cs typeface="Times New Roman" panose="02020603050405020304" pitchFamily="18" charset="0"/>
                          <a:hlinkClick r:id="rId2"/>
                        </a:rPr>
                        <a:t>https://developers.open-platform.or.kr/openapi/account</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8"/>
                  </a:ext>
                </a:extLst>
              </a:tr>
            </a:tbl>
          </a:graphicData>
        </a:graphic>
      </p:graphicFrame>
      <p:graphicFrame>
        <p:nvGraphicFramePr>
          <p:cNvPr id="43" name="표 29"/>
          <p:cNvGraphicFramePr>
            <a:graphicFrameLocks noGrp="1"/>
          </p:cNvGraphicFramePr>
          <p:nvPr/>
        </p:nvGraphicFramePr>
        <p:xfrm>
          <a:off x="7377543" y="3198346"/>
          <a:ext cx="2454702" cy="56076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1518598">
                  <a:extLst>
                    <a:ext uri="{9D8B030D-6E8A-4147-A177-3AD203B41FA5}">
                      <a16:colId xmlns:a16="http://schemas.microsoft.com/office/drawing/2014/main" val="20001"/>
                    </a:ext>
                  </a:extLst>
                </a:gridCol>
              </a:tblGrid>
              <a:tr h="24492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Xác</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thực thành công</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Đã</a:t>
                      </a:r>
                      <a:r>
                        <a:rPr lang="en-US" altLang="ko-KR" sz="800" b="1"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xác thực thành công.</a:t>
                      </a:r>
                      <a:endParaRPr lang="ko-KR" altLang="en-US" sz="800" b="1"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Xác</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thực thất bại</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1"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Vui lòng nhập chính xác số tài khoản.</a:t>
                      </a:r>
                      <a:endParaRPr kumimoji="0" lang="ko-KR" altLang="en-US" sz="800" b="1"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6" name="TextBox 35"/>
          <p:cNvSpPr txBox="1"/>
          <p:nvPr/>
        </p:nvSpPr>
        <p:spPr>
          <a:xfrm>
            <a:off x="1191375" y="1085116"/>
            <a:ext cx="134203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7" name="TextBox 36"/>
          <p:cNvSpPr txBox="1"/>
          <p:nvPr/>
        </p:nvSpPr>
        <p:spPr>
          <a:xfrm>
            <a:off x="1191375" y="1313869"/>
            <a:ext cx="3345788" cy="215444"/>
          </a:xfrm>
          <a:prstGeom prst="rect">
            <a:avLst/>
          </a:prstGeom>
          <a:noFill/>
        </p:spPr>
        <p:txBody>
          <a:bodyPr wrap="none" rtlCol="0">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Có thể sửa và quản lý các thông tin như mật khẩu/số tài khoản/số điện thoại.</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88"/>
          <p:cNvSpPr/>
          <p:nvPr/>
        </p:nvSpPr>
        <p:spPr>
          <a:xfrm>
            <a:off x="2368586" y="7043742"/>
            <a:ext cx="2302030"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은행명을</a:t>
            </a:r>
            <a:r>
              <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선택하세요      </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90" name="직사각형 89"/>
          <p:cNvSpPr/>
          <p:nvPr/>
        </p:nvSpPr>
        <p:spPr>
          <a:xfrm>
            <a:off x="2375751" y="7354234"/>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계좌번호를 </a:t>
            </a:r>
            <a:r>
              <a:rPr lang="en-US" altLang="ko-KR"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없이 숫자로 입력하세요</a:t>
            </a:r>
          </a:p>
        </p:txBody>
      </p:sp>
      <p:sp>
        <p:nvSpPr>
          <p:cNvPr id="91" name="직사각형 90"/>
          <p:cNvSpPr/>
          <p:nvPr/>
        </p:nvSpPr>
        <p:spPr>
          <a:xfrm>
            <a:off x="5296492" y="7354234"/>
            <a:ext cx="792088"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계좌인증</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2"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3"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4"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61"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63"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64"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65" name="직선 연결선 145"/>
              <p:cNvCxnSpPr>
                <a:stCxn id="6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8" name="직사각형 33"/>
          <p:cNvSpPr/>
          <p:nvPr/>
        </p:nvSpPr>
        <p:spPr>
          <a:xfrm>
            <a:off x="128464" y="16199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1" name="직사각형 34"/>
          <p:cNvSpPr/>
          <p:nvPr/>
        </p:nvSpPr>
        <p:spPr>
          <a:xfrm>
            <a:off x="128463" y="196319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36"/>
          <p:cNvSpPr/>
          <p:nvPr/>
        </p:nvSpPr>
        <p:spPr>
          <a:xfrm>
            <a:off x="128462" y="261706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38"/>
          <p:cNvSpPr/>
          <p:nvPr/>
        </p:nvSpPr>
        <p:spPr>
          <a:xfrm>
            <a:off x="128457" y="29191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37"/>
          <p:cNvSpPr/>
          <p:nvPr/>
        </p:nvSpPr>
        <p:spPr>
          <a:xfrm>
            <a:off x="128461" y="361132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39"/>
          <p:cNvSpPr/>
          <p:nvPr/>
        </p:nvSpPr>
        <p:spPr>
          <a:xfrm>
            <a:off x="128457" y="32591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직사각형 35"/>
          <p:cNvSpPr/>
          <p:nvPr/>
        </p:nvSpPr>
        <p:spPr>
          <a:xfrm>
            <a:off x="128463" y="230236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5" name="표 72"/>
          <p:cNvGraphicFramePr>
            <a:graphicFrameLocks noGrp="1"/>
          </p:cNvGraphicFramePr>
          <p:nvPr/>
        </p:nvGraphicFramePr>
        <p:xfrm>
          <a:off x="1284909" y="1979706"/>
          <a:ext cx="5900517" cy="1409680"/>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332224">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ID</a:t>
                      </a:r>
                      <a:endParaRPr lang="ko-KR" altLang="en-US" sz="9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tibrage01</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32224">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Quyền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hạn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922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PW mới</a:t>
                      </a:r>
                      <a:r>
                        <a:rPr lang="ko-KR" altLang="en-US"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Tổ</a:t>
                      </a:r>
                      <a:r>
                        <a:rPr lang="en-US" altLang="ko-KR" sz="80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hợp 6~20 ký tự, bao gồm số/chữ/ký tự đặc biệt</a:t>
                      </a:r>
                      <a:endParaRPr lang="ko-KR" altLang="en-US" sz="80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803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lại PW mới</a:t>
                      </a:r>
                      <a:r>
                        <a:rPr lang="ko-KR" altLang="en-US"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6" name="직사각형 75"/>
          <p:cNvSpPr/>
          <p:nvPr/>
        </p:nvSpPr>
        <p:spPr>
          <a:xfrm>
            <a:off x="2368586" y="2663378"/>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7" name="직사각형 76"/>
          <p:cNvSpPr/>
          <p:nvPr/>
        </p:nvSpPr>
        <p:spPr>
          <a:xfrm>
            <a:off x="2369841" y="3128410"/>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lại PW.</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0" name="직사각형 39"/>
          <p:cNvSpPr/>
          <p:nvPr/>
        </p:nvSpPr>
        <p:spPr>
          <a:xfrm>
            <a:off x="2719706" y="1651683"/>
            <a:ext cx="136919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người phụ trách</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42"/>
          <p:cNvSpPr/>
          <p:nvPr/>
        </p:nvSpPr>
        <p:spPr>
          <a:xfrm>
            <a:off x="1284906" y="1651683"/>
            <a:ext cx="1435846"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sử dụng T-Bridge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45"/>
          <p:cNvSpPr/>
          <p:nvPr/>
        </p:nvSpPr>
        <p:spPr>
          <a:xfrm>
            <a:off x="4091558" y="1651683"/>
            <a:ext cx="1204420"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doanh nghiệp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6" name="직사각형 46"/>
          <p:cNvSpPr/>
          <p:nvPr/>
        </p:nvSpPr>
        <p:spPr>
          <a:xfrm>
            <a:off x="5294892" y="1643955"/>
            <a:ext cx="1255664"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nhà cung cấp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85" name="Straight Connector 84"/>
          <p:cNvCxnSpPr/>
          <p:nvPr/>
        </p:nvCxnSpPr>
        <p:spPr>
          <a:xfrm>
            <a:off x="1280592" y="1856075"/>
            <a:ext cx="1440160"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직사각형 94"/>
          <p:cNvSpPr/>
          <p:nvPr/>
        </p:nvSpPr>
        <p:spPr>
          <a:xfrm>
            <a:off x="3152800" y="3975314"/>
            <a:ext cx="1800379" cy="1915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Sửa thông tin sử dụng</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38" name="표 37"/>
          <p:cNvGraphicFramePr>
            <a:graphicFrameLocks noGrp="1"/>
          </p:cNvGraphicFramePr>
          <p:nvPr/>
        </p:nvGraphicFramePr>
        <p:xfrm>
          <a:off x="7453089" y="836962"/>
          <a:ext cx="2357214" cy="355200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thông tin tài khoản thì hiển thị trang này.</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Mặc định là mở tab “Thông tin sử dụng T-Bridge”</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Tab hiển thị khác nhau theo quyền hạn: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ID đã nhập (k0 sửa đc)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quyền hạn (k0 sửa đc)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Kiểm tra giá trị nhập rồi hiển thị thông báo tùy từng trường hợp:</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thông báo khi k0 khớp với PW</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Lưu nội dung đã sửa và hiển thị thông báo:</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aphicFrame>
        <p:nvGraphicFramePr>
          <p:cNvPr id="39" name="표 41"/>
          <p:cNvGraphicFramePr>
            <a:graphicFrameLocks noGrp="1"/>
          </p:cNvGraphicFramePr>
          <p:nvPr/>
        </p:nvGraphicFramePr>
        <p:xfrm>
          <a:off x="7427618" y="1451720"/>
          <a:ext cx="2565941" cy="948600"/>
        </p:xfrm>
        <a:graphic>
          <a:graphicData uri="http://schemas.openxmlformats.org/drawingml/2006/table">
            <a:tbl>
              <a:tblPr firstRow="1" bandRow="1">
                <a:tableStyleId>{5940675A-B579-460E-94D1-54222C63F5DA}</a:tableStyleId>
              </a:tblPr>
              <a:tblGrid>
                <a:gridCol w="574628">
                  <a:extLst>
                    <a:ext uri="{9D8B030D-6E8A-4147-A177-3AD203B41FA5}">
                      <a16:colId xmlns:a16="http://schemas.microsoft.com/office/drawing/2014/main" val="20000"/>
                    </a:ext>
                  </a:extLst>
                </a:gridCol>
                <a:gridCol w="479146">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432048">
                  <a:extLst>
                    <a:ext uri="{9D8B030D-6E8A-4147-A177-3AD203B41FA5}">
                      <a16:colId xmlns:a16="http://schemas.microsoft.com/office/drawing/2014/main" val="20003"/>
                    </a:ext>
                  </a:extLst>
                </a:gridCol>
                <a:gridCol w="504055">
                  <a:extLst>
                    <a:ext uri="{9D8B030D-6E8A-4147-A177-3AD203B41FA5}">
                      <a16:colId xmlns:a16="http://schemas.microsoft.com/office/drawing/2014/main" val="20004"/>
                    </a:ext>
                  </a:extLst>
                </a:gridCol>
              </a:tblGrid>
              <a:tr h="244920">
                <a:tc>
                  <a:txBody>
                    <a:bodyPr/>
                    <a:lstStyle/>
                    <a:p>
                      <a:pPr algn="ctr" latinLnBrk="1"/>
                      <a:r>
                        <a:rPr lang="en-US" altLang="ko-KR" sz="800" b="1" smtClean="0">
                          <a:solidFill>
                            <a:schemeClr val="bg1"/>
                          </a:solidFill>
                          <a:latin typeface="Times New Roman" panose="02020603050405020304" pitchFamily="18" charset="0"/>
                          <a:ea typeface="Malgun Gothic" panose="020B0503020000020004" charset="-127"/>
                          <a:cs typeface="Times New Roman" panose="02020603050405020304" pitchFamily="18" charset="0"/>
                        </a:rPr>
                        <a:t>Quyền</a:t>
                      </a:r>
                      <a:r>
                        <a:rPr lang="en-US" altLang="ko-KR" sz="800" b="1" baseline="0" smtClean="0">
                          <a:solidFill>
                            <a:schemeClr val="bg1"/>
                          </a:solidFill>
                          <a:latin typeface="Times New Roman" panose="02020603050405020304" pitchFamily="18" charset="0"/>
                          <a:ea typeface="Malgun Gothic" panose="020B0503020000020004" charset="-127"/>
                          <a:cs typeface="Times New Roman" panose="02020603050405020304" pitchFamily="18" charset="0"/>
                        </a:rPr>
                        <a:t> hạn</a:t>
                      </a:r>
                      <a:endParaRPr lang="ko-KR" altLang="en-US" sz="800" b="1" dirty="0">
                        <a:solidFill>
                          <a:schemeClr val="bg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r>
                        <a:rPr lang="en-US" altLang="ko-KR" sz="8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TT sử</a:t>
                      </a:r>
                      <a:r>
                        <a:rPr lang="en-US" altLang="ko-KR" sz="800"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dụng</a:t>
                      </a:r>
                      <a:endParaRPr lang="ko-KR" altLang="en-US" sz="8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r>
                        <a:rPr lang="en-US" altLang="ko-KR" sz="8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TT người</a:t>
                      </a:r>
                      <a:r>
                        <a:rPr lang="en-US" altLang="ko-KR" sz="800"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phụ trách</a:t>
                      </a:r>
                      <a:endParaRPr lang="ko-KR" altLang="en-US" sz="8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r>
                        <a:rPr lang="en-US" altLang="ko-KR" sz="8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TTDN</a:t>
                      </a:r>
                      <a:endParaRPr lang="ko-KR" altLang="en-US" sz="8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r>
                        <a:rPr lang="en-US" altLang="ko-KR" sz="8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TT NCC</a:t>
                      </a:r>
                      <a:endParaRPr lang="ko-KR" altLang="en-US" sz="8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10000"/>
                  </a:ext>
                </a:extLst>
              </a:tr>
              <a:tr h="24492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Nhà</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CC</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Người</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bán</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Master</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Hiển</a:t>
                      </a:r>
                      <a:r>
                        <a:rPr lang="en-US" altLang="ko-KR" sz="800" baseline="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thị</a:t>
                      </a:r>
                      <a:endParaRPr lang="ko-KR" altLang="en-US" sz="80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41" name="직사각형 49"/>
          <p:cNvSpPr/>
          <p:nvPr/>
        </p:nvSpPr>
        <p:spPr>
          <a:xfrm>
            <a:off x="7519043" y="4437112"/>
            <a:ext cx="2186486" cy="48079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marL="8255" lvl="1"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đã được thay đổi. </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8255" lvl="1" algn="ct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8255" lvl="1"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9" name="십자형 34"/>
          <p:cNvSpPr/>
          <p:nvPr/>
        </p:nvSpPr>
        <p:spPr>
          <a:xfrm rot="18900000">
            <a:off x="9498177" y="4486699"/>
            <a:ext cx="158074" cy="158074"/>
          </a:xfrm>
          <a:prstGeom prst="plus">
            <a:avLst>
              <a:gd name="adj" fmla="val 4864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52" name="타원 51"/>
          <p:cNvSpPr/>
          <p:nvPr/>
        </p:nvSpPr>
        <p:spPr>
          <a:xfrm>
            <a:off x="5457056" y="82522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54" name="타원 55"/>
          <p:cNvSpPr/>
          <p:nvPr/>
        </p:nvSpPr>
        <p:spPr>
          <a:xfrm>
            <a:off x="1133289" y="165327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57" name="타원 57"/>
          <p:cNvSpPr/>
          <p:nvPr/>
        </p:nvSpPr>
        <p:spPr>
          <a:xfrm>
            <a:off x="2124749" y="207288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60" name="타원 58"/>
          <p:cNvSpPr/>
          <p:nvPr/>
        </p:nvSpPr>
        <p:spPr>
          <a:xfrm>
            <a:off x="2127206" y="240595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62" name="TextBox 61"/>
          <p:cNvSpPr txBox="1"/>
          <p:nvPr/>
        </p:nvSpPr>
        <p:spPr>
          <a:xfrm>
            <a:off x="5238937" y="3151225"/>
            <a:ext cx="732893"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Không đúng</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TextBox 72"/>
          <p:cNvSpPr txBox="1"/>
          <p:nvPr/>
        </p:nvSpPr>
        <p:spPr>
          <a:xfrm>
            <a:off x="5238937" y="2696111"/>
            <a:ext cx="1481496" cy="215444"/>
          </a:xfrm>
          <a:prstGeom prst="rect">
            <a:avLst/>
          </a:prstGeom>
          <a:noFill/>
        </p:spPr>
        <p:txBody>
          <a:bodyPr wrap="none" rtlCol="0">
            <a:spAutoFit/>
          </a:bodyPr>
          <a:lstStyle/>
          <a:p>
            <a:r>
              <a:rPr lang="en-US" altLang="ko-KR" sz="800" b="1"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ít nhất 6 ký tự.</a:t>
            </a:r>
            <a:endParaRPr lang="ko-KR" altLang="en-US" sz="80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직사각형 52"/>
          <p:cNvSpPr/>
          <p:nvPr/>
        </p:nvSpPr>
        <p:spPr>
          <a:xfrm>
            <a:off x="5176276" y="3146490"/>
            <a:ext cx="1276259" cy="24182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75" name="직사각형 56"/>
          <p:cNvSpPr/>
          <p:nvPr/>
        </p:nvSpPr>
        <p:spPr>
          <a:xfrm>
            <a:off x="5241033" y="2684546"/>
            <a:ext cx="1440160" cy="24182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76" name="타원 59"/>
          <p:cNvSpPr/>
          <p:nvPr/>
        </p:nvSpPr>
        <p:spPr>
          <a:xfrm>
            <a:off x="6416715" y="255501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5</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77" name="타원 60"/>
          <p:cNvSpPr/>
          <p:nvPr/>
        </p:nvSpPr>
        <p:spPr>
          <a:xfrm>
            <a:off x="6362161" y="315098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6</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78" name="타원 61"/>
          <p:cNvSpPr/>
          <p:nvPr/>
        </p:nvSpPr>
        <p:spPr>
          <a:xfrm>
            <a:off x="4844802" y="404184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7</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79" name="표 63"/>
          <p:cNvGraphicFramePr>
            <a:graphicFrameLocks noGrp="1"/>
          </p:cNvGraphicFramePr>
          <p:nvPr/>
        </p:nvGraphicFramePr>
        <p:xfrm>
          <a:off x="7454698" y="3156431"/>
          <a:ext cx="2371462" cy="754680"/>
        </p:xfrm>
        <a:graphic>
          <a:graphicData uri="http://schemas.openxmlformats.org/drawingml/2006/table">
            <a:tbl>
              <a:tblPr firstRow="1" bandRow="1">
                <a:tableStyleId>{5940675A-B579-460E-94D1-54222C63F5DA}</a:tableStyleId>
              </a:tblPr>
              <a:tblGrid>
                <a:gridCol w="1047279">
                  <a:extLst>
                    <a:ext uri="{9D8B030D-6E8A-4147-A177-3AD203B41FA5}">
                      <a16:colId xmlns:a16="http://schemas.microsoft.com/office/drawing/2014/main" val="20000"/>
                    </a:ext>
                  </a:extLst>
                </a:gridCol>
                <a:gridCol w="1324183">
                  <a:extLst>
                    <a:ext uri="{9D8B030D-6E8A-4147-A177-3AD203B41FA5}">
                      <a16:colId xmlns:a16="http://schemas.microsoft.com/office/drawing/2014/main" val="20001"/>
                    </a:ext>
                  </a:extLst>
                </a:gridCol>
              </a:tblGrid>
              <a:tr h="24492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K0 đủ</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6 ký tự</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ko-KR" sz="800" b="0" smtClean="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ít nhất 6 ký tự.</a:t>
                      </a:r>
                      <a:endParaRPr lang="ko-KR" altLang="en-US" sz="800" b="0" dirty="0">
                        <a:solidFill>
                          <a:schemeClr val="accent6">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Quá</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20 ký tự</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0"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Vui lòng nhập dưới 20 ký tự.</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algn="ctr" latinLnBrk="1"/>
                      <a:r>
                        <a:rPr lang="en-US" altLang="ko-KR" sz="800" b="1"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Thiếu</a:t>
                      </a: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1 trong các loại: số/chữ/ký tự đặc biệt</a:t>
                      </a:r>
                      <a:endParaRPr lang="ko-KR" altLang="en-US" sz="800" b="1"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en-US" altLang="ko-KR" sz="800" b="0" i="0" u="none" strike="noStrike" kern="1200" cap="none" spc="0" normalizeH="0" baseline="0" noProof="0" smtClean="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rPr>
                        <a:t>Phải bao gồm ký tự số/chữ/ký tự đặc biệt.</a:t>
                      </a:r>
                      <a:endParaRPr kumimoji="0" lang="ko-KR" altLang="en-US" sz="800" b="0" i="0" u="none" strike="noStrike" kern="1200" cap="none" spc="0" normalizeH="0" baseline="0" noProof="0" dirty="0">
                        <a:ln>
                          <a:noFill/>
                        </a:ln>
                        <a:solidFill>
                          <a:srgbClr val="F79646">
                            <a:lumMod val="75000"/>
                          </a:srgbClr>
                        </a:solidFill>
                        <a:effectLst/>
                        <a:uLnTx/>
                        <a:uFillTx/>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36000" marB="36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74" name="표 73"/>
          <p:cNvGraphicFramePr>
            <a:graphicFrameLocks noGrp="1"/>
          </p:cNvGraphicFramePr>
          <p:nvPr/>
        </p:nvGraphicFramePr>
        <p:xfrm>
          <a:off x="1284909" y="2351312"/>
          <a:ext cx="5900517" cy="1485455"/>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366980">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người phụ trách</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004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58435">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Email</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800" b="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ý : Hóa đơn thuế được gửi đến email cung cấp.</a:t>
                      </a:r>
                      <a:endParaRPr lang="en-US" altLang="ko-KR" sz="800" b="0" dirty="0">
                        <a:solidFill>
                          <a:schemeClr val="accent1">
                            <a:lumMod val="75000"/>
                          </a:schemeClr>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78" name="직사각형 77"/>
          <p:cNvSpPr/>
          <p:nvPr/>
        </p:nvSpPr>
        <p:spPr>
          <a:xfrm>
            <a:off x="2368586" y="2397366"/>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홍길동</a:t>
            </a:r>
          </a:p>
        </p:txBody>
      </p:sp>
      <p:sp>
        <p:nvSpPr>
          <p:cNvPr id="79" name="직사각형 78"/>
          <p:cNvSpPr/>
          <p:nvPr/>
        </p:nvSpPr>
        <p:spPr>
          <a:xfrm>
            <a:off x="2375751" y="2744183"/>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010-0101-0000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80"/>
          <p:cNvSpPr/>
          <p:nvPr/>
        </p:nvSpPr>
        <p:spPr>
          <a:xfrm>
            <a:off x="2375751" y="3096210"/>
            <a:ext cx="2891464" cy="225362"/>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gas@google.com</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81"/>
          <p:cNvSpPr/>
          <p:nvPr/>
        </p:nvSpPr>
        <p:spPr>
          <a:xfrm>
            <a:off x="2368586" y="3552793"/>
            <a:ext cx="2894137" cy="22299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mã xác thực được gửi đến email của bạn.</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2" name="직사각형 41"/>
          <p:cNvSpPr/>
          <p:nvPr/>
        </p:nvSpPr>
        <p:spPr>
          <a:xfrm>
            <a:off x="5457056" y="2076567"/>
            <a:ext cx="1728371"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thông tin người phụ trách</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9" name="TextBox 48"/>
          <p:cNvSpPr txBox="1"/>
          <p:nvPr/>
        </p:nvSpPr>
        <p:spPr>
          <a:xfrm>
            <a:off x="1267854" y="2094610"/>
            <a:ext cx="4126451" cy="215444"/>
          </a:xfrm>
          <a:prstGeom prst="rect">
            <a:avLst/>
          </a:prstGeom>
          <a:noFill/>
        </p:spPr>
        <p:txBody>
          <a:bodyPr wrap="none" rtlCol="0">
            <a:spAutoFit/>
          </a:bodyPr>
          <a:lstStyle/>
          <a:p>
            <a:r>
              <a:rPr lang="vi-VN" altLang="ko-KR" sz="800" smtClean="0">
                <a:latin typeface="Times New Roman" panose="02020603050405020304" pitchFamily="18" charset="0"/>
                <a:ea typeface="Nanum Gothic" panose="020D0604000000000000" pitchFamily="34" charset="-127"/>
                <a:cs typeface="Times New Roman" panose="02020603050405020304" pitchFamily="18" charset="0"/>
              </a:rPr>
              <a:t>Nếu có nhiều người phụ trách, vui lòng bấm vào nút "Thêm thông tin người phụ trách" để thêm.</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0"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1"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53"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55"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56"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57" name="직선 연결선 145"/>
              <p:cNvCxnSpPr>
                <a:stCxn id="56"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8"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1"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3" name="직사각형 33"/>
          <p:cNvSpPr/>
          <p:nvPr/>
        </p:nvSpPr>
        <p:spPr>
          <a:xfrm>
            <a:off x="128464" y="16199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34"/>
          <p:cNvSpPr/>
          <p:nvPr/>
        </p:nvSpPr>
        <p:spPr>
          <a:xfrm>
            <a:off x="128463" y="196319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36"/>
          <p:cNvSpPr/>
          <p:nvPr/>
        </p:nvSpPr>
        <p:spPr>
          <a:xfrm>
            <a:off x="128462" y="261706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6" name="직사각형 38"/>
          <p:cNvSpPr/>
          <p:nvPr/>
        </p:nvSpPr>
        <p:spPr>
          <a:xfrm>
            <a:off x="128457" y="29191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37"/>
          <p:cNvSpPr/>
          <p:nvPr/>
        </p:nvSpPr>
        <p:spPr>
          <a:xfrm>
            <a:off x="128461" y="361132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39"/>
          <p:cNvSpPr/>
          <p:nvPr/>
        </p:nvSpPr>
        <p:spPr>
          <a:xfrm>
            <a:off x="128457" y="32591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35"/>
          <p:cNvSpPr/>
          <p:nvPr/>
        </p:nvSpPr>
        <p:spPr>
          <a:xfrm>
            <a:off x="128463" y="230236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TextBox 69"/>
          <p:cNvSpPr txBox="1"/>
          <p:nvPr/>
        </p:nvSpPr>
        <p:spPr>
          <a:xfrm>
            <a:off x="1191375" y="1085116"/>
            <a:ext cx="134203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TextBox 70"/>
          <p:cNvSpPr txBox="1"/>
          <p:nvPr/>
        </p:nvSpPr>
        <p:spPr>
          <a:xfrm>
            <a:off x="1191375" y="1313869"/>
            <a:ext cx="3345788" cy="215444"/>
          </a:xfrm>
          <a:prstGeom prst="rect">
            <a:avLst/>
          </a:prstGeom>
          <a:noFill/>
        </p:spPr>
        <p:txBody>
          <a:bodyPr wrap="none" rtlCol="0">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Có thể sửa và quản lý các thông tin như mật khẩu/số tài khoản/số điện thoại.</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직사각형 39"/>
          <p:cNvSpPr/>
          <p:nvPr/>
        </p:nvSpPr>
        <p:spPr>
          <a:xfrm>
            <a:off x="1286861" y="1649660"/>
            <a:ext cx="136919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sử dụng T-Bridge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42"/>
          <p:cNvSpPr/>
          <p:nvPr/>
        </p:nvSpPr>
        <p:spPr>
          <a:xfrm>
            <a:off x="2653058" y="1651683"/>
            <a:ext cx="1435846"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người phụ trách</a:t>
            </a:r>
            <a:endPar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45"/>
          <p:cNvSpPr/>
          <p:nvPr/>
        </p:nvSpPr>
        <p:spPr>
          <a:xfrm>
            <a:off x="4091558" y="1651683"/>
            <a:ext cx="1204420"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doanh nghiệp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46"/>
          <p:cNvSpPr/>
          <p:nvPr/>
        </p:nvSpPr>
        <p:spPr>
          <a:xfrm>
            <a:off x="5294892" y="1643955"/>
            <a:ext cx="1255664"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nhà cung cấp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84" name="Straight Connector 83"/>
          <p:cNvCxnSpPr/>
          <p:nvPr/>
        </p:nvCxnSpPr>
        <p:spPr>
          <a:xfrm>
            <a:off x="2648744" y="1856075"/>
            <a:ext cx="1440160"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5" name="직사각형 79"/>
          <p:cNvSpPr/>
          <p:nvPr/>
        </p:nvSpPr>
        <p:spPr>
          <a:xfrm>
            <a:off x="5327788" y="3105535"/>
            <a:ext cx="792088"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Đổi email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직사각형 82"/>
          <p:cNvSpPr/>
          <p:nvPr/>
        </p:nvSpPr>
        <p:spPr>
          <a:xfrm>
            <a:off x="5327787" y="3559755"/>
            <a:ext cx="1043428" cy="21808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nhận mã xác thực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직사각형 95"/>
          <p:cNvSpPr/>
          <p:nvPr/>
        </p:nvSpPr>
        <p:spPr>
          <a:xfrm>
            <a:off x="3296639" y="5958409"/>
            <a:ext cx="2088409" cy="206895"/>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Sửa thông tin người phụ trách</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1" name="표 59"/>
          <p:cNvGraphicFramePr>
            <a:graphicFrameLocks noGrp="1"/>
          </p:cNvGraphicFramePr>
          <p:nvPr/>
        </p:nvGraphicFramePr>
        <p:xfrm>
          <a:off x="1284909" y="4065625"/>
          <a:ext cx="5900517" cy="1485455"/>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366980">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người phụ trách</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004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58435">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Email</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b="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800" b="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ý : Hóa đơn thuế được gửi đến email cung cấp.</a:t>
                      </a:r>
                      <a:endParaRPr lang="en-US" altLang="ko-KR" sz="800" b="0" dirty="0">
                        <a:solidFill>
                          <a:schemeClr val="accent1">
                            <a:lumMod val="75000"/>
                          </a:schemeClr>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3" name="직사각형 60"/>
          <p:cNvSpPr/>
          <p:nvPr/>
        </p:nvSpPr>
        <p:spPr>
          <a:xfrm>
            <a:off x="2368586" y="4111679"/>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4" name="직사각형 66"/>
          <p:cNvSpPr/>
          <p:nvPr/>
        </p:nvSpPr>
        <p:spPr>
          <a:xfrm>
            <a:off x="2346462" y="4468984"/>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a:t>
            </a:r>
            <a:r>
              <a:rPr lang="en-US" altLang="ko-KR"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010-0000-0000</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5" name="직사각형 67"/>
          <p:cNvSpPr/>
          <p:nvPr/>
        </p:nvSpPr>
        <p:spPr>
          <a:xfrm>
            <a:off x="5320444" y="4821011"/>
            <a:ext cx="856692"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Gửi mã xác thực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6" name="직사각형 68"/>
          <p:cNvSpPr/>
          <p:nvPr/>
        </p:nvSpPr>
        <p:spPr>
          <a:xfrm>
            <a:off x="2346462" y="4821011"/>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7" name="직사각형 69"/>
          <p:cNvSpPr/>
          <p:nvPr/>
        </p:nvSpPr>
        <p:spPr>
          <a:xfrm>
            <a:off x="2339297" y="5277594"/>
            <a:ext cx="2894137" cy="22299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mã xác thực được gửi đến email của bạn.</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8" name="직사각형 70"/>
          <p:cNvSpPr/>
          <p:nvPr/>
        </p:nvSpPr>
        <p:spPr>
          <a:xfrm>
            <a:off x="5320444" y="5275231"/>
            <a:ext cx="1072716"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nhận mã xác thực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52" name="직선 화살표 연결선 3"/>
          <p:cNvCxnSpPr/>
          <p:nvPr/>
        </p:nvCxnSpPr>
        <p:spPr>
          <a:xfrm>
            <a:off x="7185426" y="2180119"/>
            <a:ext cx="12700" cy="2628233"/>
          </a:xfrm>
          <a:prstGeom prst="bentConnector3">
            <a:avLst>
              <a:gd name="adj1" fmla="val 180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4" name="직사각형 92"/>
          <p:cNvSpPr/>
          <p:nvPr/>
        </p:nvSpPr>
        <p:spPr>
          <a:xfrm>
            <a:off x="2288780" y="3052653"/>
            <a:ext cx="3861562" cy="32025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72" name="왼쪽 대괄호[L] 5"/>
          <p:cNvSpPr/>
          <p:nvPr/>
        </p:nvSpPr>
        <p:spPr>
          <a:xfrm>
            <a:off x="1211677" y="2492896"/>
            <a:ext cx="163984" cy="1141727"/>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anose="02020603050405020304" pitchFamily="18" charset="0"/>
              <a:cs typeface="Times New Roman" panose="02020603050405020304" pitchFamily="18" charset="0"/>
            </a:endParaRPr>
          </a:p>
        </p:txBody>
      </p:sp>
      <p:sp>
        <p:nvSpPr>
          <p:cNvPr id="80" name="타원 75"/>
          <p:cNvSpPr/>
          <p:nvPr/>
        </p:nvSpPr>
        <p:spPr>
          <a:xfrm>
            <a:off x="1101272" y="283165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3" name="타원 86"/>
          <p:cNvSpPr/>
          <p:nvPr/>
        </p:nvSpPr>
        <p:spPr>
          <a:xfrm>
            <a:off x="6013529" y="299129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8" name="타원 76"/>
          <p:cNvSpPr/>
          <p:nvPr/>
        </p:nvSpPr>
        <p:spPr>
          <a:xfrm>
            <a:off x="7057046" y="224660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9" name="타원 83"/>
          <p:cNvSpPr/>
          <p:nvPr/>
        </p:nvSpPr>
        <p:spPr>
          <a:xfrm>
            <a:off x="3224808" y="587273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90" name="표 58"/>
          <p:cNvGraphicFramePr>
            <a:graphicFrameLocks noGrp="1"/>
          </p:cNvGraphicFramePr>
          <p:nvPr/>
        </p:nvGraphicFramePr>
        <p:xfrm>
          <a:off x="7453089" y="836962"/>
          <a:ext cx="2357214" cy="272640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giá trị đã nhập và có thể sửa đc.</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Chức năng giống số 5~8 trang 13.</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giá trị đã nhập biến mất và button thay đổi thành button gửi mã xác thực.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bên dưới thêm trường nhập tên người phụ trách, số điện thoại, email.</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Lưu nội dung đã sửa và hiển thị thông báo.</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Câu</a:t>
                      </a:r>
                      <a:r>
                        <a:rPr lang="en-US" altLang="ko-KR" sz="8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thông báo</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8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đã được thay đổi</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[OK]</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OK trên thông báo thì cửa sổ thông báo đóng lại và vẫn ở lại trang hiện tại.</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91" name="직사각형 87"/>
          <p:cNvSpPr/>
          <p:nvPr/>
        </p:nvSpPr>
        <p:spPr>
          <a:xfrm>
            <a:off x="8986076" y="1585815"/>
            <a:ext cx="792088"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Đổi email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직사각형 88"/>
          <p:cNvSpPr/>
          <p:nvPr/>
        </p:nvSpPr>
        <p:spPr>
          <a:xfrm>
            <a:off x="7636618" y="1585815"/>
            <a:ext cx="1266939" cy="225362"/>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gas@google.com</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89"/>
          <p:cNvSpPr/>
          <p:nvPr/>
        </p:nvSpPr>
        <p:spPr>
          <a:xfrm>
            <a:off x="8942700" y="2269961"/>
            <a:ext cx="906513"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Gửi mã xác thực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90"/>
          <p:cNvSpPr/>
          <p:nvPr/>
        </p:nvSpPr>
        <p:spPr>
          <a:xfrm>
            <a:off x="7650029" y="2269961"/>
            <a:ext cx="1266939" cy="19819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95" name="직선 화살표 연결선 3"/>
          <p:cNvCxnSpPr>
            <a:stCxn id="91" idx="2"/>
            <a:endCxn id="94" idx="0"/>
          </p:cNvCxnSpPr>
          <p:nvPr/>
        </p:nvCxnSpPr>
        <p:spPr>
          <a:xfrm rot="5400000">
            <a:off x="8603418" y="1491259"/>
            <a:ext cx="458784" cy="1098621"/>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51" name="표 50"/>
          <p:cNvGraphicFramePr>
            <a:graphicFrameLocks noGrp="1"/>
          </p:cNvGraphicFramePr>
          <p:nvPr/>
        </p:nvGraphicFramePr>
        <p:xfrm>
          <a:off x="1284909" y="1960765"/>
          <a:ext cx="5900517" cy="2548355"/>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303872">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 doanh nghiệp</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98126">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đại diện pháp luật</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5826">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đăng ký doanh nghiệp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000</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-00</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00000</a:t>
                      </a: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5826">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nghề/Loại hình</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47195">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ài khoản ngân hàng</a:t>
                      </a:r>
                      <a:r>
                        <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004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Bản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sao sổ TK</a:t>
                      </a:r>
                      <a:r>
                        <a:rPr lang="ko-KR" altLang="en-US"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9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52" name="직사각형 51"/>
          <p:cNvSpPr/>
          <p:nvPr/>
        </p:nvSpPr>
        <p:spPr>
          <a:xfrm>
            <a:off x="2368586" y="2015637"/>
            <a:ext cx="2891464" cy="19959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티브리지</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52"/>
          <p:cNvSpPr/>
          <p:nvPr/>
        </p:nvSpPr>
        <p:spPr>
          <a:xfrm>
            <a:off x="2375751" y="2388736"/>
            <a:ext cx="2891464" cy="19959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홍길동</a:t>
            </a:r>
          </a:p>
        </p:txBody>
      </p:sp>
      <p:sp>
        <p:nvSpPr>
          <p:cNvPr id="54" name="직사각형 53"/>
          <p:cNvSpPr/>
          <p:nvPr/>
        </p:nvSpPr>
        <p:spPr>
          <a:xfrm>
            <a:off x="2375751" y="3032776"/>
            <a:ext cx="1425121" cy="19959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Công ty vận chuyển  </a:t>
            </a:r>
            <a:r>
              <a:rPr lang="ko-KR" altLang="en-US"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6" name="직사각형 55"/>
          <p:cNvSpPr/>
          <p:nvPr/>
        </p:nvSpPr>
        <p:spPr>
          <a:xfrm>
            <a:off x="2368586" y="3349345"/>
            <a:ext cx="2302030" cy="19959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Ngân hàng Woori</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57" name="직사각형 56"/>
          <p:cNvSpPr/>
          <p:nvPr/>
        </p:nvSpPr>
        <p:spPr>
          <a:xfrm>
            <a:off x="2375751" y="3850364"/>
            <a:ext cx="2891464" cy="19959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123</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456</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6634</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59"/>
          <p:cNvSpPr/>
          <p:nvPr/>
        </p:nvSpPr>
        <p:spPr>
          <a:xfrm>
            <a:off x="3584848" y="6616550"/>
            <a:ext cx="1450655"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Sửa thông tin doanh nghiệp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 name="표 3"/>
          <p:cNvGraphicFramePr>
            <a:graphicFrameLocks noGrp="1"/>
          </p:cNvGraphicFramePr>
          <p:nvPr/>
        </p:nvGraphicFramePr>
        <p:xfrm>
          <a:off x="1280592" y="4626889"/>
          <a:ext cx="5900517" cy="1898455"/>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1967223">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2016399">
                  <a:extLst>
                    <a:ext uri="{9D8B030D-6E8A-4147-A177-3AD203B41FA5}">
                      <a16:colId xmlns:a16="http://schemas.microsoft.com/office/drawing/2014/main" val="20003"/>
                    </a:ext>
                  </a:extLst>
                </a:gridCol>
              </a:tblGrid>
              <a:tr h="28238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Địa</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chỉ</a:t>
                      </a:r>
                      <a:r>
                        <a:rPr lang="ko-KR" altLang="en-US"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238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 làm việc</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8238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nghỉ</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8238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 bàn</a:t>
                      </a:r>
                      <a:r>
                        <a:rPr lang="ko-KR" altLang="en-US"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di động</a:t>
                      </a:r>
                      <a:endParaRPr lang="en-US" altLang="ko-KR"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86535">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 tư vấn mua hàng</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 tư vấn hủy</a:t>
                      </a:r>
                      <a:endParaRPr lang="en-US" altLang="ko-KR"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238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Chỗ</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đậu xe</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Không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thể đậu xe</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Có</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thể đậu xe</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Phí</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gửi xe</a:t>
                      </a:r>
                      <a:endParaRPr lang="en-US" altLang="ko-KR"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70" name="직사각형 69"/>
          <p:cNvSpPr/>
          <p:nvPr/>
        </p:nvSpPr>
        <p:spPr>
          <a:xfrm>
            <a:off x="2375293" y="5507224"/>
            <a:ext cx="1781305" cy="18526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02-000-0000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74"/>
          <p:cNvSpPr/>
          <p:nvPr/>
        </p:nvSpPr>
        <p:spPr>
          <a:xfrm>
            <a:off x="2389972" y="4678182"/>
            <a:ext cx="654012" cy="180196"/>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địa chỉ</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75"/>
          <p:cNvSpPr/>
          <p:nvPr/>
        </p:nvSpPr>
        <p:spPr>
          <a:xfrm>
            <a:off x="5251947" y="6294327"/>
            <a:ext cx="935485" cy="18249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5251299" y="5507224"/>
            <a:ext cx="1781305" cy="18526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010-0000-0000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83"/>
          <p:cNvSpPr/>
          <p:nvPr/>
        </p:nvSpPr>
        <p:spPr>
          <a:xfrm>
            <a:off x="2383960" y="5845489"/>
            <a:ext cx="1781305" cy="18526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02-000-0000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84"/>
          <p:cNvSpPr/>
          <p:nvPr/>
        </p:nvSpPr>
        <p:spPr>
          <a:xfrm>
            <a:off x="5259966" y="5824796"/>
            <a:ext cx="1781305" cy="18526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02-000-0000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직사각형 85"/>
          <p:cNvSpPr/>
          <p:nvPr/>
        </p:nvSpPr>
        <p:spPr>
          <a:xfrm>
            <a:off x="2284390" y="6003969"/>
            <a:ext cx="944489" cy="230832"/>
          </a:xfrm>
          <a:prstGeom prst="rect">
            <a:avLst/>
          </a:prstGeom>
        </p:spPr>
        <p:txBody>
          <a:bodyPr wrap="none">
            <a:spAutoFit/>
          </a:bodyPr>
          <a:lstStyle/>
          <a:p>
            <a:pPr lvl="0">
              <a:defRPr/>
            </a:pPr>
            <a:r>
              <a:rPr lang="ko-KR" altLang="en-US" sz="9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Giống số bàn</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직사각형 86"/>
          <p:cNvSpPr/>
          <p:nvPr/>
        </p:nvSpPr>
        <p:spPr>
          <a:xfrm>
            <a:off x="5164088" y="5993934"/>
            <a:ext cx="944489" cy="230832"/>
          </a:xfrm>
          <a:prstGeom prst="rect">
            <a:avLst/>
          </a:prstGeom>
        </p:spPr>
        <p:txBody>
          <a:bodyPr wrap="none">
            <a:spAutoFit/>
          </a:bodyPr>
          <a:lstStyle/>
          <a:p>
            <a:pPr lvl="0">
              <a:defRPr/>
            </a:pPr>
            <a:r>
              <a:rPr lang="ko-KR" altLang="en-US" sz="9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Giống số bàn</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직사각형 87"/>
          <p:cNvSpPr/>
          <p:nvPr/>
        </p:nvSpPr>
        <p:spPr>
          <a:xfrm>
            <a:off x="3843473" y="3038149"/>
            <a:ext cx="1425121" cy="19959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Vé du lịch</a:t>
            </a:r>
            <a:r>
              <a:rPr lang="ko-KR" altLang="en-US"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제목 1"/>
          <p:cNvSpPr>
            <a:spLocks noGrp="1"/>
          </p:cNvSpPr>
          <p:nvPr>
            <p:ph type="title"/>
          </p:nvPr>
        </p:nvSpPr>
        <p:spPr>
          <a:xfrm>
            <a:off x="128464" y="27460"/>
            <a:ext cx="7957637" cy="521221"/>
          </a:xfrm>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3"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2" name="그룹 46"/>
          <p:cNvGrpSpPr/>
          <p:nvPr/>
        </p:nvGrpSpPr>
        <p:grpSpPr>
          <a:xfrm>
            <a:off x="1267854" y="665402"/>
            <a:ext cx="1931523" cy="207884"/>
            <a:chOff x="1267854" y="665402"/>
            <a:chExt cx="1931523" cy="207884"/>
          </a:xfrm>
        </p:grpSpPr>
        <p:sp>
          <p:nvSpPr>
            <p:cNvPr id="71"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3" name="그룹 57"/>
            <p:cNvGrpSpPr/>
            <p:nvPr/>
          </p:nvGrpSpPr>
          <p:grpSpPr>
            <a:xfrm>
              <a:off x="2995760" y="665405"/>
              <a:ext cx="203617" cy="207881"/>
              <a:chOff x="2939843" y="5447120"/>
              <a:chExt cx="272722" cy="278432"/>
            </a:xfrm>
          </p:grpSpPr>
          <p:sp>
            <p:nvSpPr>
              <p:cNvPr id="78"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79"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80" name="직선 연결선 145"/>
              <p:cNvCxnSpPr>
                <a:stCxn id="7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1"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3"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직사각형 33"/>
          <p:cNvSpPr/>
          <p:nvPr/>
        </p:nvSpPr>
        <p:spPr>
          <a:xfrm>
            <a:off x="128464" y="16199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직사각형 34"/>
          <p:cNvSpPr/>
          <p:nvPr/>
        </p:nvSpPr>
        <p:spPr>
          <a:xfrm>
            <a:off x="128463" y="196319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36"/>
          <p:cNvSpPr/>
          <p:nvPr/>
        </p:nvSpPr>
        <p:spPr>
          <a:xfrm>
            <a:off x="128462" y="261706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38"/>
          <p:cNvSpPr/>
          <p:nvPr/>
        </p:nvSpPr>
        <p:spPr>
          <a:xfrm>
            <a:off x="128457" y="29191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37"/>
          <p:cNvSpPr/>
          <p:nvPr/>
        </p:nvSpPr>
        <p:spPr>
          <a:xfrm>
            <a:off x="128461" y="361132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직사각형 39"/>
          <p:cNvSpPr/>
          <p:nvPr/>
        </p:nvSpPr>
        <p:spPr>
          <a:xfrm>
            <a:off x="128457" y="32591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직사각형 35"/>
          <p:cNvSpPr/>
          <p:nvPr/>
        </p:nvSpPr>
        <p:spPr>
          <a:xfrm>
            <a:off x="128463" y="230236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TextBox 97"/>
          <p:cNvSpPr txBox="1"/>
          <p:nvPr/>
        </p:nvSpPr>
        <p:spPr>
          <a:xfrm>
            <a:off x="1191375" y="1085116"/>
            <a:ext cx="134203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TextBox 98"/>
          <p:cNvSpPr txBox="1"/>
          <p:nvPr/>
        </p:nvSpPr>
        <p:spPr>
          <a:xfrm>
            <a:off x="1191375" y="1313869"/>
            <a:ext cx="3345788" cy="215444"/>
          </a:xfrm>
          <a:prstGeom prst="rect">
            <a:avLst/>
          </a:prstGeom>
          <a:noFill/>
        </p:spPr>
        <p:txBody>
          <a:bodyPr wrap="none" rtlCol="0">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Có thể sửa và quản lý các thông tin như mật khẩu/số tài khoản/số điện thoại.</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직사각형 39"/>
          <p:cNvSpPr/>
          <p:nvPr/>
        </p:nvSpPr>
        <p:spPr>
          <a:xfrm>
            <a:off x="1286861" y="1649660"/>
            <a:ext cx="136919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sử dụng T-Bridge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직사각형 42"/>
          <p:cNvSpPr/>
          <p:nvPr/>
        </p:nvSpPr>
        <p:spPr>
          <a:xfrm>
            <a:off x="4015951" y="1651683"/>
            <a:ext cx="1435846"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doanh nghiệp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직사각형 45"/>
          <p:cNvSpPr/>
          <p:nvPr/>
        </p:nvSpPr>
        <p:spPr>
          <a:xfrm>
            <a:off x="2658268" y="1643414"/>
            <a:ext cx="135862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người phụ trách</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직사각형 46"/>
          <p:cNvSpPr/>
          <p:nvPr/>
        </p:nvSpPr>
        <p:spPr>
          <a:xfrm>
            <a:off x="5448507" y="1643955"/>
            <a:ext cx="1255664"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nhà cung cấp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04" name="Straight Connector 103"/>
          <p:cNvCxnSpPr/>
          <p:nvPr/>
        </p:nvCxnSpPr>
        <p:spPr>
          <a:xfrm>
            <a:off x="4011637" y="1856075"/>
            <a:ext cx="1440160"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6" name="직사각형 90"/>
          <p:cNvSpPr/>
          <p:nvPr/>
        </p:nvSpPr>
        <p:spPr>
          <a:xfrm>
            <a:off x="5332090" y="3841387"/>
            <a:ext cx="1096668" cy="239836"/>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số tài khoản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60"/>
          <p:cNvSpPr/>
          <p:nvPr/>
        </p:nvSpPr>
        <p:spPr>
          <a:xfrm>
            <a:off x="2375293" y="5232262"/>
            <a:ext cx="4445601" cy="20261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Nghỉ Chủ Nhật, Ngày Lễ</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TextBox 58"/>
          <p:cNvSpPr txBox="1"/>
          <p:nvPr/>
        </p:nvSpPr>
        <p:spPr>
          <a:xfrm>
            <a:off x="6764399" y="5258634"/>
            <a:ext cx="418704" cy="215444"/>
          </a:xfrm>
          <a:prstGeom prst="rect">
            <a:avLst/>
          </a:prstGeom>
          <a:noFill/>
        </p:spPr>
        <p:txBody>
          <a:bodyPr wrap="none" rtlCol="0">
            <a:spAutoFit/>
          </a:bodyPr>
          <a:lstStyle/>
          <a:p>
            <a:r>
              <a:rPr lang="en-US" altLang="ko-KR" sz="800" dirty="0">
                <a:latin typeface="Times New Roman" panose="02020603050405020304" pitchFamily="18" charset="0"/>
                <a:ea typeface="Nanum Gothic" panose="020D0604000000000000" pitchFamily="34" charset="-127"/>
                <a:cs typeface="Times New Roman" panose="02020603050405020304" pitchFamily="18" charset="0"/>
              </a:rPr>
              <a:t>0/100</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1" name="직사각형 62"/>
          <p:cNvSpPr/>
          <p:nvPr/>
        </p:nvSpPr>
        <p:spPr>
          <a:xfrm>
            <a:off x="2375293" y="4950535"/>
            <a:ext cx="4445601" cy="20261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Trong tuần</a:t>
            </a:r>
            <a:r>
              <a:rPr lang="ko-KR" altLang="en-US"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10:00~21:00</a:t>
            </a:r>
            <a:r>
              <a:rPr lang="en-US" altLang="ko-KR" sz="90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Thứ Bảy</a:t>
            </a:r>
            <a:r>
              <a:rPr lang="ko-KR" altLang="en-US"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10:00~24:00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TextBox 68"/>
          <p:cNvSpPr txBox="1"/>
          <p:nvPr/>
        </p:nvSpPr>
        <p:spPr>
          <a:xfrm>
            <a:off x="6764399" y="4976907"/>
            <a:ext cx="418704" cy="215444"/>
          </a:xfrm>
          <a:prstGeom prst="rect">
            <a:avLst/>
          </a:prstGeom>
          <a:noFill/>
        </p:spPr>
        <p:txBody>
          <a:bodyPr wrap="none" rtlCol="0">
            <a:spAutoFit/>
          </a:bodyPr>
          <a:lstStyle/>
          <a:p>
            <a:r>
              <a:rPr lang="en-US" altLang="ko-KR" sz="800" dirty="0">
                <a:latin typeface="Times New Roman" panose="02020603050405020304" pitchFamily="18" charset="0"/>
                <a:ea typeface="Nanum Gothic" panose="020D0604000000000000" pitchFamily="34" charset="-127"/>
                <a:cs typeface="Times New Roman" panose="02020603050405020304" pitchFamily="18" charset="0"/>
              </a:rPr>
              <a:t>0/100</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64"/>
          <p:cNvSpPr/>
          <p:nvPr/>
        </p:nvSpPr>
        <p:spPr>
          <a:xfrm>
            <a:off x="2368586" y="3582536"/>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홍길동</a:t>
            </a:r>
          </a:p>
        </p:txBody>
      </p:sp>
      <p:sp>
        <p:nvSpPr>
          <p:cNvPr id="66" name="직사각형 66"/>
          <p:cNvSpPr/>
          <p:nvPr/>
        </p:nvSpPr>
        <p:spPr>
          <a:xfrm>
            <a:off x="2390184" y="4204295"/>
            <a:ext cx="1122656"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bản sao sổ TK</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67"/>
          <p:cNvSpPr/>
          <p:nvPr/>
        </p:nvSpPr>
        <p:spPr>
          <a:xfrm>
            <a:off x="3639361" y="4218139"/>
            <a:ext cx="667170" cy="215444"/>
          </a:xfrm>
          <a:prstGeom prst="rect">
            <a:avLst/>
          </a:prstGeom>
        </p:spPr>
        <p:txBody>
          <a:bodyPr wrap="non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Tên file.pdf</a:t>
            </a:r>
            <a:endParaRPr lang="ko-KR" altLang="en-US" sz="800" dirty="0">
              <a:latin typeface="Times New Roman" panose="02020603050405020304" pitchFamily="18" charset="0"/>
              <a:cs typeface="Times New Roman" panose="02020603050405020304" pitchFamily="18" charset="0"/>
            </a:endParaRPr>
          </a:p>
        </p:txBody>
      </p:sp>
      <p:sp>
        <p:nvSpPr>
          <p:cNvPr id="68" name="왼쪽 대괄호[L] 88"/>
          <p:cNvSpPr/>
          <p:nvPr/>
        </p:nvSpPr>
        <p:spPr>
          <a:xfrm>
            <a:off x="1211677" y="2237506"/>
            <a:ext cx="54504" cy="1984724"/>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anose="02020603050405020304" pitchFamily="18" charset="0"/>
              <a:cs typeface="Times New Roman" panose="02020603050405020304" pitchFamily="18" charset="0"/>
            </a:endParaRPr>
          </a:p>
        </p:txBody>
      </p:sp>
      <p:sp>
        <p:nvSpPr>
          <p:cNvPr id="74" name="타원 89"/>
          <p:cNvSpPr/>
          <p:nvPr/>
        </p:nvSpPr>
        <p:spPr>
          <a:xfrm>
            <a:off x="1101272" y="257626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07" name="직사각형 91"/>
          <p:cNvSpPr/>
          <p:nvPr/>
        </p:nvSpPr>
        <p:spPr>
          <a:xfrm>
            <a:off x="2356843" y="3793798"/>
            <a:ext cx="4101010" cy="32025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108" name="타원 90"/>
          <p:cNvSpPr/>
          <p:nvPr/>
        </p:nvSpPr>
        <p:spPr>
          <a:xfrm>
            <a:off x="6286412" y="367392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09" name="타원 92"/>
          <p:cNvSpPr/>
          <p:nvPr/>
        </p:nvSpPr>
        <p:spPr>
          <a:xfrm>
            <a:off x="2966625" y="459633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0" name="왼쪽 대괄호[L] 93"/>
          <p:cNvSpPr/>
          <p:nvPr/>
        </p:nvSpPr>
        <p:spPr>
          <a:xfrm>
            <a:off x="1208639" y="4969104"/>
            <a:ext cx="218131" cy="421478"/>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anose="02020603050405020304" pitchFamily="18" charset="0"/>
              <a:cs typeface="Times New Roman" panose="02020603050405020304" pitchFamily="18" charset="0"/>
            </a:endParaRPr>
          </a:p>
        </p:txBody>
      </p:sp>
      <p:sp>
        <p:nvSpPr>
          <p:cNvPr id="111" name="타원 94"/>
          <p:cNvSpPr/>
          <p:nvPr/>
        </p:nvSpPr>
        <p:spPr>
          <a:xfrm>
            <a:off x="1116491" y="507372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2" name="타원 96"/>
          <p:cNvSpPr/>
          <p:nvPr/>
        </p:nvSpPr>
        <p:spPr>
          <a:xfrm>
            <a:off x="1008038" y="564114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5</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3" name="타원 98"/>
          <p:cNvSpPr/>
          <p:nvPr/>
        </p:nvSpPr>
        <p:spPr>
          <a:xfrm>
            <a:off x="1206594" y="625885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7</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4" name="직사각형 95"/>
          <p:cNvSpPr/>
          <p:nvPr/>
        </p:nvSpPr>
        <p:spPr>
          <a:xfrm>
            <a:off x="1154800" y="5493803"/>
            <a:ext cx="6126355" cy="543154"/>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115" name="타원 97"/>
          <p:cNvSpPr/>
          <p:nvPr/>
        </p:nvSpPr>
        <p:spPr>
          <a:xfrm>
            <a:off x="2254581" y="609705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6</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6" name="타원 99"/>
          <p:cNvSpPr/>
          <p:nvPr/>
        </p:nvSpPr>
        <p:spPr>
          <a:xfrm>
            <a:off x="4861861" y="630124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8</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7" name="타원 100"/>
          <p:cNvSpPr/>
          <p:nvPr/>
        </p:nvSpPr>
        <p:spPr>
          <a:xfrm>
            <a:off x="3426439" y="663384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9</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118" name="표 65"/>
          <p:cNvGraphicFramePr>
            <a:graphicFrameLocks noGrp="1"/>
          </p:cNvGraphicFramePr>
          <p:nvPr/>
        </p:nvGraphicFramePr>
        <p:xfrm>
          <a:off x="7453089" y="836962"/>
          <a:ext cx="2357214" cy="430560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đã nhập và sửa đc.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Chức năng giống trang 14.</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giá trị đã nhập biến mất và button thay đổi thành button xác thực TK.</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hiển thị layer tìm địa chỉ</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a:solidFill>
                            <a:srgbClr val="C00000"/>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rgbClr val="C00000"/>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Xem chi tiết ở trang tiếp theo</a:t>
                      </a:r>
                      <a:endParaRPr lang="en-US" altLang="ko-KR" sz="800" b="0" baseline="0" dirty="0">
                        <a:solidFill>
                          <a:srgbClr val="C00000"/>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Nhập tối đa 100 ký tự</a:t>
                      </a: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Ký tự 101 k0 nhập đc</a:t>
                      </a:r>
                      <a:r>
                        <a:rPr kumimoji="0" lang="ko-KR" altLang="en-US"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số ký tự đã nhập</a:t>
                      </a: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Chỉ đc nhập số</a:t>
                      </a:r>
                      <a:endParaRPr kumimoji="0" lang="ko-KR" altLang="en-US"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check thì hiển thị số điện thoại bàn</a:t>
                      </a:r>
                      <a:endParaRPr kumimoji="0" lang="ko-KR" altLang="en-US"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Mặc định chọn k0 thể đậu xe</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chọn có thể đậu xe thì trường số 8 có thể nhập đc.</a:t>
                      </a:r>
                      <a:endParaRPr kumimoji="0" lang="ko-KR" altLang="en-US"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8</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Có thể nhập cả chữ và số</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Nhập tối đa 20 ký tự</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Ký tự 21 k0 nhập đc</a:t>
                      </a:r>
                      <a:r>
                        <a:rPr kumimoji="0" lang="ko-KR" altLang="en-US"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9</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Lưu nội dung đã sửa và hiển thị thông báo.</a:t>
                      </a: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Câu</a:t>
                      </a:r>
                      <a:r>
                        <a:rPr lang="en-US" altLang="ko-KR" sz="8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thông báo</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Thông</a:t>
                      </a:r>
                      <a:r>
                        <a:rPr lang="en-US" altLang="ko-KR" sz="8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đã được thay đổi</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[OK]</a:t>
                      </a:r>
                      <a:endPar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0"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OK trên thông báo thì cửa sổ thông báo đóng lại và vẫn ở lại trang hiện tại.</a:t>
                      </a:r>
                      <a:endParaRPr kumimoji="0"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119" name="직사각형 78"/>
          <p:cNvSpPr/>
          <p:nvPr/>
        </p:nvSpPr>
        <p:spPr>
          <a:xfrm>
            <a:off x="8986076" y="1468775"/>
            <a:ext cx="792088"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số TK</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0" name="직사각형 79"/>
          <p:cNvSpPr/>
          <p:nvPr/>
        </p:nvSpPr>
        <p:spPr>
          <a:xfrm>
            <a:off x="7636618" y="1468775"/>
            <a:ext cx="1266939" cy="225362"/>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123</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456</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6634</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1" name="직사각형 80"/>
          <p:cNvSpPr/>
          <p:nvPr/>
        </p:nvSpPr>
        <p:spPr>
          <a:xfrm>
            <a:off x="8999487" y="2152921"/>
            <a:ext cx="792088"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thực TK</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2" name="직사각형 81"/>
          <p:cNvSpPr/>
          <p:nvPr/>
        </p:nvSpPr>
        <p:spPr>
          <a:xfrm>
            <a:off x="7650029" y="2152921"/>
            <a:ext cx="1266939" cy="19819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23" name="직선 화살표 연결선 3"/>
          <p:cNvCxnSpPr>
            <a:stCxn id="119" idx="2"/>
            <a:endCxn id="122" idx="0"/>
          </p:cNvCxnSpPr>
          <p:nvPr/>
        </p:nvCxnSpPr>
        <p:spPr>
          <a:xfrm rot="5400000">
            <a:off x="8603418" y="1374219"/>
            <a:ext cx="458784" cy="1098621"/>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Tìm địa chỉ</a:t>
            </a:r>
            <a:endParaRPr lang="ko-KR" altLang="en-US" dirty="0" err="1">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66" name="표 65"/>
          <p:cNvGraphicFramePr>
            <a:graphicFrameLocks noGrp="1"/>
          </p:cNvGraphicFramePr>
          <p:nvPr/>
        </p:nvGraphicFramePr>
        <p:xfrm>
          <a:off x="7453089" y="836962"/>
          <a:ext cx="2357214" cy="18729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Sau khi nhập từ khóa và bấm tìm kiếm, kết quả tìm kiếm sẽ đc liệt kê.</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Nếu k0 có kết quả tìm kiếm thì hiển thị thông báo: </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검색결과가 없습니다</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k0 có kết quả tìm kiếm)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thì layer đóng lại và hiển thị giống như ở số 3</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giá trị nhập thành 3 dòng</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Địa chỉ tên đường</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[Mã lô] Địa chỉ mã lô</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Mã bưu chính</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API tìm địa chỉ</a:t>
                      </a:r>
                      <a:endParaRPr lang="en-US" altLang="ko-KR" sz="800" b="1"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i="1" u="sng" dirty="0">
                          <a:solidFill>
                            <a:srgbClr val="222222"/>
                          </a:solidFill>
                          <a:effectLst/>
                          <a:latin typeface="Times New Roman" panose="02020603050405020304" pitchFamily="18" charset="0"/>
                          <a:cs typeface="Times New Roman" panose="02020603050405020304" pitchFamily="18" charset="0"/>
                          <a:hlinkClick r:id="rId2"/>
                        </a:rPr>
                        <a:t>http://www.juso.go.kr/addrlink/devAddrLinkRequestGuide.do?menu=roadApi</a:t>
                      </a:r>
                      <a:endParaRPr lang="en-US" altLang="ko-KR" sz="800" b="1"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3"/>
                  </a:ext>
                </a:extLst>
              </a:tr>
            </a:tbl>
          </a:graphicData>
        </a:graphic>
      </p:graphicFrame>
      <p:graphicFrame>
        <p:nvGraphicFramePr>
          <p:cNvPr id="5" name="표 4"/>
          <p:cNvGraphicFramePr>
            <a:graphicFrameLocks noGrp="1"/>
          </p:cNvGraphicFramePr>
          <p:nvPr/>
        </p:nvGraphicFramePr>
        <p:xfrm>
          <a:off x="416496" y="836962"/>
          <a:ext cx="2585492" cy="282384"/>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1604701">
                  <a:extLst>
                    <a:ext uri="{9D8B030D-6E8A-4147-A177-3AD203B41FA5}">
                      <a16:colId xmlns:a16="http://schemas.microsoft.com/office/drawing/2014/main" val="20001"/>
                    </a:ext>
                  </a:extLst>
                </a:gridCol>
              </a:tblGrid>
              <a:tr h="28238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Địa</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chỉ</a:t>
                      </a:r>
                      <a:r>
                        <a:rPr lang="ko-KR" altLang="en-US"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69" name="직사각형 68"/>
          <p:cNvSpPr/>
          <p:nvPr/>
        </p:nvSpPr>
        <p:spPr>
          <a:xfrm>
            <a:off x="1489820" y="888056"/>
            <a:ext cx="654868" cy="180196"/>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địa chỉ</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6" name="그림 5"/>
          <p:cNvPicPr>
            <a:picLocks noChangeAspect="1"/>
          </p:cNvPicPr>
          <p:nvPr/>
        </p:nvPicPr>
        <p:blipFill>
          <a:blip r:embed="rId3" cstate="print"/>
          <a:stretch>
            <a:fillRect/>
          </a:stretch>
        </p:blipFill>
        <p:spPr>
          <a:xfrm>
            <a:off x="160353" y="1700808"/>
            <a:ext cx="3525166" cy="3379683"/>
          </a:xfrm>
          <a:prstGeom prst="rect">
            <a:avLst/>
          </a:prstGeom>
          <a:ln>
            <a:solidFill>
              <a:schemeClr val="bg1">
                <a:lumMod val="85000"/>
              </a:schemeClr>
            </a:solidFill>
          </a:ln>
        </p:spPr>
      </p:pic>
      <p:pic>
        <p:nvPicPr>
          <p:cNvPr id="71" name="그림 70"/>
          <p:cNvPicPr>
            <a:picLocks noChangeAspect="1"/>
          </p:cNvPicPr>
          <p:nvPr/>
        </p:nvPicPr>
        <p:blipFill>
          <a:blip r:embed="rId3" cstate="print"/>
          <a:stretch>
            <a:fillRect/>
          </a:stretch>
        </p:blipFill>
        <p:spPr>
          <a:xfrm>
            <a:off x="3826308" y="1700808"/>
            <a:ext cx="3525166" cy="3379683"/>
          </a:xfrm>
          <a:prstGeom prst="rect">
            <a:avLst/>
          </a:prstGeom>
          <a:ln>
            <a:solidFill>
              <a:schemeClr val="bg1">
                <a:lumMod val="85000"/>
              </a:schemeClr>
            </a:solidFill>
          </a:ln>
        </p:spPr>
      </p:pic>
      <p:sp>
        <p:nvSpPr>
          <p:cNvPr id="7" name="직사각형 6"/>
          <p:cNvSpPr/>
          <p:nvPr/>
        </p:nvSpPr>
        <p:spPr>
          <a:xfrm>
            <a:off x="301142" y="2780928"/>
            <a:ext cx="3233459" cy="2088232"/>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35584" y="2439663"/>
            <a:ext cx="3199017" cy="415498"/>
          </a:xfrm>
          <a:prstGeom prst="rect">
            <a:avLst/>
          </a:prstGeom>
          <a:solidFill>
            <a:schemeClr val="bg1"/>
          </a:solidFill>
        </p:spPr>
        <p:txBody>
          <a:bodyPr wrap="square" rtlCol="0">
            <a:spAutoFit/>
          </a:bodyPr>
          <a:lstStyle/>
          <a:p>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Để ra kết quả tìm kiếm chính xác, cần nhập tên đường, tên tòa nhà, mã lô đất giống như trong ví dụ.</a:t>
            </a:r>
          </a:p>
          <a:p>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VD: Tên đường (</a:t>
            </a:r>
            <a:r>
              <a:rPr kumimoji="1" lang="ko-KR" altLang="en-US" sz="700" smtClean="0">
                <a:latin typeface="Times New Roman" panose="02020603050405020304" pitchFamily="18" charset="0"/>
                <a:ea typeface="Nanum Gothic" panose="020D0604000000000000" pitchFamily="34" charset="-127"/>
                <a:cs typeface="Times New Roman" panose="02020603050405020304" pitchFamily="18" charset="0"/>
              </a:rPr>
              <a:t>반포대로 </a:t>
            </a:r>
            <a:r>
              <a:rPr kumimoji="1" lang="en-US" altLang="ko-KR" sz="700" smtClean="0">
                <a:latin typeface="Times New Roman" panose="02020603050405020304" pitchFamily="18" charset="0"/>
                <a:ea typeface="Nanum Gothic" panose="020D0604000000000000" pitchFamily="34" charset="-127"/>
                <a:cs typeface="Times New Roman" panose="02020603050405020304" pitchFamily="18" charset="0"/>
              </a:rPr>
              <a:t>58), </a:t>
            </a:r>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tên tòa nhà (</a:t>
            </a:r>
            <a:r>
              <a:rPr kumimoji="1" lang="ko-KR" altLang="en-US" sz="700" smtClean="0">
                <a:latin typeface="Times New Roman" panose="02020603050405020304" pitchFamily="18" charset="0"/>
                <a:ea typeface="Nanum Gothic" panose="020D0604000000000000" pitchFamily="34" charset="-127"/>
                <a:cs typeface="Times New Roman" panose="02020603050405020304" pitchFamily="18" charset="0"/>
              </a:rPr>
              <a:t>독립기념관</a:t>
            </a:r>
            <a:r>
              <a:rPr kumimoji="1" lang="en-US" altLang="ko-KR" sz="70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mã lô (</a:t>
            </a:r>
            <a:r>
              <a:rPr kumimoji="1" lang="ko-KR" altLang="en-US" sz="700" smtClean="0">
                <a:latin typeface="Times New Roman" panose="02020603050405020304" pitchFamily="18" charset="0"/>
                <a:ea typeface="Nanum Gothic" panose="020D0604000000000000" pitchFamily="34" charset="-127"/>
                <a:cs typeface="Times New Roman" panose="02020603050405020304" pitchFamily="18" charset="0"/>
              </a:rPr>
              <a:t>삼성동 </a:t>
            </a:r>
            <a:r>
              <a:rPr kumimoji="1" lang="en-US" altLang="ko-KR" sz="700" smtClean="0">
                <a:latin typeface="Times New Roman" panose="02020603050405020304" pitchFamily="18" charset="0"/>
                <a:ea typeface="Nanum Gothic" panose="020D0604000000000000" pitchFamily="34" charset="-127"/>
                <a:cs typeface="Times New Roman" panose="02020603050405020304" pitchFamily="18" charset="0"/>
              </a:rPr>
              <a:t>25)</a:t>
            </a:r>
            <a:endParaRPr kumimoji="1" lang="ko-KR" altLang="en-US" sz="7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TextBox 72"/>
          <p:cNvSpPr txBox="1"/>
          <p:nvPr/>
        </p:nvSpPr>
        <p:spPr>
          <a:xfrm>
            <a:off x="3999826" y="2348880"/>
            <a:ext cx="3138957" cy="415498"/>
          </a:xfrm>
          <a:prstGeom prst="rect">
            <a:avLst/>
          </a:prstGeom>
          <a:solidFill>
            <a:schemeClr val="bg1"/>
          </a:solidFill>
        </p:spPr>
        <p:txBody>
          <a:bodyPr wrap="square" rtlCol="0">
            <a:spAutoFit/>
          </a:bodyPr>
          <a:lstStyle/>
          <a:p>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Để ra kết quả tìm kiếm chính xác, cần nhập tên đường, tên tòa nhà, mã lô đất giống như trong ví dụ.</a:t>
            </a:r>
          </a:p>
          <a:p>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VD: Tên đường (</a:t>
            </a:r>
            <a:r>
              <a:rPr kumimoji="1" lang="ko-KR" altLang="en-US" sz="700" smtClean="0">
                <a:latin typeface="Times New Roman" panose="02020603050405020304" pitchFamily="18" charset="0"/>
                <a:ea typeface="Nanum Gothic" panose="020D0604000000000000" pitchFamily="34" charset="-127"/>
                <a:cs typeface="Times New Roman" panose="02020603050405020304" pitchFamily="18" charset="0"/>
              </a:rPr>
              <a:t>반포대로 </a:t>
            </a:r>
            <a:r>
              <a:rPr kumimoji="1" lang="en-US" altLang="ko-KR" sz="700" smtClean="0">
                <a:latin typeface="Times New Roman" panose="02020603050405020304" pitchFamily="18" charset="0"/>
                <a:ea typeface="Nanum Gothic" panose="020D0604000000000000" pitchFamily="34" charset="-127"/>
                <a:cs typeface="Times New Roman" panose="02020603050405020304" pitchFamily="18" charset="0"/>
              </a:rPr>
              <a:t>58), </a:t>
            </a:r>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tên tòa nhà (</a:t>
            </a:r>
            <a:r>
              <a:rPr kumimoji="1" lang="ko-KR" altLang="en-US" sz="700" smtClean="0">
                <a:latin typeface="Times New Roman" panose="02020603050405020304" pitchFamily="18" charset="0"/>
                <a:ea typeface="Nanum Gothic" panose="020D0604000000000000" pitchFamily="34" charset="-127"/>
                <a:cs typeface="Times New Roman" panose="02020603050405020304" pitchFamily="18" charset="0"/>
              </a:rPr>
              <a:t>독립기념관</a:t>
            </a:r>
            <a:r>
              <a:rPr kumimoji="1" lang="en-US" altLang="ko-KR" sz="70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vi-VN" altLang="ko-KR" sz="700" smtClean="0">
                <a:latin typeface="Times New Roman" panose="02020603050405020304" pitchFamily="18" charset="0"/>
                <a:ea typeface="Nanum Gothic" panose="020D0604000000000000" pitchFamily="34" charset="-127"/>
                <a:cs typeface="Times New Roman" panose="02020603050405020304" pitchFamily="18" charset="0"/>
              </a:rPr>
              <a:t>mã lô (</a:t>
            </a:r>
            <a:r>
              <a:rPr kumimoji="1" lang="ko-KR" altLang="en-US" sz="700" smtClean="0">
                <a:latin typeface="Times New Roman" panose="02020603050405020304" pitchFamily="18" charset="0"/>
                <a:ea typeface="Nanum Gothic" panose="020D0604000000000000" pitchFamily="34" charset="-127"/>
                <a:cs typeface="Times New Roman" panose="02020603050405020304" pitchFamily="18" charset="0"/>
              </a:rPr>
              <a:t>삼성동 </a:t>
            </a:r>
            <a:r>
              <a:rPr kumimoji="1" lang="en-US" altLang="ko-KR" sz="700" smtClean="0">
                <a:latin typeface="Times New Roman" panose="02020603050405020304" pitchFamily="18" charset="0"/>
                <a:ea typeface="Nanum Gothic" panose="020D0604000000000000" pitchFamily="34" charset="-127"/>
                <a:cs typeface="Times New Roman" panose="02020603050405020304" pitchFamily="18" charset="0"/>
              </a:rPr>
              <a:t>25)</a:t>
            </a:r>
            <a:endParaRPr kumimoji="1" lang="ko-KR" altLang="en-US" sz="7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4" name="직선 화살표 연결선 3"/>
          <p:cNvCxnSpPr>
            <a:endCxn id="6" idx="0"/>
          </p:cNvCxnSpPr>
          <p:nvPr/>
        </p:nvCxnSpPr>
        <p:spPr>
          <a:xfrm rot="16200000" flipH="1">
            <a:off x="1494400" y="1272272"/>
            <a:ext cx="643378" cy="213694"/>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직선 화살표 연결선 3"/>
          <p:cNvCxnSpPr>
            <a:endCxn id="89" idx="1"/>
          </p:cNvCxnSpPr>
          <p:nvPr/>
        </p:nvCxnSpPr>
        <p:spPr>
          <a:xfrm rot="16200000" flipH="1">
            <a:off x="2987217" y="2651570"/>
            <a:ext cx="1322312" cy="559100"/>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9" name="왼쪽 대괄호[L] 88"/>
          <p:cNvSpPr/>
          <p:nvPr/>
        </p:nvSpPr>
        <p:spPr>
          <a:xfrm>
            <a:off x="3927923" y="2747440"/>
            <a:ext cx="232989" cy="1689672"/>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anose="02020603050405020304" pitchFamily="18" charset="0"/>
              <a:cs typeface="Times New Roman" panose="02020603050405020304" pitchFamily="18" charset="0"/>
            </a:endParaRPr>
          </a:p>
        </p:txBody>
      </p:sp>
      <p:graphicFrame>
        <p:nvGraphicFramePr>
          <p:cNvPr id="91" name="표 90"/>
          <p:cNvGraphicFramePr>
            <a:graphicFrameLocks noGrp="1"/>
          </p:cNvGraphicFramePr>
          <p:nvPr/>
        </p:nvGraphicFramePr>
        <p:xfrm>
          <a:off x="276636" y="5250191"/>
          <a:ext cx="5985568" cy="987121"/>
        </p:xfrm>
        <a:graphic>
          <a:graphicData uri="http://schemas.openxmlformats.org/drawingml/2006/table">
            <a:tbl>
              <a:tblPr firstRow="1" bandRow="1">
                <a:tableStyleId>{5C22544A-7EE6-4342-B048-85BDC9FD1C3A}</a:tableStyleId>
              </a:tblPr>
              <a:tblGrid>
                <a:gridCol w="656976">
                  <a:extLst>
                    <a:ext uri="{9D8B030D-6E8A-4147-A177-3AD203B41FA5}">
                      <a16:colId xmlns:a16="http://schemas.microsoft.com/office/drawing/2014/main" val="20000"/>
                    </a:ext>
                  </a:extLst>
                </a:gridCol>
                <a:gridCol w="5328592">
                  <a:extLst>
                    <a:ext uri="{9D8B030D-6E8A-4147-A177-3AD203B41FA5}">
                      <a16:colId xmlns:a16="http://schemas.microsoft.com/office/drawing/2014/main" val="20001"/>
                    </a:ext>
                  </a:extLst>
                </a:gridCol>
              </a:tblGrid>
              <a:tr h="987121">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Địa</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chỉ</a:t>
                      </a:r>
                      <a:r>
                        <a:rPr lang="ko-KR" altLang="en-US"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92" name="직사각형 91"/>
          <p:cNvSpPr/>
          <p:nvPr/>
        </p:nvSpPr>
        <p:spPr>
          <a:xfrm>
            <a:off x="1084836" y="5342533"/>
            <a:ext cx="699811" cy="180196"/>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địa chỉ</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 name="직사각형 12"/>
          <p:cNvSpPr/>
          <p:nvPr/>
        </p:nvSpPr>
        <p:spPr>
          <a:xfrm>
            <a:off x="992560" y="5572401"/>
            <a:ext cx="4953000" cy="577081"/>
          </a:xfrm>
          <a:prstGeom prst="rect">
            <a:avLst/>
          </a:prstGeom>
        </p:spPr>
        <p:txBody>
          <a:bodyPr>
            <a:spAutoFit/>
          </a:bodyPr>
          <a:lstStyle/>
          <a:p>
            <a:r>
              <a:rPr lang="ko-KR" altLang="en-US" sz="1050" b="1" dirty="0">
                <a:solidFill>
                  <a:srgbClr val="333333"/>
                </a:solidFill>
                <a:latin typeface="Times New Roman" panose="02020603050405020304" pitchFamily="18" charset="0"/>
                <a:ea typeface="Apple SD Gothic Neo" panose="02000300000000000000" pitchFamily="2" charset="-127"/>
                <a:cs typeface="Times New Roman" panose="02020603050405020304" pitchFamily="18" charset="0"/>
              </a:rPr>
              <a:t>경기도 시흥시 시흥대로 </a:t>
            </a:r>
            <a:r>
              <a:rPr lang="en-US" altLang="ko-KR" sz="1050" b="1" dirty="0">
                <a:solidFill>
                  <a:srgbClr val="333333"/>
                </a:solidFill>
                <a:latin typeface="Times New Roman" panose="02020603050405020304" pitchFamily="18" charset="0"/>
                <a:ea typeface="Apple SD Gothic Neo" panose="02000300000000000000" pitchFamily="2" charset="-127"/>
                <a:cs typeface="Times New Roman" panose="02020603050405020304" pitchFamily="18" charset="0"/>
              </a:rPr>
              <a:t>1156-1 </a:t>
            </a:r>
          </a:p>
          <a:p>
            <a:r>
              <a:rPr lang="en-US" altLang="ko-KR" sz="1050" smtClean="0">
                <a:solidFill>
                  <a:srgbClr val="333333"/>
                </a:solidFill>
                <a:latin typeface="Times New Roman" panose="02020603050405020304" pitchFamily="18" charset="0"/>
                <a:ea typeface="Apple SD Gothic Neo" panose="02000300000000000000" pitchFamily="2" charset="-127"/>
                <a:cs typeface="Times New Roman" panose="02020603050405020304" pitchFamily="18" charset="0"/>
              </a:rPr>
              <a:t>[Mã lô] </a:t>
            </a:r>
            <a:r>
              <a:rPr lang="ko-KR" altLang="en-US" sz="1050" dirty="0">
                <a:solidFill>
                  <a:srgbClr val="333333"/>
                </a:solidFill>
                <a:latin typeface="Times New Roman" panose="02020603050405020304" pitchFamily="18" charset="0"/>
                <a:ea typeface="Apple SD Gothic Neo" panose="02000300000000000000" pitchFamily="2" charset="-127"/>
                <a:cs typeface="Times New Roman" panose="02020603050405020304" pitchFamily="18" charset="0"/>
              </a:rPr>
              <a:t>경기도 시흥시 신천동 </a:t>
            </a:r>
            <a:r>
              <a:rPr lang="en-US" altLang="ko-KR" sz="1050" dirty="0">
                <a:solidFill>
                  <a:srgbClr val="333333"/>
                </a:solidFill>
                <a:latin typeface="Times New Roman" panose="02020603050405020304" pitchFamily="18" charset="0"/>
                <a:ea typeface="Apple SD Gothic Neo" panose="02000300000000000000" pitchFamily="2" charset="-127"/>
                <a:cs typeface="Times New Roman" panose="02020603050405020304" pitchFamily="18" charset="0"/>
              </a:rPr>
              <a:t>1-14</a:t>
            </a:r>
          </a:p>
          <a:p>
            <a:r>
              <a:rPr lang="en-US" altLang="ko-KR" sz="1050" smtClean="0">
                <a:solidFill>
                  <a:srgbClr val="333333"/>
                </a:solidFill>
                <a:latin typeface="Times New Roman" panose="02020603050405020304" pitchFamily="18" charset="0"/>
                <a:ea typeface="Apple SD Gothic Neo" panose="02000300000000000000" pitchFamily="2" charset="-127"/>
                <a:cs typeface="Times New Roman" panose="02020603050405020304" pitchFamily="18" charset="0"/>
              </a:rPr>
              <a:t>[Mã bưu chính] </a:t>
            </a:r>
            <a:r>
              <a:rPr lang="en-US" altLang="ko-KR" sz="1050" dirty="0">
                <a:solidFill>
                  <a:srgbClr val="333333"/>
                </a:solidFill>
                <a:latin typeface="Times New Roman" panose="02020603050405020304" pitchFamily="18" charset="0"/>
                <a:ea typeface="Apple SD Gothic Neo" panose="02000300000000000000" pitchFamily="2" charset="-127"/>
                <a:cs typeface="Times New Roman" panose="02020603050405020304" pitchFamily="18" charset="0"/>
              </a:rPr>
              <a:t>00000</a:t>
            </a:r>
            <a:endParaRPr lang="ko-KR" altLang="en-US" sz="1050" dirty="0">
              <a:latin typeface="Times New Roman" panose="02020603050405020304" pitchFamily="18" charset="0"/>
              <a:cs typeface="Times New Roman" panose="02020603050405020304" pitchFamily="18" charset="0"/>
            </a:endParaRPr>
          </a:p>
        </p:txBody>
      </p:sp>
      <p:sp>
        <p:nvSpPr>
          <p:cNvPr id="93" name="타원 92"/>
          <p:cNvSpPr/>
          <p:nvPr/>
        </p:nvSpPr>
        <p:spPr>
          <a:xfrm>
            <a:off x="5647995" y="280826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95" name="타원 94"/>
          <p:cNvSpPr/>
          <p:nvPr/>
        </p:nvSpPr>
        <p:spPr>
          <a:xfrm>
            <a:off x="3283453" y="297954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96" name="직사각형 95"/>
          <p:cNvSpPr/>
          <p:nvPr/>
        </p:nvSpPr>
        <p:spPr>
          <a:xfrm>
            <a:off x="999183" y="5615070"/>
            <a:ext cx="2535418" cy="534412"/>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97" name="타원 96"/>
          <p:cNvSpPr/>
          <p:nvPr/>
        </p:nvSpPr>
        <p:spPr>
          <a:xfrm>
            <a:off x="888738" y="570263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pic>
        <p:nvPicPr>
          <p:cNvPr id="19" name="그림 18"/>
          <p:cNvPicPr>
            <a:picLocks noChangeAspect="1"/>
          </p:cNvPicPr>
          <p:nvPr/>
        </p:nvPicPr>
        <p:blipFill>
          <a:blip r:embed="rId4" cstate="print"/>
          <a:stretch>
            <a:fillRect/>
          </a:stretch>
        </p:blipFill>
        <p:spPr>
          <a:xfrm>
            <a:off x="4013292" y="2760064"/>
            <a:ext cx="3077283" cy="1999258"/>
          </a:xfrm>
          <a:prstGeom prst="rect">
            <a:avLst/>
          </a:prstGeom>
        </p:spPr>
      </p:pic>
      <p:sp>
        <p:nvSpPr>
          <p:cNvPr id="94" name="직사각형 93"/>
          <p:cNvSpPr/>
          <p:nvPr/>
        </p:nvSpPr>
        <p:spPr>
          <a:xfrm>
            <a:off x="4079096" y="3152573"/>
            <a:ext cx="3011479" cy="296172"/>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23" name="타원 94"/>
          <p:cNvSpPr/>
          <p:nvPr/>
        </p:nvSpPr>
        <p:spPr>
          <a:xfrm>
            <a:off x="7005042" y="306209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smtClean="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a:latin typeface="Times New Roman" panose="02020603050405020304" pitchFamily="18" charset="0"/>
                <a:ea typeface="Nanum Gothic" panose="020D0604000000000000" pitchFamily="34" charset="-127"/>
                <a:cs typeface="Times New Roman" panose="02020603050405020304" pitchFamily="18" charset="0"/>
              </a:rPr>
              <a:t>&gt;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Thông tin nhà cung cấp</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(chỉ người bán xem được)</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 name="직사각형 6"/>
          <p:cNvSpPr/>
          <p:nvPr/>
        </p:nvSpPr>
        <p:spPr>
          <a:xfrm>
            <a:off x="3051763" y="2042488"/>
            <a:ext cx="1805302" cy="215444"/>
          </a:xfrm>
          <a:prstGeom prst="rect">
            <a:avLst/>
          </a:prstGeom>
        </p:spPr>
        <p:txBody>
          <a:bodyPr wrap="non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Chỉ xem nhà cung cấp đang sử dụng</a:t>
            </a:r>
            <a:endParaRPr lang="ko-KR" altLang="en-US" sz="800" dirty="0">
              <a:latin typeface="Times New Roman" panose="02020603050405020304" pitchFamily="18" charset="0"/>
              <a:cs typeface="Times New Roman" panose="02020603050405020304" pitchFamily="18" charset="0"/>
            </a:endParaRPr>
          </a:p>
        </p:txBody>
      </p:sp>
      <p:sp>
        <p:nvSpPr>
          <p:cNvPr id="66" name="직사각형 65"/>
          <p:cNvSpPr/>
          <p:nvPr/>
        </p:nvSpPr>
        <p:spPr>
          <a:xfrm>
            <a:off x="4817904" y="2062046"/>
            <a:ext cx="1136485"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1 nhà cung cấp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1" name="직사각형 40"/>
          <p:cNvSpPr/>
          <p:nvPr/>
        </p:nvSpPr>
        <p:spPr>
          <a:xfrm>
            <a:off x="6014992" y="2062046"/>
            <a:ext cx="1395200"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nhiều nhà cung cấp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2" name="표 41"/>
          <p:cNvGraphicFramePr>
            <a:graphicFrameLocks noGrp="1"/>
          </p:cNvGraphicFramePr>
          <p:nvPr/>
        </p:nvGraphicFramePr>
        <p:xfrm>
          <a:off x="1352600" y="2363538"/>
          <a:ext cx="7346431" cy="789887"/>
        </p:xfrm>
        <a:graphic>
          <a:graphicData uri="http://schemas.openxmlformats.org/drawingml/2006/table">
            <a:tbl>
              <a:tblPr/>
              <a:tblGrid>
                <a:gridCol w="421874">
                  <a:extLst>
                    <a:ext uri="{9D8B030D-6E8A-4147-A177-3AD203B41FA5}">
                      <a16:colId xmlns:a16="http://schemas.microsoft.com/office/drawing/2014/main" val="20000"/>
                    </a:ext>
                  </a:extLst>
                </a:gridCol>
                <a:gridCol w="421874">
                  <a:extLst>
                    <a:ext uri="{9D8B030D-6E8A-4147-A177-3AD203B41FA5}">
                      <a16:colId xmlns:a16="http://schemas.microsoft.com/office/drawing/2014/main" val="20001"/>
                    </a:ext>
                  </a:extLst>
                </a:gridCol>
                <a:gridCol w="421874">
                  <a:extLst>
                    <a:ext uri="{9D8B030D-6E8A-4147-A177-3AD203B41FA5}">
                      <a16:colId xmlns:a16="http://schemas.microsoft.com/office/drawing/2014/main" val="20002"/>
                    </a:ext>
                  </a:extLst>
                </a:gridCol>
                <a:gridCol w="421874">
                  <a:extLst>
                    <a:ext uri="{9D8B030D-6E8A-4147-A177-3AD203B41FA5}">
                      <a16:colId xmlns:a16="http://schemas.microsoft.com/office/drawing/2014/main" val="20003"/>
                    </a:ext>
                  </a:extLst>
                </a:gridCol>
                <a:gridCol w="540979">
                  <a:extLst>
                    <a:ext uri="{9D8B030D-6E8A-4147-A177-3AD203B41FA5}">
                      <a16:colId xmlns:a16="http://schemas.microsoft.com/office/drawing/2014/main" val="20004"/>
                    </a:ext>
                  </a:extLst>
                </a:gridCol>
                <a:gridCol w="613367">
                  <a:extLst>
                    <a:ext uri="{9D8B030D-6E8A-4147-A177-3AD203B41FA5}">
                      <a16:colId xmlns:a16="http://schemas.microsoft.com/office/drawing/2014/main" val="20005"/>
                    </a:ext>
                  </a:extLst>
                </a:gridCol>
                <a:gridCol w="830566">
                  <a:extLst>
                    <a:ext uri="{9D8B030D-6E8A-4147-A177-3AD203B41FA5}">
                      <a16:colId xmlns:a16="http://schemas.microsoft.com/office/drawing/2014/main" val="20006"/>
                    </a:ext>
                  </a:extLst>
                </a:gridCol>
                <a:gridCol w="476609">
                  <a:extLst>
                    <a:ext uri="{9D8B030D-6E8A-4147-A177-3AD203B41FA5}">
                      <a16:colId xmlns:a16="http://schemas.microsoft.com/office/drawing/2014/main" val="20007"/>
                    </a:ext>
                  </a:extLst>
                </a:gridCol>
                <a:gridCol w="501554">
                  <a:extLst>
                    <a:ext uri="{9D8B030D-6E8A-4147-A177-3AD203B41FA5}">
                      <a16:colId xmlns:a16="http://schemas.microsoft.com/office/drawing/2014/main" val="20008"/>
                    </a:ext>
                  </a:extLst>
                </a:gridCol>
                <a:gridCol w="530019">
                  <a:extLst>
                    <a:ext uri="{9D8B030D-6E8A-4147-A177-3AD203B41FA5}">
                      <a16:colId xmlns:a16="http://schemas.microsoft.com/office/drawing/2014/main" val="20009"/>
                    </a:ext>
                  </a:extLst>
                </a:gridCol>
                <a:gridCol w="541460">
                  <a:extLst>
                    <a:ext uri="{9D8B030D-6E8A-4147-A177-3AD203B41FA5}">
                      <a16:colId xmlns:a16="http://schemas.microsoft.com/office/drawing/2014/main" val="20010"/>
                    </a:ext>
                  </a:extLst>
                </a:gridCol>
                <a:gridCol w="541460">
                  <a:extLst>
                    <a:ext uri="{9D8B030D-6E8A-4147-A177-3AD203B41FA5}">
                      <a16:colId xmlns:a16="http://schemas.microsoft.com/office/drawing/2014/main" val="20011"/>
                    </a:ext>
                  </a:extLst>
                </a:gridCol>
                <a:gridCol w="541461">
                  <a:extLst>
                    <a:ext uri="{9D8B030D-6E8A-4147-A177-3AD203B41FA5}">
                      <a16:colId xmlns:a16="http://schemas.microsoft.com/office/drawing/2014/main" val="20012"/>
                    </a:ext>
                  </a:extLst>
                </a:gridCol>
                <a:gridCol w="541460">
                  <a:extLst>
                    <a:ext uri="{9D8B030D-6E8A-4147-A177-3AD203B41FA5}">
                      <a16:colId xmlns:a16="http://schemas.microsoft.com/office/drawing/2014/main" val="20013"/>
                    </a:ext>
                  </a:extLst>
                </a:gridCol>
              </a:tblGrid>
              <a:tr h="228100">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lý</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NCC</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Sử</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dụng</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ID</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phụ trách</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điện thoại người PT</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Email người</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PT</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Đại</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diện PL</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ĐKDN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Ngành</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nghề</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Ngân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hàng</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TK</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Địa</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chỉ</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Điện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thoại bàn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541284">
                <a:tc gridSpan="14">
                  <a:txBody>
                    <a:bodyPr/>
                    <a:lstStyle/>
                    <a:p>
                      <a:pPr algn="ctr" fontAlgn="ctr"/>
                      <a:r>
                        <a:rPr lang="en-US" altLang="ko-KR" sz="800" b="0" i="0" u="none" strike="noStrike"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Vui lòng</a:t>
                      </a:r>
                      <a:r>
                        <a:rPr lang="en-US" altLang="ko-KR" sz="800" b="0" i="0" u="none" strike="noStrike" baseline="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nhập nhà cung cấp</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38"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0"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52"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54"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55"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56" name="직선 연결선 145"/>
              <p:cNvCxnSpPr>
                <a:stCxn id="5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7"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1"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직사각형 33"/>
          <p:cNvSpPr/>
          <p:nvPr/>
        </p:nvSpPr>
        <p:spPr>
          <a:xfrm>
            <a:off x="128464" y="16199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3" name="직사각형 34"/>
          <p:cNvSpPr/>
          <p:nvPr/>
        </p:nvSpPr>
        <p:spPr>
          <a:xfrm>
            <a:off x="128463" y="196319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36"/>
          <p:cNvSpPr/>
          <p:nvPr/>
        </p:nvSpPr>
        <p:spPr>
          <a:xfrm>
            <a:off x="128462" y="261706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38"/>
          <p:cNvSpPr/>
          <p:nvPr/>
        </p:nvSpPr>
        <p:spPr>
          <a:xfrm>
            <a:off x="128457" y="29191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37"/>
          <p:cNvSpPr/>
          <p:nvPr/>
        </p:nvSpPr>
        <p:spPr>
          <a:xfrm>
            <a:off x="128461" y="361132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39"/>
          <p:cNvSpPr/>
          <p:nvPr/>
        </p:nvSpPr>
        <p:spPr>
          <a:xfrm>
            <a:off x="128457" y="32591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35"/>
          <p:cNvSpPr/>
          <p:nvPr/>
        </p:nvSpPr>
        <p:spPr>
          <a:xfrm>
            <a:off x="128463" y="230236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TextBox 72"/>
          <p:cNvSpPr txBox="1"/>
          <p:nvPr/>
        </p:nvSpPr>
        <p:spPr>
          <a:xfrm>
            <a:off x="1191375" y="1085116"/>
            <a:ext cx="134203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TextBox 73"/>
          <p:cNvSpPr txBox="1"/>
          <p:nvPr/>
        </p:nvSpPr>
        <p:spPr>
          <a:xfrm>
            <a:off x="1191375" y="1313869"/>
            <a:ext cx="3345788" cy="215444"/>
          </a:xfrm>
          <a:prstGeom prst="rect">
            <a:avLst/>
          </a:prstGeom>
          <a:noFill/>
        </p:spPr>
        <p:txBody>
          <a:bodyPr wrap="none" rtlCol="0">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Có thể sửa và quản lý các thông tin như mật khẩu/số tài khoản/số điện thoại.</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39"/>
          <p:cNvSpPr/>
          <p:nvPr/>
        </p:nvSpPr>
        <p:spPr>
          <a:xfrm>
            <a:off x="1286861" y="1649660"/>
            <a:ext cx="136919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sử dụng T-Bridge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42"/>
          <p:cNvSpPr/>
          <p:nvPr/>
        </p:nvSpPr>
        <p:spPr>
          <a:xfrm>
            <a:off x="5275062" y="1651683"/>
            <a:ext cx="1435846"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nhà cung cấp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45"/>
          <p:cNvSpPr/>
          <p:nvPr/>
        </p:nvSpPr>
        <p:spPr>
          <a:xfrm>
            <a:off x="2658268" y="1643414"/>
            <a:ext cx="135862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người phụ trách</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46"/>
          <p:cNvSpPr/>
          <p:nvPr/>
        </p:nvSpPr>
        <p:spPr>
          <a:xfrm>
            <a:off x="4019276" y="1647606"/>
            <a:ext cx="1255664"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doanh nghiệp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9" name="Straight Connector 78"/>
          <p:cNvCxnSpPr/>
          <p:nvPr/>
        </p:nvCxnSpPr>
        <p:spPr>
          <a:xfrm>
            <a:off x="5270748" y="1856075"/>
            <a:ext cx="1440160"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직사각형 67"/>
          <p:cNvSpPr/>
          <p:nvPr/>
        </p:nvSpPr>
        <p:spPr>
          <a:xfrm>
            <a:off x="1267854" y="2042488"/>
            <a:ext cx="880369" cy="230832"/>
          </a:xfrm>
          <a:prstGeom prst="rect">
            <a:avLst/>
          </a:prstGeom>
        </p:spPr>
        <p:txBody>
          <a:bodyPr wrap="none">
            <a:spAutoFit/>
          </a:bodyPr>
          <a:lstStyle/>
          <a:p>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Tổng</a:t>
            </a:r>
            <a:r>
              <a:rPr lang="ko-KR" altLang="en-US" sz="9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a:latin typeface="Times New Roman" panose="02020603050405020304" pitchFamily="18" charset="0"/>
                <a:ea typeface="Nanum Gothic" panose="020D0604000000000000" pitchFamily="34" charset="-127"/>
                <a:cs typeface="Times New Roman" panose="02020603050405020304" pitchFamily="18" charset="0"/>
              </a:rPr>
              <a:t>0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kết quả</a:t>
            </a:r>
            <a:endParaRPr lang="ko-KR" altLang="en-US" sz="900" dirty="0">
              <a:latin typeface="Times New Roman" panose="02020603050405020304" pitchFamily="18" charset="0"/>
              <a:cs typeface="Times New Roman" panose="02020603050405020304" pitchFamily="18" charset="0"/>
            </a:endParaRPr>
          </a:p>
        </p:txBody>
      </p:sp>
      <p:sp>
        <p:nvSpPr>
          <p:cNvPr id="39" name="직사각형 82"/>
          <p:cNvSpPr/>
          <p:nvPr/>
        </p:nvSpPr>
        <p:spPr>
          <a:xfrm>
            <a:off x="2085391" y="2070550"/>
            <a:ext cx="556610" cy="17470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p>
            <a:r>
              <a:rPr lang="en-US" altLang="ko-KR"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50</a:t>
            </a:r>
            <a:r>
              <a:rPr lang="ko-KR" altLang="en-US"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Malgun Gothic" panose="020B0503020000020004" charset="-127"/>
                <a:cs typeface="Times New Roman" panose="02020603050405020304" pitchFamily="18" charset="0"/>
              </a:rPr>
              <a:t>▼</a:t>
            </a:r>
          </a:p>
        </p:txBody>
      </p:sp>
      <p:sp>
        <p:nvSpPr>
          <p:cNvPr id="43" name="직사각형 85"/>
          <p:cNvSpPr/>
          <p:nvPr/>
        </p:nvSpPr>
        <p:spPr>
          <a:xfrm>
            <a:off x="2092134" y="2242572"/>
            <a:ext cx="556610" cy="5575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p>
            <a:r>
              <a:rPr lang="en-US" altLang="ko-KR"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50</a:t>
            </a:r>
            <a:r>
              <a:rPr lang="ko-KR" altLang="en-US"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a:t>
            </a:r>
            <a:endParaRPr lang="en-US" altLang="ko-KR" sz="900"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p>
            <a:r>
              <a:rPr lang="en-US" altLang="ko-KR"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100</a:t>
            </a:r>
            <a:endParaRPr lang="en-US" altLang="ko-KR" sz="900"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p>
            <a:r>
              <a:rPr lang="en-US" altLang="ko-KR"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200</a:t>
            </a:r>
            <a:endParaRPr lang="en-US" altLang="ko-KR" sz="900"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a:p>
            <a:r>
              <a:rPr lang="en-US" altLang="ko-KR"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300</a:t>
            </a:r>
            <a:endParaRPr lang="ko-KR" altLang="en-US" sz="900" dirty="0">
              <a:solidFill>
                <a:schemeClr val="tx1"/>
              </a:solidFill>
              <a:latin typeface="Times New Roman" panose="02020603050405020304" pitchFamily="18" charset="0"/>
              <a:ea typeface="Malgun Gothic" panose="020B0503020000020004" charset="-127"/>
              <a:cs typeface="Times New Roman" panose="02020603050405020304" pitchFamily="18" charset="0"/>
            </a:endParaRPr>
          </a:p>
        </p:txBody>
      </p:sp>
      <p:sp>
        <p:nvSpPr>
          <p:cNvPr id="44" name="타원 86"/>
          <p:cNvSpPr/>
          <p:nvPr/>
        </p:nvSpPr>
        <p:spPr>
          <a:xfrm>
            <a:off x="1143319" y="207549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45" name="표 70"/>
          <p:cNvGraphicFramePr>
            <a:graphicFrameLocks noGrp="1"/>
          </p:cNvGraphicFramePr>
          <p:nvPr/>
        </p:nvGraphicFramePr>
        <p:xfrm>
          <a:off x="1700986" y="4198014"/>
          <a:ext cx="7992886" cy="789887"/>
        </p:xfrm>
        <a:graphic>
          <a:graphicData uri="http://schemas.openxmlformats.org/drawingml/2006/table">
            <a:tbl>
              <a:tblPr/>
              <a:tblGrid>
                <a:gridCol w="451674">
                  <a:extLst>
                    <a:ext uri="{9D8B030D-6E8A-4147-A177-3AD203B41FA5}">
                      <a16:colId xmlns:a16="http://schemas.microsoft.com/office/drawing/2014/main" val="20000"/>
                    </a:ext>
                  </a:extLst>
                </a:gridCol>
                <a:gridCol w="451674">
                  <a:extLst>
                    <a:ext uri="{9D8B030D-6E8A-4147-A177-3AD203B41FA5}">
                      <a16:colId xmlns:a16="http://schemas.microsoft.com/office/drawing/2014/main" val="20001"/>
                    </a:ext>
                  </a:extLst>
                </a:gridCol>
                <a:gridCol w="451674">
                  <a:extLst>
                    <a:ext uri="{9D8B030D-6E8A-4147-A177-3AD203B41FA5}">
                      <a16:colId xmlns:a16="http://schemas.microsoft.com/office/drawing/2014/main" val="20002"/>
                    </a:ext>
                  </a:extLst>
                </a:gridCol>
                <a:gridCol w="445178">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648072">
                  <a:extLst>
                    <a:ext uri="{9D8B030D-6E8A-4147-A177-3AD203B41FA5}">
                      <a16:colId xmlns:a16="http://schemas.microsoft.com/office/drawing/2014/main" val="20005"/>
                    </a:ext>
                  </a:extLst>
                </a:gridCol>
                <a:gridCol w="648072">
                  <a:extLst>
                    <a:ext uri="{9D8B030D-6E8A-4147-A177-3AD203B41FA5}">
                      <a16:colId xmlns:a16="http://schemas.microsoft.com/office/drawing/2014/main" val="20006"/>
                    </a:ext>
                  </a:extLst>
                </a:gridCol>
                <a:gridCol w="648072">
                  <a:extLst>
                    <a:ext uri="{9D8B030D-6E8A-4147-A177-3AD203B41FA5}">
                      <a16:colId xmlns:a16="http://schemas.microsoft.com/office/drawing/2014/main" val="20007"/>
                    </a:ext>
                  </a:extLst>
                </a:gridCol>
                <a:gridCol w="858124">
                  <a:extLst>
                    <a:ext uri="{9D8B030D-6E8A-4147-A177-3AD203B41FA5}">
                      <a16:colId xmlns:a16="http://schemas.microsoft.com/office/drawing/2014/main" val="20008"/>
                    </a:ext>
                  </a:extLst>
                </a:gridCol>
                <a:gridCol w="567458">
                  <a:extLst>
                    <a:ext uri="{9D8B030D-6E8A-4147-A177-3AD203B41FA5}">
                      <a16:colId xmlns:a16="http://schemas.microsoft.com/office/drawing/2014/main" val="20009"/>
                    </a:ext>
                  </a:extLst>
                </a:gridCol>
                <a:gridCol w="579708">
                  <a:extLst>
                    <a:ext uri="{9D8B030D-6E8A-4147-A177-3AD203B41FA5}">
                      <a16:colId xmlns:a16="http://schemas.microsoft.com/office/drawing/2014/main" val="20010"/>
                    </a:ext>
                  </a:extLst>
                </a:gridCol>
                <a:gridCol w="579708">
                  <a:extLst>
                    <a:ext uri="{9D8B030D-6E8A-4147-A177-3AD203B41FA5}">
                      <a16:colId xmlns:a16="http://schemas.microsoft.com/office/drawing/2014/main" val="20011"/>
                    </a:ext>
                  </a:extLst>
                </a:gridCol>
                <a:gridCol w="579708">
                  <a:extLst>
                    <a:ext uri="{9D8B030D-6E8A-4147-A177-3AD203B41FA5}">
                      <a16:colId xmlns:a16="http://schemas.microsoft.com/office/drawing/2014/main" val="20012"/>
                    </a:ext>
                  </a:extLst>
                </a:gridCol>
                <a:gridCol w="579708">
                  <a:extLst>
                    <a:ext uri="{9D8B030D-6E8A-4147-A177-3AD203B41FA5}">
                      <a16:colId xmlns:a16="http://schemas.microsoft.com/office/drawing/2014/main" val="20013"/>
                    </a:ext>
                  </a:extLst>
                </a:gridCol>
              </a:tblGrid>
              <a:tr h="228100">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lý</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NCC</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Sử</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dụng</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ID</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phụ trách</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điện thoại người PT</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Email người</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PT</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Đại</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diện PL</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ĐKDN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Ngành</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nghề</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Ngân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hàng</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TK</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Địa</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chỉ</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Điện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thoại bàn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70642">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문경산업</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moon1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사용</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김문경</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moo1@naver.com</a:t>
                      </a: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ko-KR" altLang="en-US" sz="800" b="0" i="0" u="sng" strike="noStrike" dirty="0" err="1">
                          <a:solidFill>
                            <a:srgbClr val="000000"/>
                          </a:solidFill>
                          <a:effectLst/>
                          <a:latin typeface="Nanum Gothic" panose="020D0604000000000000" pitchFamily="34" charset="-127"/>
                          <a:ea typeface="Nanum Gothic" panose="020D0604000000000000" pitchFamily="34" charset="-127"/>
                        </a:rPr>
                        <a:t>김문경</a:t>
                      </a: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030-</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업종</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업태</a:t>
                      </a: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우리</a:t>
                      </a: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123-</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서울 동대문구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02-000-000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0642">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6" name="직사각형 72"/>
          <p:cNvSpPr/>
          <p:nvPr/>
        </p:nvSpPr>
        <p:spPr>
          <a:xfrm>
            <a:off x="1781508" y="4476328"/>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Sửa</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7" name="직사각형 73"/>
          <p:cNvSpPr/>
          <p:nvPr/>
        </p:nvSpPr>
        <p:spPr>
          <a:xfrm>
            <a:off x="1783792" y="4737828"/>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Sửa</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48" name="그림 74"/>
          <p:cNvPicPr>
            <a:picLocks noChangeAspect="1"/>
          </p:cNvPicPr>
          <p:nvPr/>
        </p:nvPicPr>
        <p:blipFill>
          <a:blip r:embed="rId2" cstate="print"/>
          <a:stretch>
            <a:fillRect/>
          </a:stretch>
        </p:blipFill>
        <p:spPr>
          <a:xfrm>
            <a:off x="4107282" y="5327372"/>
            <a:ext cx="3000375" cy="301408"/>
          </a:xfrm>
          <a:prstGeom prst="rect">
            <a:avLst/>
          </a:prstGeom>
        </p:spPr>
      </p:pic>
      <p:cxnSp>
        <p:nvCxnSpPr>
          <p:cNvPr id="51" name="직선 화살표 연결선 4"/>
          <p:cNvCxnSpPr/>
          <p:nvPr/>
        </p:nvCxnSpPr>
        <p:spPr>
          <a:xfrm>
            <a:off x="5025008" y="3287161"/>
            <a:ext cx="0" cy="449469"/>
          </a:xfrm>
          <a:prstGeom prst="straightConnector1">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직사각형 80"/>
          <p:cNvSpPr/>
          <p:nvPr/>
        </p:nvSpPr>
        <p:spPr>
          <a:xfrm>
            <a:off x="2936776" y="3466110"/>
            <a:ext cx="2127505" cy="215444"/>
          </a:xfrm>
          <a:prstGeom prst="rect">
            <a:avLst/>
          </a:prstGeom>
        </p:spPr>
        <p:txBody>
          <a:bodyPr wrap="none">
            <a:spAutoFit/>
          </a:bodyPr>
          <a:lstStyle/>
          <a:p>
            <a:r>
              <a:rPr lang="en-US" altLang="ko-KR" sz="800" i="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Khi có giá trị đc thêm thì hiển thị như bên dưới</a:t>
            </a:r>
            <a:endParaRPr lang="ko-KR" altLang="en-US" sz="800" i="1" dirty="0">
              <a:solidFill>
                <a:srgbClr val="C00000"/>
              </a:solidFill>
              <a:latin typeface="Times New Roman" panose="02020603050405020304" pitchFamily="18" charset="0"/>
              <a:cs typeface="Times New Roman" panose="02020603050405020304" pitchFamily="18" charset="0"/>
            </a:endParaRPr>
          </a:p>
        </p:txBody>
      </p:sp>
      <p:sp>
        <p:nvSpPr>
          <p:cNvPr id="72" name="직사각형 83"/>
          <p:cNvSpPr/>
          <p:nvPr/>
        </p:nvSpPr>
        <p:spPr>
          <a:xfrm>
            <a:off x="1665330" y="3938638"/>
            <a:ext cx="995785" cy="230832"/>
          </a:xfrm>
          <a:prstGeom prst="rect">
            <a:avLst/>
          </a:prstGeom>
        </p:spPr>
        <p:txBody>
          <a:bodyPr wrap="none">
            <a:spAutoFit/>
          </a:bodyPr>
          <a:lstStyle/>
          <a:p>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Tổng</a:t>
            </a:r>
            <a:r>
              <a:rPr lang="ko-KR" altLang="en-US" sz="9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a:latin typeface="Times New Roman" panose="02020603050405020304" pitchFamily="18" charset="0"/>
                <a:ea typeface="Nanum Gothic" panose="020D0604000000000000" pitchFamily="34" charset="-127"/>
                <a:cs typeface="Times New Roman" panose="02020603050405020304" pitchFamily="18" charset="0"/>
              </a:rPr>
              <a:t>100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kết quả</a:t>
            </a:r>
            <a:endParaRPr lang="ko-KR" altLang="en-US" sz="900" dirty="0">
              <a:latin typeface="Times New Roman" panose="02020603050405020304" pitchFamily="18" charset="0"/>
              <a:cs typeface="Times New Roman" panose="02020603050405020304" pitchFamily="18" charset="0"/>
            </a:endParaRPr>
          </a:p>
        </p:txBody>
      </p:sp>
      <p:sp>
        <p:nvSpPr>
          <p:cNvPr id="80" name="직사각형 84"/>
          <p:cNvSpPr/>
          <p:nvPr/>
        </p:nvSpPr>
        <p:spPr>
          <a:xfrm>
            <a:off x="2590857" y="3966700"/>
            <a:ext cx="556610" cy="17470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p>
            <a:r>
              <a:rPr lang="en-US" altLang="ko-KR"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50</a:t>
            </a:r>
            <a:r>
              <a:rPr lang="ko-KR" altLang="en-US"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Malgun Gothic" panose="020B0503020000020004" charset="-127"/>
                <a:cs typeface="Times New Roman" panose="02020603050405020304" pitchFamily="18" charset="0"/>
              </a:rPr>
              <a:t>▼</a:t>
            </a:r>
          </a:p>
        </p:txBody>
      </p:sp>
      <p:sp>
        <p:nvSpPr>
          <p:cNvPr id="81" name="왼쪽 대괄호[L] 90"/>
          <p:cNvSpPr/>
          <p:nvPr/>
        </p:nvSpPr>
        <p:spPr>
          <a:xfrm>
            <a:off x="1584491" y="4482536"/>
            <a:ext cx="232989" cy="513406"/>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anose="02020603050405020304" pitchFamily="18" charset="0"/>
              <a:cs typeface="Times New Roman" panose="02020603050405020304" pitchFamily="18" charset="0"/>
            </a:endParaRPr>
          </a:p>
        </p:txBody>
      </p:sp>
      <p:sp>
        <p:nvSpPr>
          <p:cNvPr id="82" name="타원 91"/>
          <p:cNvSpPr/>
          <p:nvPr/>
        </p:nvSpPr>
        <p:spPr>
          <a:xfrm>
            <a:off x="1446414" y="463939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5</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3" name="타원 92"/>
          <p:cNvSpPr/>
          <p:nvPr/>
        </p:nvSpPr>
        <p:spPr>
          <a:xfrm>
            <a:off x="2014460" y="481127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6</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85" name="표 69"/>
          <p:cNvGraphicFramePr>
            <a:graphicFrameLocks noGrp="1"/>
          </p:cNvGraphicFramePr>
          <p:nvPr/>
        </p:nvGraphicFramePr>
        <p:xfrm>
          <a:off x="7453089" y="836962"/>
          <a:ext cx="2357214" cy="128544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tổng số kết quả</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Có thể chỉnh số kết quả hiển thị trên 1 trang (mặc định: 50)</a:t>
                      </a:r>
                      <a:endParaRPr lang="en-US" altLang="ko-KR" sz="7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check thì chỉ hiển thị NCC ở trạng thái “Sử dụng”</a:t>
                      </a:r>
                      <a:endParaRPr lang="en-US" altLang="ko-KR" sz="7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layer thêm 1 NCC (tham khảo trang sau)</a:t>
                      </a:r>
                      <a:endParaRPr lang="en-US" altLang="ko-KR" sz="7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layer thêm nhiều NCC (tham khảo trang sau)</a:t>
                      </a:r>
                      <a:endParaRPr lang="en-US" altLang="ko-KR" sz="7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Liệt kê kết quả đã thêm</a:t>
                      </a:r>
                      <a:endParaRPr lang="en-US" altLang="ko-KR" sz="7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7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hiển thị layer thêm 1 NCC</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7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Trên layer hiển thị giá trị đã nhập và có thể sửa đc</a:t>
                      </a:r>
                      <a:endParaRPr lang="en-US" altLang="ko-KR" sz="7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86" name="타원 87"/>
          <p:cNvSpPr/>
          <p:nvPr/>
        </p:nvSpPr>
        <p:spPr>
          <a:xfrm>
            <a:off x="2940968" y="205765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7" name="타원 88"/>
          <p:cNvSpPr/>
          <p:nvPr/>
        </p:nvSpPr>
        <p:spPr>
          <a:xfrm>
            <a:off x="5271217" y="191605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8" name="타원 89"/>
          <p:cNvSpPr/>
          <p:nvPr/>
        </p:nvSpPr>
        <p:spPr>
          <a:xfrm>
            <a:off x="6535464" y="191263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89" name="직사각형 6"/>
          <p:cNvSpPr/>
          <p:nvPr/>
        </p:nvSpPr>
        <p:spPr>
          <a:xfrm>
            <a:off x="3943898" y="3898035"/>
            <a:ext cx="1805302" cy="215444"/>
          </a:xfrm>
          <a:prstGeom prst="rect">
            <a:avLst/>
          </a:prstGeom>
        </p:spPr>
        <p:txBody>
          <a:bodyPr wrap="non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Chỉ xem nhà cung cấp đang sử dụng</a:t>
            </a:r>
            <a:endParaRPr lang="ko-KR" altLang="en-US" sz="800" dirty="0">
              <a:latin typeface="Times New Roman" panose="02020603050405020304" pitchFamily="18" charset="0"/>
              <a:cs typeface="Times New Roman" panose="02020603050405020304" pitchFamily="18" charset="0"/>
            </a:endParaRPr>
          </a:p>
        </p:txBody>
      </p:sp>
      <p:sp>
        <p:nvSpPr>
          <p:cNvPr id="90" name="직사각형 65"/>
          <p:cNvSpPr/>
          <p:nvPr/>
        </p:nvSpPr>
        <p:spPr>
          <a:xfrm>
            <a:off x="5710039" y="3917593"/>
            <a:ext cx="1136485"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1 nhà cung cấp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직사각형 40"/>
          <p:cNvSpPr/>
          <p:nvPr/>
        </p:nvSpPr>
        <p:spPr>
          <a:xfrm>
            <a:off x="6907127" y="3917593"/>
            <a:ext cx="1395200"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nhiều nhà cung cấp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Layer thêm 1 NCC</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4" name="직사각형 53"/>
          <p:cNvSpPr/>
          <p:nvPr/>
        </p:nvSpPr>
        <p:spPr>
          <a:xfrm>
            <a:off x="302720" y="1124744"/>
            <a:ext cx="5965130" cy="56148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en-US" altLang="ko-KR" sz="11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 1 NCC</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54"/>
          <p:cNvSpPr/>
          <p:nvPr/>
        </p:nvSpPr>
        <p:spPr>
          <a:xfrm>
            <a:off x="2977456" y="6508748"/>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TextBox 57"/>
          <p:cNvSpPr txBox="1"/>
          <p:nvPr/>
        </p:nvSpPr>
        <p:spPr>
          <a:xfrm>
            <a:off x="5953423" y="1155408"/>
            <a:ext cx="295274" cy="276999"/>
          </a:xfrm>
          <a:prstGeom prst="rect">
            <a:avLst/>
          </a:prstGeom>
          <a:noFill/>
        </p:spPr>
        <p:txBody>
          <a:bodyPr wrap="none" rtlCol="0">
            <a:spAutoFit/>
          </a:bodyPr>
          <a:lstStyle/>
          <a:p>
            <a:r>
              <a:rPr lang="en-US" altLang="ko-KR" sz="1200" b="1" dirty="0">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59" name="표 58"/>
          <p:cNvGraphicFramePr>
            <a:graphicFrameLocks noGrp="1"/>
          </p:cNvGraphicFramePr>
          <p:nvPr/>
        </p:nvGraphicFramePr>
        <p:xfrm>
          <a:off x="504233" y="1479632"/>
          <a:ext cx="5560741" cy="1277685"/>
        </p:xfrm>
        <a:graphic>
          <a:graphicData uri="http://schemas.openxmlformats.org/drawingml/2006/table">
            <a:tbl>
              <a:tblPr firstRow="1" bandRow="1">
                <a:tableStyleId>{5C22544A-7EE6-4342-B048-85BDC9FD1C3A}</a:tableStyleId>
              </a:tblPr>
              <a:tblGrid>
                <a:gridCol w="848367">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662974">
                  <a:extLst>
                    <a:ext uri="{9D8B030D-6E8A-4147-A177-3AD203B41FA5}">
                      <a16:colId xmlns:a16="http://schemas.microsoft.com/office/drawing/2014/main" val="20002"/>
                    </a:ext>
                  </a:extLst>
                </a:gridCol>
                <a:gridCol w="2033176">
                  <a:extLst>
                    <a:ext uri="{9D8B030D-6E8A-4147-A177-3AD203B41FA5}">
                      <a16:colId xmlns:a16="http://schemas.microsoft.com/office/drawing/2014/main" val="20003"/>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ID</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u="none"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en-US" altLang="ko-KR" sz="800" b="1" u="none"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PW</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u="none"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en-US" altLang="ko-KR" sz="800" b="1" u="none"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Nhập</a:t>
                      </a:r>
                      <a:r>
                        <a:rPr lang="en-US" altLang="ko-KR" sz="800" b="1" u="none"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lại PW</a:t>
                      </a:r>
                      <a:endParaRPr lang="ko-KR" altLang="en-US" sz="800" b="1"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phụ trách</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55537">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9525" indent="0" algn="l"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55537">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Email</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9525" indent="0" algn="l"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bl>
          </a:graphicData>
        </a:graphic>
      </p:graphicFrame>
      <p:sp>
        <p:nvSpPr>
          <p:cNvPr id="60" name="직사각형 59"/>
          <p:cNvSpPr/>
          <p:nvPr/>
        </p:nvSpPr>
        <p:spPr>
          <a:xfrm>
            <a:off x="1441221" y="2017618"/>
            <a:ext cx="1855619" cy="1858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1" name="직사각형 60"/>
          <p:cNvSpPr/>
          <p:nvPr/>
        </p:nvSpPr>
        <p:spPr>
          <a:xfrm>
            <a:off x="1439209" y="2556464"/>
            <a:ext cx="1777248" cy="1858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63"/>
          <p:cNvSpPr/>
          <p:nvPr/>
        </p:nvSpPr>
        <p:spPr>
          <a:xfrm>
            <a:off x="1448292" y="1507207"/>
            <a:ext cx="1037128" cy="1858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66"/>
          <p:cNvSpPr/>
          <p:nvPr/>
        </p:nvSpPr>
        <p:spPr>
          <a:xfrm>
            <a:off x="2533550" y="1508312"/>
            <a:ext cx="772865" cy="184745"/>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Kiểm tra trùng</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68"/>
          <p:cNvSpPr/>
          <p:nvPr/>
        </p:nvSpPr>
        <p:spPr>
          <a:xfrm>
            <a:off x="1439206" y="1760522"/>
            <a:ext cx="1855619" cy="1858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69"/>
          <p:cNvSpPr/>
          <p:nvPr/>
        </p:nvSpPr>
        <p:spPr>
          <a:xfrm>
            <a:off x="1448292" y="2287987"/>
            <a:ext cx="1777248" cy="1858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2" name="직사각형 51"/>
          <p:cNvSpPr/>
          <p:nvPr/>
        </p:nvSpPr>
        <p:spPr>
          <a:xfrm>
            <a:off x="4141343" y="1760522"/>
            <a:ext cx="1855619" cy="1858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56" name="표 55"/>
          <p:cNvGraphicFramePr>
            <a:graphicFrameLocks noGrp="1"/>
          </p:cNvGraphicFramePr>
          <p:nvPr/>
        </p:nvGraphicFramePr>
        <p:xfrm>
          <a:off x="491623" y="2839394"/>
          <a:ext cx="5571736" cy="1754577"/>
        </p:xfrm>
        <a:graphic>
          <a:graphicData uri="http://schemas.openxmlformats.org/drawingml/2006/table">
            <a:tbl>
              <a:tblPr firstRow="1" bandRow="1">
                <a:tableStyleId>{5C22544A-7EE6-4342-B048-85BDC9FD1C3A}</a:tableStyleId>
              </a:tblPr>
              <a:tblGrid>
                <a:gridCol w="860977">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1470399">
                  <a:extLst>
                    <a:ext uri="{9D8B030D-6E8A-4147-A177-3AD203B41FA5}">
                      <a16:colId xmlns:a16="http://schemas.microsoft.com/office/drawing/2014/main" val="20003"/>
                    </a:ext>
                  </a:extLst>
                </a:gridCol>
              </a:tblGrid>
              <a:tr h="245944">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cty</a:t>
                      </a:r>
                      <a:r>
                        <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4129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Đại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diện PL</a:t>
                      </a:r>
                      <a:r>
                        <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3943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ĐKDN</a:t>
                      </a:r>
                      <a:r>
                        <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Giấy</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ĐKDN</a:t>
                      </a:r>
                      <a:endPar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3943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nghề</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thái</a:t>
                      </a:r>
                      <a:r>
                        <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5305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TK</a:t>
                      </a:r>
                      <a:r>
                        <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39577">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Bản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sao sổ TK</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57" name="직사각형 56"/>
          <p:cNvSpPr/>
          <p:nvPr/>
        </p:nvSpPr>
        <p:spPr>
          <a:xfrm>
            <a:off x="1476509" y="3128008"/>
            <a:ext cx="2891464" cy="16154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티브리지</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직사각형 73"/>
          <p:cNvSpPr/>
          <p:nvPr/>
        </p:nvSpPr>
        <p:spPr>
          <a:xfrm>
            <a:off x="1476509" y="2899775"/>
            <a:ext cx="2891464" cy="16154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홍길동</a:t>
            </a:r>
          </a:p>
        </p:txBody>
      </p:sp>
      <p:sp>
        <p:nvSpPr>
          <p:cNvPr id="75" name="직사각형 74"/>
          <p:cNvSpPr/>
          <p:nvPr/>
        </p:nvSpPr>
        <p:spPr>
          <a:xfrm>
            <a:off x="1469344" y="3631491"/>
            <a:ext cx="1248648" cy="16154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Du lịch</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1454714" y="3927219"/>
            <a:ext cx="1328739" cy="16983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Woori bank</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78" name="직사각형 77"/>
          <p:cNvSpPr/>
          <p:nvPr/>
        </p:nvSpPr>
        <p:spPr>
          <a:xfrm>
            <a:off x="1461879" y="4143944"/>
            <a:ext cx="2891464" cy="16154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123</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456</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6634</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직사각형 78"/>
          <p:cNvSpPr/>
          <p:nvPr/>
        </p:nvSpPr>
        <p:spPr>
          <a:xfrm>
            <a:off x="4403061" y="4141203"/>
            <a:ext cx="792088" cy="164289"/>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số tk</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81" name="표 80"/>
          <p:cNvGraphicFramePr>
            <a:graphicFrameLocks noGrp="1"/>
          </p:cNvGraphicFramePr>
          <p:nvPr/>
        </p:nvGraphicFramePr>
        <p:xfrm>
          <a:off x="489241" y="4664347"/>
          <a:ext cx="5574119" cy="1780532"/>
        </p:xfrm>
        <a:graphic>
          <a:graphicData uri="http://schemas.openxmlformats.org/drawingml/2006/table">
            <a:tbl>
              <a:tblPr firstRow="1" bandRow="1">
                <a:tableStyleId>{5C22544A-7EE6-4342-B048-85BDC9FD1C3A}</a:tableStyleId>
              </a:tblPr>
              <a:tblGrid>
                <a:gridCol w="863359">
                  <a:extLst>
                    <a:ext uri="{9D8B030D-6E8A-4147-A177-3AD203B41FA5}">
                      <a16:colId xmlns:a16="http://schemas.microsoft.com/office/drawing/2014/main" val="20000"/>
                    </a:ext>
                  </a:extLst>
                </a:gridCol>
                <a:gridCol w="1902448">
                  <a:extLst>
                    <a:ext uri="{9D8B030D-6E8A-4147-A177-3AD203B41FA5}">
                      <a16:colId xmlns:a16="http://schemas.microsoft.com/office/drawing/2014/main" val="20001"/>
                    </a:ext>
                  </a:extLst>
                </a:gridCol>
                <a:gridCol w="905864">
                  <a:extLst>
                    <a:ext uri="{9D8B030D-6E8A-4147-A177-3AD203B41FA5}">
                      <a16:colId xmlns:a16="http://schemas.microsoft.com/office/drawing/2014/main" val="20002"/>
                    </a:ext>
                  </a:extLst>
                </a:gridCol>
                <a:gridCol w="1902448">
                  <a:extLst>
                    <a:ext uri="{9D8B030D-6E8A-4147-A177-3AD203B41FA5}">
                      <a16:colId xmlns:a16="http://schemas.microsoft.com/office/drawing/2014/main" val="20003"/>
                    </a:ext>
                  </a:extLst>
                </a:gridCol>
              </a:tblGrid>
              <a:tr h="228553">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Địa</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chỉ</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8553">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 làm việc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28553">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nghỉ</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28553">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 bàn</a:t>
                      </a:r>
                      <a:r>
                        <a:rPr lang="ko-KR" altLang="en-US" sz="9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di động</a:t>
                      </a:r>
                      <a:endParaRPr lang="en-US" altLang="ko-KR"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3786">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 tư vấn mua hàng</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 tư vấn hủy</a:t>
                      </a:r>
                      <a:endParaRPr lang="en-US" altLang="ko-KR"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28553">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Chỗ</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đậu xe</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Không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thể đậu xe</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Có</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thể đậu xe</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Phí</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gửi xe</a:t>
                      </a:r>
                      <a:endParaRPr lang="en-US" altLang="ko-KR"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87" name="직사각형 86"/>
          <p:cNvSpPr/>
          <p:nvPr/>
        </p:nvSpPr>
        <p:spPr>
          <a:xfrm>
            <a:off x="1433662" y="5558838"/>
            <a:ext cx="1781305" cy="14994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02-000-0000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직사각형 87"/>
          <p:cNvSpPr/>
          <p:nvPr/>
        </p:nvSpPr>
        <p:spPr>
          <a:xfrm>
            <a:off x="1462922" y="4709116"/>
            <a:ext cx="2302030" cy="14994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88"/>
          <p:cNvSpPr/>
          <p:nvPr/>
        </p:nvSpPr>
        <p:spPr>
          <a:xfrm>
            <a:off x="3818207" y="4702692"/>
            <a:ext cx="654966" cy="1458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Tìm địa chỉ</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89"/>
          <p:cNvSpPr/>
          <p:nvPr/>
        </p:nvSpPr>
        <p:spPr>
          <a:xfrm>
            <a:off x="4244901" y="6254103"/>
            <a:ext cx="935485" cy="14770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직사각형 90"/>
          <p:cNvSpPr/>
          <p:nvPr/>
        </p:nvSpPr>
        <p:spPr>
          <a:xfrm>
            <a:off x="4266846" y="5566153"/>
            <a:ext cx="1781305" cy="14994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010-0000-0000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직사각형 91"/>
          <p:cNvSpPr/>
          <p:nvPr/>
        </p:nvSpPr>
        <p:spPr>
          <a:xfrm>
            <a:off x="1424240" y="5869078"/>
            <a:ext cx="1781305" cy="14994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02-000-0000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92"/>
          <p:cNvSpPr/>
          <p:nvPr/>
        </p:nvSpPr>
        <p:spPr>
          <a:xfrm>
            <a:off x="4257424" y="5861668"/>
            <a:ext cx="1781305" cy="14994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a:t>
            </a:r>
            <a:r>
              <a:rPr lang="en-US" altLang="ko-KR"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02-000-0000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93"/>
          <p:cNvSpPr/>
          <p:nvPr/>
        </p:nvSpPr>
        <p:spPr>
          <a:xfrm>
            <a:off x="1324670" y="6012839"/>
            <a:ext cx="944489" cy="230832"/>
          </a:xfrm>
          <a:prstGeom prst="rect">
            <a:avLst/>
          </a:prstGeom>
        </p:spPr>
        <p:txBody>
          <a:bodyPr wrap="none">
            <a:spAutoFit/>
          </a:bodyPr>
          <a:lstStyle/>
          <a:p>
            <a:pPr lvl="0">
              <a:defRPr/>
            </a:pPr>
            <a:r>
              <a:rPr lang="ko-KR" altLang="en-US" sz="9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Giống số bàn</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94"/>
          <p:cNvSpPr/>
          <p:nvPr/>
        </p:nvSpPr>
        <p:spPr>
          <a:xfrm>
            <a:off x="4161546" y="6002804"/>
            <a:ext cx="944489" cy="230832"/>
          </a:xfrm>
          <a:prstGeom prst="rect">
            <a:avLst/>
          </a:prstGeom>
        </p:spPr>
        <p:txBody>
          <a:bodyPr wrap="none">
            <a:spAutoFit/>
          </a:bodyPr>
          <a:lstStyle/>
          <a:p>
            <a:pPr lvl="0">
              <a:defRPr/>
            </a:pPr>
            <a:r>
              <a:rPr lang="ko-KR" altLang="en-US" sz="9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Giống số bàn</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0" name="직사각형 119"/>
          <p:cNvSpPr/>
          <p:nvPr/>
        </p:nvSpPr>
        <p:spPr>
          <a:xfrm>
            <a:off x="2798083" y="3631042"/>
            <a:ext cx="1248648" cy="16154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Du lịch</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97" name="직사각형 96"/>
          <p:cNvSpPr/>
          <p:nvPr/>
        </p:nvSpPr>
        <p:spPr>
          <a:xfrm>
            <a:off x="4388756" y="744087"/>
            <a:ext cx="1140308"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1 nhà cung cấp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직사각형 98"/>
          <p:cNvSpPr/>
          <p:nvPr/>
        </p:nvSpPr>
        <p:spPr>
          <a:xfrm>
            <a:off x="5579127" y="744087"/>
            <a:ext cx="1352222"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nhiều nhà cung cấp</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00" name="직선 화살표 연결선 3"/>
          <p:cNvCxnSpPr>
            <a:stCxn id="97" idx="1"/>
            <a:endCxn id="54" idx="0"/>
          </p:cNvCxnSpPr>
          <p:nvPr/>
        </p:nvCxnSpPr>
        <p:spPr>
          <a:xfrm rot="10800000" flipV="1">
            <a:off x="3285286" y="847638"/>
            <a:ext cx="1103471" cy="277105"/>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1" name="직사각형 100"/>
          <p:cNvSpPr/>
          <p:nvPr/>
        </p:nvSpPr>
        <p:spPr>
          <a:xfrm>
            <a:off x="1472354" y="4390407"/>
            <a:ext cx="1077406" cy="164289"/>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bản sao sổ TK</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직사각형 101"/>
          <p:cNvSpPr/>
          <p:nvPr/>
        </p:nvSpPr>
        <p:spPr>
          <a:xfrm>
            <a:off x="6377611" y="1124743"/>
            <a:ext cx="3183901" cy="163257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en-US" altLang="ko-KR" sz="11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nhiều NCC</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TextBox 102"/>
          <p:cNvSpPr txBox="1"/>
          <p:nvPr/>
        </p:nvSpPr>
        <p:spPr>
          <a:xfrm>
            <a:off x="9250415" y="1124743"/>
            <a:ext cx="295274" cy="276999"/>
          </a:xfrm>
          <a:prstGeom prst="rect">
            <a:avLst/>
          </a:prstGeom>
          <a:noFill/>
        </p:spPr>
        <p:txBody>
          <a:bodyPr wrap="none" rtlCol="0">
            <a:spAutoFit/>
          </a:bodyPr>
          <a:lstStyle/>
          <a:p>
            <a:r>
              <a:rPr lang="en-US" altLang="ko-KR" sz="1200" b="1" dirty="0">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직사각형 104"/>
          <p:cNvSpPr/>
          <p:nvPr/>
        </p:nvSpPr>
        <p:spPr>
          <a:xfrm>
            <a:off x="6855418" y="1947346"/>
            <a:ext cx="1106539" cy="24859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Download file mẫu</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6" name="직사각형 105"/>
          <p:cNvSpPr/>
          <p:nvPr/>
        </p:nvSpPr>
        <p:spPr>
          <a:xfrm>
            <a:off x="8071718" y="1947346"/>
            <a:ext cx="1106539" cy="24859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file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7" name="직사각형 106"/>
          <p:cNvSpPr/>
          <p:nvPr/>
        </p:nvSpPr>
        <p:spPr>
          <a:xfrm>
            <a:off x="7612130" y="252636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08" name="표 107"/>
          <p:cNvGraphicFramePr>
            <a:graphicFrameLocks noGrp="1"/>
          </p:cNvGraphicFramePr>
          <p:nvPr/>
        </p:nvGraphicFramePr>
        <p:xfrm>
          <a:off x="7453089" y="2913528"/>
          <a:ext cx="2357214" cy="11913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Cách nhập thông tin giống ở tab thông tin sử dụng, thông tin người phụ trách, thông tin doanh nghiệp.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Có dấu (*) màu đỏ là bắt buộc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Download file đăng nhiều NCC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Sau khi upload file, thông tin sẽ hiển thị ở trường tương ứng, hiển thị tên file và phần mở rộng của file</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09" name="직사각형 108"/>
          <p:cNvSpPr/>
          <p:nvPr/>
        </p:nvSpPr>
        <p:spPr>
          <a:xfrm>
            <a:off x="6784615" y="2259036"/>
            <a:ext cx="1369286" cy="215444"/>
          </a:xfrm>
          <a:prstGeom prst="rect">
            <a:avLst/>
          </a:prstGeom>
        </p:spPr>
        <p:txBody>
          <a:bodyPr wrap="non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File đã upload</a:t>
            </a:r>
            <a:r>
              <a:rPr lang="ko-KR" altLang="en-US" sz="8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Tên file.xlsx</a:t>
            </a:r>
            <a:endParaRPr lang="ko-KR" altLang="en-US" sz="800" dirty="0">
              <a:latin typeface="Times New Roman" panose="02020603050405020304" pitchFamily="18" charset="0"/>
              <a:cs typeface="Times New Roman" panose="02020603050405020304" pitchFamily="18" charset="0"/>
            </a:endParaRPr>
          </a:p>
        </p:txBody>
      </p:sp>
      <p:sp>
        <p:nvSpPr>
          <p:cNvPr id="110" name="타원 109"/>
          <p:cNvSpPr/>
          <p:nvPr/>
        </p:nvSpPr>
        <p:spPr>
          <a:xfrm>
            <a:off x="184594" y="280765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1" name="왼쪽 대괄호[L] 110"/>
          <p:cNvSpPr/>
          <p:nvPr/>
        </p:nvSpPr>
        <p:spPr>
          <a:xfrm>
            <a:off x="336633" y="1597136"/>
            <a:ext cx="232989" cy="4784192"/>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anose="02020603050405020304" pitchFamily="18" charset="0"/>
              <a:cs typeface="Times New Roman" panose="02020603050405020304" pitchFamily="18" charset="0"/>
            </a:endParaRPr>
          </a:p>
        </p:txBody>
      </p:sp>
      <p:sp>
        <p:nvSpPr>
          <p:cNvPr id="112" name="타원 111"/>
          <p:cNvSpPr/>
          <p:nvPr/>
        </p:nvSpPr>
        <p:spPr>
          <a:xfrm>
            <a:off x="6740843" y="186849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3" name="타원 112"/>
          <p:cNvSpPr/>
          <p:nvPr/>
        </p:nvSpPr>
        <p:spPr>
          <a:xfrm>
            <a:off x="6661803" y="230892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4" name="직사각형 113"/>
          <p:cNvSpPr/>
          <p:nvPr/>
        </p:nvSpPr>
        <p:spPr>
          <a:xfrm>
            <a:off x="6842009" y="2285881"/>
            <a:ext cx="1327075" cy="188599"/>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115" name="직사각형 114"/>
          <p:cNvSpPr/>
          <p:nvPr/>
        </p:nvSpPr>
        <p:spPr>
          <a:xfrm>
            <a:off x="1476509" y="3360671"/>
            <a:ext cx="714353" cy="16441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직사각형 115"/>
          <p:cNvSpPr/>
          <p:nvPr/>
        </p:nvSpPr>
        <p:spPr>
          <a:xfrm>
            <a:off x="2231575" y="3351639"/>
            <a:ext cx="714353" cy="16441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7" name="직사각형 116"/>
          <p:cNvSpPr/>
          <p:nvPr/>
        </p:nvSpPr>
        <p:spPr>
          <a:xfrm>
            <a:off x="3018924" y="3350851"/>
            <a:ext cx="714353" cy="16441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8" name="직사각형 117"/>
          <p:cNvSpPr/>
          <p:nvPr/>
        </p:nvSpPr>
        <p:spPr>
          <a:xfrm>
            <a:off x="4738476" y="3360672"/>
            <a:ext cx="980777" cy="177046"/>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giấy ĐKDN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9" name="직사각형 118"/>
          <p:cNvSpPr/>
          <p:nvPr/>
        </p:nvSpPr>
        <p:spPr>
          <a:xfrm>
            <a:off x="6377941" y="1345086"/>
            <a:ext cx="3183571" cy="461665"/>
          </a:xfrm>
          <a:prstGeom prst="rect">
            <a:avLst/>
          </a:prstGeom>
        </p:spPr>
        <p:txBody>
          <a:bodyPr wrap="square">
            <a:spAutoFit/>
          </a:bodyPr>
          <a:lstStyle/>
          <a:p>
            <a:r>
              <a:rPr lang="en-US" altLang="ko-KR" sz="800" smtClean="0">
                <a:latin typeface="Times New Roman" panose="02020603050405020304" pitchFamily="18" charset="0"/>
                <a:cs typeface="Times New Roman" panose="02020603050405020304" pitchFamily="18" charset="0"/>
              </a:rPr>
              <a:t>Vui lòng download file mẫu, điền thông tin nhà cung cấp, rồi upload.</a:t>
            </a:r>
          </a:p>
          <a:p>
            <a:r>
              <a:rPr lang="en-US" altLang="ko-KR" sz="800" smtClean="0">
                <a:latin typeface="Times New Roman" panose="02020603050405020304" pitchFamily="18" charset="0"/>
                <a:cs typeface="Times New Roman" panose="02020603050405020304" pitchFamily="18" charset="0"/>
              </a:rPr>
              <a:t>Để upload bản sao giấy ĐKDN, bản sao sổ tài khoản, vui lòng bấm nút sửa trong danh sách nhà cung cấp rồi upload cho từng nhà cung cấp. </a:t>
            </a:r>
            <a:endParaRPr lang="ko-KR" altLang="en-US" sz="800" dirty="0">
              <a:latin typeface="Times New Roman" panose="02020603050405020304" pitchFamily="18" charset="0"/>
              <a:cs typeface="Times New Roman" panose="02020603050405020304" pitchFamily="18" charset="0"/>
            </a:endParaRPr>
          </a:p>
        </p:txBody>
      </p:sp>
      <p:sp>
        <p:nvSpPr>
          <p:cNvPr id="121" name="직사각형 120"/>
          <p:cNvSpPr/>
          <p:nvPr/>
        </p:nvSpPr>
        <p:spPr>
          <a:xfrm>
            <a:off x="247877" y="733286"/>
            <a:ext cx="995785" cy="230832"/>
          </a:xfrm>
          <a:prstGeom prst="rect">
            <a:avLst/>
          </a:prstGeom>
        </p:spPr>
        <p:txBody>
          <a:bodyPr wrap="none">
            <a:spAutoFit/>
          </a:bodyPr>
          <a:lstStyle/>
          <a:p>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Tổng</a:t>
            </a:r>
            <a:r>
              <a:rPr lang="ko-KR" altLang="en-US" sz="9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a:latin typeface="Times New Roman" panose="02020603050405020304" pitchFamily="18" charset="0"/>
                <a:ea typeface="Nanum Gothic" panose="020D0604000000000000" pitchFamily="34" charset="-127"/>
                <a:cs typeface="Times New Roman" panose="02020603050405020304" pitchFamily="18" charset="0"/>
              </a:rPr>
              <a:t>100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kết quả</a:t>
            </a:r>
            <a:endParaRPr lang="ko-KR" altLang="en-US" sz="900" dirty="0">
              <a:latin typeface="Times New Roman" panose="02020603050405020304" pitchFamily="18" charset="0"/>
              <a:cs typeface="Times New Roman" panose="02020603050405020304" pitchFamily="18" charset="0"/>
            </a:endParaRPr>
          </a:p>
        </p:txBody>
      </p:sp>
      <p:sp>
        <p:nvSpPr>
          <p:cNvPr id="122" name="직사각형 121"/>
          <p:cNvSpPr/>
          <p:nvPr/>
        </p:nvSpPr>
        <p:spPr>
          <a:xfrm>
            <a:off x="1156030" y="761348"/>
            <a:ext cx="556610" cy="17470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p>
            <a:r>
              <a:rPr lang="en-US" altLang="ko-KR"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50</a:t>
            </a:r>
            <a:r>
              <a:rPr lang="ko-KR" altLang="en-US" sz="900" smtClean="0">
                <a:solidFill>
                  <a:schemeClr val="tx1"/>
                </a:solidFill>
                <a:latin typeface="Times New Roman" panose="02020603050405020304" pitchFamily="18" charset="0"/>
                <a:ea typeface="Malgun Gothic" panose="020B0503020000020004" charset="-127"/>
                <a:cs typeface="Times New Roman" panose="02020603050405020304" pitchFamily="18" charset="0"/>
              </a:rPr>
              <a:t> </a:t>
            </a:r>
            <a:r>
              <a:rPr lang="ko-KR" altLang="en-US" sz="900" dirty="0">
                <a:solidFill>
                  <a:schemeClr val="tx1"/>
                </a:solidFill>
                <a:latin typeface="Times New Roman" panose="02020603050405020304" pitchFamily="18" charset="0"/>
                <a:ea typeface="Malgun Gothic" panose="020B0503020000020004" charset="-127"/>
                <a:cs typeface="Times New Roman" panose="02020603050405020304" pitchFamily="18" charset="0"/>
              </a:rPr>
              <a:t>▼</a:t>
            </a:r>
          </a:p>
        </p:txBody>
      </p:sp>
      <p:sp>
        <p:nvSpPr>
          <p:cNvPr id="123" name="직사각형 122"/>
          <p:cNvSpPr/>
          <p:nvPr/>
        </p:nvSpPr>
        <p:spPr>
          <a:xfrm>
            <a:off x="2484773" y="726997"/>
            <a:ext cx="2010487" cy="230832"/>
          </a:xfrm>
          <a:prstGeom prst="rect">
            <a:avLst/>
          </a:prstGeom>
        </p:spPr>
        <p:txBody>
          <a:bodyPr wrap="none">
            <a:spAutoFit/>
          </a:bodyPr>
          <a:lstStyle/>
          <a:p>
            <a:r>
              <a:rPr lang="ko-KR" altLang="en-US" sz="90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Chỉ xem nhà cung cấp đang sử dụng</a:t>
            </a:r>
            <a:endParaRPr lang="ko-KR" altLang="en-US" sz="900" dirty="0">
              <a:latin typeface="Times New Roman" panose="02020603050405020304" pitchFamily="18" charset="0"/>
              <a:cs typeface="Times New Roman" panose="02020603050405020304" pitchFamily="18" charset="0"/>
            </a:endParaRPr>
          </a:p>
        </p:txBody>
      </p:sp>
      <p:sp>
        <p:nvSpPr>
          <p:cNvPr id="124" name="직사각형 123"/>
          <p:cNvSpPr/>
          <p:nvPr/>
        </p:nvSpPr>
        <p:spPr>
          <a:xfrm>
            <a:off x="1454646" y="5245235"/>
            <a:ext cx="4445601" cy="20261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Nghỉ Chủ Nhật, Ngày Lễ</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직사각형 124"/>
          <p:cNvSpPr/>
          <p:nvPr/>
        </p:nvSpPr>
        <p:spPr>
          <a:xfrm>
            <a:off x="1454646" y="4966513"/>
            <a:ext cx="4445601" cy="20261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VD) Trong tuần</a:t>
            </a:r>
            <a:r>
              <a:rPr lang="ko-KR" altLang="en-US"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10:00~21:00, Thứ Bảy</a:t>
            </a:r>
            <a:r>
              <a:rPr lang="ko-KR" altLang="en-US"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10:00~24:00</a:t>
            </a:r>
            <a:endParaRPr lang="ko-KR" altLang="en-US" sz="9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6" name="직사각형 125"/>
          <p:cNvSpPr/>
          <p:nvPr/>
        </p:nvSpPr>
        <p:spPr>
          <a:xfrm>
            <a:off x="2838473" y="3937089"/>
            <a:ext cx="1328739" cy="16983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Chủ tài khoản</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(Khi đăng nhập bằng quyền master)</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73" name="표 72"/>
          <p:cNvGraphicFramePr>
            <a:graphicFrameLocks noGrp="1"/>
          </p:cNvGraphicFramePr>
          <p:nvPr/>
        </p:nvGraphicFramePr>
        <p:xfrm>
          <a:off x="1284909" y="1979706"/>
          <a:ext cx="5900517" cy="1409680"/>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332224">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ID</a:t>
                      </a:r>
                      <a:endParaRPr lang="ko-KR" altLang="en-US" sz="9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master</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32224">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Quyền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hạn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master</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922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PW mới</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80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Tổ</a:t>
                      </a:r>
                      <a:r>
                        <a:rPr lang="en-US" altLang="ko-KR" sz="80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hợp 6~20 ký tự, bao gồm số/chữ/ký tự đặc biệt</a:t>
                      </a:r>
                      <a:endParaRPr lang="ko-KR" altLang="en-US" sz="800"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803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lại PW mới</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6" name="직사각형 75"/>
          <p:cNvSpPr/>
          <p:nvPr/>
        </p:nvSpPr>
        <p:spPr>
          <a:xfrm>
            <a:off x="2368586" y="2663378"/>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2369841" y="3128410"/>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Vui lòng nhập lại PW.</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55" name="표 54"/>
          <p:cNvGraphicFramePr>
            <a:graphicFrameLocks noGrp="1"/>
          </p:cNvGraphicFramePr>
          <p:nvPr/>
        </p:nvGraphicFramePr>
        <p:xfrm>
          <a:off x="1391142" y="4933440"/>
          <a:ext cx="5900517" cy="1485455"/>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366980">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người phụ trách</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004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điện thoại</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58435">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Email</a:t>
                      </a:r>
                      <a:r>
                        <a:rPr lang="ko-KR" altLang="en-US" sz="900" b="1" smtClean="0">
                          <a:solidFill>
                            <a:srgbClr val="C00000"/>
                          </a:solidFill>
                          <a:latin typeface="Nanum Gothic" panose="020D0604000000000000" pitchFamily="34" charset="-127"/>
                          <a:ea typeface="Nanum Gothic" panose="020D0604000000000000" pitchFamily="34" charset="-127"/>
                        </a:rPr>
                        <a:t>*</a:t>
                      </a:r>
                      <a:endParaRPr lang="ko-KR" altLang="en-US" sz="900" b="1" dirty="0">
                        <a:solidFill>
                          <a:schemeClr val="tx1"/>
                        </a:solidFill>
                        <a:latin typeface="Nanum Gothic" panose="020D0604000000000000" pitchFamily="34" charset="-127"/>
                        <a:ea typeface="Nanum Gothic" panose="020D0604000000000000" pitchFamily="34" charset="-127"/>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800" b="0" baseline="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 ý : Hóa đơn thuế được gửi đến email cung cấp.</a:t>
                      </a:r>
                      <a:endParaRPr lang="en-US" altLang="ko-KR" sz="800" b="0" dirty="0">
                        <a:solidFill>
                          <a:schemeClr val="accent1">
                            <a:lumMod val="75000"/>
                          </a:schemeClr>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6" name="직사각형 55"/>
          <p:cNvSpPr/>
          <p:nvPr/>
        </p:nvSpPr>
        <p:spPr>
          <a:xfrm>
            <a:off x="2474819" y="4979494"/>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홍길동</a:t>
            </a:r>
          </a:p>
        </p:txBody>
      </p:sp>
      <p:sp>
        <p:nvSpPr>
          <p:cNvPr id="57" name="직사각형 56"/>
          <p:cNvSpPr/>
          <p:nvPr/>
        </p:nvSpPr>
        <p:spPr>
          <a:xfrm>
            <a:off x="2481984" y="5326311"/>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010-0101-0000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58"/>
          <p:cNvSpPr/>
          <p:nvPr/>
        </p:nvSpPr>
        <p:spPr>
          <a:xfrm>
            <a:off x="2481984" y="5678338"/>
            <a:ext cx="2891464" cy="225362"/>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gas@google.com</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59"/>
          <p:cNvSpPr/>
          <p:nvPr/>
        </p:nvSpPr>
        <p:spPr>
          <a:xfrm>
            <a:off x="2474819" y="6134921"/>
            <a:ext cx="2894137" cy="22299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mã xác thực được gửi đến email của bạn.</a:t>
            </a:r>
            <a:endParaRPr lang="ko-KR" altLang="en-US" sz="800" dirty="0">
              <a:solidFill>
                <a:schemeClr val="bg1">
                  <a:lumMod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TextBox 69"/>
          <p:cNvSpPr txBox="1"/>
          <p:nvPr/>
        </p:nvSpPr>
        <p:spPr>
          <a:xfrm>
            <a:off x="1374087" y="4676738"/>
            <a:ext cx="4126451" cy="215444"/>
          </a:xfrm>
          <a:prstGeom prst="rect">
            <a:avLst/>
          </a:prstGeom>
          <a:noFill/>
        </p:spPr>
        <p:txBody>
          <a:bodyPr wrap="none" rtlCol="0">
            <a:spAutoFit/>
          </a:bodyPr>
          <a:lstStyle/>
          <a:p>
            <a:r>
              <a:rPr lang="vi-VN" altLang="ko-KR" sz="800" smtClean="0">
                <a:latin typeface="Times New Roman" panose="02020603050405020304" pitchFamily="18" charset="0"/>
                <a:ea typeface="Nanum Gothic" panose="020D0604000000000000" pitchFamily="34" charset="-127"/>
                <a:cs typeface="Times New Roman" panose="02020603050405020304" pitchFamily="18" charset="0"/>
              </a:rPr>
              <a:t>Nếu có nhiều người phụ trách, vui lòng bấm vào nút "Thêm thông tin người phụ trách" để thêm.</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8"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9"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51"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53"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54"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68" name="직선 연결선 145"/>
              <p:cNvCxnSpPr>
                <a:stCxn id="5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9"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직사각형 33"/>
          <p:cNvSpPr/>
          <p:nvPr/>
        </p:nvSpPr>
        <p:spPr>
          <a:xfrm>
            <a:off x="128464" y="16199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직사각형 34"/>
          <p:cNvSpPr/>
          <p:nvPr/>
        </p:nvSpPr>
        <p:spPr>
          <a:xfrm>
            <a:off x="128463" y="196319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36"/>
          <p:cNvSpPr/>
          <p:nvPr/>
        </p:nvSpPr>
        <p:spPr>
          <a:xfrm>
            <a:off x="128462" y="261706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38"/>
          <p:cNvSpPr/>
          <p:nvPr/>
        </p:nvSpPr>
        <p:spPr>
          <a:xfrm>
            <a:off x="128457" y="29191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3" name="직사각형 37"/>
          <p:cNvSpPr/>
          <p:nvPr/>
        </p:nvSpPr>
        <p:spPr>
          <a:xfrm>
            <a:off x="128461" y="361132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39"/>
          <p:cNvSpPr/>
          <p:nvPr/>
        </p:nvSpPr>
        <p:spPr>
          <a:xfrm>
            <a:off x="128457" y="32591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35"/>
          <p:cNvSpPr/>
          <p:nvPr/>
        </p:nvSpPr>
        <p:spPr>
          <a:xfrm>
            <a:off x="128463" y="230236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TextBox 85"/>
          <p:cNvSpPr txBox="1"/>
          <p:nvPr/>
        </p:nvSpPr>
        <p:spPr>
          <a:xfrm>
            <a:off x="1191375" y="1085116"/>
            <a:ext cx="134203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thông tin</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TextBox 86"/>
          <p:cNvSpPr txBox="1"/>
          <p:nvPr/>
        </p:nvSpPr>
        <p:spPr>
          <a:xfrm>
            <a:off x="1191375" y="1313869"/>
            <a:ext cx="3345788" cy="215444"/>
          </a:xfrm>
          <a:prstGeom prst="rect">
            <a:avLst/>
          </a:prstGeom>
          <a:noFill/>
        </p:spPr>
        <p:txBody>
          <a:bodyPr wrap="none" rtlCol="0">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Có thể sửa và quản lý các thông tin như mật khẩu/số tài khoản/số điện thoại.</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직사각형 39"/>
          <p:cNvSpPr/>
          <p:nvPr/>
        </p:nvSpPr>
        <p:spPr>
          <a:xfrm>
            <a:off x="2719706" y="1651683"/>
            <a:ext cx="136919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người phụ trách</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42"/>
          <p:cNvSpPr/>
          <p:nvPr/>
        </p:nvSpPr>
        <p:spPr>
          <a:xfrm>
            <a:off x="1284906" y="1651683"/>
            <a:ext cx="1435846"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sử dụng T-Bridge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90" name="Straight Connector 89"/>
          <p:cNvCxnSpPr/>
          <p:nvPr/>
        </p:nvCxnSpPr>
        <p:spPr>
          <a:xfrm>
            <a:off x="1290117" y="1856075"/>
            <a:ext cx="1440160" cy="0"/>
          </a:xfrm>
          <a:prstGeom prst="line">
            <a:avLst/>
          </a:prstGeom>
          <a:ln w="762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 name="직사각형 39"/>
          <p:cNvSpPr/>
          <p:nvPr/>
        </p:nvSpPr>
        <p:spPr>
          <a:xfrm>
            <a:off x="1286861" y="4365104"/>
            <a:ext cx="1369198"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sử dụng T-Bridge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직사각형 42"/>
          <p:cNvSpPr/>
          <p:nvPr/>
        </p:nvSpPr>
        <p:spPr>
          <a:xfrm>
            <a:off x="2653058" y="4367127"/>
            <a:ext cx="1435846"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tin người phụ trách</a:t>
            </a:r>
            <a:endPar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93" name="Straight Connector 92"/>
          <p:cNvCxnSpPr/>
          <p:nvPr/>
        </p:nvCxnSpPr>
        <p:spPr>
          <a:xfrm>
            <a:off x="2648744" y="4571519"/>
            <a:ext cx="1440160"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2658269" y="4581128"/>
            <a:ext cx="1440160"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직사각형 94"/>
          <p:cNvSpPr/>
          <p:nvPr/>
        </p:nvSpPr>
        <p:spPr>
          <a:xfrm>
            <a:off x="3296816" y="3481958"/>
            <a:ext cx="1800379" cy="1915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Sửa thông tin sử dụng</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직사각형 41"/>
          <p:cNvSpPr/>
          <p:nvPr/>
        </p:nvSpPr>
        <p:spPr>
          <a:xfrm>
            <a:off x="5561831" y="4652531"/>
            <a:ext cx="1728371" cy="20710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thông tin người phụ trách</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직사각형 79"/>
          <p:cNvSpPr/>
          <p:nvPr/>
        </p:nvSpPr>
        <p:spPr>
          <a:xfrm>
            <a:off x="5421741" y="5699499"/>
            <a:ext cx="792088"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Đổi email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직사각형 82"/>
          <p:cNvSpPr/>
          <p:nvPr/>
        </p:nvSpPr>
        <p:spPr>
          <a:xfrm>
            <a:off x="5421740" y="6153719"/>
            <a:ext cx="1043428" cy="21808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Xác nhận mã xác thực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직사각형 95"/>
          <p:cNvSpPr/>
          <p:nvPr/>
        </p:nvSpPr>
        <p:spPr>
          <a:xfrm>
            <a:off x="3224808" y="6534473"/>
            <a:ext cx="2088409" cy="206895"/>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Sửa thông tin người phụ trách</a:t>
            </a:r>
            <a:endParaRPr lang="ko-KR" altLang="en-US" sz="9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7" name="표 70"/>
          <p:cNvGraphicFramePr>
            <a:graphicFrameLocks noGrp="1"/>
          </p:cNvGraphicFramePr>
          <p:nvPr/>
        </p:nvGraphicFramePr>
        <p:xfrm>
          <a:off x="7453089" y="836962"/>
          <a:ext cx="2357214" cy="4377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login bằng quyền master: Chỉ có thể nhập thông tin ở tab thông tin sử dụng và thông tin người phụ trách</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2255746" cy="461665"/>
          </a:xfrm>
          <a:prstGeom prst="rect">
            <a:avLst/>
          </a:prstGeom>
          <a:noFill/>
        </p:spPr>
        <p:txBody>
          <a:bodyPr wrap="none" rtlCol="0">
            <a:spAutoFit/>
          </a:bodyPr>
          <a:lstStyle/>
          <a:p>
            <a:r>
              <a:rPr lang="en-US" altLang="ko-KR" sz="2400" b="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[PC]Dashboard</a:t>
            </a:r>
            <a:endParaRPr lang="en-US" altLang="ko-KR" sz="2400" b="1" dirty="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 name="TextBox 4"/>
          <p:cNvSpPr txBox="1"/>
          <p:nvPr/>
        </p:nvSpPr>
        <p:spPr>
          <a:xfrm>
            <a:off x="374438" y="2670820"/>
            <a:ext cx="2150269" cy="276999"/>
          </a:xfrm>
          <a:prstGeom prst="rect">
            <a:avLst/>
          </a:prstGeom>
          <a:noFill/>
        </p:spPr>
        <p:txBody>
          <a:bodyPr wrap="none" rtlCol="0">
            <a:spAutoFit/>
          </a:bodyPr>
          <a:lstStyle/>
          <a:p>
            <a:r>
              <a:rPr lang="en-US" altLang="ko-KR" sz="1200" smtClean="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rPr>
              <a:t>T-Bridge Giải pháp vé tổng hợp</a:t>
            </a:r>
            <a:endParaRPr lang="ko-KR" altLang="en-US" sz="1200" dirty="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TextBox 69"/>
          <p:cNvSpPr txBox="1"/>
          <p:nvPr/>
        </p:nvSpPr>
        <p:spPr>
          <a:xfrm>
            <a:off x="1280592" y="1078062"/>
            <a:ext cx="909223"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27" name="표 26"/>
          <p:cNvGraphicFramePr>
            <a:graphicFrameLocks noGrp="1"/>
          </p:cNvGraphicFramePr>
          <p:nvPr/>
        </p:nvGraphicFramePr>
        <p:xfrm>
          <a:off x="1323205" y="1505787"/>
          <a:ext cx="1857530" cy="627069"/>
        </p:xfrm>
        <a:graphic>
          <a:graphicData uri="http://schemas.openxmlformats.org/drawingml/2006/table">
            <a:tbl>
              <a:tblPr firstRow="1" bandRow="1">
                <a:tableStyleId>{5C22544A-7EE6-4342-B048-85BDC9FD1C3A}</a:tableStyleId>
              </a:tblPr>
              <a:tblGrid>
                <a:gridCol w="1857530">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sản phẩm thời gian thực</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03735">
                <a:tc>
                  <a:txBody>
                    <a:bodyPr/>
                    <a:lstStyle/>
                    <a:p>
                      <a:pPr algn="ctr" latinLnBrk="1"/>
                      <a:r>
                        <a:rPr lang="en-US" altLang="ko-KR" sz="1200" b="1" u="sng"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88</a:t>
                      </a:r>
                      <a:r>
                        <a:rPr lang="ko-KR" altLang="en-US"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 phẩm</a:t>
                      </a:r>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8" name="표 27"/>
          <p:cNvGraphicFramePr>
            <a:graphicFrameLocks noGrp="1"/>
          </p:cNvGraphicFramePr>
          <p:nvPr/>
        </p:nvGraphicFramePr>
        <p:xfrm>
          <a:off x="3352144" y="1505787"/>
          <a:ext cx="1857530" cy="627069"/>
        </p:xfrm>
        <a:graphic>
          <a:graphicData uri="http://schemas.openxmlformats.org/drawingml/2006/table">
            <a:tbl>
              <a:tblPr firstRow="1" bandRow="1">
                <a:tableStyleId>{5C22544A-7EE6-4342-B048-85BDC9FD1C3A}</a:tableStyleId>
              </a:tblPr>
              <a:tblGrid>
                <a:gridCol w="1857530">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sản phẩm sắp kết thúc</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03735">
                <a:tc>
                  <a:txBody>
                    <a:bodyPr/>
                    <a:lstStyle/>
                    <a:p>
                      <a:pPr algn="ctr" latinLnBrk="1"/>
                      <a:r>
                        <a:rPr lang="en-US" altLang="ko-KR" sz="1200" b="1" u="sng"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21</a:t>
                      </a:r>
                      <a:r>
                        <a:rPr lang="ko-KR" altLang="en-US"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 phẩm</a:t>
                      </a:r>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3" name="표 32"/>
          <p:cNvGraphicFramePr>
            <a:graphicFrameLocks noGrp="1"/>
          </p:cNvGraphicFramePr>
          <p:nvPr/>
        </p:nvGraphicFramePr>
        <p:xfrm>
          <a:off x="5383982" y="1505787"/>
          <a:ext cx="1857530" cy="627069"/>
        </p:xfrm>
        <a:graphic>
          <a:graphicData uri="http://schemas.openxmlformats.org/drawingml/2006/table">
            <a:tbl>
              <a:tblPr firstRow="1" bandRow="1">
                <a:tableStyleId>{5C22544A-7EE6-4342-B048-85BDC9FD1C3A}</a:tableStyleId>
              </a:tblPr>
              <a:tblGrid>
                <a:gridCol w="1857530">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sản phẩm sắp mở</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03735">
                <a:tc>
                  <a:txBody>
                    <a:bodyPr/>
                    <a:lstStyle/>
                    <a:p>
                      <a:pPr algn="ctr" latinLnBrk="1"/>
                      <a:r>
                        <a:rPr lang="en-US" altLang="ko-KR" sz="1200" b="1" u="sng"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21</a:t>
                      </a:r>
                      <a:r>
                        <a:rPr lang="ko-KR" altLang="en-US"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 phẩm</a:t>
                      </a:r>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2" name="표 41"/>
          <p:cNvGraphicFramePr>
            <a:graphicFrameLocks noGrp="1"/>
          </p:cNvGraphicFramePr>
          <p:nvPr/>
        </p:nvGraphicFramePr>
        <p:xfrm>
          <a:off x="1335878" y="4077072"/>
          <a:ext cx="2825034" cy="1974191"/>
        </p:xfrm>
        <a:graphic>
          <a:graphicData uri="http://schemas.openxmlformats.org/drawingml/2006/table">
            <a:tbl>
              <a:tblPr firstRow="1" bandRow="1">
                <a:tableStyleId>{5C22544A-7EE6-4342-B048-85BDC9FD1C3A}</a:tableStyleId>
              </a:tblPr>
              <a:tblGrid>
                <a:gridCol w="2825034">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Biểu</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đồ số lượng mua theo tuần</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1750857">
                <a:tc>
                  <a:txBody>
                    <a:bodyPr/>
                    <a:lstStyle/>
                    <a:p>
                      <a:pPr algn="ctr" latinLnBrk="1"/>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3" name="표 42"/>
          <p:cNvGraphicFramePr>
            <a:graphicFrameLocks noGrp="1"/>
          </p:cNvGraphicFramePr>
          <p:nvPr/>
        </p:nvGraphicFramePr>
        <p:xfrm>
          <a:off x="4416478" y="4077072"/>
          <a:ext cx="2825034" cy="1974191"/>
        </p:xfrm>
        <a:graphic>
          <a:graphicData uri="http://schemas.openxmlformats.org/drawingml/2006/table">
            <a:tbl>
              <a:tblPr firstRow="1" bandRow="1">
                <a:tableStyleId>{5C22544A-7EE6-4342-B048-85BDC9FD1C3A}</a:tableStyleId>
              </a:tblPr>
              <a:tblGrid>
                <a:gridCol w="2825034">
                  <a:extLst>
                    <a:ext uri="{9D8B030D-6E8A-4147-A177-3AD203B41FA5}">
                      <a16:colId xmlns:a16="http://schemas.microsoft.com/office/drawing/2014/main" val="20000"/>
                    </a:ext>
                  </a:extLst>
                </a:gridCol>
              </a:tblGrid>
              <a:tr h="223334">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Biểu</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đồ số lượng sử dụng theo tuần</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1750857">
                <a:tc>
                  <a:txBody>
                    <a:bodyPr/>
                    <a:lstStyle/>
                    <a:p>
                      <a:pPr algn="ctr" latinLnBrk="1"/>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51" name="그림 50"/>
          <p:cNvPicPr>
            <a:picLocks noChangeAspect="1"/>
          </p:cNvPicPr>
          <p:nvPr/>
        </p:nvPicPr>
        <p:blipFill>
          <a:blip r:embed="rId2" cstate="print"/>
          <a:stretch>
            <a:fillRect/>
          </a:stretch>
        </p:blipFill>
        <p:spPr>
          <a:xfrm>
            <a:off x="1529284" y="4457840"/>
            <a:ext cx="2358447" cy="1454603"/>
          </a:xfrm>
          <a:prstGeom prst="rect">
            <a:avLst/>
          </a:prstGeom>
        </p:spPr>
      </p:pic>
      <p:sp>
        <p:nvSpPr>
          <p:cNvPr id="52" name="TextBox 51"/>
          <p:cNvSpPr txBox="1"/>
          <p:nvPr/>
        </p:nvSpPr>
        <p:spPr>
          <a:xfrm>
            <a:off x="1654540" y="5601205"/>
            <a:ext cx="2199261" cy="169277"/>
          </a:xfrm>
          <a:prstGeom prst="rect">
            <a:avLst/>
          </a:prstGeom>
          <a:solidFill>
            <a:schemeClr val="bg1"/>
          </a:solidFill>
        </p:spPr>
        <p:txBody>
          <a:bodyPr wrap="square" rtlCol="0">
            <a:spAutoFit/>
          </a:bodyPr>
          <a:lstStyle/>
          <a:p>
            <a:pPr algn="ctr"/>
            <a:r>
              <a:rPr lang="en-US" altLang="ko-KR" sz="500" dirty="0">
                <a:latin typeface="Times New Roman" panose="02020603050405020304" pitchFamily="18" charset="0"/>
                <a:cs typeface="Times New Roman" panose="02020603050405020304" pitchFamily="18" charset="0"/>
              </a:rPr>
              <a:t>12/21     12/22     12/23     12/24     12/25     12/26       </a:t>
            </a:r>
            <a:r>
              <a:rPr lang="en-US" altLang="ko-KR" sz="500" b="1" dirty="0">
                <a:latin typeface="Times New Roman" panose="02020603050405020304" pitchFamily="18" charset="0"/>
                <a:cs typeface="Times New Roman" panose="02020603050405020304" pitchFamily="18" charset="0"/>
              </a:rPr>
              <a:t>12/27</a:t>
            </a:r>
            <a:endParaRPr lang="ko-KR" altLang="en-US" sz="500" b="1">
              <a:latin typeface="Times New Roman" panose="02020603050405020304" pitchFamily="18" charset="0"/>
              <a:cs typeface="Times New Roman" panose="02020603050405020304" pitchFamily="18" charset="0"/>
            </a:endParaRPr>
          </a:p>
        </p:txBody>
      </p:sp>
      <p:sp>
        <p:nvSpPr>
          <p:cNvPr id="53" name="직사각형 52"/>
          <p:cNvSpPr/>
          <p:nvPr/>
        </p:nvSpPr>
        <p:spPr>
          <a:xfrm>
            <a:off x="1968168" y="5783317"/>
            <a:ext cx="1851104" cy="92333"/>
          </a:xfrm>
          <a:prstGeom prst="rect">
            <a:avLst/>
          </a:prstGeom>
          <a:solidFill>
            <a:schemeClr val="bg1"/>
          </a:solidFill>
        </p:spPr>
        <p:txBody>
          <a:bodyPr wrap="square" lIns="0" tIns="0" rIns="0" bIns="0">
            <a:spAutoFit/>
          </a:bodyPr>
          <a:lstStyle/>
          <a:p>
            <a:r>
              <a:rPr lang="en-US" altLang="ko-KR" sz="600" smtClean="0">
                <a:latin typeface="Times New Roman" panose="02020603050405020304" pitchFamily="18" charset="0"/>
                <a:ea typeface="나눔고딕" pitchFamily="50" charset="-127"/>
                <a:cs typeface="Times New Roman" panose="02020603050405020304" pitchFamily="18" charset="0"/>
              </a:rPr>
              <a:t>Tuần này</a:t>
            </a:r>
            <a:r>
              <a:rPr lang="ko-KR" altLang="en-US" sz="600" smtClean="0">
                <a:latin typeface="Times New Roman" panose="02020603050405020304" pitchFamily="18" charset="0"/>
                <a:ea typeface="나눔고딕" pitchFamily="50" charset="-127"/>
                <a:cs typeface="Times New Roman" panose="02020603050405020304" pitchFamily="18" charset="0"/>
              </a:rPr>
              <a:t>                                    </a:t>
            </a:r>
            <a:r>
              <a:rPr lang="en-US" altLang="ko-KR" sz="600" smtClean="0">
                <a:latin typeface="Times New Roman" panose="02020603050405020304" pitchFamily="18" charset="0"/>
                <a:ea typeface="나눔고딕" pitchFamily="50" charset="-127"/>
                <a:cs typeface="Times New Roman" panose="02020603050405020304" pitchFamily="18" charset="0"/>
              </a:rPr>
              <a:t>Tuần trước</a:t>
            </a:r>
            <a:endParaRPr lang="ko-KR" altLang="en-US" sz="600" dirty="0">
              <a:latin typeface="Times New Roman" panose="02020603050405020304" pitchFamily="18" charset="0"/>
              <a:ea typeface="나눔고딕" pitchFamily="50" charset="-127"/>
              <a:cs typeface="Times New Roman" panose="02020603050405020304" pitchFamily="18" charset="0"/>
            </a:endParaRPr>
          </a:p>
        </p:txBody>
      </p:sp>
      <p:sp>
        <p:nvSpPr>
          <p:cNvPr id="54" name="직사각형 53"/>
          <p:cNvSpPr/>
          <p:nvPr/>
        </p:nvSpPr>
        <p:spPr>
          <a:xfrm>
            <a:off x="1798618" y="5789228"/>
            <a:ext cx="150019"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55" name="직사각형 54"/>
          <p:cNvSpPr/>
          <p:nvPr/>
        </p:nvSpPr>
        <p:spPr>
          <a:xfrm>
            <a:off x="2679542" y="5789228"/>
            <a:ext cx="150019" cy="76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pic>
        <p:nvPicPr>
          <p:cNvPr id="64" name="그림 63"/>
          <p:cNvPicPr>
            <a:picLocks noChangeAspect="1"/>
          </p:cNvPicPr>
          <p:nvPr/>
        </p:nvPicPr>
        <p:blipFill>
          <a:blip r:embed="rId2" cstate="print"/>
          <a:stretch>
            <a:fillRect/>
          </a:stretch>
        </p:blipFill>
        <p:spPr>
          <a:xfrm>
            <a:off x="4618836" y="4423339"/>
            <a:ext cx="2358447" cy="1454603"/>
          </a:xfrm>
          <a:prstGeom prst="rect">
            <a:avLst/>
          </a:prstGeom>
        </p:spPr>
      </p:pic>
      <p:sp>
        <p:nvSpPr>
          <p:cNvPr id="66" name="TextBox 65"/>
          <p:cNvSpPr txBox="1"/>
          <p:nvPr/>
        </p:nvSpPr>
        <p:spPr>
          <a:xfrm>
            <a:off x="4738769" y="5564943"/>
            <a:ext cx="2199261" cy="169277"/>
          </a:xfrm>
          <a:prstGeom prst="rect">
            <a:avLst/>
          </a:prstGeom>
          <a:solidFill>
            <a:schemeClr val="bg1"/>
          </a:solidFill>
        </p:spPr>
        <p:txBody>
          <a:bodyPr wrap="square" rtlCol="0">
            <a:spAutoFit/>
          </a:bodyPr>
          <a:lstStyle/>
          <a:p>
            <a:pPr algn="ctr"/>
            <a:r>
              <a:rPr lang="en-US" altLang="ko-KR" sz="500" dirty="0">
                <a:latin typeface="Times New Roman" panose="02020603050405020304" pitchFamily="18" charset="0"/>
                <a:cs typeface="Times New Roman" panose="02020603050405020304" pitchFamily="18" charset="0"/>
              </a:rPr>
              <a:t>12/21     12/22     12/23     12/24     12/25     12/26       </a:t>
            </a:r>
            <a:r>
              <a:rPr lang="en-US" altLang="ko-KR" sz="500" b="1" dirty="0">
                <a:latin typeface="Times New Roman" panose="02020603050405020304" pitchFamily="18" charset="0"/>
                <a:cs typeface="Times New Roman" panose="02020603050405020304" pitchFamily="18" charset="0"/>
              </a:rPr>
              <a:t>12/27</a:t>
            </a:r>
            <a:endParaRPr lang="ko-KR" altLang="en-US" sz="500" b="1">
              <a:latin typeface="Times New Roman" panose="02020603050405020304" pitchFamily="18" charset="0"/>
              <a:cs typeface="Times New Roman" panose="02020603050405020304" pitchFamily="18" charset="0"/>
            </a:endParaRPr>
          </a:p>
        </p:txBody>
      </p:sp>
      <p:sp>
        <p:nvSpPr>
          <p:cNvPr id="73" name="직사각형 72"/>
          <p:cNvSpPr/>
          <p:nvPr/>
        </p:nvSpPr>
        <p:spPr>
          <a:xfrm>
            <a:off x="5052397" y="5747055"/>
            <a:ext cx="1851104" cy="92333"/>
          </a:xfrm>
          <a:prstGeom prst="rect">
            <a:avLst/>
          </a:prstGeom>
          <a:solidFill>
            <a:schemeClr val="bg1"/>
          </a:solidFill>
        </p:spPr>
        <p:txBody>
          <a:bodyPr wrap="square" lIns="0" tIns="0" rIns="0" bIns="0">
            <a:spAutoFit/>
          </a:bodyPr>
          <a:lstStyle/>
          <a:p>
            <a:r>
              <a:rPr lang="en-US" altLang="ko-KR" sz="600" smtClean="0">
                <a:latin typeface="Times New Roman" panose="02020603050405020304" pitchFamily="18" charset="0"/>
                <a:ea typeface="나눔고딕" pitchFamily="50" charset="-127"/>
                <a:cs typeface="Times New Roman" panose="02020603050405020304" pitchFamily="18" charset="0"/>
              </a:rPr>
              <a:t>Tuần này</a:t>
            </a:r>
            <a:r>
              <a:rPr lang="ko-KR" altLang="en-US" sz="600" smtClean="0">
                <a:latin typeface="Times New Roman" panose="02020603050405020304" pitchFamily="18" charset="0"/>
                <a:ea typeface="나눔고딕" pitchFamily="50" charset="-127"/>
                <a:cs typeface="Times New Roman" panose="02020603050405020304" pitchFamily="18" charset="0"/>
              </a:rPr>
              <a:t>                                    </a:t>
            </a:r>
            <a:r>
              <a:rPr lang="en-US" altLang="ko-KR" sz="600" smtClean="0">
                <a:latin typeface="Times New Roman" panose="02020603050405020304" pitchFamily="18" charset="0"/>
                <a:ea typeface="나눔고딕" pitchFamily="50" charset="-127"/>
                <a:cs typeface="Times New Roman" panose="02020603050405020304" pitchFamily="18" charset="0"/>
              </a:rPr>
              <a:t>Tuần trước</a:t>
            </a:r>
            <a:endParaRPr lang="ko-KR" altLang="en-US" sz="600" dirty="0">
              <a:latin typeface="Times New Roman" panose="02020603050405020304" pitchFamily="18" charset="0"/>
              <a:ea typeface="나눔고딕" pitchFamily="50" charset="-127"/>
              <a:cs typeface="Times New Roman" panose="02020603050405020304" pitchFamily="18" charset="0"/>
            </a:endParaRPr>
          </a:p>
        </p:txBody>
      </p:sp>
      <p:sp>
        <p:nvSpPr>
          <p:cNvPr id="74" name="직사각형 73"/>
          <p:cNvSpPr/>
          <p:nvPr/>
        </p:nvSpPr>
        <p:spPr>
          <a:xfrm>
            <a:off x="4882847" y="5752966"/>
            <a:ext cx="150019"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75" name="직사각형 74"/>
          <p:cNvSpPr/>
          <p:nvPr/>
        </p:nvSpPr>
        <p:spPr>
          <a:xfrm>
            <a:off x="5763771" y="5752966"/>
            <a:ext cx="150019" cy="76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graphicFrame>
        <p:nvGraphicFramePr>
          <p:cNvPr id="77" name="표 76"/>
          <p:cNvGraphicFramePr>
            <a:graphicFrameLocks noGrp="1"/>
          </p:cNvGraphicFramePr>
          <p:nvPr/>
        </p:nvGraphicFramePr>
        <p:xfrm>
          <a:off x="7453089" y="836962"/>
          <a:ext cx="2357214" cy="350208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vào thì mở ra cửa sổ mới hiển thị kết quả danh sách toàn bộ sản phẩm "Đang bán" ở menu "Quản lý sản phẩm"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vào thì mở ra cửa sổ mới hiển thị kết quả danh sách sản phẩm có ngày kết thúc là ngày hôm nay (trong số những sản phẩm "Đang bán" ở menu "Quản lý sản phẩm)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vào thì mở ra cửa sổ mới liệt kê toàn bộ sản phẩm "Đang chờ bán" ở "Quản lý sản phẩm"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vào thì mở ra cửa sổ mới hiển thị kết quả tìm kiếm với điều kiện là "Bán xong" &amp; thời gian bán là "Hôm nay" (ở menu "Quản lý đơn hàng")</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vào thì mở ra cửa sổ mới hiển thị kết quả danh sách toàn bộ sản phẩm "Bán xong" ở menu "Quản lý đơn hàng"</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click vào thì mở ra cửa sổ mới hiển thị kết quả toàn bộ danh sách câu hỏi "Chờ trả lời" ở menu "Quản lý hỏi đáp"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Biểu đồ số lượng vé "Bán xong" theo từng ngày trong vòng 7 ngày (bao gồm hôm nay), so sánh với tuần trước đó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8</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Biểu đồ số lượng vé "Sử dụng xong" theo từng ngày trong vòng 7 ngày (bao gồm hôm nay), so sánh với tuần trước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9" name="직사각형 78"/>
          <p:cNvSpPr/>
          <p:nvPr/>
        </p:nvSpPr>
        <p:spPr>
          <a:xfrm>
            <a:off x="1792270" y="1851415"/>
            <a:ext cx="944833" cy="20459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81" name="직사각형 80"/>
          <p:cNvSpPr/>
          <p:nvPr/>
        </p:nvSpPr>
        <p:spPr>
          <a:xfrm>
            <a:off x="3819272" y="1854641"/>
            <a:ext cx="917704" cy="206207"/>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76" name="타원 75"/>
          <p:cNvSpPr/>
          <p:nvPr/>
        </p:nvSpPr>
        <p:spPr>
          <a:xfrm>
            <a:off x="1685635" y="1766066"/>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80" name="타원 79"/>
          <p:cNvSpPr/>
          <p:nvPr/>
        </p:nvSpPr>
        <p:spPr>
          <a:xfrm>
            <a:off x="3744441" y="176929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82" name="직사각형 81"/>
          <p:cNvSpPr/>
          <p:nvPr/>
        </p:nvSpPr>
        <p:spPr>
          <a:xfrm>
            <a:off x="5889105" y="1854641"/>
            <a:ext cx="861624" cy="206207"/>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83" name="타원 82"/>
          <p:cNvSpPr/>
          <p:nvPr/>
        </p:nvSpPr>
        <p:spPr>
          <a:xfrm>
            <a:off x="5745088" y="176929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56"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61"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78"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84"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85" name="직선 연결선 145"/>
              <p:cNvCxnSpPr>
                <a:stCxn id="8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2"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7" name="직사각형 33"/>
          <p:cNvSpPr/>
          <p:nvPr/>
        </p:nvSpPr>
        <p:spPr>
          <a:xfrm>
            <a:off x="128464" y="161813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직사각형 34"/>
          <p:cNvSpPr/>
          <p:nvPr/>
        </p:nvSpPr>
        <p:spPr>
          <a:xfrm>
            <a:off x="128463" y="197106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직사각형 36"/>
          <p:cNvSpPr/>
          <p:nvPr/>
        </p:nvSpPr>
        <p:spPr>
          <a:xfrm>
            <a:off x="128462" y="264398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0" name="직사각형 38"/>
          <p:cNvSpPr/>
          <p:nvPr/>
        </p:nvSpPr>
        <p:spPr>
          <a:xfrm>
            <a:off x="128457" y="294602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1" name="직사각형 37"/>
          <p:cNvSpPr/>
          <p:nvPr/>
        </p:nvSpPr>
        <p:spPr>
          <a:xfrm>
            <a:off x="128461" y="363824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2" name="직사각형 39"/>
          <p:cNvSpPr/>
          <p:nvPr/>
        </p:nvSpPr>
        <p:spPr>
          <a:xfrm>
            <a:off x="128457" y="328605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3" name="직사각형 35"/>
          <p:cNvSpPr/>
          <p:nvPr/>
        </p:nvSpPr>
        <p:spPr>
          <a:xfrm>
            <a:off x="128463" y="2319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4" name="직사각형 43"/>
          <p:cNvSpPr/>
          <p:nvPr/>
        </p:nvSpPr>
        <p:spPr>
          <a:xfrm>
            <a:off x="128458" y="930389"/>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62" name="표 28"/>
          <p:cNvGraphicFramePr>
            <a:graphicFrameLocks noGrp="1"/>
          </p:cNvGraphicFramePr>
          <p:nvPr/>
        </p:nvGraphicFramePr>
        <p:xfrm>
          <a:off x="1333550" y="2242964"/>
          <a:ext cx="2888942" cy="627069"/>
        </p:xfrm>
        <a:graphic>
          <a:graphicData uri="http://schemas.openxmlformats.org/drawingml/2006/table">
            <a:tbl>
              <a:tblPr firstRow="1" bandRow="1">
                <a:tableStyleId>{5C22544A-7EE6-4342-B048-85BDC9FD1C3A}</a:tableStyleId>
              </a:tblPr>
              <a:tblGrid>
                <a:gridCol w="2888942">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lượng mua hôm nay</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03735">
                <a:tc>
                  <a:txBody>
                    <a:bodyPr/>
                    <a:lstStyle/>
                    <a:p>
                      <a:pPr algn="ctr" latinLnBrk="1"/>
                      <a:r>
                        <a:rPr lang="en-US" altLang="ko-KR" sz="1200" b="1" u="sng"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320</a:t>
                      </a:r>
                      <a:r>
                        <a:rPr lang="ko-KR" altLang="en-US"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 phẩm</a:t>
                      </a:r>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63" name="표 29"/>
          <p:cNvGraphicFramePr>
            <a:graphicFrameLocks noGrp="1"/>
          </p:cNvGraphicFramePr>
          <p:nvPr/>
        </p:nvGraphicFramePr>
        <p:xfrm>
          <a:off x="4366508" y="2242964"/>
          <a:ext cx="2864576" cy="627069"/>
        </p:xfrm>
        <a:graphic>
          <a:graphicData uri="http://schemas.openxmlformats.org/drawingml/2006/table">
            <a:tbl>
              <a:tblPr firstRow="1" bandRow="1">
                <a:tableStyleId>{5C22544A-7EE6-4342-B048-85BDC9FD1C3A}</a:tableStyleId>
              </a:tblPr>
              <a:tblGrid>
                <a:gridCol w="2864576">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lượng vé chưa sử dụng</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03735">
                <a:tc>
                  <a:txBody>
                    <a:bodyPr/>
                    <a:lstStyle/>
                    <a:p>
                      <a:pPr algn="ctr" latinLnBrk="1"/>
                      <a:r>
                        <a:rPr lang="en-US" altLang="ko-KR" sz="1200" b="1" u="sng"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320</a:t>
                      </a:r>
                      <a:r>
                        <a:rPr lang="ko-KR" altLang="en-US"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 phẩm</a:t>
                      </a:r>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65" name="표 37"/>
          <p:cNvGraphicFramePr>
            <a:graphicFrameLocks noGrp="1"/>
          </p:cNvGraphicFramePr>
          <p:nvPr/>
        </p:nvGraphicFramePr>
        <p:xfrm>
          <a:off x="4388106" y="3103777"/>
          <a:ext cx="2858722" cy="627069"/>
        </p:xfrm>
        <a:graphic>
          <a:graphicData uri="http://schemas.openxmlformats.org/drawingml/2006/table">
            <a:tbl>
              <a:tblPr firstRow="1" bandRow="1">
                <a:tableStyleId>{5C22544A-7EE6-4342-B048-85BDC9FD1C3A}</a:tableStyleId>
              </a:tblPr>
              <a:tblGrid>
                <a:gridCol w="2858722">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câu hỏi chưa trả lời</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03735">
                <a:tc>
                  <a:txBody>
                    <a:bodyPr/>
                    <a:lstStyle/>
                    <a:p>
                      <a:pPr algn="ctr" latinLnBrk="1"/>
                      <a:r>
                        <a:rPr lang="en-US" altLang="ko-KR" sz="1200" b="1" u="sng"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320</a:t>
                      </a:r>
                      <a:r>
                        <a:rPr lang="ko-KR" altLang="en-US"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câu</a:t>
                      </a:r>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8" name="직사각형 85"/>
          <p:cNvSpPr/>
          <p:nvPr/>
        </p:nvSpPr>
        <p:spPr>
          <a:xfrm>
            <a:off x="2280486" y="2595893"/>
            <a:ext cx="1088338" cy="20459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69" name="타원 86"/>
          <p:cNvSpPr/>
          <p:nvPr/>
        </p:nvSpPr>
        <p:spPr>
          <a:xfrm>
            <a:off x="2205655" y="2510544"/>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4</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71" name="직사각형 87"/>
          <p:cNvSpPr/>
          <p:nvPr/>
        </p:nvSpPr>
        <p:spPr>
          <a:xfrm>
            <a:off x="5339044" y="2599014"/>
            <a:ext cx="982108" cy="20459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72" name="타원 88"/>
          <p:cNvSpPr/>
          <p:nvPr/>
        </p:nvSpPr>
        <p:spPr>
          <a:xfrm>
            <a:off x="5264213" y="2513665"/>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5</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96" name="직사각형 89"/>
          <p:cNvSpPr/>
          <p:nvPr/>
        </p:nvSpPr>
        <p:spPr>
          <a:xfrm>
            <a:off x="5402723" y="3459819"/>
            <a:ext cx="831615" cy="20459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97" name="타원 90"/>
          <p:cNvSpPr/>
          <p:nvPr/>
        </p:nvSpPr>
        <p:spPr>
          <a:xfrm>
            <a:off x="5327892" y="3374470"/>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6</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98" name="표 55"/>
          <p:cNvGraphicFramePr>
            <a:graphicFrameLocks noGrp="1"/>
          </p:cNvGraphicFramePr>
          <p:nvPr/>
        </p:nvGraphicFramePr>
        <p:xfrm>
          <a:off x="1342172" y="3115145"/>
          <a:ext cx="2880320" cy="627069"/>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223334">
                <a:tc>
                  <a:txBody>
                    <a:bodyPr/>
                    <a:lstStyle/>
                    <a:p>
                      <a:pPr algn="l" latinLnBrk="1"/>
                      <a:r>
                        <a:rPr lang="en-US" altLang="ko-KR" sz="9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9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sản phẩm k0 bán được</a:t>
                      </a:r>
                      <a:endParaRPr lang="ko-KR" altLang="en-US" sz="9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28500" marB="285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03735">
                <a:tc>
                  <a:txBody>
                    <a:bodyPr/>
                    <a:lstStyle/>
                    <a:p>
                      <a:pPr algn="ctr" latinLnBrk="1"/>
                      <a:r>
                        <a:rPr lang="en-US" altLang="ko-KR" sz="1200" b="1" u="sng"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33</a:t>
                      </a:r>
                      <a:r>
                        <a:rPr lang="ko-KR" altLang="en-US"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200" b="1" u="sng"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sản phẩm</a:t>
                      </a:r>
                      <a:endParaRPr lang="en-US" altLang="ko-KR" sz="700" b="0" u="sng"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52249" marR="13063" marT="85501" marB="57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99" name="직사각형 58"/>
          <p:cNvSpPr/>
          <p:nvPr/>
        </p:nvSpPr>
        <p:spPr>
          <a:xfrm>
            <a:off x="2288704" y="3463999"/>
            <a:ext cx="1023233" cy="20459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100" name="타원 59"/>
          <p:cNvSpPr/>
          <p:nvPr/>
        </p:nvSpPr>
        <p:spPr>
          <a:xfrm>
            <a:off x="2211510" y="3378650"/>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7</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2855269" cy="461665"/>
          </a:xfrm>
          <a:prstGeom prst="rect">
            <a:avLst/>
          </a:prstGeom>
          <a:noFill/>
        </p:spPr>
        <p:txBody>
          <a:bodyPr wrap="none" rtlCol="0">
            <a:spAutoFit/>
          </a:bodyPr>
          <a:lstStyle/>
          <a:p>
            <a:r>
              <a:rPr lang="en-US" altLang="ko-KR" sz="2400" b="1">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2400" b="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PC]Đăng sản phẩm</a:t>
            </a:r>
            <a:endParaRPr lang="en-US" altLang="ko-KR" sz="2400" b="1" dirty="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 name="TextBox 4"/>
          <p:cNvSpPr txBox="1"/>
          <p:nvPr/>
        </p:nvSpPr>
        <p:spPr>
          <a:xfrm>
            <a:off x="374438" y="2670820"/>
            <a:ext cx="2150269" cy="276999"/>
          </a:xfrm>
          <a:prstGeom prst="rect">
            <a:avLst/>
          </a:prstGeom>
          <a:noFill/>
        </p:spPr>
        <p:txBody>
          <a:bodyPr wrap="none" rtlCol="0">
            <a:spAutoFit/>
          </a:bodyPr>
          <a:lstStyle/>
          <a:p>
            <a:r>
              <a:rPr lang="en-US" altLang="ko-KR" sz="1200" smtClean="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rPr>
              <a:t>T-Bridge Giải pháp vé tổng hợp</a:t>
            </a:r>
            <a:endParaRPr lang="ko-KR" altLang="en-US" sz="1200" dirty="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 name="직사각형 6"/>
          <p:cNvSpPr/>
          <p:nvPr/>
        </p:nvSpPr>
        <p:spPr>
          <a:xfrm>
            <a:off x="776536" y="4873335"/>
            <a:ext cx="1068838" cy="200381"/>
          </a:xfrm>
          <a:prstGeom prst="rect">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Seller Office sp A</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 name="직사각형 21"/>
          <p:cNvSpPr/>
          <p:nvPr/>
        </p:nvSpPr>
        <p:spPr>
          <a:xfrm>
            <a:off x="1114439" y="5159112"/>
            <a:ext cx="725522" cy="192928"/>
          </a:xfrm>
          <a:prstGeom prst="rect">
            <a:avLst/>
          </a:prstGeom>
          <a:solidFill>
            <a:schemeClr val="accent1">
              <a:lumMod val="75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Opt 1</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3" name="직사각형 22"/>
          <p:cNvSpPr/>
          <p:nvPr/>
        </p:nvSpPr>
        <p:spPr>
          <a:xfrm>
            <a:off x="1114439" y="5421756"/>
            <a:ext cx="725522" cy="192928"/>
          </a:xfrm>
          <a:prstGeom prst="rect">
            <a:avLst/>
          </a:prstGeom>
          <a:solidFill>
            <a:schemeClr val="accent1">
              <a:lumMod val="75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Opt 2</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5" name="직선 연결선[R] 74"/>
          <p:cNvCxnSpPr>
            <a:endCxn id="22" idx="1"/>
          </p:cNvCxnSpPr>
          <p:nvPr/>
        </p:nvCxnSpPr>
        <p:spPr>
          <a:xfrm rot="16200000" flipH="1">
            <a:off x="934686" y="5075823"/>
            <a:ext cx="180030"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직선 연결선[R] 74"/>
          <p:cNvCxnSpPr>
            <a:endCxn id="23" idx="1"/>
          </p:cNvCxnSpPr>
          <p:nvPr/>
        </p:nvCxnSpPr>
        <p:spPr>
          <a:xfrm rot="16200000" flipH="1">
            <a:off x="803854" y="5207635"/>
            <a:ext cx="441694"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3" name="직사각형 192"/>
          <p:cNvSpPr/>
          <p:nvPr/>
        </p:nvSpPr>
        <p:spPr>
          <a:xfrm>
            <a:off x="488504" y="3218033"/>
            <a:ext cx="1616500" cy="279802"/>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Seller Office đăng/sửa sp</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4" name="TextBox 193"/>
          <p:cNvSpPr txBox="1"/>
          <p:nvPr/>
        </p:nvSpPr>
        <p:spPr>
          <a:xfrm>
            <a:off x="802716" y="3015168"/>
            <a:ext cx="1311578" cy="200055"/>
          </a:xfrm>
          <a:prstGeom prst="rect">
            <a:avLst/>
          </a:prstGeom>
          <a:noFill/>
        </p:spPr>
        <p:txBody>
          <a:bodyPr wrap="none" rtlCol="0">
            <a:spAutoFit/>
          </a:bodyPr>
          <a:lstStyle/>
          <a:p>
            <a:pPr algn="ctr"/>
            <a:r>
              <a:rPr kumimoji="1" lang="en-US" altLang="ko-KR" sz="700" b="1" i="1" smtClean="0">
                <a:latin typeface="Times New Roman" panose="02020603050405020304" pitchFamily="18" charset="0"/>
                <a:ea typeface="Nanum Gothic" panose="020D0604000000000000" pitchFamily="34" charset="-127"/>
                <a:cs typeface="Times New Roman" panose="02020603050405020304" pitchFamily="18" charset="0"/>
              </a:rPr>
              <a:t>Người bán hoặc nhà cung cấp</a:t>
            </a:r>
            <a:endParaRPr kumimoji="1" lang="ko-KR" altLang="en-US" sz="700" b="1" i="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5" name="다이아몬드 194"/>
          <p:cNvSpPr/>
          <p:nvPr/>
        </p:nvSpPr>
        <p:spPr>
          <a:xfrm>
            <a:off x="2894221" y="3051147"/>
            <a:ext cx="896419" cy="613574"/>
          </a:xfrm>
          <a:prstGeom prst="diamond">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Liên kết API của kênh bán</a:t>
            </a:r>
            <a:endParaRPr kumimoji="1"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97" name="직선 화살표 연결선 196"/>
          <p:cNvCxnSpPr>
            <a:stCxn id="193" idx="3"/>
            <a:endCxn id="195" idx="1"/>
          </p:cNvCxnSpPr>
          <p:nvPr/>
        </p:nvCxnSpPr>
        <p:spPr>
          <a:xfrm>
            <a:off x="2105004" y="3357934"/>
            <a:ext cx="789217" cy="0"/>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9" name="직선 화살표 연결선 198"/>
          <p:cNvCxnSpPr>
            <a:stCxn id="195" idx="2"/>
            <a:endCxn id="215" idx="0"/>
          </p:cNvCxnSpPr>
          <p:nvPr/>
        </p:nvCxnSpPr>
        <p:spPr>
          <a:xfrm>
            <a:off x="3342431" y="3664721"/>
            <a:ext cx="0" cy="344473"/>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2" name="직선 화살표 연결선 198"/>
          <p:cNvCxnSpPr>
            <a:stCxn id="195" idx="3"/>
            <a:endCxn id="218" idx="1"/>
          </p:cNvCxnSpPr>
          <p:nvPr/>
        </p:nvCxnSpPr>
        <p:spPr>
          <a:xfrm flipV="1">
            <a:off x="3790640" y="3354326"/>
            <a:ext cx="795769" cy="3608"/>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5" name="직사각형 214"/>
          <p:cNvSpPr/>
          <p:nvPr/>
        </p:nvSpPr>
        <p:spPr>
          <a:xfrm>
            <a:off x="2242470" y="4009194"/>
            <a:ext cx="2199922" cy="279802"/>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đăng sản phẩm</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18" name="직사각형 217"/>
          <p:cNvSpPr/>
          <p:nvPr/>
        </p:nvSpPr>
        <p:spPr>
          <a:xfrm>
            <a:off x="4586409" y="3217099"/>
            <a:ext cx="1178116" cy="27445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Gửi excel</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33" name="직선 화살표 연결선 232"/>
          <p:cNvCxnSpPr>
            <a:stCxn id="215" idx="2"/>
            <a:endCxn id="224" idx="0"/>
          </p:cNvCxnSpPr>
          <p:nvPr/>
        </p:nvCxnSpPr>
        <p:spPr>
          <a:xfrm flipH="1">
            <a:off x="2768055" y="4288996"/>
            <a:ext cx="574376" cy="392427"/>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6" name="직선 화살표 연결선 235"/>
          <p:cNvCxnSpPr>
            <a:stCxn id="215" idx="2"/>
            <a:endCxn id="225" idx="0"/>
          </p:cNvCxnSpPr>
          <p:nvPr/>
        </p:nvCxnSpPr>
        <p:spPr>
          <a:xfrm>
            <a:off x="3342431" y="4288996"/>
            <a:ext cx="579829" cy="384392"/>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8" name="직사각형 237"/>
          <p:cNvSpPr/>
          <p:nvPr/>
        </p:nvSpPr>
        <p:spPr>
          <a:xfrm>
            <a:off x="4586408" y="4017120"/>
            <a:ext cx="1172031" cy="279802"/>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thủ công</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0" name="직사각형 249"/>
          <p:cNvSpPr/>
          <p:nvPr/>
        </p:nvSpPr>
        <p:spPr>
          <a:xfrm>
            <a:off x="2242470" y="4876034"/>
            <a:ext cx="1068838" cy="20038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 phẩm A</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1" name="직사각형 250"/>
          <p:cNvSpPr/>
          <p:nvPr/>
        </p:nvSpPr>
        <p:spPr>
          <a:xfrm>
            <a:off x="2502719" y="5161811"/>
            <a:ext cx="816219" cy="192928"/>
          </a:xfrm>
          <a:prstGeom prst="rect">
            <a:avLst/>
          </a:prstGeom>
          <a:solidFill>
            <a:schemeClr val="accent5">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1(C_111</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2" name="직사각형 251"/>
          <p:cNvSpPr/>
          <p:nvPr/>
        </p:nvSpPr>
        <p:spPr>
          <a:xfrm>
            <a:off x="2502719" y="5424455"/>
            <a:ext cx="816219" cy="192928"/>
          </a:xfrm>
          <a:prstGeom prst="rect">
            <a:avLst/>
          </a:prstGeom>
          <a:solidFill>
            <a:schemeClr val="accent5">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2(C_222</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53" name="직선 연결선[R] 74"/>
          <p:cNvCxnSpPr>
            <a:endCxn id="251" idx="1"/>
          </p:cNvCxnSpPr>
          <p:nvPr/>
        </p:nvCxnSpPr>
        <p:spPr>
          <a:xfrm rot="16200000" flipH="1">
            <a:off x="2322966" y="5078522"/>
            <a:ext cx="180030"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4" name="직선 연결선[R] 74"/>
          <p:cNvCxnSpPr>
            <a:endCxn id="252" idx="1"/>
          </p:cNvCxnSpPr>
          <p:nvPr/>
        </p:nvCxnSpPr>
        <p:spPr>
          <a:xfrm rot="16200000" flipH="1">
            <a:off x="2192134" y="5210334"/>
            <a:ext cx="441694"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직사각형 256"/>
          <p:cNvSpPr/>
          <p:nvPr/>
        </p:nvSpPr>
        <p:spPr>
          <a:xfrm>
            <a:off x="3365924" y="4876034"/>
            <a:ext cx="1068838" cy="20038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 phẩm A</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8" name="직사각형 257"/>
          <p:cNvSpPr/>
          <p:nvPr/>
        </p:nvSpPr>
        <p:spPr>
          <a:xfrm>
            <a:off x="3626173" y="5161811"/>
            <a:ext cx="816219" cy="192928"/>
          </a:xfrm>
          <a:prstGeom prst="rect">
            <a:avLst/>
          </a:prstGeom>
          <a:solidFill>
            <a:schemeClr val="accent6">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1(T_111</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9" name="직사각형 258"/>
          <p:cNvSpPr/>
          <p:nvPr/>
        </p:nvSpPr>
        <p:spPr>
          <a:xfrm>
            <a:off x="3626173" y="5424455"/>
            <a:ext cx="816219" cy="192928"/>
          </a:xfrm>
          <a:prstGeom prst="rect">
            <a:avLst/>
          </a:prstGeom>
          <a:solidFill>
            <a:schemeClr val="accent6">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2(T_222</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60" name="직선 연결선[R] 74"/>
          <p:cNvCxnSpPr>
            <a:endCxn id="258" idx="1"/>
          </p:cNvCxnSpPr>
          <p:nvPr/>
        </p:nvCxnSpPr>
        <p:spPr>
          <a:xfrm rot="16200000" flipH="1">
            <a:off x="3446420" y="5078522"/>
            <a:ext cx="180030"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1" name="직선 연결선[R] 74"/>
          <p:cNvCxnSpPr>
            <a:endCxn id="259" idx="1"/>
          </p:cNvCxnSpPr>
          <p:nvPr/>
        </p:nvCxnSpPr>
        <p:spPr>
          <a:xfrm rot="16200000" flipH="1">
            <a:off x="3315588" y="5210334"/>
            <a:ext cx="441694"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직선 화살표 연결선 278"/>
          <p:cNvCxnSpPr>
            <a:endCxn id="238" idx="0"/>
          </p:cNvCxnSpPr>
          <p:nvPr/>
        </p:nvCxnSpPr>
        <p:spPr>
          <a:xfrm>
            <a:off x="5170634" y="3512229"/>
            <a:ext cx="1790" cy="504891"/>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81" name="직사각형 280"/>
          <p:cNvSpPr/>
          <p:nvPr/>
        </p:nvSpPr>
        <p:spPr>
          <a:xfrm>
            <a:off x="4649768" y="4876034"/>
            <a:ext cx="1068838" cy="20038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 phẩm A</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82" name="직사각형 281"/>
          <p:cNvSpPr/>
          <p:nvPr/>
        </p:nvSpPr>
        <p:spPr>
          <a:xfrm>
            <a:off x="4910017" y="5161811"/>
            <a:ext cx="816219" cy="192928"/>
          </a:xfrm>
          <a:prstGeom prst="rect">
            <a:avLst/>
          </a:prstGeom>
          <a:solidFill>
            <a:srgbClr val="FFFFCC"/>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1(W_111</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83" name="직사각형 282"/>
          <p:cNvSpPr/>
          <p:nvPr/>
        </p:nvSpPr>
        <p:spPr>
          <a:xfrm>
            <a:off x="4910017" y="5424455"/>
            <a:ext cx="816219" cy="192928"/>
          </a:xfrm>
          <a:prstGeom prst="rect">
            <a:avLst/>
          </a:prstGeom>
          <a:solidFill>
            <a:srgbClr val="FFFFCC"/>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2(W_222</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84" name="직선 연결선[R] 74"/>
          <p:cNvCxnSpPr>
            <a:endCxn id="282" idx="1"/>
          </p:cNvCxnSpPr>
          <p:nvPr/>
        </p:nvCxnSpPr>
        <p:spPr>
          <a:xfrm rot="16200000" flipH="1">
            <a:off x="4730264" y="5078522"/>
            <a:ext cx="180030"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직선 연결선[R] 74"/>
          <p:cNvCxnSpPr>
            <a:endCxn id="283" idx="1"/>
          </p:cNvCxnSpPr>
          <p:nvPr/>
        </p:nvCxnSpPr>
        <p:spPr>
          <a:xfrm rot="16200000" flipH="1">
            <a:off x="4599432" y="5210334"/>
            <a:ext cx="441694"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직선 화살표 연결선 290"/>
          <p:cNvCxnSpPr/>
          <p:nvPr/>
        </p:nvCxnSpPr>
        <p:spPr>
          <a:xfrm>
            <a:off x="5168844" y="4302433"/>
            <a:ext cx="0" cy="337919"/>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4" name="TextBox 223"/>
          <p:cNvSpPr txBox="1"/>
          <p:nvPr/>
        </p:nvSpPr>
        <p:spPr>
          <a:xfrm>
            <a:off x="2319855" y="4681423"/>
            <a:ext cx="896399" cy="230832"/>
          </a:xfrm>
          <a:prstGeom prst="rect">
            <a:avLst/>
          </a:prstGeom>
          <a:solidFill>
            <a:schemeClr val="bg1"/>
          </a:solidFill>
        </p:spPr>
        <p:txBody>
          <a:bodyPr wrap="none" rtlCol="0">
            <a:spAutoFit/>
          </a:bodyPr>
          <a:lstStyle/>
          <a:p>
            <a:pPr algn="ctr"/>
            <a:r>
              <a:rPr kumimoji="1" lang="en-US" altLang="ko-KR" sz="900" b="1" i="1" smtClean="0">
                <a:latin typeface="Times New Roman" panose="02020603050405020304" pitchFamily="18" charset="0"/>
                <a:ea typeface="Nanum Gothic" panose="020D0604000000000000" pitchFamily="34" charset="-127"/>
                <a:cs typeface="Times New Roman" panose="02020603050405020304" pitchFamily="18" charset="0"/>
              </a:rPr>
              <a:t>Kênh C (COU</a:t>
            </a:r>
            <a:r>
              <a:rPr kumimoji="1" lang="en-US" altLang="ko-KR" sz="900" b="1" i="1" dirty="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900" b="1" i="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5" name="TextBox 224"/>
          <p:cNvSpPr txBox="1"/>
          <p:nvPr/>
        </p:nvSpPr>
        <p:spPr>
          <a:xfrm>
            <a:off x="3470854" y="4673388"/>
            <a:ext cx="902812" cy="230832"/>
          </a:xfrm>
          <a:prstGeom prst="rect">
            <a:avLst/>
          </a:prstGeom>
          <a:solidFill>
            <a:schemeClr val="bg1"/>
          </a:solidFill>
        </p:spPr>
        <p:txBody>
          <a:bodyPr wrap="none" rtlCol="0">
            <a:spAutoFit/>
          </a:bodyPr>
          <a:lstStyle/>
          <a:p>
            <a:pPr algn="ctr"/>
            <a:r>
              <a:rPr kumimoji="1" lang="en-US" altLang="ko-KR" sz="900" b="1" i="1" smtClean="0">
                <a:latin typeface="Times New Roman" panose="02020603050405020304" pitchFamily="18" charset="0"/>
                <a:ea typeface="Nanum Gothic" panose="020D0604000000000000" pitchFamily="34" charset="-127"/>
                <a:cs typeface="Times New Roman" panose="02020603050405020304" pitchFamily="18" charset="0"/>
              </a:rPr>
              <a:t>Kênh T (TMN</a:t>
            </a:r>
            <a:r>
              <a:rPr kumimoji="1" lang="en-US" altLang="ko-KR" sz="900" b="1" i="1" dirty="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900" b="1" i="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99" name="TextBox 298"/>
          <p:cNvSpPr txBox="1"/>
          <p:nvPr/>
        </p:nvSpPr>
        <p:spPr>
          <a:xfrm>
            <a:off x="4710737" y="4680981"/>
            <a:ext cx="960519" cy="230832"/>
          </a:xfrm>
          <a:prstGeom prst="rect">
            <a:avLst/>
          </a:prstGeom>
          <a:solidFill>
            <a:schemeClr val="bg1"/>
          </a:solidFill>
        </p:spPr>
        <p:txBody>
          <a:bodyPr wrap="none" rtlCol="0">
            <a:spAutoFit/>
          </a:bodyPr>
          <a:lstStyle/>
          <a:p>
            <a:pPr algn="ctr"/>
            <a:r>
              <a:rPr kumimoji="1" lang="en-US" altLang="ko-KR" sz="900" b="1" i="1" smtClean="0">
                <a:latin typeface="Times New Roman" panose="02020603050405020304" pitchFamily="18" charset="0"/>
                <a:ea typeface="Nanum Gothic" panose="020D0604000000000000" pitchFamily="34" charset="-127"/>
                <a:cs typeface="Times New Roman" panose="02020603050405020304" pitchFamily="18" charset="0"/>
              </a:rPr>
              <a:t>Kênh W (WEM</a:t>
            </a:r>
            <a:r>
              <a:rPr kumimoji="1" lang="en-US" altLang="ko-KR" sz="900" b="1" i="1" dirty="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900" b="1" i="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03" name="직사각형 302"/>
          <p:cNvSpPr/>
          <p:nvPr/>
        </p:nvSpPr>
        <p:spPr>
          <a:xfrm>
            <a:off x="6453215" y="4863992"/>
            <a:ext cx="1068838" cy="200381"/>
          </a:xfrm>
          <a:prstGeom prst="rect">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Seller Office sp A</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04" name="직사각형 303"/>
          <p:cNvSpPr/>
          <p:nvPr/>
        </p:nvSpPr>
        <p:spPr>
          <a:xfrm>
            <a:off x="6847219" y="5143493"/>
            <a:ext cx="725522" cy="192928"/>
          </a:xfrm>
          <a:prstGeom prst="rect">
            <a:avLst/>
          </a:prstGeom>
          <a:solidFill>
            <a:schemeClr val="accent1">
              <a:lumMod val="75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Opt 1</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05" name="직사각형 304"/>
          <p:cNvSpPr/>
          <p:nvPr/>
        </p:nvSpPr>
        <p:spPr>
          <a:xfrm>
            <a:off x="6847219" y="6037000"/>
            <a:ext cx="725522" cy="192928"/>
          </a:xfrm>
          <a:prstGeom prst="rect">
            <a:avLst/>
          </a:prstGeom>
          <a:solidFill>
            <a:schemeClr val="accent1">
              <a:lumMod val="75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Opt 2</a:t>
            </a:r>
            <a:endParaRPr lang="ko-KR" altLang="en-US" sz="900"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306" name="직선 연결선[R] 74"/>
          <p:cNvCxnSpPr>
            <a:endCxn id="304" idx="1"/>
          </p:cNvCxnSpPr>
          <p:nvPr/>
        </p:nvCxnSpPr>
        <p:spPr>
          <a:xfrm rot="16200000" flipH="1">
            <a:off x="6667466" y="5060204"/>
            <a:ext cx="180030"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직선 연결선[R] 74"/>
          <p:cNvCxnSpPr>
            <a:endCxn id="305" idx="1"/>
          </p:cNvCxnSpPr>
          <p:nvPr/>
        </p:nvCxnSpPr>
        <p:spPr>
          <a:xfrm rot="16200000" flipH="1">
            <a:off x="6184172" y="5470416"/>
            <a:ext cx="1146619" cy="179476"/>
          </a:xfrm>
          <a:prstGeom prst="bentConnector2">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0" name="직사각형 309"/>
          <p:cNvSpPr/>
          <p:nvPr/>
        </p:nvSpPr>
        <p:spPr>
          <a:xfrm>
            <a:off x="7861221" y="5153238"/>
            <a:ext cx="816219" cy="192928"/>
          </a:xfrm>
          <a:prstGeom prst="rect">
            <a:avLst/>
          </a:prstGeom>
          <a:solidFill>
            <a:schemeClr val="accent5">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1(C_111</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11" name="직사각형 310"/>
          <p:cNvSpPr/>
          <p:nvPr/>
        </p:nvSpPr>
        <p:spPr>
          <a:xfrm>
            <a:off x="7861221" y="5408958"/>
            <a:ext cx="816219" cy="192928"/>
          </a:xfrm>
          <a:prstGeom prst="rect">
            <a:avLst/>
          </a:prstGeom>
          <a:solidFill>
            <a:schemeClr val="accent6">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1(T_111</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12" name="직사각형 311"/>
          <p:cNvSpPr/>
          <p:nvPr/>
        </p:nvSpPr>
        <p:spPr>
          <a:xfrm>
            <a:off x="7861221" y="5664678"/>
            <a:ext cx="816219" cy="192928"/>
          </a:xfrm>
          <a:prstGeom prst="rect">
            <a:avLst/>
          </a:prstGeom>
          <a:solidFill>
            <a:srgbClr val="FFFFCC"/>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1(W_111</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315" name="직선 연결선[R] 74"/>
          <p:cNvCxnSpPr>
            <a:stCxn id="304" idx="3"/>
            <a:endCxn id="310" idx="1"/>
          </p:cNvCxnSpPr>
          <p:nvPr/>
        </p:nvCxnSpPr>
        <p:spPr>
          <a:xfrm>
            <a:off x="7572741" y="5239957"/>
            <a:ext cx="288480" cy="9745"/>
          </a:xfrm>
          <a:prstGeom prst="straightConnector1">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8" name="직선 연결선[R] 74"/>
          <p:cNvCxnSpPr>
            <a:endCxn id="311" idx="1"/>
          </p:cNvCxnSpPr>
          <p:nvPr/>
        </p:nvCxnSpPr>
        <p:spPr>
          <a:xfrm>
            <a:off x="7572741" y="5244829"/>
            <a:ext cx="288480" cy="260593"/>
          </a:xfrm>
          <a:prstGeom prst="straightConnector1">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1" name="직선 연결선[R] 74"/>
          <p:cNvCxnSpPr>
            <a:endCxn id="312" idx="1"/>
          </p:cNvCxnSpPr>
          <p:nvPr/>
        </p:nvCxnSpPr>
        <p:spPr>
          <a:xfrm>
            <a:off x="7572741" y="5258275"/>
            <a:ext cx="288480" cy="502867"/>
          </a:xfrm>
          <a:prstGeom prst="straightConnector1">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4" name="직사각형 323"/>
          <p:cNvSpPr/>
          <p:nvPr/>
        </p:nvSpPr>
        <p:spPr>
          <a:xfrm>
            <a:off x="7861221" y="6037000"/>
            <a:ext cx="816219" cy="192928"/>
          </a:xfrm>
          <a:prstGeom prst="rect">
            <a:avLst/>
          </a:prstGeom>
          <a:solidFill>
            <a:schemeClr val="accent5">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2(C_222</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25" name="직사각형 324"/>
          <p:cNvSpPr/>
          <p:nvPr/>
        </p:nvSpPr>
        <p:spPr>
          <a:xfrm>
            <a:off x="7861221" y="6292720"/>
            <a:ext cx="816219" cy="192928"/>
          </a:xfrm>
          <a:prstGeom prst="rect">
            <a:avLst/>
          </a:prstGeom>
          <a:solidFill>
            <a:schemeClr val="accent6">
              <a:lumMod val="20000"/>
              <a:lumOff val="80000"/>
            </a:schemeClr>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2(T_222</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26" name="직사각형 325"/>
          <p:cNvSpPr/>
          <p:nvPr/>
        </p:nvSpPr>
        <p:spPr>
          <a:xfrm>
            <a:off x="7861221" y="6548440"/>
            <a:ext cx="816219" cy="192928"/>
          </a:xfrm>
          <a:prstGeom prst="rect">
            <a:avLst/>
          </a:prstGeom>
          <a:solidFill>
            <a:srgbClr val="FFFFCC"/>
          </a:solidFill>
          <a:ln w="317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 2(W_222</a:t>
            </a:r>
            <a:r>
              <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327" name="직선 연결선[R] 74"/>
          <p:cNvCxnSpPr>
            <a:endCxn id="324" idx="1"/>
          </p:cNvCxnSpPr>
          <p:nvPr/>
        </p:nvCxnSpPr>
        <p:spPr>
          <a:xfrm>
            <a:off x="7572741" y="6123719"/>
            <a:ext cx="288480" cy="9745"/>
          </a:xfrm>
          <a:prstGeom prst="straightConnector1">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직선 연결선[R] 74"/>
          <p:cNvCxnSpPr>
            <a:endCxn id="325" idx="1"/>
          </p:cNvCxnSpPr>
          <p:nvPr/>
        </p:nvCxnSpPr>
        <p:spPr>
          <a:xfrm>
            <a:off x="7572741" y="6128591"/>
            <a:ext cx="288480" cy="260593"/>
          </a:xfrm>
          <a:prstGeom prst="straightConnector1">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직선 연결선[R] 74"/>
          <p:cNvCxnSpPr>
            <a:endCxn id="326" idx="1"/>
          </p:cNvCxnSpPr>
          <p:nvPr/>
        </p:nvCxnSpPr>
        <p:spPr>
          <a:xfrm>
            <a:off x="7572741" y="6142037"/>
            <a:ext cx="288480" cy="502867"/>
          </a:xfrm>
          <a:prstGeom prst="straightConnector1">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1" name="TextBox 330"/>
          <p:cNvSpPr txBox="1"/>
          <p:nvPr/>
        </p:nvSpPr>
        <p:spPr>
          <a:xfrm>
            <a:off x="8700757" y="5141211"/>
            <a:ext cx="742511" cy="211203"/>
          </a:xfrm>
          <a:prstGeom prst="rect">
            <a:avLst/>
          </a:prstGeom>
          <a:noFill/>
          <a:ln>
            <a:solidFill>
              <a:schemeClr val="bg1">
                <a:lumMod val="50000"/>
              </a:schemeClr>
            </a:solidFill>
          </a:ln>
        </p:spPr>
        <p:txBody>
          <a:bodyPr wrap="none" tIns="36000" bIns="36000" rtlCol="0">
            <a:spAutoFit/>
          </a:bodyPr>
          <a:lstStyle/>
          <a:p>
            <a:pPr algn="ctr"/>
            <a:r>
              <a:rPr kumimoji="1" lang="en-US" altLang="ko-KR" sz="900" b="1" i="1" dirty="0">
                <a:latin typeface="Times New Roman" panose="02020603050405020304" pitchFamily="18" charset="0"/>
                <a:ea typeface="Nanum Gothic" panose="020D0604000000000000" pitchFamily="34" charset="-127"/>
                <a:cs typeface="Times New Roman" panose="02020603050405020304" pitchFamily="18" charset="0"/>
              </a:rPr>
              <a:t>From COU</a:t>
            </a:r>
            <a:endParaRPr kumimoji="1" lang="ko-KR" altLang="en-US" sz="900" b="1" i="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34" name="TextBox 333"/>
          <p:cNvSpPr txBox="1"/>
          <p:nvPr/>
        </p:nvSpPr>
        <p:spPr>
          <a:xfrm>
            <a:off x="2754930" y="3696445"/>
            <a:ext cx="635110" cy="215444"/>
          </a:xfrm>
          <a:prstGeom prst="rect">
            <a:avLst/>
          </a:prstGeom>
          <a:noFill/>
        </p:spPr>
        <p:txBody>
          <a:bodyPr wrap="none" rtlCol="0">
            <a:spAutoFit/>
          </a:bodyPr>
          <a:lstStyle/>
          <a:p>
            <a:pPr algn="ctr"/>
            <a:r>
              <a:rPr kumimoji="1" lang="en-US" altLang="ko-KR" sz="800" smtClean="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Có liên kết</a:t>
            </a:r>
            <a:endParaRPr kumimoji="1" lang="ko-KR" altLang="en-US" sz="800"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35" name="TextBox 334"/>
          <p:cNvSpPr txBox="1"/>
          <p:nvPr/>
        </p:nvSpPr>
        <p:spPr>
          <a:xfrm>
            <a:off x="3765796" y="3136379"/>
            <a:ext cx="639920" cy="215444"/>
          </a:xfrm>
          <a:prstGeom prst="rect">
            <a:avLst/>
          </a:prstGeom>
          <a:noFill/>
        </p:spPr>
        <p:txBody>
          <a:bodyPr wrap="none" rtlCol="0">
            <a:spAutoFit/>
          </a:bodyPr>
          <a:lstStyle/>
          <a:p>
            <a:pPr algn="ct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K0 liên kết</a:t>
            </a:r>
            <a:endParaRPr kumimoji="1"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336" name="직선 화살표 연결선 335"/>
          <p:cNvCxnSpPr>
            <a:stCxn id="338" idx="2"/>
            <a:endCxn id="344" idx="1"/>
          </p:cNvCxnSpPr>
          <p:nvPr/>
        </p:nvCxnSpPr>
        <p:spPr>
          <a:xfrm rot="5400000" flipH="1" flipV="1">
            <a:off x="3687926" y="3793602"/>
            <a:ext cx="2352108" cy="3058359"/>
          </a:xfrm>
          <a:prstGeom prst="bentConnector4">
            <a:avLst>
              <a:gd name="adj1" fmla="val -9719"/>
              <a:gd name="adj2" fmla="val 89649"/>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8" name="직사각형 337"/>
          <p:cNvSpPr/>
          <p:nvPr/>
        </p:nvSpPr>
        <p:spPr>
          <a:xfrm>
            <a:off x="2234840" y="6111374"/>
            <a:ext cx="2199922" cy="387462"/>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 sản phẩm/mã option</a:t>
            </a:r>
            <a:endParaRPr lang="en-US" altLang="ko-KR"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105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Gửi API </a:t>
            </a:r>
            <a:endParaRPr lang="ko-KR" altLang="en-US" sz="105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44" name="직사각형 343"/>
          <p:cNvSpPr/>
          <p:nvPr/>
        </p:nvSpPr>
        <p:spPr>
          <a:xfrm>
            <a:off x="6393160" y="4017120"/>
            <a:ext cx="3050108" cy="25921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so khớp với mã sp/mã opt của Seller Office</a:t>
            </a:r>
            <a:endParaRPr lang="ko-KR" altLang="en-US"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49" name="직사각형 348"/>
          <p:cNvSpPr/>
          <p:nvPr/>
        </p:nvSpPr>
        <p:spPr>
          <a:xfrm>
            <a:off x="4585300" y="6109008"/>
            <a:ext cx="1180134" cy="41177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5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 sp/mã opt</a:t>
            </a:r>
            <a:endParaRPr lang="en-US" altLang="ko-KR" sz="105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105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Crawler</a:t>
            </a:r>
            <a:endParaRPr lang="ko-KR" altLang="en-US" sz="105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353" name="직선 화살표 연결선 335"/>
          <p:cNvCxnSpPr>
            <a:stCxn id="349" idx="3"/>
            <a:endCxn id="344" idx="1"/>
          </p:cNvCxnSpPr>
          <p:nvPr/>
        </p:nvCxnSpPr>
        <p:spPr>
          <a:xfrm flipV="1">
            <a:off x="5765434" y="4146728"/>
            <a:ext cx="627726" cy="2168168"/>
          </a:xfrm>
          <a:prstGeom prst="bentConnector3">
            <a:avLst>
              <a:gd name="adj1" fmla="val 50000"/>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6" name="직선 화살표 연결선 355"/>
          <p:cNvCxnSpPr/>
          <p:nvPr/>
        </p:nvCxnSpPr>
        <p:spPr>
          <a:xfrm>
            <a:off x="5168844" y="5664678"/>
            <a:ext cx="0" cy="337919"/>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7" name="직선 화살표 연결선 356"/>
          <p:cNvCxnSpPr/>
          <p:nvPr/>
        </p:nvCxnSpPr>
        <p:spPr>
          <a:xfrm>
            <a:off x="3290264" y="5699081"/>
            <a:ext cx="0" cy="337919"/>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6" name="TextBox 375"/>
          <p:cNvSpPr txBox="1"/>
          <p:nvPr/>
        </p:nvSpPr>
        <p:spPr>
          <a:xfrm>
            <a:off x="259263" y="503725"/>
            <a:ext cx="9646738" cy="646331"/>
          </a:xfrm>
          <a:prstGeom prst="rect">
            <a:avLst/>
          </a:prstGeom>
          <a:noFill/>
        </p:spPr>
        <p:txBody>
          <a:bodyPr wrap="square" rtlCol="0">
            <a:spAutoFit/>
          </a:bodyPr>
          <a:lstStyle/>
          <a:p>
            <a:pPr marL="171450" indent="-171450">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Cách đăng/sửa sản phẩm của từng kênh khác nhau tùy theo có liên kết API đăng sản phẩm hay không.</a:t>
            </a:r>
            <a:endPar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endParaRPr>
          </a:p>
          <a:p>
            <a:pPr marL="171450" indent="-171450">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Sau khi đăng sản phẩm, xử lý so khớp mã số của các kênh bán với mã sản phẩm/mã option bên Seller Office. (-&gt; thông tin so khớp sử dụng cho quản lý đơn hàng/doanh thu/quyết toán</a:t>
            </a:r>
            <a:endParaRPr kumimoji="1"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378" name="표 377"/>
          <p:cNvGraphicFramePr>
            <a:graphicFrameLocks noGrp="1"/>
          </p:cNvGraphicFramePr>
          <p:nvPr/>
        </p:nvGraphicFramePr>
        <p:xfrm>
          <a:off x="580521" y="1090814"/>
          <a:ext cx="8399164" cy="1800960"/>
        </p:xfrm>
        <a:graphic>
          <a:graphicData uri="http://schemas.openxmlformats.org/drawingml/2006/table">
            <a:tbl>
              <a:tblPr firstRow="1" bandRow="1">
                <a:tableStyleId>{5940675A-B579-460E-94D1-54222C63F5DA}</a:tableStyleId>
              </a:tblPr>
              <a:tblGrid>
                <a:gridCol w="1552946">
                  <a:extLst>
                    <a:ext uri="{9D8B030D-6E8A-4147-A177-3AD203B41FA5}">
                      <a16:colId xmlns:a16="http://schemas.microsoft.com/office/drawing/2014/main" val="20000"/>
                    </a:ext>
                  </a:extLst>
                </a:gridCol>
                <a:gridCol w="3114711">
                  <a:extLst>
                    <a:ext uri="{9D8B030D-6E8A-4147-A177-3AD203B41FA5}">
                      <a16:colId xmlns:a16="http://schemas.microsoft.com/office/drawing/2014/main" val="20001"/>
                    </a:ext>
                  </a:extLst>
                </a:gridCol>
                <a:gridCol w="3731507">
                  <a:extLst>
                    <a:ext uri="{9D8B030D-6E8A-4147-A177-3AD203B41FA5}">
                      <a16:colId xmlns:a16="http://schemas.microsoft.com/office/drawing/2014/main" val="20002"/>
                    </a:ext>
                  </a:extLst>
                </a:gridCol>
              </a:tblGrid>
              <a:tr h="168322">
                <a:tc>
                  <a:txBody>
                    <a:bodyPr/>
                    <a:lstStyle/>
                    <a:p>
                      <a:pPr algn="ctr" latinLnBrk="1"/>
                      <a:r>
                        <a:rPr lang="en-US" altLang="ko-KR" sz="800" b="1" smtClean="0">
                          <a:solidFill>
                            <a:schemeClr val="tx1"/>
                          </a:solidFill>
                          <a:latin typeface="Times New Roman" panose="02020603050405020304" pitchFamily="18" charset="0"/>
                          <a:ea typeface="나눔고딕" pitchFamily="50" charset="-127"/>
                          <a:cs typeface="Times New Roman" panose="02020603050405020304" pitchFamily="18" charset="0"/>
                        </a:rPr>
                        <a:t>Phân</a:t>
                      </a:r>
                      <a:r>
                        <a:rPr lang="en-US" altLang="ko-KR" sz="800" b="1" baseline="0" smtClean="0">
                          <a:solidFill>
                            <a:schemeClr val="tx1"/>
                          </a:solidFill>
                          <a:latin typeface="Times New Roman" panose="02020603050405020304" pitchFamily="18" charset="0"/>
                          <a:ea typeface="나눔고딕" pitchFamily="50" charset="-127"/>
                          <a:cs typeface="Times New Roman" panose="02020603050405020304" pitchFamily="18" charset="0"/>
                        </a:rPr>
                        <a:t> loại kênh bán</a:t>
                      </a:r>
                      <a:endParaRPr lang="ko-KR" altLang="en-US" sz="800" b="1"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1" smtClean="0">
                          <a:solidFill>
                            <a:schemeClr val="tx1"/>
                          </a:solidFill>
                          <a:latin typeface="Times New Roman" panose="02020603050405020304" pitchFamily="18" charset="0"/>
                          <a:ea typeface="나눔고딕" pitchFamily="50" charset="-127"/>
                          <a:cs typeface="Times New Roman" panose="02020603050405020304" pitchFamily="18" charset="0"/>
                        </a:rPr>
                        <a:t>Đăng/sửa</a:t>
                      </a:r>
                      <a:r>
                        <a:rPr lang="en-US" altLang="ko-KR" sz="800" b="1" baseline="0" smtClean="0">
                          <a:solidFill>
                            <a:schemeClr val="tx1"/>
                          </a:solidFill>
                          <a:latin typeface="Times New Roman" panose="02020603050405020304" pitchFamily="18" charset="0"/>
                          <a:ea typeface="나눔고딕" pitchFamily="50" charset="-127"/>
                          <a:cs typeface="Times New Roman" panose="02020603050405020304" pitchFamily="18" charset="0"/>
                        </a:rPr>
                        <a:t> sản phẩm trên kênh bán</a:t>
                      </a:r>
                      <a:endParaRPr lang="ko-KR" altLang="en-US" sz="800" b="1"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1" smtClean="0">
                          <a:solidFill>
                            <a:schemeClr val="tx1"/>
                          </a:solidFill>
                          <a:latin typeface="Times New Roman" panose="02020603050405020304" pitchFamily="18" charset="0"/>
                          <a:ea typeface="나눔고딕" pitchFamily="50" charset="-127"/>
                          <a:cs typeface="Times New Roman" panose="02020603050405020304" pitchFamily="18" charset="0"/>
                        </a:rPr>
                        <a:t>Quản</a:t>
                      </a:r>
                      <a:r>
                        <a:rPr lang="en-US" altLang="ko-KR" sz="800" b="1" baseline="0" smtClean="0">
                          <a:solidFill>
                            <a:schemeClr val="tx1"/>
                          </a:solidFill>
                          <a:latin typeface="Times New Roman" panose="02020603050405020304" pitchFamily="18" charset="0"/>
                          <a:ea typeface="나눔고딕" pitchFamily="50" charset="-127"/>
                          <a:cs typeface="Times New Roman" panose="02020603050405020304" pitchFamily="18" charset="0"/>
                        </a:rPr>
                        <a:t> lý so khớp mã sản phẩm/mã option</a:t>
                      </a:r>
                      <a:endParaRPr lang="ko-KR" altLang="en-US" sz="800" b="1"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04196">
                <a:tc>
                  <a:txBody>
                    <a:bodyPr/>
                    <a:lstStyle/>
                    <a:p>
                      <a:pPr algn="ctr" latinLnBrk="1"/>
                      <a:r>
                        <a:rPr lang="en-US" altLang="ko-KR" sz="800" b="1" smtClean="0">
                          <a:solidFill>
                            <a:schemeClr val="tx1"/>
                          </a:solidFill>
                          <a:latin typeface="Times New Roman" panose="02020603050405020304" pitchFamily="18" charset="0"/>
                          <a:ea typeface="나눔고딕" pitchFamily="50" charset="-127"/>
                          <a:cs typeface="Times New Roman" panose="02020603050405020304" pitchFamily="18" charset="0"/>
                        </a:rPr>
                        <a:t>Kênh</a:t>
                      </a:r>
                      <a:r>
                        <a:rPr lang="en-US" altLang="ko-KR" sz="800" b="1" baseline="0" smtClean="0">
                          <a:solidFill>
                            <a:schemeClr val="tx1"/>
                          </a:solidFill>
                          <a:latin typeface="Times New Roman" panose="02020603050405020304" pitchFamily="18" charset="0"/>
                          <a:ea typeface="나눔고딕" pitchFamily="50" charset="-127"/>
                          <a:cs typeface="Times New Roman" panose="02020603050405020304" pitchFamily="18" charset="0"/>
                        </a:rPr>
                        <a:t> có liên kết API đăng sản phẩm</a:t>
                      </a:r>
                      <a:endParaRPr lang="ko-KR" altLang="en-US" sz="800" b="1"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Tự</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động đăng và sửa sản phẩm.</a:t>
                      </a:r>
                      <a:endParaRPr lang="en-US" altLang="ko-KR" sz="800"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90805" marR="0" lvl="0" indent="-90805" algn="l" defTabSz="914400" rtl="0" eaLnBrk="1" fontAlgn="auto" latinLnBrk="1" hangingPunct="1">
                        <a:lnSpc>
                          <a:spcPct val="150000"/>
                        </a:lnSpc>
                        <a:spcBef>
                          <a:spcPts val="0"/>
                        </a:spcBef>
                        <a:spcAft>
                          <a:spcPts val="0"/>
                        </a:spcAft>
                        <a:buClrTx/>
                        <a:buSzTx/>
                        <a:buFont typeface="Arial" panose="020B0604020202020204" pitchFamily="34" charset="0"/>
                        <a:buChar char="•"/>
                        <a:defRP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Dùng</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API n</a:t>
                      </a: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hận</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mã sản phẩm/mã option được sinh ra trên từng kênh bán, rồi tiến hành so khớp.</a:t>
                      </a:r>
                      <a:endParaRPr lang="en-US" altLang="ko-KR" sz="800"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1095740">
                <a:tc>
                  <a:txBody>
                    <a:bodyPr/>
                    <a:lstStyle/>
                    <a:p>
                      <a:pPr algn="ctr" latinLnBrk="1"/>
                      <a:r>
                        <a:rPr lang="en-US" altLang="ko-KR" sz="800" b="1" smtClean="0">
                          <a:solidFill>
                            <a:schemeClr val="tx1"/>
                          </a:solidFill>
                          <a:latin typeface="Times New Roman" panose="02020603050405020304" pitchFamily="18" charset="0"/>
                          <a:ea typeface="나눔고딕" pitchFamily="50" charset="-127"/>
                          <a:cs typeface="Times New Roman" panose="02020603050405020304" pitchFamily="18" charset="0"/>
                        </a:rPr>
                        <a:t>Kênh</a:t>
                      </a:r>
                      <a:r>
                        <a:rPr lang="en-US" altLang="ko-KR" sz="800" b="1" baseline="0" smtClean="0">
                          <a:solidFill>
                            <a:schemeClr val="tx1"/>
                          </a:solidFill>
                          <a:latin typeface="Times New Roman" panose="02020603050405020304" pitchFamily="18" charset="0"/>
                          <a:ea typeface="나눔고딕" pitchFamily="50" charset="-127"/>
                          <a:cs typeface="Times New Roman" panose="02020603050405020304" pitchFamily="18" charset="0"/>
                        </a:rPr>
                        <a:t> không liên kết API đăng sản phẩm</a:t>
                      </a:r>
                      <a:endParaRPr lang="ko-KR" altLang="en-US" sz="800" b="1"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Gửi</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file excel thông tin đăng (người nhận: mail của người phụ trách được nhập khi đăng sản phẩm).</a:t>
                      </a:r>
                      <a:endParaRPr lang="en-US" altLang="ko-KR" sz="800" dirty="0">
                        <a:solidFill>
                          <a:schemeClr val="tx1"/>
                        </a:solidFill>
                        <a:latin typeface="Times New Roman" panose="02020603050405020304" pitchFamily="18" charset="0"/>
                        <a:ea typeface="나눔고딕" pitchFamily="50" charset="-127"/>
                        <a:cs typeface="Times New Roman" panose="02020603050405020304" pitchFamily="18" charset="0"/>
                      </a:endParaRPr>
                    </a:p>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Dựa</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trên thông tin excel, người phụ trách của từng kênh sẽ đăng thủ công.</a:t>
                      </a:r>
                      <a:endParaRPr lang="en-US" altLang="ko-KR" sz="800" dirty="0">
                        <a:solidFill>
                          <a:schemeClr val="tx1"/>
                        </a:solidFill>
                        <a:latin typeface="Times New Roman" panose="02020603050405020304" pitchFamily="18" charset="0"/>
                        <a:ea typeface="나눔고딕" pitchFamily="50" charset="-127"/>
                        <a:cs typeface="Times New Roman" panose="02020603050405020304" pitchFamily="18" charset="0"/>
                      </a:endParaRPr>
                    </a:p>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Cần</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có format file excel của từng kênh.</a:t>
                      </a:r>
                      <a:endParaRPr lang="en-US" altLang="ko-KR" sz="800" dirty="0">
                        <a:solidFill>
                          <a:schemeClr val="tx1"/>
                        </a:solidFill>
                        <a:latin typeface="Times New Roman" panose="02020603050405020304" pitchFamily="18" charset="0"/>
                        <a:ea typeface="나눔고딕" pitchFamily="50" charset="-127"/>
                        <a:cs typeface="Times New Roman" panose="02020603050405020304" pitchFamily="18" charset="0"/>
                      </a:endParaRPr>
                    </a:p>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Khi sửa</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thông tin sản phẩm, chỉ nhập thông tin cần sửa rồi gửi đi.</a:t>
                      </a:r>
                      <a:endParaRPr lang="ko-KR" altLang="en-US" sz="800"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Thu thập</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mã sản phẩm/mã option  được sinh ra trên từng kênh, sau đó so khớp.</a:t>
                      </a:r>
                      <a:endParaRPr lang="ko-KR" altLang="en-US" sz="800" dirty="0">
                        <a:solidFill>
                          <a:schemeClr val="tx1"/>
                        </a:solidFill>
                        <a:latin typeface="Times New Roman" panose="02020603050405020304" pitchFamily="18" charset="0"/>
                        <a:ea typeface="나눔고딕" pitchFamily="50" charset="-127"/>
                        <a:cs typeface="Times New Roman" panose="02020603050405020304" pitchFamily="18" charset="0"/>
                      </a:endParaRPr>
                    </a:p>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Mã</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sản phẩm chỉ so khớp 1 lần lúc đầu.</a:t>
                      </a:r>
                      <a:endParaRPr lang="ko-KR" altLang="en-US" sz="800" dirty="0">
                        <a:solidFill>
                          <a:schemeClr val="tx1"/>
                        </a:solidFill>
                        <a:latin typeface="Times New Roman" panose="02020603050405020304" pitchFamily="18" charset="0"/>
                        <a:ea typeface="나눔고딕" pitchFamily="50" charset="-127"/>
                        <a:cs typeface="Times New Roman" panose="02020603050405020304" pitchFamily="18" charset="0"/>
                      </a:endParaRPr>
                    </a:p>
                    <a:p>
                      <a:pPr marL="90805" indent="-90805" algn="l" latinLnBrk="1">
                        <a:lnSpc>
                          <a:spcPct val="150000"/>
                        </a:lnSpc>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Mã</a:t>
                      </a:r>
                      <a:r>
                        <a:rPr lang="en-US" altLang="ko-KR" sz="800" baseline="0" smtClean="0">
                          <a:solidFill>
                            <a:schemeClr val="tx1"/>
                          </a:solidFill>
                          <a:latin typeface="Times New Roman" panose="02020603050405020304" pitchFamily="18" charset="0"/>
                          <a:ea typeface="나눔고딕" pitchFamily="50" charset="-127"/>
                          <a:cs typeface="Times New Roman" panose="02020603050405020304" pitchFamily="18" charset="0"/>
                        </a:rPr>
                        <a:t> option phải được thu thập và cập nhật định kỳ (cần quy định chu kỳ thu thập)</a:t>
                      </a:r>
                      <a:endParaRPr lang="en-US" altLang="ko-KR" sz="800" dirty="0">
                        <a:solidFill>
                          <a:schemeClr val="tx1"/>
                        </a:solidFill>
                        <a:latin typeface="Times New Roman" panose="02020603050405020304" pitchFamily="18" charset="0"/>
                        <a:ea typeface="나눔고딕" pitchFamily="50" charset="-127"/>
                        <a:cs typeface="Times New Roman" panose="02020603050405020304" pitchFamily="18"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pic>
        <p:nvPicPr>
          <p:cNvPr id="188" name="그림 187"/>
          <p:cNvPicPr>
            <a:picLocks noChangeAspect="1"/>
          </p:cNvPicPr>
          <p:nvPr/>
        </p:nvPicPr>
        <p:blipFill>
          <a:blip r:embed="rId3" cstate="print"/>
          <a:stretch>
            <a:fillRect/>
          </a:stretch>
        </p:blipFill>
        <p:spPr>
          <a:xfrm>
            <a:off x="614454" y="2988469"/>
            <a:ext cx="266156" cy="266156"/>
          </a:xfrm>
          <a:prstGeom prst="rect">
            <a:avLst/>
          </a:prstGeom>
        </p:spPr>
      </p:pic>
      <p:sp>
        <p:nvSpPr>
          <p:cNvPr id="390" name="TextBox 389"/>
          <p:cNvSpPr txBox="1"/>
          <p:nvPr/>
        </p:nvSpPr>
        <p:spPr>
          <a:xfrm>
            <a:off x="259262" y="2644633"/>
            <a:ext cx="1340880" cy="276999"/>
          </a:xfrm>
          <a:prstGeom prst="rect">
            <a:avLst/>
          </a:prstGeom>
          <a:noFill/>
        </p:spPr>
        <p:txBody>
          <a:bodyPr wrap="none" rtlCol="0">
            <a:spAutoFit/>
          </a:bodyPr>
          <a:lstStyle/>
          <a:p>
            <a:pPr marL="171450" indent="-171450">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Process chi tiết</a:t>
            </a:r>
            <a:endParaRPr kumimoji="1"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직선 연결선[R] 11"/>
          <p:cNvCxnSpPr/>
          <p:nvPr/>
        </p:nvCxnSpPr>
        <p:spPr>
          <a:xfrm rot="10800000" flipV="1">
            <a:off x="1910021" y="2185527"/>
            <a:ext cx="543180" cy="432461"/>
          </a:xfrm>
          <a:prstGeom prst="curvedConnector2">
            <a:avLst/>
          </a:prstGeom>
          <a:ln w="3175">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2" name="직사각형 91"/>
          <p:cNvSpPr/>
          <p:nvPr/>
        </p:nvSpPr>
        <p:spPr>
          <a:xfrm>
            <a:off x="2360712" y="1844824"/>
            <a:ext cx="2435810" cy="544676"/>
          </a:xfrm>
          <a:prstGeom prst="rect">
            <a:avLst/>
          </a:prstGeom>
          <a:solidFill>
            <a:schemeClr val="accent6">
              <a:lumMod val="20000"/>
              <a:lumOff val="80000"/>
            </a:schemeClr>
          </a:solidFill>
          <a:ln w="3175">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ko-KR" sz="800" b="1" u="sng" smtClean="0">
                <a:solidFill>
                  <a:schemeClr val="tx1"/>
                </a:solidFill>
                <a:latin typeface="Times New Roman" panose="02020603050405020304" pitchFamily="18" charset="0"/>
                <a:ea typeface="나눔고딕" pitchFamily="50" charset="-127"/>
                <a:cs typeface="Times New Roman" panose="02020603050405020304" pitchFamily="18" charset="0"/>
              </a:rPr>
              <a:t>Điều kiện so khớp sản phẩm thu thập</a:t>
            </a:r>
            <a:endParaRPr lang="ko-KR" altLang="en-US" sz="800" b="1" u="sng" dirty="0">
              <a:solidFill>
                <a:schemeClr val="tx1"/>
              </a:solidFill>
              <a:latin typeface="Times New Roman" panose="02020603050405020304" pitchFamily="18" charset="0"/>
              <a:ea typeface="나눔고딕" pitchFamily="50"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 So khớp sản phẩm khi cả 4 điều kiện sau đều đồng nhất:</a:t>
            </a:r>
            <a:endParaRPr lang="ko-KR" altLang="en-US" sz="800" dirty="0">
              <a:solidFill>
                <a:schemeClr val="tx1"/>
              </a:solidFill>
              <a:latin typeface="Times New Roman" panose="02020603050405020304" pitchFamily="18" charset="0"/>
              <a:ea typeface="나눔고딕" pitchFamily="50"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 Mã kênh, tên sản phẩm (tên deal), thời gian bán, thời gian hiệu lực.</a:t>
            </a:r>
            <a:endParaRPr lang="ko-KR" altLang="en-US" sz="800" dirty="0">
              <a:solidFill>
                <a:schemeClr val="tx1"/>
              </a:solidFill>
              <a:latin typeface="Times New Roman" panose="02020603050405020304" pitchFamily="18" charset="0"/>
              <a:ea typeface="나눔고딕" pitchFamily="50" charset="-127"/>
              <a:cs typeface="Times New Roman" panose="02020603050405020304" pitchFamily="18" charset="0"/>
            </a:endParaRPr>
          </a:p>
        </p:txBody>
      </p:sp>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anose="02020603050405020304" pitchFamily="18" charset="0"/>
                <a:ea typeface="Nanum Gothic" panose="020D0604000000000000" pitchFamily="34" charset="-127"/>
                <a:cs typeface="Times New Roman" panose="02020603050405020304" pitchFamily="18" charset="0"/>
              </a:rPr>
              <a:t>Sản phẩm được thu thập_chi tiết so khớp mã sản phẩm/mã option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76" name="TextBox 375"/>
          <p:cNvSpPr txBox="1"/>
          <p:nvPr/>
        </p:nvSpPr>
        <p:spPr>
          <a:xfrm>
            <a:off x="416496" y="960554"/>
            <a:ext cx="8220520" cy="553998"/>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Sau khi sản phẩm được đăng lên T-Bridge, gửi crawler đến các kênh để thu thập thông tin, nếu deal (sản phẩm) được đăng thì so khớp lẫn nhau.</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171450" indent="-171450">
              <a:lnSpc>
                <a:spcPct val="150000"/>
              </a:lnSpc>
              <a:buFont typeface="Wingdings" panose="05000000000000000000" pitchFamily="2" charset="2"/>
              <a:buChar char="v"/>
            </a:pP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So khớp mã sản phẩm 1 lần, sau đó tiến hành so khớp mã option của sản phẩm đó.</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다이아몬드 70"/>
          <p:cNvSpPr/>
          <p:nvPr/>
        </p:nvSpPr>
        <p:spPr>
          <a:xfrm>
            <a:off x="1369323" y="3786078"/>
            <a:ext cx="896419" cy="613574"/>
          </a:xfrm>
          <a:prstGeom prst="diamond">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Kiểm tra số lượng option</a:t>
            </a:r>
            <a:endParaRPr kumimoji="1"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2" name="직선 화살표 연결선 198"/>
          <p:cNvCxnSpPr>
            <a:stCxn id="71" idx="3"/>
            <a:endCxn id="73" idx="1"/>
          </p:cNvCxnSpPr>
          <p:nvPr/>
        </p:nvCxnSpPr>
        <p:spPr>
          <a:xfrm flipV="1">
            <a:off x="2265742" y="4089257"/>
            <a:ext cx="795769" cy="3608"/>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3" name="직사각형 72"/>
          <p:cNvSpPr/>
          <p:nvPr/>
        </p:nvSpPr>
        <p:spPr>
          <a:xfrm>
            <a:off x="3061511" y="3952030"/>
            <a:ext cx="1178116" cy="27445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so khớp theo thứ tự đăng</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TextBox 73"/>
          <p:cNvSpPr txBox="1"/>
          <p:nvPr/>
        </p:nvSpPr>
        <p:spPr>
          <a:xfrm>
            <a:off x="2216696" y="4404120"/>
            <a:ext cx="624845" cy="338554"/>
          </a:xfrm>
          <a:prstGeom prst="rect">
            <a:avLst/>
          </a:prstGeom>
          <a:noFill/>
        </p:spPr>
        <p:txBody>
          <a:bodyPr wrap="square" rtlCol="0">
            <a:spAutoFit/>
          </a:bodyPr>
          <a:lstStyle/>
          <a:p>
            <a:pPr algn="ct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Không đồng nhất</a:t>
            </a:r>
            <a:endParaRPr kumimoji="1"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TextBox 75"/>
          <p:cNvSpPr txBox="1"/>
          <p:nvPr/>
        </p:nvSpPr>
        <p:spPr>
          <a:xfrm>
            <a:off x="2375866" y="3924475"/>
            <a:ext cx="561372" cy="338554"/>
          </a:xfrm>
          <a:prstGeom prst="rect">
            <a:avLst/>
          </a:prstGeom>
          <a:noFill/>
        </p:spPr>
        <p:txBody>
          <a:bodyPr wrap="square" rtlCol="0">
            <a:spAutoFit/>
          </a:bodyPr>
          <a:lstStyle/>
          <a:p>
            <a:pPr algn="ctr"/>
            <a:r>
              <a:rPr kumimoji="1" lang="en-US" altLang="ko-KR" sz="800" smtClean="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Đồng nhất</a:t>
            </a:r>
            <a:endParaRPr kumimoji="1" lang="ko-KR" altLang="en-US" sz="800"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3088869" y="4431232"/>
            <a:ext cx="1178116" cy="27445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So sánh text xem đồng nhất không</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8" name="직선 화살표 연결선 198"/>
          <p:cNvCxnSpPr>
            <a:endCxn id="81" idx="1"/>
          </p:cNvCxnSpPr>
          <p:nvPr/>
        </p:nvCxnSpPr>
        <p:spPr>
          <a:xfrm>
            <a:off x="4247927" y="4082306"/>
            <a:ext cx="768410" cy="180119"/>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1" name="직사각형 80"/>
          <p:cNvSpPr/>
          <p:nvPr/>
        </p:nvSpPr>
        <p:spPr>
          <a:xfrm>
            <a:off x="5016337" y="4125198"/>
            <a:ext cx="1365151" cy="27445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Kiểm tra thủ công xem đồng nhất chưa</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82" name="직선 화살표 연결선 198"/>
          <p:cNvCxnSpPr>
            <a:stCxn id="77" idx="3"/>
            <a:endCxn id="81" idx="1"/>
          </p:cNvCxnSpPr>
          <p:nvPr/>
        </p:nvCxnSpPr>
        <p:spPr>
          <a:xfrm flipV="1">
            <a:off x="4266985" y="4262425"/>
            <a:ext cx="749352" cy="306034"/>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5" name="직사각형 84"/>
          <p:cNvSpPr/>
          <p:nvPr/>
        </p:nvSpPr>
        <p:spPr>
          <a:xfrm>
            <a:off x="7023115" y="4114788"/>
            <a:ext cx="1178116" cy="27445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Xử lý so khớp cuối cùng</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86" name="직선 화살표 연결선 198"/>
          <p:cNvCxnSpPr>
            <a:stCxn id="81" idx="3"/>
          </p:cNvCxnSpPr>
          <p:nvPr/>
        </p:nvCxnSpPr>
        <p:spPr>
          <a:xfrm>
            <a:off x="6381488" y="4262425"/>
            <a:ext cx="617035" cy="142"/>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직선 화살표 연결선 198"/>
          <p:cNvCxnSpPr>
            <a:stCxn id="71" idx="2"/>
            <a:endCxn id="77" idx="1"/>
          </p:cNvCxnSpPr>
          <p:nvPr/>
        </p:nvCxnSpPr>
        <p:spPr>
          <a:xfrm rot="16200000" flipH="1">
            <a:off x="2368798" y="3848387"/>
            <a:ext cx="168807" cy="1271336"/>
          </a:xfrm>
          <a:prstGeom prst="bentConnector2">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1" name="다이아몬드 90"/>
          <p:cNvSpPr/>
          <p:nvPr/>
        </p:nvSpPr>
        <p:spPr>
          <a:xfrm>
            <a:off x="1369322" y="2549623"/>
            <a:ext cx="896419" cy="613574"/>
          </a:xfrm>
          <a:prstGeom prst="diamond">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Kiểm tra điều kiện so khớp</a:t>
            </a:r>
            <a:endParaRPr kumimoji="1"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00" name="직선 화살표 연결선 198"/>
          <p:cNvCxnSpPr>
            <a:stCxn id="91" idx="2"/>
            <a:endCxn id="71" idx="0"/>
          </p:cNvCxnSpPr>
          <p:nvPr/>
        </p:nvCxnSpPr>
        <p:spPr>
          <a:xfrm>
            <a:off x="1817532" y="3163197"/>
            <a:ext cx="1" cy="622881"/>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1006665" y="3154087"/>
            <a:ext cx="819455" cy="338554"/>
          </a:xfrm>
          <a:prstGeom prst="rect">
            <a:avLst/>
          </a:prstGeom>
          <a:noFill/>
        </p:spPr>
        <p:txBody>
          <a:bodyPr wrap="square" rtlCol="0">
            <a:spAutoFit/>
          </a:bodyPr>
          <a:lstStyle/>
          <a:p>
            <a:pPr algn="ctr"/>
            <a:r>
              <a:rPr kumimoji="1" lang="en-US" altLang="ko-KR" sz="800" smtClean="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Mọi điều kiện đều đồng nhất</a:t>
            </a:r>
            <a:endParaRPr kumimoji="1" lang="ko-KR" altLang="en-US" sz="800"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직사각형 104"/>
          <p:cNvSpPr/>
          <p:nvPr/>
        </p:nvSpPr>
        <p:spPr>
          <a:xfrm>
            <a:off x="4980777" y="3597495"/>
            <a:ext cx="1400712" cy="27445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riêng sản phẩm cần so khớp</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09" name="직선 화살표 연결선 198"/>
          <p:cNvCxnSpPr>
            <a:stCxn id="91" idx="3"/>
            <a:endCxn id="105" idx="0"/>
          </p:cNvCxnSpPr>
          <p:nvPr/>
        </p:nvCxnSpPr>
        <p:spPr>
          <a:xfrm>
            <a:off x="2265741" y="2856410"/>
            <a:ext cx="3415392" cy="741085"/>
          </a:xfrm>
          <a:prstGeom prst="bentConnector2">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2552253" y="2690966"/>
            <a:ext cx="1267247" cy="338554"/>
          </a:xfrm>
          <a:prstGeom prst="rect">
            <a:avLst/>
          </a:prstGeom>
          <a:noFill/>
        </p:spPr>
        <p:txBody>
          <a:bodyPr wrap="square" rtlCol="0">
            <a:spAutoFit/>
          </a:bodyPr>
          <a:lstStyle/>
          <a:p>
            <a:pPr algn="ctr"/>
            <a:r>
              <a:rPr kumimoji="1" lang="en-US" altLang="ko-KR" sz="800"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Có từ 1 điều kiện không đồng nhất</a:t>
            </a:r>
            <a:endParaRPr kumimoji="1" lang="ko-KR" altLang="en-US" sz="800"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21" name="직선 연결선[R] 11"/>
          <p:cNvCxnSpPr>
            <a:stCxn id="122" idx="1"/>
          </p:cNvCxnSpPr>
          <p:nvPr/>
        </p:nvCxnSpPr>
        <p:spPr>
          <a:xfrm rot="10800000">
            <a:off x="5283488" y="4399651"/>
            <a:ext cx="133762" cy="638474"/>
          </a:xfrm>
          <a:prstGeom prst="curvedConnector2">
            <a:avLst/>
          </a:prstGeom>
          <a:ln w="3175">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직사각형 121"/>
          <p:cNvSpPr/>
          <p:nvPr/>
        </p:nvSpPr>
        <p:spPr>
          <a:xfrm>
            <a:off x="5417250" y="4844510"/>
            <a:ext cx="3162546" cy="387229"/>
          </a:xfrm>
          <a:prstGeom prst="rect">
            <a:avLst/>
          </a:prstGeom>
          <a:solidFill>
            <a:schemeClr val="accent6">
              <a:lumMod val="20000"/>
              <a:lumOff val="80000"/>
            </a:schemeClr>
          </a:solidFill>
          <a:ln w="3175">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ko-KR" sz="800" b="1" u="sng" smtClean="0">
                <a:solidFill>
                  <a:schemeClr val="tx1"/>
                </a:solidFill>
                <a:latin typeface="Times New Roman" panose="02020603050405020304" pitchFamily="18" charset="0"/>
                <a:ea typeface="나눔고딕" pitchFamily="50" charset="-127"/>
                <a:cs typeface="Times New Roman" panose="02020603050405020304" pitchFamily="18" charset="0"/>
              </a:rPr>
              <a:t>Cần có menu quản lý so khớp trong T-Bridge:</a:t>
            </a:r>
            <a:endParaRPr lang="ko-KR" altLang="en-US" sz="800" b="1" u="sng" dirty="0">
              <a:solidFill>
                <a:schemeClr val="tx1"/>
              </a:solidFill>
              <a:latin typeface="Times New Roman" panose="02020603050405020304" pitchFamily="18" charset="0"/>
              <a:ea typeface="나눔고딕" pitchFamily="50" charset="-127"/>
              <a:cs typeface="Times New Roman" panose="02020603050405020304" pitchFamily="18" charset="0"/>
            </a:endParaRPr>
          </a:p>
          <a:p>
            <a:pPr marL="171450" indent="-171450">
              <a:buFont typeface="Arial" panose="020B0604020202020204" pitchFamily="34" charset="0"/>
              <a:buChar char="•"/>
            </a:pPr>
            <a:r>
              <a:rPr lang="en-US" altLang="ko-KR" sz="800" smtClean="0">
                <a:solidFill>
                  <a:schemeClr val="tx1"/>
                </a:solidFill>
                <a:latin typeface="Times New Roman" panose="02020603050405020304" pitchFamily="18" charset="0"/>
                <a:ea typeface="나눔고딕" pitchFamily="50" charset="-127"/>
                <a:cs typeface="Times New Roman" panose="02020603050405020304" pitchFamily="18" charset="0"/>
              </a:rPr>
              <a:t>Chức năng chính: xem danh sách so khớp, sửa so khớp, quản lý sản phẩm cần so khớp.</a:t>
            </a:r>
            <a:endParaRPr lang="ko-KR" altLang="en-US" sz="800" dirty="0">
              <a:solidFill>
                <a:schemeClr val="tx1"/>
              </a:solidFill>
              <a:latin typeface="Times New Roman" panose="02020603050405020304" pitchFamily="18" charset="0"/>
              <a:ea typeface="나눔고딕" pitchFamily="50" charset="-127"/>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phẩm/Option_Thông tin sản phẩm</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98" name="표 97"/>
          <p:cNvGraphicFramePr>
            <a:graphicFrameLocks noGrp="1"/>
          </p:cNvGraphicFramePr>
          <p:nvPr/>
        </p:nvGraphicFramePr>
        <p:xfrm>
          <a:off x="1365895" y="1876390"/>
          <a:ext cx="5908610" cy="3023975"/>
        </p:xfrm>
        <a:graphic>
          <a:graphicData uri="http://schemas.openxmlformats.org/drawingml/2006/table">
            <a:tbl>
              <a:tblPr firstRow="1" bandRow="1">
                <a:tableStyleId>{5C22544A-7EE6-4342-B048-85BDC9FD1C3A}</a:tableStyleId>
              </a:tblPr>
              <a:tblGrid>
                <a:gridCol w="844868">
                  <a:extLst>
                    <a:ext uri="{9D8B030D-6E8A-4147-A177-3AD203B41FA5}">
                      <a16:colId xmlns:a16="http://schemas.microsoft.com/office/drawing/2014/main" val="20000"/>
                    </a:ext>
                  </a:extLst>
                </a:gridCol>
                <a:gridCol w="5063742">
                  <a:extLst>
                    <a:ext uri="{9D8B030D-6E8A-4147-A177-3AD203B41FA5}">
                      <a16:colId xmlns:a16="http://schemas.microsoft.com/office/drawing/2014/main" val="20001"/>
                    </a:ext>
                  </a:extLst>
                </a:gridCol>
              </a:tblGrid>
              <a:tr h="288312">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sản 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60304">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sản phẩm</a:t>
                      </a:r>
                      <a:endPar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Tự</a:t>
                      </a:r>
                      <a:r>
                        <a:rPr lang="en-US" altLang="ko-KR" sz="800" b="0" baseline="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động sinh ra khi đăng sản phẩm</a:t>
                      </a:r>
                      <a:r>
                        <a:rPr lang="en-US" altLang="ko-KR" sz="800" b="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7391">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loại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7391">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loại khu vực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391">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sản phẩm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2940050" indent="0"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0/70</a:t>
                      </a:r>
                      <a:r>
                        <a:rPr lang="ko-KR" altLang="en-US"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ký tự</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20127">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Gắn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thẻ sản phẩm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1739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đại diện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vi-VN" altLang="ko-KR" sz="800" b="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Tự động setting giá của option đại diện được thiết lập ở option. </a:t>
                      </a: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1739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Căn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cứ giá chuẩn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vi-VN" altLang="ko-KR" sz="800" b="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Tự động setting giá xác định căn cứ giá chuẩn của option đại diện được thiết lập ở option. </a:t>
                      </a: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14610">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Loại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hình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phẩm voucher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phẩm quy định ngày</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27" name="직사각형 126"/>
          <p:cNvSpPr/>
          <p:nvPr/>
        </p:nvSpPr>
        <p:spPr>
          <a:xfrm>
            <a:off x="2283031" y="3136762"/>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타원 85"/>
          <p:cNvSpPr/>
          <p:nvPr/>
        </p:nvSpPr>
        <p:spPr>
          <a:xfrm>
            <a:off x="1309978" y="2530746"/>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87" name="타원 86"/>
          <p:cNvSpPr/>
          <p:nvPr/>
        </p:nvSpPr>
        <p:spPr>
          <a:xfrm>
            <a:off x="1299514" y="2860508"/>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88" name="타원 87"/>
          <p:cNvSpPr/>
          <p:nvPr/>
        </p:nvSpPr>
        <p:spPr>
          <a:xfrm>
            <a:off x="2148698" y="3748786"/>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4" name="TextBox 3"/>
          <p:cNvSpPr txBox="1"/>
          <p:nvPr/>
        </p:nvSpPr>
        <p:spPr>
          <a:xfrm>
            <a:off x="10016836" y="2899064"/>
            <a:ext cx="184731" cy="246221"/>
          </a:xfrm>
          <a:prstGeom prst="rect">
            <a:avLst/>
          </a:prstGeom>
          <a:noFill/>
        </p:spPr>
        <p:txBody>
          <a:bodyPr wrap="none" rtlCol="0">
            <a:spAutoFit/>
          </a:bodyPr>
          <a:lstStyle/>
          <a:p>
            <a:endParaRPr kumimoji="1" lang="ko-KR" altLang="en-US" sz="1000" dirty="0">
              <a:latin typeface="Times New Roman" panose="02020603050405020304" pitchFamily="18" charset="0"/>
              <a:cs typeface="Times New Roman" panose="02020603050405020304" pitchFamily="18" charset="0"/>
            </a:endParaRPr>
          </a:p>
        </p:txBody>
      </p:sp>
      <p:sp>
        <p:nvSpPr>
          <p:cNvPr id="56"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61"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5" name="그룹 57"/>
            <p:cNvGrpSpPr/>
            <p:nvPr/>
          </p:nvGrpSpPr>
          <p:grpSpPr>
            <a:xfrm>
              <a:off x="2995760" y="665405"/>
              <a:ext cx="203617" cy="207881"/>
              <a:chOff x="2939843" y="5447120"/>
              <a:chExt cx="272722" cy="278432"/>
            </a:xfrm>
          </p:grpSpPr>
          <p:sp>
            <p:nvSpPr>
              <p:cNvPr id="78"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79"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80" name="직선 연결선 145"/>
              <p:cNvCxnSpPr>
                <a:stCxn id="7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1"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TextBox 98"/>
          <p:cNvSpPr txBox="1"/>
          <p:nvPr/>
        </p:nvSpPr>
        <p:spPr>
          <a:xfrm>
            <a:off x="1280592" y="1078062"/>
            <a:ext cx="124585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sản phẩm</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타원 152"/>
          <p:cNvSpPr/>
          <p:nvPr/>
        </p:nvSpPr>
        <p:spPr>
          <a:xfrm>
            <a:off x="1342677" y="1423658"/>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TextBox 100"/>
          <p:cNvSpPr txBox="1"/>
          <p:nvPr/>
        </p:nvSpPr>
        <p:spPr>
          <a:xfrm>
            <a:off x="1559272" y="1435612"/>
            <a:ext cx="1085554" cy="246221"/>
          </a:xfrm>
          <a:prstGeom prst="rect">
            <a:avLst/>
          </a:prstGeom>
          <a:noFill/>
        </p:spPr>
        <p:txBody>
          <a:bodyPr wrap="none" rtlCol="0">
            <a:spAutoFit/>
          </a:bodyPr>
          <a:lstStyle/>
          <a:p>
            <a:pPr algn="ctr"/>
            <a:r>
              <a:rPr kumimoji="1" lang="en-US" altLang="ko-KR" sz="100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sp/opt</a:t>
            </a:r>
            <a:endParaRPr kumimoji="1" lang="ko-KR" altLang="en-US" sz="10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타원 154"/>
          <p:cNvSpPr/>
          <p:nvPr/>
        </p:nvSpPr>
        <p:spPr>
          <a:xfrm>
            <a:off x="2600494"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TextBox 102"/>
          <p:cNvSpPr txBox="1"/>
          <p:nvPr/>
        </p:nvSpPr>
        <p:spPr>
          <a:xfrm>
            <a:off x="2851620" y="1435612"/>
            <a:ext cx="862737"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Đk bán/mua</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타원 156"/>
          <p:cNvSpPr/>
          <p:nvPr/>
        </p:nvSpPr>
        <p:spPr>
          <a:xfrm>
            <a:off x="3890777"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TextBox 104"/>
          <p:cNvSpPr txBox="1"/>
          <p:nvPr/>
        </p:nvSpPr>
        <p:spPr>
          <a:xfrm>
            <a:off x="4130538" y="1435612"/>
            <a:ext cx="1128835"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Đk hủy/hoàn tiền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7" name="타원 47"/>
          <p:cNvSpPr/>
          <p:nvPr/>
        </p:nvSpPr>
        <p:spPr>
          <a:xfrm>
            <a:off x="5235326"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TextBox 107"/>
          <p:cNvSpPr txBox="1"/>
          <p:nvPr/>
        </p:nvSpPr>
        <p:spPr>
          <a:xfrm>
            <a:off x="5457915" y="1435612"/>
            <a:ext cx="697627"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타원 49"/>
          <p:cNvSpPr/>
          <p:nvPr/>
        </p:nvSpPr>
        <p:spPr>
          <a:xfrm>
            <a:off x="6132181"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0" name="TextBox 109"/>
          <p:cNvSpPr txBox="1"/>
          <p:nvPr/>
        </p:nvSpPr>
        <p:spPr>
          <a:xfrm>
            <a:off x="6341098" y="1435612"/>
            <a:ext cx="1186543"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4" name="직사각형 128"/>
          <p:cNvSpPr/>
          <p:nvPr/>
        </p:nvSpPr>
        <p:spPr>
          <a:xfrm>
            <a:off x="2279684" y="3479742"/>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ltLang="ko-KR" sz="800" smtClean="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Nhập tối đa 10 thẻ, cách nhau bằng dấu phẩy (,)</a:t>
            </a:r>
            <a:endParaRPr lang="ko-KR" altLang="en-US" sz="800" dirty="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5" name="직사각형 52"/>
          <p:cNvSpPr/>
          <p:nvPr/>
        </p:nvSpPr>
        <p:spPr>
          <a:xfrm>
            <a:off x="5230210" y="3479742"/>
            <a:ext cx="396132"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직사각형 2"/>
          <p:cNvSpPr/>
          <p:nvPr/>
        </p:nvSpPr>
        <p:spPr>
          <a:xfrm>
            <a:off x="2230656" y="3705104"/>
            <a:ext cx="732893" cy="215444"/>
          </a:xfrm>
          <a:prstGeom prst="rect">
            <a:avLst/>
          </a:prstGeom>
        </p:spPr>
        <p:txBody>
          <a:bodyPr wrap="non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Vé biểu diễn </a:t>
            </a:r>
            <a:endParaRPr lang="ko-KR" altLang="en-US" sz="800" dirty="0">
              <a:latin typeface="Times New Roman" panose="02020603050405020304" pitchFamily="18" charset="0"/>
              <a:cs typeface="Times New Roman" panose="02020603050405020304" pitchFamily="18" charset="0"/>
            </a:endParaRPr>
          </a:p>
        </p:txBody>
      </p:sp>
      <p:sp>
        <p:nvSpPr>
          <p:cNvPr id="117" name="직사각형 82"/>
          <p:cNvSpPr/>
          <p:nvPr/>
        </p:nvSpPr>
        <p:spPr>
          <a:xfrm>
            <a:off x="2875324" y="3735326"/>
            <a:ext cx="132474" cy="154999"/>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8" name="직사각형 83"/>
          <p:cNvSpPr/>
          <p:nvPr/>
        </p:nvSpPr>
        <p:spPr>
          <a:xfrm>
            <a:off x="3050012" y="3705104"/>
            <a:ext cx="806631" cy="215444"/>
          </a:xfrm>
          <a:prstGeom prst="rect">
            <a:avLst/>
          </a:prstGeom>
        </p:spPr>
        <p:txBody>
          <a:bodyPr wrap="non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Les Misérables</a:t>
            </a:r>
            <a:endParaRPr lang="ko-KR" altLang="en-US" sz="800" dirty="0">
              <a:latin typeface="Times New Roman" panose="02020603050405020304" pitchFamily="18" charset="0"/>
              <a:cs typeface="Times New Roman" panose="02020603050405020304" pitchFamily="18" charset="0"/>
            </a:endParaRPr>
          </a:p>
        </p:txBody>
      </p:sp>
      <p:sp>
        <p:nvSpPr>
          <p:cNvPr id="119" name="직사각형 84"/>
          <p:cNvSpPr/>
          <p:nvPr/>
        </p:nvSpPr>
        <p:spPr>
          <a:xfrm>
            <a:off x="3805057" y="3735326"/>
            <a:ext cx="132474" cy="154999"/>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0" name="직사각형 105"/>
          <p:cNvSpPr/>
          <p:nvPr/>
        </p:nvSpPr>
        <p:spPr>
          <a:xfrm>
            <a:off x="2291303" y="2459702"/>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cấp 1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1" name="직사각형 110"/>
          <p:cNvSpPr/>
          <p:nvPr/>
        </p:nvSpPr>
        <p:spPr>
          <a:xfrm>
            <a:off x="3268118" y="2454839"/>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cấp 2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2" name="직사각형 111"/>
          <p:cNvSpPr/>
          <p:nvPr/>
        </p:nvSpPr>
        <p:spPr>
          <a:xfrm>
            <a:off x="4244933" y="2450364"/>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cấp 3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3" name="직사각형 112"/>
          <p:cNvSpPr/>
          <p:nvPr/>
        </p:nvSpPr>
        <p:spPr>
          <a:xfrm>
            <a:off x="5222915" y="2450364"/>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cấp 4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4" name="직사각형 39"/>
          <p:cNvSpPr/>
          <p:nvPr/>
        </p:nvSpPr>
        <p:spPr>
          <a:xfrm>
            <a:off x="2291303" y="2784989"/>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cấp 1</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직사각형 40"/>
          <p:cNvSpPr/>
          <p:nvPr/>
        </p:nvSpPr>
        <p:spPr>
          <a:xfrm>
            <a:off x="3268118" y="2780126"/>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cấp 2</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57" name="표 53"/>
          <p:cNvGraphicFramePr>
            <a:graphicFrameLocks noGrp="1"/>
          </p:cNvGraphicFramePr>
          <p:nvPr/>
        </p:nvGraphicFramePr>
        <p:xfrm>
          <a:off x="7453089" y="836962"/>
          <a:ext cx="2357214" cy="11913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dirty="0">
                          <a:latin typeface="Times New Roman" panose="02020603050405020304" pitchFamily="18" charset="0"/>
                          <a:cs typeface="Times New Roman" panose="02020603050405020304" pitchFamily="18" charset="0"/>
                          <a:hlinkClick r:id="rId2"/>
                        </a:rPr>
                        <a:t>https://docs.google.com/spreadsheets/d/1T8QZxxg-2RdaXTU3r-graJHn85Hu-YIMPva6jHxTov4/edit#gid=1279661482</a:t>
                      </a:r>
                      <a:endParaRPr lang="en-US" altLang="ko-KR" sz="800" dirty="0">
                        <a:latin typeface="Times New Roman" panose="02020603050405020304" pitchFamily="18" charset="0"/>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(Tham khảo tab </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카테고리</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Đang thiết kế</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bấm nút Thêm, giá trị đã nhập sẽ hiển thị bên dưới</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bấm dấu X có thể xóa được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58" name="직사각형 111"/>
          <p:cNvSpPr/>
          <p:nvPr/>
        </p:nvSpPr>
        <p:spPr>
          <a:xfrm>
            <a:off x="4242445" y="2786448"/>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cấp 3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a:xfrm>
            <a:off x="128464" y="27460"/>
            <a:ext cx="8712968" cy="521221"/>
          </a:xfrm>
        </p:spPr>
        <p:txBody>
          <a:bodyPr>
            <a:normAutofit fontScale="90000"/>
          </a:bodyPr>
          <a:lstStyle/>
          <a:p>
            <a:r>
              <a:rPr lang="vi-VN" altLang="ko-KR" dirty="0" smtClean="0">
                <a:latin typeface="Times New Roman" panose="02020603050405020304" pitchFamily="18" charset="0"/>
                <a:ea typeface="Nanum Gothic" panose="020D0604000000000000" pitchFamily="34" charset="-127"/>
                <a:cs typeface="Times New Roman" panose="02020603050405020304" pitchFamily="18" charset="0"/>
              </a:rPr>
              <a:t>Đăng sản </a:t>
            </a:r>
            <a:r>
              <a:rPr lang="vi-VN" altLang="ko-KR" smtClean="0">
                <a:latin typeface="Times New Roman" panose="02020603050405020304" pitchFamily="18" charset="0"/>
                <a:ea typeface="Nanum Gothic" panose="020D0604000000000000" pitchFamily="34" charset="-127"/>
                <a:cs typeface="Times New Roman" panose="02020603050405020304" pitchFamily="18" charset="0"/>
              </a:rPr>
              <a:t>phẩm &gt; </a:t>
            </a:r>
            <a:r>
              <a:rPr lang="vi-VN" altLang="ko-KR" dirty="0"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phẩm/Option_</a:t>
            </a:r>
            <a:r>
              <a:rPr lang="en-US" altLang="ko-KR" dirty="0" smtClean="0">
                <a:latin typeface="Times New Roman" panose="02020603050405020304" pitchFamily="18" charset="0"/>
                <a:ea typeface="Nanum Gothic" panose="020D0604000000000000" pitchFamily="34" charset="-127"/>
                <a:cs typeface="Times New Roman" panose="02020603050405020304" pitchFamily="18" charset="0"/>
              </a:rPr>
              <a:t>Option</a:t>
            </a:r>
            <a:r>
              <a:rPr lang="vi-VN" altLang="ko-KR" dirty="0" smtClean="0">
                <a:latin typeface="Times New Roman" panose="02020603050405020304" pitchFamily="18" charset="0"/>
                <a:ea typeface="Nanum Gothic" panose="020D0604000000000000" pitchFamily="34" charset="-127"/>
                <a:cs typeface="Times New Roman" panose="02020603050405020304" pitchFamily="18" charset="0"/>
              </a:rPr>
              <a:t> sản phẩm&gt;Đăng trực tiếp sản phẩm voucher (trước khi nhập option)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34" name="표 133"/>
          <p:cNvGraphicFramePr>
            <a:graphicFrameLocks noGrp="1"/>
          </p:cNvGraphicFramePr>
          <p:nvPr/>
        </p:nvGraphicFramePr>
        <p:xfrm>
          <a:off x="1342611" y="1088858"/>
          <a:ext cx="5900517" cy="243840"/>
        </p:xfrm>
        <a:graphic>
          <a:graphicData uri="http://schemas.openxmlformats.org/drawingml/2006/table">
            <a:tbl>
              <a:tblPr firstRow="1" bandRow="1">
                <a:tableStyleId>{5C22544A-7EE6-4342-B048-85BDC9FD1C3A}</a:tableStyleId>
              </a:tblPr>
              <a:tblGrid>
                <a:gridCol w="5900517">
                  <a:extLst>
                    <a:ext uri="{9D8B030D-6E8A-4147-A177-3AD203B41FA5}">
                      <a16:colId xmlns:a16="http://schemas.microsoft.com/office/drawing/2014/main" val="20000"/>
                    </a:ext>
                  </a:extLst>
                </a:gridCol>
              </a:tblGrid>
              <a:tr h="0">
                <a:tc>
                  <a:txBody>
                    <a:bodyPr/>
                    <a:lstStyle/>
                    <a:p>
                      <a:pPr algn="l" latinLnBrk="1"/>
                      <a:r>
                        <a:rPr lang="en-US" altLang="ko-KR" sz="10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Option </a:t>
                      </a:r>
                      <a:r>
                        <a:rPr lang="en-US" altLang="ko-KR" sz="10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10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8" name="직사각형 57"/>
          <p:cNvSpPr/>
          <p:nvPr/>
        </p:nvSpPr>
        <p:spPr>
          <a:xfrm>
            <a:off x="2529071" y="1412776"/>
            <a:ext cx="1298248" cy="31050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quy định ngày</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63"/>
          <p:cNvSpPr/>
          <p:nvPr/>
        </p:nvSpPr>
        <p:spPr>
          <a:xfrm>
            <a:off x="1408471" y="1723283"/>
            <a:ext cx="5773508" cy="199374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t"/>
          <a:lstStyle/>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Sau khi nhập giá trị option, nhấn nút [Thêm vào danh sách option] thì option sẽ tự động được tổ hợp và thêm vào danh sách option.</a:t>
            </a:r>
          </a:p>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Đối với loại option như người lớn/trẻ em phải setting theo tiêu chuẩn người sử dụng, thì đăng giá trị option ở trường option chi tiết theo tiêu chuẩn người sử dụng.</a:t>
            </a:r>
          </a:p>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Sau khi đăng option thì thiết lập giá/số lượng bán của từng option trong danh sách option.  </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68"/>
          <p:cNvGrpSpPr/>
          <p:nvPr/>
        </p:nvGrpSpPr>
        <p:grpSpPr>
          <a:xfrm>
            <a:off x="1405600" y="1412776"/>
            <a:ext cx="1071421" cy="310508"/>
            <a:chOff x="2500958" y="1307006"/>
            <a:chExt cx="868856" cy="209794"/>
          </a:xfrm>
        </p:grpSpPr>
        <p:sp>
          <p:nvSpPr>
            <p:cNvPr id="72" name="직사각형 71"/>
            <p:cNvSpPr/>
            <p:nvPr/>
          </p:nvSpPr>
          <p:spPr>
            <a:xfrm>
              <a:off x="2500958" y="1307006"/>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voucher</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3" name="직선 연결선[R] 72"/>
            <p:cNvCxnSpPr/>
            <p:nvPr/>
          </p:nvCxnSpPr>
          <p:spPr>
            <a:xfrm>
              <a:off x="2511012" y="1516800"/>
              <a:ext cx="858802"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4" name="직사각형 73"/>
          <p:cNvSpPr/>
          <p:nvPr/>
        </p:nvSpPr>
        <p:spPr>
          <a:xfrm>
            <a:off x="3878028" y="1412776"/>
            <a:ext cx="1298248" cy="31050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file excel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75" name="표 74"/>
          <p:cNvGraphicFramePr>
            <a:graphicFrameLocks noGrp="1"/>
          </p:cNvGraphicFramePr>
          <p:nvPr/>
        </p:nvGraphicFramePr>
        <p:xfrm>
          <a:off x="1559566" y="2482539"/>
          <a:ext cx="5337649" cy="836300"/>
        </p:xfrm>
        <a:graphic>
          <a:graphicData uri="http://schemas.openxmlformats.org/drawingml/2006/table">
            <a:tbl>
              <a:tblPr firstRow="1" bandRow="1">
                <a:tableStyleId>{5C22544A-7EE6-4342-B048-85BDC9FD1C3A}</a:tableStyleId>
              </a:tblPr>
              <a:tblGrid>
                <a:gridCol w="1524450">
                  <a:extLst>
                    <a:ext uri="{9D8B030D-6E8A-4147-A177-3AD203B41FA5}">
                      <a16:colId xmlns:a16="http://schemas.microsoft.com/office/drawing/2014/main" val="20000"/>
                    </a:ext>
                  </a:extLst>
                </a:gridCol>
                <a:gridCol w="1745754">
                  <a:extLst>
                    <a:ext uri="{9D8B030D-6E8A-4147-A177-3AD203B41FA5}">
                      <a16:colId xmlns:a16="http://schemas.microsoft.com/office/drawing/2014/main" val="20001"/>
                    </a:ext>
                  </a:extLst>
                </a:gridCol>
                <a:gridCol w="1373909">
                  <a:extLst>
                    <a:ext uri="{9D8B030D-6E8A-4147-A177-3AD203B41FA5}">
                      <a16:colId xmlns:a16="http://schemas.microsoft.com/office/drawing/2014/main" val="20002"/>
                    </a:ext>
                  </a:extLst>
                </a:gridCol>
                <a:gridCol w="693536">
                  <a:extLst>
                    <a:ext uri="{9D8B030D-6E8A-4147-A177-3AD203B41FA5}">
                      <a16:colId xmlns:a16="http://schemas.microsoft.com/office/drawing/2014/main" val="20003"/>
                    </a:ext>
                  </a:extLst>
                </a:gridCol>
              </a:tblGrid>
              <a:tr h="281476">
                <a:tc>
                  <a:txBody>
                    <a:bodyPr/>
                    <a:lstStyle/>
                    <a:p>
                      <a:pPr algn="ctr" latinLnBrk="1"/>
                      <a:r>
                        <a:rPr lang="en-US" altLang="ko-KR" sz="8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Option chi </a:t>
                      </a:r>
                      <a:r>
                        <a:rPr lang="en-US" altLang="ko-KR" sz="8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tiết</a:t>
                      </a:r>
                      <a:endPar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8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Tiêu</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chuẩn</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dụng</a:t>
                      </a:r>
                      <a:endPar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l" latinLnBrk="1"/>
                      <a:endParaRPr lang="en-US" altLang="ko-KR"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7412">
                <a:tc>
                  <a:txBody>
                    <a:bodyPr/>
                    <a:lstStyle/>
                    <a:p>
                      <a:pPr algn="ctr" latinLnBrk="1"/>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7412">
                <a:tc>
                  <a:txBody>
                    <a:bodyPr/>
                    <a:lstStyle/>
                    <a:p>
                      <a:pPr algn="ctr" latinLnBrk="1"/>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83" name="직사각형 82"/>
          <p:cNvSpPr/>
          <p:nvPr/>
        </p:nvSpPr>
        <p:spPr>
          <a:xfrm>
            <a:off x="6249144" y="2831296"/>
            <a:ext cx="396132" cy="13019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83"/>
          <p:cNvSpPr/>
          <p:nvPr/>
        </p:nvSpPr>
        <p:spPr>
          <a:xfrm>
            <a:off x="6251447" y="3096952"/>
            <a:ext cx="396132" cy="13019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직사각형 90"/>
          <p:cNvSpPr/>
          <p:nvPr/>
        </p:nvSpPr>
        <p:spPr>
          <a:xfrm>
            <a:off x="1647269" y="2812433"/>
            <a:ext cx="1345732"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Vé xem triển lãm</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직사각형 91"/>
          <p:cNvSpPr/>
          <p:nvPr/>
        </p:nvSpPr>
        <p:spPr>
          <a:xfrm>
            <a:off x="4953000" y="2812433"/>
            <a:ext cx="1040440"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 lớn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94"/>
          <p:cNvSpPr/>
          <p:nvPr/>
        </p:nvSpPr>
        <p:spPr>
          <a:xfrm>
            <a:off x="3096991" y="2236941"/>
            <a:ext cx="2473754" cy="215444"/>
          </a:xfrm>
          <a:prstGeom prst="rect">
            <a:avLst/>
          </a:prstGeom>
        </p:spPr>
        <p:txBody>
          <a:bodyPr wrap="non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Sử dụng option chi tiết theo tiêu chuẩn người sử dụng</a:t>
            </a:r>
            <a:endParaRPr lang="en-US" altLang="ko-KR" sz="800" dirty="0">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05" name="그림 104"/>
          <p:cNvPicPr>
            <a:picLocks noChangeAspect="1"/>
          </p:cNvPicPr>
          <p:nvPr/>
        </p:nvPicPr>
        <p:blipFill>
          <a:blip r:embed="rId3" cstate="print"/>
          <a:stretch>
            <a:fillRect/>
          </a:stretch>
        </p:blipFill>
        <p:spPr>
          <a:xfrm>
            <a:off x="3121161" y="2239588"/>
            <a:ext cx="203832" cy="108710"/>
          </a:xfrm>
          <a:prstGeom prst="rect">
            <a:avLst/>
          </a:prstGeom>
        </p:spPr>
      </p:pic>
      <p:sp>
        <p:nvSpPr>
          <p:cNvPr id="107" name="직사각형 106"/>
          <p:cNvSpPr/>
          <p:nvPr/>
        </p:nvSpPr>
        <p:spPr>
          <a:xfrm>
            <a:off x="1647269" y="3082877"/>
            <a:ext cx="1345732"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Voucher mua hàng</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직사각형 107"/>
          <p:cNvSpPr/>
          <p:nvPr/>
        </p:nvSpPr>
        <p:spPr>
          <a:xfrm>
            <a:off x="4953000" y="3082877"/>
            <a:ext cx="1040440"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Chọn tiêu chuẩn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109" name="직사각형 108"/>
          <p:cNvSpPr/>
          <p:nvPr/>
        </p:nvSpPr>
        <p:spPr>
          <a:xfrm>
            <a:off x="1501777" y="2236941"/>
            <a:ext cx="930943" cy="338554"/>
          </a:xfrm>
          <a:prstGeom prst="rect">
            <a:avLst/>
          </a:prstGeom>
        </p:spPr>
        <p:txBody>
          <a:bodyPr wrap="squar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Nhập option chi tiết</a:t>
            </a:r>
            <a:r>
              <a:rPr lang="ko-KR" altLang="en-US" sz="800" smtClean="0">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0" name="직사각형 109"/>
          <p:cNvSpPr/>
          <p:nvPr/>
        </p:nvSpPr>
        <p:spPr>
          <a:xfrm>
            <a:off x="2412679" y="2253204"/>
            <a:ext cx="539813" cy="182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cấp</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113" name="직사각형 112"/>
          <p:cNvSpPr/>
          <p:nvPr/>
        </p:nvSpPr>
        <p:spPr>
          <a:xfrm>
            <a:off x="3245685" y="2812433"/>
            <a:ext cx="1345732"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 tuần, Cuối tuần</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4" name="직사각형 113"/>
          <p:cNvSpPr/>
          <p:nvPr/>
        </p:nvSpPr>
        <p:spPr>
          <a:xfrm>
            <a:off x="3245685" y="3082877"/>
            <a:ext cx="1345732"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 tuần</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15" name="그림 114"/>
          <p:cNvPicPr>
            <a:picLocks noChangeAspect="1"/>
          </p:cNvPicPr>
          <p:nvPr/>
        </p:nvPicPr>
        <p:blipFill>
          <a:blip r:embed="rId3" cstate="print"/>
          <a:stretch>
            <a:fillRect/>
          </a:stretch>
        </p:blipFill>
        <p:spPr>
          <a:xfrm>
            <a:off x="1580816" y="2237955"/>
            <a:ext cx="203832" cy="108710"/>
          </a:xfrm>
          <a:prstGeom prst="rect">
            <a:avLst/>
          </a:prstGeom>
        </p:spPr>
      </p:pic>
      <p:sp>
        <p:nvSpPr>
          <p:cNvPr id="116" name="직사각형 115"/>
          <p:cNvSpPr/>
          <p:nvPr/>
        </p:nvSpPr>
        <p:spPr>
          <a:xfrm>
            <a:off x="3582824" y="3421361"/>
            <a:ext cx="1658207" cy="176395"/>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1">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vào danh sách option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7" name="모서리가 둥근 직사각형 116"/>
          <p:cNvSpPr/>
          <p:nvPr/>
        </p:nvSpPr>
        <p:spPr>
          <a:xfrm>
            <a:off x="6706391" y="6408814"/>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theo</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8" name="모서리가 둥근 직사각형 117"/>
          <p:cNvSpPr/>
          <p:nvPr/>
        </p:nvSpPr>
        <p:spPr>
          <a:xfrm>
            <a:off x="6156402" y="6408813"/>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20" name="그림 119"/>
          <p:cNvPicPr>
            <a:picLocks noChangeAspect="1"/>
          </p:cNvPicPr>
          <p:nvPr/>
        </p:nvPicPr>
        <p:blipFill>
          <a:blip r:embed="rId4" cstate="print"/>
          <a:stretch>
            <a:fillRect/>
          </a:stretch>
        </p:blipFill>
        <p:spPr>
          <a:xfrm rot="10800000" flipV="1">
            <a:off x="4020377" y="6021289"/>
            <a:ext cx="5232106" cy="157076"/>
          </a:xfrm>
          <a:prstGeom prst="rect">
            <a:avLst/>
          </a:prstGeom>
        </p:spPr>
      </p:pic>
      <p:pic>
        <p:nvPicPr>
          <p:cNvPr id="121" name="그림 120"/>
          <p:cNvPicPr>
            <a:picLocks noChangeAspect="1"/>
          </p:cNvPicPr>
          <p:nvPr/>
        </p:nvPicPr>
        <p:blipFill>
          <a:blip r:embed="rId5" cstate="print"/>
          <a:stretch>
            <a:fillRect/>
          </a:stretch>
        </p:blipFill>
        <p:spPr>
          <a:xfrm>
            <a:off x="9325861" y="5102417"/>
            <a:ext cx="91635" cy="1036624"/>
          </a:xfrm>
          <a:prstGeom prst="rect">
            <a:avLst/>
          </a:prstGeom>
        </p:spPr>
      </p:pic>
      <p:sp>
        <p:nvSpPr>
          <p:cNvPr id="122" name="직사각형 121"/>
          <p:cNvSpPr/>
          <p:nvPr/>
        </p:nvSpPr>
        <p:spPr>
          <a:xfrm>
            <a:off x="1396263" y="4446295"/>
            <a:ext cx="942531"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thời gian bán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3" name="직사각형 122"/>
          <p:cNvSpPr/>
          <p:nvPr/>
        </p:nvSpPr>
        <p:spPr>
          <a:xfrm>
            <a:off x="2378694" y="4446295"/>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giá</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4" name="직사각형 123"/>
          <p:cNvSpPr/>
          <p:nvPr/>
        </p:nvSpPr>
        <p:spPr>
          <a:xfrm>
            <a:off x="3228290" y="4446295"/>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số lượng</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직사각형 124"/>
          <p:cNvSpPr/>
          <p:nvPr/>
        </p:nvSpPr>
        <p:spPr>
          <a:xfrm>
            <a:off x="4077886" y="4446295"/>
            <a:ext cx="461047"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6" name="직사각형 125"/>
          <p:cNvSpPr/>
          <p:nvPr/>
        </p:nvSpPr>
        <p:spPr>
          <a:xfrm>
            <a:off x="6535702" y="4446295"/>
            <a:ext cx="618149"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Thiết lập giá đại diện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7" name="TextBox 126"/>
          <p:cNvSpPr txBox="1"/>
          <p:nvPr/>
        </p:nvSpPr>
        <p:spPr>
          <a:xfrm>
            <a:off x="1074239" y="6156232"/>
            <a:ext cx="1400813" cy="215444"/>
          </a:xfrm>
          <a:prstGeom prst="rect">
            <a:avLst/>
          </a:prstGeom>
          <a:noFill/>
        </p:spPr>
        <p:txBody>
          <a:bodyPr wrap="square" rtlCol="0">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Di chuyển thứ tự</a:t>
            </a:r>
            <a:r>
              <a:rPr lang="ko-KR" altLang="en-US" sz="800" b="1"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2" name="직사각형 131"/>
          <p:cNvSpPr/>
          <p:nvPr/>
        </p:nvSpPr>
        <p:spPr>
          <a:xfrm>
            <a:off x="1342611" y="3850643"/>
            <a:ext cx="5187523" cy="615553"/>
          </a:xfrm>
          <a:prstGeom prst="rect">
            <a:avLst/>
          </a:prstGeom>
        </p:spPr>
        <p:txBody>
          <a:bodyPr wrap="square">
            <a:spAutoFit/>
          </a:bodyPr>
          <a:lstStyle/>
          <a:p>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Danh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sách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option</a:t>
            </a:r>
            <a:endParaRPr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Xem option đã thêm bằng cách nhập trực tiếp hoặc bằng file excel, có thể sửa giá thường/giá bán/số lượng bán/thời gian bán của từng option.</a:t>
            </a: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Sau khi đăng sản phẩm, có thể xem số lượng bán và thời gian bán của từng kênh ở menu quản lý "Phí/Số lượng".</a:t>
            </a:r>
            <a:r>
              <a:rPr lang="ko-KR" altLang="en-US" sz="800"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68" name="표 67"/>
          <p:cNvGraphicFramePr>
            <a:graphicFrameLocks noGrp="1"/>
          </p:cNvGraphicFramePr>
          <p:nvPr/>
        </p:nvGraphicFramePr>
        <p:xfrm>
          <a:off x="1326865" y="4881937"/>
          <a:ext cx="7962307" cy="1100034"/>
        </p:xfrm>
        <a:graphic>
          <a:graphicData uri="http://schemas.openxmlformats.org/drawingml/2006/table">
            <a:tbl>
              <a:tblPr firstRow="1" bandRow="1">
                <a:tableStyleId>{5940675A-B579-460E-94D1-54222C63F5DA}</a:tableStyleId>
              </a:tblPr>
              <a:tblGrid>
                <a:gridCol w="293206">
                  <a:extLst>
                    <a:ext uri="{9D8B030D-6E8A-4147-A177-3AD203B41FA5}">
                      <a16:colId xmlns:a16="http://schemas.microsoft.com/office/drawing/2014/main" val="20000"/>
                    </a:ext>
                  </a:extLst>
                </a:gridCol>
                <a:gridCol w="413512">
                  <a:extLst>
                    <a:ext uri="{9D8B030D-6E8A-4147-A177-3AD203B41FA5}">
                      <a16:colId xmlns:a16="http://schemas.microsoft.com/office/drawing/2014/main" val="20001"/>
                    </a:ext>
                  </a:extLst>
                </a:gridCol>
                <a:gridCol w="413512">
                  <a:extLst>
                    <a:ext uri="{9D8B030D-6E8A-4147-A177-3AD203B41FA5}">
                      <a16:colId xmlns:a16="http://schemas.microsoft.com/office/drawing/2014/main" val="20002"/>
                    </a:ext>
                  </a:extLst>
                </a:gridCol>
                <a:gridCol w="1157831">
                  <a:extLst>
                    <a:ext uri="{9D8B030D-6E8A-4147-A177-3AD203B41FA5}">
                      <a16:colId xmlns:a16="http://schemas.microsoft.com/office/drawing/2014/main" val="20003"/>
                    </a:ext>
                  </a:extLst>
                </a:gridCol>
                <a:gridCol w="531862">
                  <a:extLst>
                    <a:ext uri="{9D8B030D-6E8A-4147-A177-3AD203B41FA5}">
                      <a16:colId xmlns:a16="http://schemas.microsoft.com/office/drawing/2014/main" val="20004"/>
                    </a:ext>
                  </a:extLst>
                </a:gridCol>
                <a:gridCol w="661618">
                  <a:extLst>
                    <a:ext uri="{9D8B030D-6E8A-4147-A177-3AD203B41FA5}">
                      <a16:colId xmlns:a16="http://schemas.microsoft.com/office/drawing/2014/main" val="20005"/>
                    </a:ext>
                  </a:extLst>
                </a:gridCol>
                <a:gridCol w="462704">
                  <a:extLst>
                    <a:ext uri="{9D8B030D-6E8A-4147-A177-3AD203B41FA5}">
                      <a16:colId xmlns:a16="http://schemas.microsoft.com/office/drawing/2014/main" val="20006"/>
                    </a:ext>
                  </a:extLst>
                </a:gridCol>
                <a:gridCol w="761507">
                  <a:extLst>
                    <a:ext uri="{9D8B030D-6E8A-4147-A177-3AD203B41FA5}">
                      <a16:colId xmlns:a16="http://schemas.microsoft.com/office/drawing/2014/main" val="20007"/>
                    </a:ext>
                  </a:extLst>
                </a:gridCol>
                <a:gridCol w="818283">
                  <a:extLst>
                    <a:ext uri="{9D8B030D-6E8A-4147-A177-3AD203B41FA5}">
                      <a16:colId xmlns:a16="http://schemas.microsoft.com/office/drawing/2014/main" val="20008"/>
                    </a:ext>
                  </a:extLst>
                </a:gridCol>
                <a:gridCol w="792088">
                  <a:extLst>
                    <a:ext uri="{9D8B030D-6E8A-4147-A177-3AD203B41FA5}">
                      <a16:colId xmlns:a16="http://schemas.microsoft.com/office/drawing/2014/main" val="20009"/>
                    </a:ext>
                  </a:extLst>
                </a:gridCol>
                <a:gridCol w="794281">
                  <a:extLst>
                    <a:ext uri="{9D8B030D-6E8A-4147-A177-3AD203B41FA5}">
                      <a16:colId xmlns:a16="http://schemas.microsoft.com/office/drawing/2014/main" val="20010"/>
                    </a:ext>
                  </a:extLst>
                </a:gridCol>
                <a:gridCol w="861903">
                  <a:extLst>
                    <a:ext uri="{9D8B030D-6E8A-4147-A177-3AD203B41FA5}">
                      <a16:colId xmlns:a16="http://schemas.microsoft.com/office/drawing/2014/main" val="20011"/>
                    </a:ext>
                  </a:extLst>
                </a:gridCol>
              </a:tblGrid>
              <a:tr h="289244">
                <a:tc>
                  <a:txBody>
                    <a:bodyPr/>
                    <a:lstStyle/>
                    <a:p>
                      <a:pPr latinLnBrk="1"/>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p>
                  </a:txBody>
                  <a:tcPr marL="36000" marR="36000" anchor="ctr">
                    <a:solidFill>
                      <a:schemeClr val="tx2">
                        <a:lumMod val="75000"/>
                      </a:schemeClr>
                    </a:solidFill>
                  </a:tcPr>
                </a:tc>
                <a:tc>
                  <a:txBody>
                    <a:bodyPr/>
                    <a:lstStyle/>
                    <a:p>
                      <a:pPr latinLnBrk="1"/>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đại</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diện</a:t>
                      </a:r>
                      <a:endParaRPr lang="en-US" altLang="ko-KR"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thường</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lượng</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bắt đầu 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ngưng 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bắt đầu hiệu 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kết thúc hiệu 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 theo kênh</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extLst>
                  <a:ext uri="{0D108BD9-81ED-4DB2-BD59-A6C34878D82A}">
                    <a16:rowId xmlns:a16="http://schemas.microsoft.com/office/drawing/2014/main" val="10000"/>
                  </a:ext>
                </a:extLst>
              </a:tr>
              <a:tr h="764754">
                <a:tc gridSpan="12">
                  <a:txBody>
                    <a:bodyPr/>
                    <a:lstStyle/>
                    <a:p>
                      <a:pPr algn="ctr"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Vui lòng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đăng option.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hMerge="1">
                  <a:txBody>
                    <a:bodyPr/>
                    <a:lstStyle/>
                    <a:p>
                      <a:endParaRPr lang="en-US"/>
                    </a:p>
                  </a:txBody>
                  <a:tcPr marL="36000" marR="36000" anchor="ctr">
                    <a:solidFill>
                      <a:schemeClr val="bg1"/>
                    </a:solidFill>
                  </a:tcPr>
                </a:tc>
                <a:tc hMerge="1">
                  <a:txBody>
                    <a:bodyPr/>
                    <a:lstStyle/>
                    <a:p>
                      <a:endParaRPr lang="en-US"/>
                    </a:p>
                  </a:txBody>
                  <a:tcPr marL="36000" marR="36000" anchor="ctr">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extLst>
                  <a:ext uri="{0D108BD9-81ED-4DB2-BD59-A6C34878D82A}">
                    <a16:rowId xmlns:a16="http://schemas.microsoft.com/office/drawing/2014/main" val="10001"/>
                  </a:ext>
                </a:extLst>
              </a:tr>
            </a:tbl>
          </a:graphicData>
        </a:graphic>
      </p:graphicFrame>
      <p:sp>
        <p:nvSpPr>
          <p:cNvPr id="77" name="직사각형 76"/>
          <p:cNvSpPr/>
          <p:nvPr/>
        </p:nvSpPr>
        <p:spPr>
          <a:xfrm>
            <a:off x="7738183" y="1232213"/>
            <a:ext cx="1224136" cy="23044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Chọn tiêu chuẩn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78" name="직사각형 77"/>
          <p:cNvSpPr/>
          <p:nvPr/>
        </p:nvSpPr>
        <p:spPr>
          <a:xfrm>
            <a:off x="7738183" y="1462661"/>
            <a:ext cx="1224136" cy="127394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Chọn tất cả</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ㅡㅡㅡㅡㅡㅡㅡㅡ</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228600">
              <a:lnSpc>
                <a:spcPct val="150000"/>
              </a:lnSpc>
            </a:pP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 lớn/trẻ em như nhau</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228600">
              <a:lnSpc>
                <a:spcPct val="150000"/>
              </a:lnSpc>
            </a:pP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 lớn</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228600">
              <a:lnSpc>
                <a:spcPct val="150000"/>
              </a:lnSpc>
            </a:pP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Thiếu niên</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228600">
              <a:lnSpc>
                <a:spcPct val="150000"/>
              </a:lnSpc>
            </a:pP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Trẻ em</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228600">
              <a:lnSpc>
                <a:spcPct val="150000"/>
              </a:lnSpc>
            </a:pP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Trẻ sơ sinh</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79" name="그림 78"/>
          <p:cNvPicPr>
            <a:picLocks noChangeAspect="1"/>
          </p:cNvPicPr>
          <p:nvPr/>
        </p:nvPicPr>
        <p:blipFill>
          <a:blip r:embed="rId3" cstate="print"/>
          <a:stretch>
            <a:fillRect/>
          </a:stretch>
        </p:blipFill>
        <p:spPr>
          <a:xfrm>
            <a:off x="7833320" y="1764865"/>
            <a:ext cx="203832" cy="108710"/>
          </a:xfrm>
          <a:prstGeom prst="rect">
            <a:avLst/>
          </a:prstGeom>
        </p:spPr>
      </p:pic>
      <p:pic>
        <p:nvPicPr>
          <p:cNvPr id="80" name="그림 79"/>
          <p:cNvPicPr>
            <a:picLocks noChangeAspect="1"/>
          </p:cNvPicPr>
          <p:nvPr/>
        </p:nvPicPr>
        <p:blipFill>
          <a:blip r:embed="rId3" cstate="print"/>
          <a:stretch>
            <a:fillRect/>
          </a:stretch>
        </p:blipFill>
        <p:spPr>
          <a:xfrm>
            <a:off x="7833320" y="2076605"/>
            <a:ext cx="203832" cy="108710"/>
          </a:xfrm>
          <a:prstGeom prst="rect">
            <a:avLst/>
          </a:prstGeom>
        </p:spPr>
      </p:pic>
      <p:sp>
        <p:nvSpPr>
          <p:cNvPr id="82" name="타원 81"/>
          <p:cNvSpPr/>
          <p:nvPr/>
        </p:nvSpPr>
        <p:spPr>
          <a:xfrm>
            <a:off x="4818811" y="3084307"/>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85" name="표 84"/>
          <p:cNvGraphicFramePr>
            <a:graphicFrameLocks noGrp="1"/>
          </p:cNvGraphicFramePr>
          <p:nvPr/>
        </p:nvGraphicFramePr>
        <p:xfrm>
          <a:off x="7453089" y="836962"/>
          <a:ext cx="2357214" cy="30643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Giá trị chọn: 1 cấp, 2 cấp (Mặc định: 1 cấp)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Có thể chọn nhiều cái</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9" name="타원 88"/>
          <p:cNvSpPr/>
          <p:nvPr/>
        </p:nvSpPr>
        <p:spPr>
          <a:xfrm>
            <a:off x="2300435" y="214362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81"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4" name="그룹 46"/>
          <p:cNvGrpSpPr/>
          <p:nvPr/>
        </p:nvGrpSpPr>
        <p:grpSpPr>
          <a:xfrm>
            <a:off x="1267854" y="665402"/>
            <a:ext cx="1931523" cy="207884"/>
            <a:chOff x="1267854" y="665402"/>
            <a:chExt cx="1931523" cy="207884"/>
          </a:xfrm>
        </p:grpSpPr>
        <p:sp>
          <p:nvSpPr>
            <p:cNvPr id="100"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5" name="그룹 57"/>
            <p:cNvGrpSpPr/>
            <p:nvPr/>
          </p:nvGrpSpPr>
          <p:grpSpPr>
            <a:xfrm>
              <a:off x="2995760" y="665405"/>
              <a:ext cx="203617" cy="207881"/>
              <a:chOff x="2939843" y="5447120"/>
              <a:chExt cx="272722" cy="278432"/>
            </a:xfrm>
          </p:grpSpPr>
          <p:sp>
            <p:nvSpPr>
              <p:cNvPr id="106"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111"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112" name="직선 연결선 145"/>
              <p:cNvCxnSpPr>
                <a:stCxn id="111"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19"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3"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5"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127"/>
          <p:cNvSpPr/>
          <p:nvPr/>
        </p:nvSpPr>
        <p:spPr>
          <a:xfrm>
            <a:off x="1993650" y="6182525"/>
            <a:ext cx="519893"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Trên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128"/>
          <p:cNvSpPr/>
          <p:nvPr/>
        </p:nvSpPr>
        <p:spPr>
          <a:xfrm>
            <a:off x="2564757" y="6182525"/>
            <a:ext cx="51802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Lên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직사각형 129"/>
          <p:cNvSpPr/>
          <p:nvPr/>
        </p:nvSpPr>
        <p:spPr>
          <a:xfrm>
            <a:off x="3141937" y="6182525"/>
            <a:ext cx="65104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Xuống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직사각형 130"/>
          <p:cNvSpPr/>
          <p:nvPr/>
        </p:nvSpPr>
        <p:spPr>
          <a:xfrm>
            <a:off x="3843413" y="6182525"/>
            <a:ext cx="577170"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Dưới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8"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9"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0"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1"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0"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1"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a:xfrm>
            <a:off x="128464" y="27460"/>
            <a:ext cx="9254589" cy="521221"/>
          </a:xfrm>
        </p:spPr>
        <p:txBody>
          <a:bodyPr>
            <a:normAutofit fontScale="90000"/>
          </a:bodyPr>
          <a:lstStyle/>
          <a:p>
            <a:r>
              <a:rPr lang="vi-VN" altLang="ko-KR" dirty="0" smtClean="0">
                <a:latin typeface="Times New Roman" panose="02020603050405020304" pitchFamily="18" charset="0"/>
                <a:ea typeface="Nanum Gothic" panose="020D0604000000000000" pitchFamily="34" charset="-127"/>
                <a:cs typeface="Times New Roman" panose="02020603050405020304" pitchFamily="18" charset="0"/>
              </a:rPr>
              <a:t>Đăng sản </a:t>
            </a:r>
            <a:r>
              <a:rPr lang="vi-VN" altLang="ko-KR" smtClean="0">
                <a:latin typeface="Times New Roman" panose="02020603050405020304" pitchFamily="18" charset="0"/>
                <a:ea typeface="Nanum Gothic" panose="020D0604000000000000" pitchFamily="34" charset="-127"/>
                <a:cs typeface="Times New Roman" panose="02020603050405020304" pitchFamily="18" charset="0"/>
              </a:rPr>
              <a:t>phẩm &gt; </a:t>
            </a:r>
            <a:r>
              <a:rPr lang="vi-VN" altLang="ko-KR" dirty="0"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phẩm/Option_Option sản phẩm&gt;Đăng trực tiếp sản phẩm voucher (sau khi thêm vào danh sách option)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34" name="표 133"/>
          <p:cNvGraphicFramePr>
            <a:graphicFrameLocks noGrp="1"/>
          </p:cNvGraphicFramePr>
          <p:nvPr/>
        </p:nvGraphicFramePr>
        <p:xfrm>
          <a:off x="1342611" y="1024920"/>
          <a:ext cx="5900517" cy="243840"/>
        </p:xfrm>
        <a:graphic>
          <a:graphicData uri="http://schemas.openxmlformats.org/drawingml/2006/table">
            <a:tbl>
              <a:tblPr firstRow="1" bandRow="1">
                <a:tableStyleId>{5C22544A-7EE6-4342-B048-85BDC9FD1C3A}</a:tableStyleId>
              </a:tblPr>
              <a:tblGrid>
                <a:gridCol w="5900517">
                  <a:extLst>
                    <a:ext uri="{9D8B030D-6E8A-4147-A177-3AD203B41FA5}">
                      <a16:colId xmlns:a16="http://schemas.microsoft.com/office/drawing/2014/main" val="20000"/>
                    </a:ext>
                  </a:extLst>
                </a:gridCol>
              </a:tblGrid>
              <a:tr h="0">
                <a:tc>
                  <a:txBody>
                    <a:bodyPr/>
                    <a:lstStyle/>
                    <a:p>
                      <a:pPr algn="l" latinLnBrk="1"/>
                      <a:r>
                        <a:rPr lang="en-US" altLang="ko-KR" sz="10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Option </a:t>
                      </a:r>
                      <a:r>
                        <a:rPr lang="en-US" altLang="ko-KR" sz="10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10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64" name="직사각형 63"/>
          <p:cNvSpPr/>
          <p:nvPr/>
        </p:nvSpPr>
        <p:spPr>
          <a:xfrm>
            <a:off x="1408471" y="1664993"/>
            <a:ext cx="5773508" cy="1642382"/>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t"/>
          <a:lstStyle/>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Sau khi nhập giá trị option, nhấn nút [Thêm vào danh sách option] thì option sẽ tự động được tổ hợp và thêm vào danh sách option.</a:t>
            </a:r>
          </a:p>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Đối với loại option như người lớn/trẻ em phải setting theo tiêu chuẩn người sử dụng, thì đăng giá trị option ở trường option chi tiết theo tiêu chuẩn người sử dụng.</a:t>
            </a:r>
          </a:p>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Sau khi đăng option thì thiết lập giá/số lượng bán của từng option trong danh sách option.  </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75" name="표 74"/>
          <p:cNvGraphicFramePr>
            <a:graphicFrameLocks noGrp="1"/>
          </p:cNvGraphicFramePr>
          <p:nvPr/>
        </p:nvGraphicFramePr>
        <p:xfrm>
          <a:off x="1559566" y="2424248"/>
          <a:ext cx="5337649" cy="558888"/>
        </p:xfrm>
        <a:graphic>
          <a:graphicData uri="http://schemas.openxmlformats.org/drawingml/2006/table">
            <a:tbl>
              <a:tblPr firstRow="1" bandRow="1">
                <a:tableStyleId>{5C22544A-7EE6-4342-B048-85BDC9FD1C3A}</a:tableStyleId>
              </a:tblPr>
              <a:tblGrid>
                <a:gridCol w="1524450">
                  <a:extLst>
                    <a:ext uri="{9D8B030D-6E8A-4147-A177-3AD203B41FA5}">
                      <a16:colId xmlns:a16="http://schemas.microsoft.com/office/drawing/2014/main" val="20000"/>
                    </a:ext>
                  </a:extLst>
                </a:gridCol>
                <a:gridCol w="1745754">
                  <a:extLst>
                    <a:ext uri="{9D8B030D-6E8A-4147-A177-3AD203B41FA5}">
                      <a16:colId xmlns:a16="http://schemas.microsoft.com/office/drawing/2014/main" val="20001"/>
                    </a:ext>
                  </a:extLst>
                </a:gridCol>
                <a:gridCol w="1373909">
                  <a:extLst>
                    <a:ext uri="{9D8B030D-6E8A-4147-A177-3AD203B41FA5}">
                      <a16:colId xmlns:a16="http://schemas.microsoft.com/office/drawing/2014/main" val="20002"/>
                    </a:ext>
                  </a:extLst>
                </a:gridCol>
                <a:gridCol w="693536">
                  <a:extLst>
                    <a:ext uri="{9D8B030D-6E8A-4147-A177-3AD203B41FA5}">
                      <a16:colId xmlns:a16="http://schemas.microsoft.com/office/drawing/2014/main" val="20003"/>
                    </a:ext>
                  </a:extLst>
                </a:gridCol>
              </a:tblGrid>
              <a:tr h="281476">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8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ko-KR" altLang="en-US" sz="800" b="1" dirty="0">
                          <a:solidFill>
                            <a:schemeClr val="tx1"/>
                          </a:solidFill>
                          <a:latin typeface="Nanum Gothic" panose="020D0604000000000000" pitchFamily="34" charset="-127"/>
                          <a:ea typeface="Nanum Gothic" panose="020D0604000000000000" pitchFamily="34" charset="-127"/>
                        </a:rPr>
                        <a:t> </a:t>
                      </a:r>
                      <a:r>
                        <a:rPr lang="ko-KR" altLang="en-US"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Option chi </a:t>
                      </a:r>
                      <a:r>
                        <a:rPr lang="en-US" altLang="ko-KR" sz="8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tiết</a:t>
                      </a:r>
                      <a:endParaRPr lang="en-US" altLang="ko-KR"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800" b="1"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Tiêu</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chuẩn</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người</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t>
                      </a:r>
                      <a:r>
                        <a:rPr lang="en-US" altLang="ko-KR" sz="800" b="1"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dụng</a:t>
                      </a:r>
                      <a:endPar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l" latinLnBrk="1"/>
                      <a:endParaRPr lang="en-US" altLang="ko-KR" sz="800" b="0" dirty="0">
                        <a:solidFill>
                          <a:schemeClr val="tx2">
                            <a:lumMod val="60000"/>
                            <a:lumOff val="40000"/>
                          </a:schemeClr>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7412">
                <a:tc>
                  <a:txBody>
                    <a:bodyPr/>
                    <a:lstStyle/>
                    <a:p>
                      <a:pPr algn="ctr" latinLnBrk="1"/>
                      <a:endParaRPr lang="ko-KR" altLang="en-US" sz="800" b="1" dirty="0">
                        <a:solidFill>
                          <a:schemeClr val="tx1"/>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2">
                            <a:lumMod val="60000"/>
                            <a:lumOff val="40000"/>
                          </a:schemeClr>
                        </a:solidFill>
                        <a:latin typeface="Nanum Gothic" panose="020D0604000000000000" pitchFamily="34" charset="-127"/>
                        <a:ea typeface="Nanum Gothic" panose="020D0604000000000000" pitchFamily="34" charset="-127"/>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83" name="직사각형 82"/>
          <p:cNvSpPr/>
          <p:nvPr/>
        </p:nvSpPr>
        <p:spPr>
          <a:xfrm>
            <a:off x="6249144" y="2773005"/>
            <a:ext cx="396132" cy="13019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직사각형 115"/>
          <p:cNvSpPr/>
          <p:nvPr/>
        </p:nvSpPr>
        <p:spPr>
          <a:xfrm>
            <a:off x="3278178" y="3081033"/>
            <a:ext cx="1658207" cy="176395"/>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a:t>
            </a:r>
            <a:r>
              <a:rPr lang="en-US" altLang="ko-KR"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vào</a:t>
            </a:r>
            <a:r>
              <a:rPr lang="en-US" altLang="ko-KR"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danh</a:t>
            </a:r>
            <a:r>
              <a:rPr lang="en-US" altLang="ko-KR"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sách</a:t>
            </a:r>
            <a:r>
              <a:rPr lang="en-US" altLang="ko-KR"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65" name="표 64"/>
          <p:cNvGraphicFramePr>
            <a:graphicFrameLocks noGrp="1"/>
          </p:cNvGraphicFramePr>
          <p:nvPr/>
        </p:nvGraphicFramePr>
        <p:xfrm>
          <a:off x="1383181" y="4196031"/>
          <a:ext cx="7962307" cy="2011680"/>
        </p:xfrm>
        <a:graphic>
          <a:graphicData uri="http://schemas.openxmlformats.org/drawingml/2006/table">
            <a:tbl>
              <a:tblPr firstRow="1" bandRow="1">
                <a:tableStyleId>{5940675A-B579-460E-94D1-54222C63F5DA}</a:tableStyleId>
              </a:tblPr>
              <a:tblGrid>
                <a:gridCol w="293206">
                  <a:extLst>
                    <a:ext uri="{9D8B030D-6E8A-4147-A177-3AD203B41FA5}">
                      <a16:colId xmlns:a16="http://schemas.microsoft.com/office/drawing/2014/main" val="20000"/>
                    </a:ext>
                  </a:extLst>
                </a:gridCol>
                <a:gridCol w="413512">
                  <a:extLst>
                    <a:ext uri="{9D8B030D-6E8A-4147-A177-3AD203B41FA5}">
                      <a16:colId xmlns:a16="http://schemas.microsoft.com/office/drawing/2014/main" val="20001"/>
                    </a:ext>
                  </a:extLst>
                </a:gridCol>
                <a:gridCol w="413512">
                  <a:extLst>
                    <a:ext uri="{9D8B030D-6E8A-4147-A177-3AD203B41FA5}">
                      <a16:colId xmlns:a16="http://schemas.microsoft.com/office/drawing/2014/main" val="20002"/>
                    </a:ext>
                  </a:extLst>
                </a:gridCol>
                <a:gridCol w="1157831">
                  <a:extLst>
                    <a:ext uri="{9D8B030D-6E8A-4147-A177-3AD203B41FA5}">
                      <a16:colId xmlns:a16="http://schemas.microsoft.com/office/drawing/2014/main" val="20003"/>
                    </a:ext>
                  </a:extLst>
                </a:gridCol>
                <a:gridCol w="531862">
                  <a:extLst>
                    <a:ext uri="{9D8B030D-6E8A-4147-A177-3AD203B41FA5}">
                      <a16:colId xmlns:a16="http://schemas.microsoft.com/office/drawing/2014/main" val="20004"/>
                    </a:ext>
                  </a:extLst>
                </a:gridCol>
                <a:gridCol w="661618">
                  <a:extLst>
                    <a:ext uri="{9D8B030D-6E8A-4147-A177-3AD203B41FA5}">
                      <a16:colId xmlns:a16="http://schemas.microsoft.com/office/drawing/2014/main" val="20005"/>
                    </a:ext>
                  </a:extLst>
                </a:gridCol>
                <a:gridCol w="462704">
                  <a:extLst>
                    <a:ext uri="{9D8B030D-6E8A-4147-A177-3AD203B41FA5}">
                      <a16:colId xmlns:a16="http://schemas.microsoft.com/office/drawing/2014/main" val="20006"/>
                    </a:ext>
                  </a:extLst>
                </a:gridCol>
                <a:gridCol w="761507">
                  <a:extLst>
                    <a:ext uri="{9D8B030D-6E8A-4147-A177-3AD203B41FA5}">
                      <a16:colId xmlns:a16="http://schemas.microsoft.com/office/drawing/2014/main" val="20007"/>
                    </a:ext>
                  </a:extLst>
                </a:gridCol>
                <a:gridCol w="818283">
                  <a:extLst>
                    <a:ext uri="{9D8B030D-6E8A-4147-A177-3AD203B41FA5}">
                      <a16:colId xmlns:a16="http://schemas.microsoft.com/office/drawing/2014/main" val="20008"/>
                    </a:ext>
                  </a:extLst>
                </a:gridCol>
                <a:gridCol w="792088">
                  <a:extLst>
                    <a:ext uri="{9D8B030D-6E8A-4147-A177-3AD203B41FA5}">
                      <a16:colId xmlns:a16="http://schemas.microsoft.com/office/drawing/2014/main" val="20009"/>
                    </a:ext>
                  </a:extLst>
                </a:gridCol>
                <a:gridCol w="794281">
                  <a:extLst>
                    <a:ext uri="{9D8B030D-6E8A-4147-A177-3AD203B41FA5}">
                      <a16:colId xmlns:a16="http://schemas.microsoft.com/office/drawing/2014/main" val="20010"/>
                    </a:ext>
                  </a:extLst>
                </a:gridCol>
                <a:gridCol w="861903">
                  <a:extLst>
                    <a:ext uri="{9D8B030D-6E8A-4147-A177-3AD203B41FA5}">
                      <a16:colId xmlns:a16="http://schemas.microsoft.com/office/drawing/2014/main" val="20011"/>
                    </a:ext>
                  </a:extLst>
                </a:gridCol>
              </a:tblGrid>
              <a:tr h="289244">
                <a:tc>
                  <a:txBody>
                    <a:bodyPr/>
                    <a:lstStyle/>
                    <a:p>
                      <a:pPr latinLnBrk="1"/>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p>
                  </a:txBody>
                  <a:tcPr marL="36000" marR="36000" anchor="ctr">
                    <a:solidFill>
                      <a:schemeClr val="tx2">
                        <a:lumMod val="75000"/>
                      </a:schemeClr>
                    </a:solidFill>
                  </a:tcPr>
                </a:tc>
                <a:tc>
                  <a:txBody>
                    <a:bodyPr/>
                    <a:lstStyle/>
                    <a:p>
                      <a:pPr latinLnBrk="1"/>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đại</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diện</a:t>
                      </a:r>
                      <a:endParaRPr lang="en-US" altLang="ko-KR"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thường</a:t>
                      </a:r>
                      <a:endPar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lượng</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bắt</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đầu</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ngưng</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bắt</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đầu</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hiệu</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kết</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thúc</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hiệu</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theo</a:t>
                      </a:r>
                      <a:r>
                        <a:rPr lang="en-US" altLang="ko-KR" sz="800" b="1" baseline="0"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baseline="0" dirty="0" err="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kênh</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extLst>
                  <a:ext uri="{0D108BD9-81ED-4DB2-BD59-A6C34878D82A}">
                    <a16:rowId xmlns:a16="http://schemas.microsoft.com/office/drawing/2014/main" val="10000"/>
                  </a:ext>
                </a:extLst>
              </a:tr>
              <a:tr h="205479">
                <a:tc>
                  <a:txBody>
                    <a:bodyPr/>
                    <a:lstStyle/>
                    <a:p>
                      <a:pPr latinLnBrk="1"/>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r>
                        <a:rPr lang="en-US" altLang="ko-KR" sz="800" b="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đại</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diện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r>
                        <a:rPr lang="en-US" altLang="ko-KR" sz="800" b="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sinh</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ra</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r>
                        <a:rPr lang="vi-VN" altLang="ko-KR" sz="800" b="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so khớp sau khi đăng sp</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extLst>
                  <a:ext uri="{0D108BD9-81ED-4DB2-BD59-A6C34878D82A}">
                    <a16:rowId xmlns:a16="http://schemas.microsoft.com/office/drawing/2014/main" val="10001"/>
                  </a:ext>
                </a:extLst>
              </a:tr>
              <a:tr h="230239">
                <a:tc>
                  <a:txBody>
                    <a:bodyPr/>
                    <a:lstStyle/>
                    <a:p>
                      <a:pPr latinLnBrk="1"/>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algn="ctr"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r>
                        <a:rPr lang="en-US" altLang="ko-KR" sz="800" b="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sinh</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ra</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r>
                        <a:rPr lang="vi-VN" altLang="ko-KR" sz="800" b="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so khớp sau khi đăng sp</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extLst>
                  <a:ext uri="{0D108BD9-81ED-4DB2-BD59-A6C34878D82A}">
                    <a16:rowId xmlns:a16="http://schemas.microsoft.com/office/drawing/2014/main" val="10002"/>
                  </a:ext>
                </a:extLst>
              </a:tr>
              <a:tr h="289244">
                <a:tc>
                  <a:txBody>
                    <a:bodyPr/>
                    <a:lstStyle/>
                    <a:p>
                      <a:pPr latinLnBrk="1"/>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algn="ctr"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r>
                        <a:rPr lang="en-US" altLang="ko-KR" sz="800" b="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sinh</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ra</a:t>
                      </a:r>
                      <a:endParaRPr lang="ko-KR" altLang="en-US" sz="800" b="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r>
                        <a:rPr lang="vi-VN" altLang="ko-KR" sz="800" b="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so khớp sau khi đăng sp</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extLst>
                  <a:ext uri="{0D108BD9-81ED-4DB2-BD59-A6C34878D82A}">
                    <a16:rowId xmlns:a16="http://schemas.microsoft.com/office/drawing/2014/main" val="10003"/>
                  </a:ext>
                </a:extLst>
              </a:tr>
              <a:tr h="289244">
                <a:tc>
                  <a:txBody>
                    <a:bodyPr/>
                    <a:lstStyle/>
                    <a:p>
                      <a:pPr latinLnBrk="1"/>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algn="ctr"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r>
                        <a:rPr lang="en-US" altLang="ko-KR" sz="800" b="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sinh</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ra</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r>
                        <a:rPr lang="vi-VN" altLang="ko-KR" sz="800" b="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so khớp sau khi đăng sp</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extLst>
                  <a:ext uri="{0D108BD9-81ED-4DB2-BD59-A6C34878D82A}">
                    <a16:rowId xmlns:a16="http://schemas.microsoft.com/office/drawing/2014/main" val="10004"/>
                  </a:ext>
                </a:extLst>
              </a:tr>
              <a:tr h="289244">
                <a:tc>
                  <a:txBody>
                    <a:bodyPr/>
                    <a:lstStyle/>
                    <a:p>
                      <a:pPr latinLnBrk="1"/>
                      <a:r>
                        <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algn="ctr"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r>
                        <a:rPr lang="en-US" altLang="ko-KR" sz="800" b="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sinh</a:t>
                      </a:r>
                      <a:r>
                        <a:rPr lang="en-US" altLang="ko-KR" sz="800" b="0" baseline="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ra</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tc>
                  <a:txBody>
                    <a:bodyPr/>
                    <a:lstStyle/>
                    <a:p>
                      <a:pPr latinLnBrk="1"/>
                      <a:r>
                        <a:rPr lang="vi-VN" altLang="ko-KR" sz="800" b="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 động so khớp sau khi đăng sp</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bg1"/>
                    </a:solidFill>
                  </a:tcPr>
                </a:tc>
                <a:extLst>
                  <a:ext uri="{0D108BD9-81ED-4DB2-BD59-A6C34878D82A}">
                    <a16:rowId xmlns:a16="http://schemas.microsoft.com/office/drawing/2014/main" val="10005"/>
                  </a:ext>
                </a:extLst>
              </a:tr>
            </a:tbl>
          </a:graphicData>
        </a:graphic>
      </p:graphicFrame>
      <p:sp>
        <p:nvSpPr>
          <p:cNvPr id="66" name="직사각형 65"/>
          <p:cNvSpPr/>
          <p:nvPr/>
        </p:nvSpPr>
        <p:spPr>
          <a:xfrm>
            <a:off x="2538637" y="4581252"/>
            <a:ext cx="1068744" cy="21699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 triển lãm_Trong tuần Người lớn</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3690764" y="4589975"/>
            <a:ext cx="467743"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77"/>
          <p:cNvSpPr/>
          <p:nvPr/>
        </p:nvSpPr>
        <p:spPr>
          <a:xfrm>
            <a:off x="4265052" y="4589975"/>
            <a:ext cx="517364"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직사각형 78"/>
          <p:cNvSpPr/>
          <p:nvPr/>
        </p:nvSpPr>
        <p:spPr>
          <a:xfrm>
            <a:off x="4949812" y="4589976"/>
            <a:ext cx="317553" cy="18659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직사각형 79"/>
          <p:cNvSpPr/>
          <p:nvPr/>
        </p:nvSpPr>
        <p:spPr>
          <a:xfrm>
            <a:off x="5385048" y="4589975"/>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81"/>
          <p:cNvSpPr/>
          <p:nvPr/>
        </p:nvSpPr>
        <p:spPr>
          <a:xfrm>
            <a:off x="6177136" y="4589767"/>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88"/>
          <p:cNvSpPr/>
          <p:nvPr/>
        </p:nvSpPr>
        <p:spPr>
          <a:xfrm>
            <a:off x="6948930" y="4589975"/>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89"/>
          <p:cNvSpPr/>
          <p:nvPr/>
        </p:nvSpPr>
        <p:spPr>
          <a:xfrm>
            <a:off x="7769756" y="4589767"/>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92"/>
          <p:cNvSpPr/>
          <p:nvPr/>
        </p:nvSpPr>
        <p:spPr>
          <a:xfrm>
            <a:off x="2548162" y="4915450"/>
            <a:ext cx="1068744" cy="21699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triển</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lãm_Trong</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tuần</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Trẻ</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em</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직사각형 95"/>
          <p:cNvSpPr/>
          <p:nvPr/>
        </p:nvSpPr>
        <p:spPr>
          <a:xfrm>
            <a:off x="3690764" y="4924173"/>
            <a:ext cx="467743"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직사각형 96"/>
          <p:cNvSpPr/>
          <p:nvPr/>
        </p:nvSpPr>
        <p:spPr>
          <a:xfrm>
            <a:off x="4265052" y="4924173"/>
            <a:ext cx="517364"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직사각형 101"/>
          <p:cNvSpPr/>
          <p:nvPr/>
        </p:nvSpPr>
        <p:spPr>
          <a:xfrm>
            <a:off x="4949812" y="4886074"/>
            <a:ext cx="317553" cy="18659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직사각형 102"/>
          <p:cNvSpPr/>
          <p:nvPr/>
        </p:nvSpPr>
        <p:spPr>
          <a:xfrm>
            <a:off x="5385048" y="4886073"/>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직사각형 103"/>
          <p:cNvSpPr/>
          <p:nvPr/>
        </p:nvSpPr>
        <p:spPr>
          <a:xfrm>
            <a:off x="6177136" y="4885865"/>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1" name="직사각형 110"/>
          <p:cNvSpPr/>
          <p:nvPr/>
        </p:nvSpPr>
        <p:spPr>
          <a:xfrm>
            <a:off x="6948930" y="4886073"/>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5" name="직사각형 134"/>
          <p:cNvSpPr/>
          <p:nvPr/>
        </p:nvSpPr>
        <p:spPr>
          <a:xfrm>
            <a:off x="7769756" y="4885865"/>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6" name="직사각형 135"/>
          <p:cNvSpPr/>
          <p:nvPr/>
        </p:nvSpPr>
        <p:spPr>
          <a:xfrm>
            <a:off x="2554204" y="5924713"/>
            <a:ext cx="1068744" cy="21699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Phiếu</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mua</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hàng</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tuần</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9" name="직사각형 138"/>
          <p:cNvSpPr/>
          <p:nvPr/>
        </p:nvSpPr>
        <p:spPr>
          <a:xfrm>
            <a:off x="3690764" y="5924629"/>
            <a:ext cx="467743"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0" name="직사각형 139"/>
          <p:cNvSpPr/>
          <p:nvPr/>
        </p:nvSpPr>
        <p:spPr>
          <a:xfrm>
            <a:off x="4284102" y="5924629"/>
            <a:ext cx="517364"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1" name="직사각형 140"/>
          <p:cNvSpPr/>
          <p:nvPr/>
        </p:nvSpPr>
        <p:spPr>
          <a:xfrm>
            <a:off x="4940287" y="5934155"/>
            <a:ext cx="317553" cy="18659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2" name="직사각형 141"/>
          <p:cNvSpPr/>
          <p:nvPr/>
        </p:nvSpPr>
        <p:spPr>
          <a:xfrm>
            <a:off x="5385048" y="5962729"/>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3" name="직사각형 142"/>
          <p:cNvSpPr/>
          <p:nvPr/>
        </p:nvSpPr>
        <p:spPr>
          <a:xfrm>
            <a:off x="6177136" y="5962521"/>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4" name="직사각형 143"/>
          <p:cNvSpPr/>
          <p:nvPr/>
        </p:nvSpPr>
        <p:spPr>
          <a:xfrm>
            <a:off x="6987030" y="5962729"/>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5" name="직사각형 144"/>
          <p:cNvSpPr/>
          <p:nvPr/>
        </p:nvSpPr>
        <p:spPr>
          <a:xfrm>
            <a:off x="7769756" y="5962521"/>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6" name="직사각형 145"/>
          <p:cNvSpPr/>
          <p:nvPr/>
        </p:nvSpPr>
        <p:spPr>
          <a:xfrm>
            <a:off x="1647269" y="2754142"/>
            <a:ext cx="1345732"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Nhập</a:t>
            </a:r>
            <a:r>
              <a:rPr lang="en-US" altLang="ko-KR" sz="800" dirty="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dirty="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9" name="직사각형 148"/>
          <p:cNvSpPr/>
          <p:nvPr/>
        </p:nvSpPr>
        <p:spPr>
          <a:xfrm>
            <a:off x="3245685" y="2754142"/>
            <a:ext cx="1345732"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Nhập</a:t>
            </a:r>
            <a:r>
              <a:rPr lang="en-US" altLang="ko-KR" sz="800" dirty="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dirty="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 option chi </a:t>
            </a:r>
            <a:r>
              <a:rPr lang="en-US" altLang="ko-KR" sz="800" dirty="0" err="1"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tiết</a:t>
            </a:r>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1" name="직사각형 150"/>
          <p:cNvSpPr/>
          <p:nvPr/>
        </p:nvSpPr>
        <p:spPr>
          <a:xfrm>
            <a:off x="4953000" y="2754142"/>
            <a:ext cx="1040440" cy="1679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Vui</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lòng</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chọn</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152" name="직사각형 151"/>
          <p:cNvSpPr/>
          <p:nvPr/>
        </p:nvSpPr>
        <p:spPr>
          <a:xfrm>
            <a:off x="2552709" y="5248603"/>
            <a:ext cx="1068744" cy="21699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 triển lãm_Cuối tuần Người lớn</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4" name="직사각형 153"/>
          <p:cNvSpPr/>
          <p:nvPr/>
        </p:nvSpPr>
        <p:spPr>
          <a:xfrm>
            <a:off x="3685786" y="5276376"/>
            <a:ext cx="467743"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5" name="직사각형 154"/>
          <p:cNvSpPr/>
          <p:nvPr/>
        </p:nvSpPr>
        <p:spPr>
          <a:xfrm>
            <a:off x="4279124" y="5276376"/>
            <a:ext cx="517364"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6" name="직사각형 155"/>
          <p:cNvSpPr/>
          <p:nvPr/>
        </p:nvSpPr>
        <p:spPr>
          <a:xfrm>
            <a:off x="4944834" y="5276377"/>
            <a:ext cx="317553" cy="18659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7" name="직사각형 156"/>
          <p:cNvSpPr/>
          <p:nvPr/>
        </p:nvSpPr>
        <p:spPr>
          <a:xfrm>
            <a:off x="5389595" y="5276376"/>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8" name="직사각형 157"/>
          <p:cNvSpPr/>
          <p:nvPr/>
        </p:nvSpPr>
        <p:spPr>
          <a:xfrm>
            <a:off x="6172158" y="5276168"/>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9" name="직사각형 158"/>
          <p:cNvSpPr/>
          <p:nvPr/>
        </p:nvSpPr>
        <p:spPr>
          <a:xfrm>
            <a:off x="6972527" y="5276376"/>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0" name="직사각형 159"/>
          <p:cNvSpPr/>
          <p:nvPr/>
        </p:nvSpPr>
        <p:spPr>
          <a:xfrm>
            <a:off x="7774303" y="5276168"/>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1" name="직사각형 160"/>
          <p:cNvSpPr/>
          <p:nvPr/>
        </p:nvSpPr>
        <p:spPr>
          <a:xfrm>
            <a:off x="2552709" y="5582801"/>
            <a:ext cx="1068744" cy="21699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triển</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lãm_Cuối</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tuần</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Trẻ</a:t>
            </a:r>
            <a:r>
              <a:rPr lang="en-US" altLang="ko-KR" sz="800"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dirty="0" err="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em</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3" name="직사각형 162"/>
          <p:cNvSpPr/>
          <p:nvPr/>
        </p:nvSpPr>
        <p:spPr>
          <a:xfrm>
            <a:off x="3695311" y="5591524"/>
            <a:ext cx="467743"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4" name="직사각형 163"/>
          <p:cNvSpPr/>
          <p:nvPr/>
        </p:nvSpPr>
        <p:spPr>
          <a:xfrm>
            <a:off x="4279124" y="5601049"/>
            <a:ext cx="517364" cy="197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10,000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5" name="직사각형 164"/>
          <p:cNvSpPr/>
          <p:nvPr/>
        </p:nvSpPr>
        <p:spPr>
          <a:xfrm>
            <a:off x="4935309" y="5601050"/>
            <a:ext cx="317553" cy="18659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6" name="직사각형 165"/>
          <p:cNvSpPr/>
          <p:nvPr/>
        </p:nvSpPr>
        <p:spPr>
          <a:xfrm>
            <a:off x="5389595" y="5572474"/>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7" name="직사각형 166"/>
          <p:cNvSpPr/>
          <p:nvPr/>
        </p:nvSpPr>
        <p:spPr>
          <a:xfrm>
            <a:off x="6181683" y="5572266"/>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8" name="직사각형 167"/>
          <p:cNvSpPr/>
          <p:nvPr/>
        </p:nvSpPr>
        <p:spPr>
          <a:xfrm>
            <a:off x="6991577" y="5572474"/>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2020-01-01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9" name="직사각형 168"/>
          <p:cNvSpPr/>
          <p:nvPr/>
        </p:nvSpPr>
        <p:spPr>
          <a:xfrm>
            <a:off x="7793353" y="5572266"/>
            <a:ext cx="639628" cy="18658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2020-01-31</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70" name="그림 169"/>
          <p:cNvPicPr>
            <a:picLocks noChangeAspect="1"/>
          </p:cNvPicPr>
          <p:nvPr/>
        </p:nvPicPr>
        <p:blipFill>
          <a:blip r:embed="rId3" cstate="print"/>
          <a:stretch>
            <a:fillRect/>
          </a:stretch>
        </p:blipFill>
        <p:spPr>
          <a:xfrm rot="10800000" flipV="1">
            <a:off x="3645481" y="6231043"/>
            <a:ext cx="5664194" cy="170048"/>
          </a:xfrm>
          <a:prstGeom prst="rect">
            <a:avLst/>
          </a:prstGeom>
        </p:spPr>
      </p:pic>
      <p:pic>
        <p:nvPicPr>
          <p:cNvPr id="171" name="그림 170"/>
          <p:cNvPicPr>
            <a:picLocks noChangeAspect="1"/>
          </p:cNvPicPr>
          <p:nvPr/>
        </p:nvPicPr>
        <p:blipFill>
          <a:blip r:embed="rId4" cstate="print"/>
          <a:stretch>
            <a:fillRect/>
          </a:stretch>
        </p:blipFill>
        <p:spPr>
          <a:xfrm>
            <a:off x="9383053" y="4581252"/>
            <a:ext cx="157393" cy="1780515"/>
          </a:xfrm>
          <a:prstGeom prst="rect">
            <a:avLst/>
          </a:prstGeom>
        </p:spPr>
      </p:pic>
      <p:sp>
        <p:nvSpPr>
          <p:cNvPr id="106"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108"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113"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114"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117" name="직선 연결선 145"/>
              <p:cNvCxnSpPr>
                <a:stCxn id="11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18"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9"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0"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3" name="직사각형 57"/>
          <p:cNvSpPr/>
          <p:nvPr/>
        </p:nvSpPr>
        <p:spPr>
          <a:xfrm>
            <a:off x="2529071" y="1354485"/>
            <a:ext cx="1298248" cy="311649"/>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quy định ngày</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5" name="그룹 68"/>
          <p:cNvGrpSpPr/>
          <p:nvPr/>
        </p:nvGrpSpPr>
        <p:grpSpPr>
          <a:xfrm>
            <a:off x="1405598" y="1354485"/>
            <a:ext cx="1071422" cy="311649"/>
            <a:chOff x="2500957" y="1205151"/>
            <a:chExt cx="868857" cy="311649"/>
          </a:xfrm>
        </p:grpSpPr>
        <p:sp>
          <p:nvSpPr>
            <p:cNvPr id="187" name="직사각형 71"/>
            <p:cNvSpPr/>
            <p:nvPr/>
          </p:nvSpPr>
          <p:spPr>
            <a:xfrm>
              <a:off x="2500957" y="1205151"/>
              <a:ext cx="858802" cy="31164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dirty="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voucher</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88" name="직선 연결선[R] 72"/>
            <p:cNvCxnSpPr/>
            <p:nvPr/>
          </p:nvCxnSpPr>
          <p:spPr>
            <a:xfrm>
              <a:off x="2511012" y="1516800"/>
              <a:ext cx="858802"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89" name="직사각형 73"/>
          <p:cNvSpPr/>
          <p:nvPr/>
        </p:nvSpPr>
        <p:spPr>
          <a:xfrm>
            <a:off x="3878028" y="1354485"/>
            <a:ext cx="1298248" cy="311649"/>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file excel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0" name="직사각형 94"/>
          <p:cNvSpPr/>
          <p:nvPr/>
        </p:nvSpPr>
        <p:spPr>
          <a:xfrm>
            <a:off x="3096991" y="2170266"/>
            <a:ext cx="2473754" cy="215444"/>
          </a:xfrm>
          <a:prstGeom prst="rect">
            <a:avLst/>
          </a:prstGeom>
        </p:spPr>
        <p:txBody>
          <a:bodyPr wrap="non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Sử dụng option chi tiết theo tiêu chuẩn người sử dụng</a:t>
            </a:r>
            <a:endParaRPr lang="en-US" altLang="ko-KR" sz="800" dirty="0">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91" name="그림 104"/>
          <p:cNvPicPr>
            <a:picLocks noChangeAspect="1"/>
          </p:cNvPicPr>
          <p:nvPr/>
        </p:nvPicPr>
        <p:blipFill>
          <a:blip r:embed="rId5" cstate="print"/>
          <a:stretch>
            <a:fillRect/>
          </a:stretch>
        </p:blipFill>
        <p:spPr>
          <a:xfrm>
            <a:off x="3121161" y="2172913"/>
            <a:ext cx="203832" cy="108710"/>
          </a:xfrm>
          <a:prstGeom prst="rect">
            <a:avLst/>
          </a:prstGeom>
        </p:spPr>
      </p:pic>
      <p:sp>
        <p:nvSpPr>
          <p:cNvPr id="192" name="직사각형 108"/>
          <p:cNvSpPr/>
          <p:nvPr/>
        </p:nvSpPr>
        <p:spPr>
          <a:xfrm>
            <a:off x="1501777" y="2170266"/>
            <a:ext cx="930943" cy="338554"/>
          </a:xfrm>
          <a:prstGeom prst="rect">
            <a:avLst/>
          </a:prstGeom>
        </p:spPr>
        <p:txBody>
          <a:bodyPr wrap="squar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Nhập option chi tiết</a:t>
            </a:r>
            <a:r>
              <a:rPr lang="ko-KR" altLang="en-US" sz="800" smtClean="0">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3" name="직사각형 109"/>
          <p:cNvSpPr/>
          <p:nvPr/>
        </p:nvSpPr>
        <p:spPr>
          <a:xfrm>
            <a:off x="2412679" y="2186529"/>
            <a:ext cx="539813" cy="182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cấp</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pic>
        <p:nvPicPr>
          <p:cNvPr id="194" name="그림 114"/>
          <p:cNvPicPr>
            <a:picLocks noChangeAspect="1"/>
          </p:cNvPicPr>
          <p:nvPr/>
        </p:nvPicPr>
        <p:blipFill>
          <a:blip r:embed="rId5" cstate="print"/>
          <a:stretch>
            <a:fillRect/>
          </a:stretch>
        </p:blipFill>
        <p:spPr>
          <a:xfrm>
            <a:off x="1580816" y="2171280"/>
            <a:ext cx="203832" cy="108710"/>
          </a:xfrm>
          <a:prstGeom prst="rect">
            <a:avLst/>
          </a:prstGeom>
        </p:spPr>
      </p:pic>
      <p:sp>
        <p:nvSpPr>
          <p:cNvPr id="196" name="직사각형 121"/>
          <p:cNvSpPr/>
          <p:nvPr/>
        </p:nvSpPr>
        <p:spPr>
          <a:xfrm>
            <a:off x="1396263" y="3874795"/>
            <a:ext cx="942531"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thời gian bán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7" name="직사각형 122"/>
          <p:cNvSpPr/>
          <p:nvPr/>
        </p:nvSpPr>
        <p:spPr>
          <a:xfrm>
            <a:off x="2378694" y="3874795"/>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giá</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8" name="직사각형 123"/>
          <p:cNvSpPr/>
          <p:nvPr/>
        </p:nvSpPr>
        <p:spPr>
          <a:xfrm>
            <a:off x="3228290" y="3874795"/>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số lượng</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9" name="직사각형 124"/>
          <p:cNvSpPr/>
          <p:nvPr/>
        </p:nvSpPr>
        <p:spPr>
          <a:xfrm>
            <a:off x="4077886" y="3874795"/>
            <a:ext cx="461047"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00" name="직사각형 125"/>
          <p:cNvSpPr/>
          <p:nvPr/>
        </p:nvSpPr>
        <p:spPr>
          <a:xfrm>
            <a:off x="6535702" y="3874795"/>
            <a:ext cx="618149"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Thiết lập giá đại diện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01" name="직사각형 131"/>
          <p:cNvSpPr/>
          <p:nvPr/>
        </p:nvSpPr>
        <p:spPr>
          <a:xfrm>
            <a:off x="1342611" y="3279143"/>
            <a:ext cx="5187523" cy="615553"/>
          </a:xfrm>
          <a:prstGeom prst="rect">
            <a:avLst/>
          </a:prstGeom>
        </p:spPr>
        <p:txBody>
          <a:bodyPr wrap="square">
            <a:spAutoFit/>
          </a:bodyPr>
          <a:lstStyle/>
          <a:p>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Danh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sách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option</a:t>
            </a:r>
            <a:endParaRPr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Xem option đã thêm bằng cách nhập trực tiếp hoặc bằng file excel, có thể sửa giá thường/giá bán/số lượng bán/thời gian bán của từng option.</a:t>
            </a: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Sau khi đăng sản phẩm, có thể xem số lượng bán và thời gian bán của từng kênh ở menu quản lý "Phí/Số lượng".</a:t>
            </a:r>
            <a:r>
              <a:rPr lang="ko-KR" altLang="en-US" sz="800"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02" name="모서리가 둥근 직사각형 116"/>
          <p:cNvSpPr/>
          <p:nvPr/>
        </p:nvSpPr>
        <p:spPr>
          <a:xfrm>
            <a:off x="6877841" y="6589789"/>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theo</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03" name="모서리가 둥근 직사각형 117"/>
          <p:cNvSpPr/>
          <p:nvPr/>
        </p:nvSpPr>
        <p:spPr>
          <a:xfrm>
            <a:off x="6327852" y="6589788"/>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04" name="TextBox 203"/>
          <p:cNvSpPr txBox="1"/>
          <p:nvPr/>
        </p:nvSpPr>
        <p:spPr>
          <a:xfrm>
            <a:off x="1245689" y="6403882"/>
            <a:ext cx="1400813" cy="215444"/>
          </a:xfrm>
          <a:prstGeom prst="rect">
            <a:avLst/>
          </a:prstGeom>
          <a:noFill/>
        </p:spPr>
        <p:txBody>
          <a:bodyPr wrap="square" rtlCol="0">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Di chuyển thứ tự</a:t>
            </a:r>
            <a:r>
              <a:rPr lang="ko-KR" altLang="en-US" sz="800" b="1"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직사각형 127"/>
          <p:cNvSpPr/>
          <p:nvPr/>
        </p:nvSpPr>
        <p:spPr>
          <a:xfrm>
            <a:off x="2166951" y="6437216"/>
            <a:ext cx="519893"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Trên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직사각형 128"/>
          <p:cNvSpPr/>
          <p:nvPr/>
        </p:nvSpPr>
        <p:spPr>
          <a:xfrm>
            <a:off x="2738058" y="6437216"/>
            <a:ext cx="51802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Lên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7" name="직사각형 129"/>
          <p:cNvSpPr/>
          <p:nvPr/>
        </p:nvSpPr>
        <p:spPr>
          <a:xfrm>
            <a:off x="3315238" y="6437216"/>
            <a:ext cx="65104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Xuống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직사각형 130"/>
          <p:cNvSpPr/>
          <p:nvPr/>
        </p:nvSpPr>
        <p:spPr>
          <a:xfrm>
            <a:off x="4016714" y="6437216"/>
            <a:ext cx="577170"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Dưới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6"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0"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1"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2"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3"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7"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8"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7"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8"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0"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직사각형 63"/>
          <p:cNvSpPr/>
          <p:nvPr/>
        </p:nvSpPr>
        <p:spPr>
          <a:xfrm>
            <a:off x="1408471" y="1723283"/>
            <a:ext cx="5773508" cy="2063975"/>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t"/>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Quy định ngày</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normAutofit fontScale="90000"/>
          </a:bodyPr>
          <a:lstStyle/>
          <a:p>
            <a:r>
              <a:rPr lang="vi-VN"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 &gt; Thông tin sản phẩm/Option_Option sản phẩm&gt;Đăng trực tiếp sản phẩm quy định ngày</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34" name="표 133"/>
          <p:cNvGraphicFramePr>
            <a:graphicFrameLocks noGrp="1"/>
          </p:cNvGraphicFramePr>
          <p:nvPr/>
        </p:nvGraphicFramePr>
        <p:xfrm>
          <a:off x="1342611" y="1088858"/>
          <a:ext cx="5900517" cy="243840"/>
        </p:xfrm>
        <a:graphic>
          <a:graphicData uri="http://schemas.openxmlformats.org/drawingml/2006/table">
            <a:tbl>
              <a:tblPr firstRow="1" bandRow="1">
                <a:tableStyleId>{5C22544A-7EE6-4342-B048-85BDC9FD1C3A}</a:tableStyleId>
              </a:tblPr>
              <a:tblGrid>
                <a:gridCol w="5900517">
                  <a:extLst>
                    <a:ext uri="{9D8B030D-6E8A-4147-A177-3AD203B41FA5}">
                      <a16:colId xmlns:a16="http://schemas.microsoft.com/office/drawing/2014/main" val="20000"/>
                    </a:ext>
                  </a:extLst>
                </a:gridCol>
              </a:tblGrid>
              <a:tr h="0">
                <a:tc>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Option sản</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8" name="직사각형 57"/>
          <p:cNvSpPr/>
          <p:nvPr/>
        </p:nvSpPr>
        <p:spPr>
          <a:xfrm>
            <a:off x="2529071" y="1412776"/>
            <a:ext cx="1298248" cy="31050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quy định ngày</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68"/>
          <p:cNvGrpSpPr/>
          <p:nvPr/>
        </p:nvGrpSpPr>
        <p:grpSpPr>
          <a:xfrm>
            <a:off x="1405598" y="1412776"/>
            <a:ext cx="2421722" cy="310508"/>
            <a:chOff x="2500958" y="1206292"/>
            <a:chExt cx="1963867" cy="310508"/>
          </a:xfrm>
        </p:grpSpPr>
        <p:sp>
          <p:nvSpPr>
            <p:cNvPr id="72" name="직사각형 71"/>
            <p:cNvSpPr/>
            <p:nvPr/>
          </p:nvSpPr>
          <p:spPr>
            <a:xfrm>
              <a:off x="2500958" y="1206292"/>
              <a:ext cx="858802" cy="31050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voucher</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3" name="직선 연결선[R] 72"/>
            <p:cNvCxnSpPr/>
            <p:nvPr/>
          </p:nvCxnSpPr>
          <p:spPr>
            <a:xfrm>
              <a:off x="3418295" y="1516800"/>
              <a:ext cx="1046530"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4" name="직사각형 73"/>
          <p:cNvSpPr/>
          <p:nvPr/>
        </p:nvSpPr>
        <p:spPr>
          <a:xfrm>
            <a:off x="3878028" y="1412776"/>
            <a:ext cx="1298248" cy="31050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file excel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직사각형 115"/>
          <p:cNvSpPr/>
          <p:nvPr/>
        </p:nvSpPr>
        <p:spPr>
          <a:xfrm>
            <a:off x="3479305" y="3068960"/>
            <a:ext cx="1658207" cy="176395"/>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vào danh sách option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78" name="표 77"/>
          <p:cNvGraphicFramePr>
            <a:graphicFrameLocks noGrp="1"/>
          </p:cNvGraphicFramePr>
          <p:nvPr/>
        </p:nvGraphicFramePr>
        <p:xfrm>
          <a:off x="1507127" y="1991735"/>
          <a:ext cx="4598001" cy="858537"/>
        </p:xfrm>
        <a:graphic>
          <a:graphicData uri="http://schemas.openxmlformats.org/drawingml/2006/table">
            <a:tbl>
              <a:tblPr firstRow="1" bandRow="1">
                <a:tableStyleId>{5C22544A-7EE6-4342-B048-85BDC9FD1C3A}</a:tableStyleId>
              </a:tblPr>
              <a:tblGrid>
                <a:gridCol w="1141617">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tblGrid>
              <a:tr h="132086">
                <a:tc>
                  <a:txBody>
                    <a:bodyPr/>
                    <a:lstStyle/>
                    <a:p>
                      <a:pPr algn="ctr" latinLnBrk="1"/>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8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Option chi tiết</a:t>
                      </a:r>
                      <a:endPar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cơ bản</a:t>
                      </a:r>
                      <a:endPar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cuối tuần</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71739">
                <a:tc>
                  <a:txBody>
                    <a:bodyPr/>
                    <a:lstStyle/>
                    <a:p>
                      <a:pPr algn="l"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 </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18457">
                <a:tc>
                  <a:txBody>
                    <a:bodyPr/>
                    <a:lstStyle/>
                    <a:p>
                      <a:pPr algn="l"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 </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 </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71739">
                <a:tc>
                  <a:txBody>
                    <a:bodyPr/>
                    <a:lstStyle/>
                    <a:p>
                      <a:pPr algn="l"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 </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80" name="Button"/>
          <p:cNvSpPr/>
          <p:nvPr/>
        </p:nvSpPr>
        <p:spPr bwMode="auto">
          <a:xfrm>
            <a:off x="2686058" y="2243410"/>
            <a:ext cx="728662" cy="146050"/>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2013-05-01</a:t>
            </a:r>
          </a:p>
        </p:txBody>
      </p:sp>
      <p:sp>
        <p:nvSpPr>
          <p:cNvPr id="81" name="Button"/>
          <p:cNvSpPr/>
          <p:nvPr/>
        </p:nvSpPr>
        <p:spPr bwMode="auto">
          <a:xfrm>
            <a:off x="3589345" y="2243410"/>
            <a:ext cx="728663" cy="146050"/>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2013-05-31</a:t>
            </a:r>
          </a:p>
        </p:txBody>
      </p:sp>
      <p:sp>
        <p:nvSpPr>
          <p:cNvPr id="83" name="Button"/>
          <p:cNvSpPr/>
          <p:nvPr/>
        </p:nvSpPr>
        <p:spPr bwMode="auto">
          <a:xfrm>
            <a:off x="4485919" y="2248114"/>
            <a:ext cx="697290" cy="133951"/>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20,000</a:t>
            </a:r>
          </a:p>
        </p:txBody>
      </p:sp>
      <p:sp>
        <p:nvSpPr>
          <p:cNvPr id="84" name="Button"/>
          <p:cNvSpPr/>
          <p:nvPr/>
        </p:nvSpPr>
        <p:spPr bwMode="auto">
          <a:xfrm>
            <a:off x="5313237" y="2255508"/>
            <a:ext cx="697290" cy="133951"/>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30,0000</a:t>
            </a:r>
          </a:p>
        </p:txBody>
      </p:sp>
      <p:sp>
        <p:nvSpPr>
          <p:cNvPr id="100" name="직사각형 99"/>
          <p:cNvSpPr/>
          <p:nvPr/>
        </p:nvSpPr>
        <p:spPr>
          <a:xfrm>
            <a:off x="2128915" y="2237535"/>
            <a:ext cx="489358" cy="15192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직사각형 108"/>
          <p:cNvSpPr/>
          <p:nvPr/>
        </p:nvSpPr>
        <p:spPr>
          <a:xfrm>
            <a:off x="1856656" y="2029044"/>
            <a:ext cx="489358" cy="15192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4" name="그룹 46"/>
          <p:cNvGrpSpPr/>
          <p:nvPr/>
        </p:nvGrpSpPr>
        <p:grpSpPr>
          <a:xfrm>
            <a:off x="1267854" y="665402"/>
            <a:ext cx="1931523" cy="207884"/>
            <a:chOff x="1267854" y="665402"/>
            <a:chExt cx="1931523" cy="207884"/>
          </a:xfrm>
        </p:grpSpPr>
        <p:sp>
          <p:nvSpPr>
            <p:cNvPr id="92"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5" name="그룹 57"/>
            <p:cNvGrpSpPr/>
            <p:nvPr/>
          </p:nvGrpSpPr>
          <p:grpSpPr>
            <a:xfrm>
              <a:off x="2995760" y="665405"/>
              <a:ext cx="203617" cy="207881"/>
              <a:chOff x="2939843" y="5447120"/>
              <a:chExt cx="272722" cy="278432"/>
            </a:xfrm>
          </p:grpSpPr>
          <p:sp>
            <p:nvSpPr>
              <p:cNvPr id="94"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95"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96" name="직선 연결선 145"/>
              <p:cNvCxnSpPr>
                <a:stCxn id="9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7"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18" name="그림 156"/>
          <p:cNvPicPr>
            <a:picLocks noChangeAspect="1"/>
          </p:cNvPicPr>
          <p:nvPr/>
        </p:nvPicPr>
        <p:blipFill>
          <a:blip r:embed="rId3" cstate="print"/>
          <a:stretch>
            <a:fillRect/>
          </a:stretch>
        </p:blipFill>
        <p:spPr>
          <a:xfrm rot="10800000" flipV="1">
            <a:off x="4020377" y="6021289"/>
            <a:ext cx="5232106" cy="157076"/>
          </a:xfrm>
          <a:prstGeom prst="rect">
            <a:avLst/>
          </a:prstGeom>
        </p:spPr>
      </p:pic>
      <p:pic>
        <p:nvPicPr>
          <p:cNvPr id="119" name="그림 157"/>
          <p:cNvPicPr>
            <a:picLocks noChangeAspect="1"/>
          </p:cNvPicPr>
          <p:nvPr/>
        </p:nvPicPr>
        <p:blipFill>
          <a:blip r:embed="rId4" cstate="print"/>
          <a:stretch>
            <a:fillRect/>
          </a:stretch>
        </p:blipFill>
        <p:spPr>
          <a:xfrm>
            <a:off x="9325861" y="5102417"/>
            <a:ext cx="91635" cy="1036624"/>
          </a:xfrm>
          <a:prstGeom prst="rect">
            <a:avLst/>
          </a:prstGeom>
        </p:spPr>
      </p:pic>
      <p:graphicFrame>
        <p:nvGraphicFramePr>
          <p:cNvPr id="120" name="표 168"/>
          <p:cNvGraphicFramePr>
            <a:graphicFrameLocks noGrp="1"/>
          </p:cNvGraphicFramePr>
          <p:nvPr/>
        </p:nvGraphicFramePr>
        <p:xfrm>
          <a:off x="1326865" y="4881937"/>
          <a:ext cx="7962307" cy="1100034"/>
        </p:xfrm>
        <a:graphic>
          <a:graphicData uri="http://schemas.openxmlformats.org/drawingml/2006/table">
            <a:tbl>
              <a:tblPr firstRow="1" bandRow="1">
                <a:tableStyleId>{5940675A-B579-460E-94D1-54222C63F5DA}</a:tableStyleId>
              </a:tblPr>
              <a:tblGrid>
                <a:gridCol w="293206">
                  <a:extLst>
                    <a:ext uri="{9D8B030D-6E8A-4147-A177-3AD203B41FA5}">
                      <a16:colId xmlns:a16="http://schemas.microsoft.com/office/drawing/2014/main" val="20000"/>
                    </a:ext>
                  </a:extLst>
                </a:gridCol>
                <a:gridCol w="413512">
                  <a:extLst>
                    <a:ext uri="{9D8B030D-6E8A-4147-A177-3AD203B41FA5}">
                      <a16:colId xmlns:a16="http://schemas.microsoft.com/office/drawing/2014/main" val="20001"/>
                    </a:ext>
                  </a:extLst>
                </a:gridCol>
                <a:gridCol w="413512">
                  <a:extLst>
                    <a:ext uri="{9D8B030D-6E8A-4147-A177-3AD203B41FA5}">
                      <a16:colId xmlns:a16="http://schemas.microsoft.com/office/drawing/2014/main" val="20002"/>
                    </a:ext>
                  </a:extLst>
                </a:gridCol>
                <a:gridCol w="1157831">
                  <a:extLst>
                    <a:ext uri="{9D8B030D-6E8A-4147-A177-3AD203B41FA5}">
                      <a16:colId xmlns:a16="http://schemas.microsoft.com/office/drawing/2014/main" val="20003"/>
                    </a:ext>
                  </a:extLst>
                </a:gridCol>
                <a:gridCol w="531862">
                  <a:extLst>
                    <a:ext uri="{9D8B030D-6E8A-4147-A177-3AD203B41FA5}">
                      <a16:colId xmlns:a16="http://schemas.microsoft.com/office/drawing/2014/main" val="20004"/>
                    </a:ext>
                  </a:extLst>
                </a:gridCol>
                <a:gridCol w="661618">
                  <a:extLst>
                    <a:ext uri="{9D8B030D-6E8A-4147-A177-3AD203B41FA5}">
                      <a16:colId xmlns:a16="http://schemas.microsoft.com/office/drawing/2014/main" val="20005"/>
                    </a:ext>
                  </a:extLst>
                </a:gridCol>
                <a:gridCol w="462704">
                  <a:extLst>
                    <a:ext uri="{9D8B030D-6E8A-4147-A177-3AD203B41FA5}">
                      <a16:colId xmlns:a16="http://schemas.microsoft.com/office/drawing/2014/main" val="20006"/>
                    </a:ext>
                  </a:extLst>
                </a:gridCol>
                <a:gridCol w="761507">
                  <a:extLst>
                    <a:ext uri="{9D8B030D-6E8A-4147-A177-3AD203B41FA5}">
                      <a16:colId xmlns:a16="http://schemas.microsoft.com/office/drawing/2014/main" val="20007"/>
                    </a:ext>
                  </a:extLst>
                </a:gridCol>
                <a:gridCol w="818283">
                  <a:extLst>
                    <a:ext uri="{9D8B030D-6E8A-4147-A177-3AD203B41FA5}">
                      <a16:colId xmlns:a16="http://schemas.microsoft.com/office/drawing/2014/main" val="20008"/>
                    </a:ext>
                  </a:extLst>
                </a:gridCol>
                <a:gridCol w="792088">
                  <a:extLst>
                    <a:ext uri="{9D8B030D-6E8A-4147-A177-3AD203B41FA5}">
                      <a16:colId xmlns:a16="http://schemas.microsoft.com/office/drawing/2014/main" val="20009"/>
                    </a:ext>
                  </a:extLst>
                </a:gridCol>
                <a:gridCol w="794281">
                  <a:extLst>
                    <a:ext uri="{9D8B030D-6E8A-4147-A177-3AD203B41FA5}">
                      <a16:colId xmlns:a16="http://schemas.microsoft.com/office/drawing/2014/main" val="20010"/>
                    </a:ext>
                  </a:extLst>
                </a:gridCol>
                <a:gridCol w="861903">
                  <a:extLst>
                    <a:ext uri="{9D8B030D-6E8A-4147-A177-3AD203B41FA5}">
                      <a16:colId xmlns:a16="http://schemas.microsoft.com/office/drawing/2014/main" val="20011"/>
                    </a:ext>
                  </a:extLst>
                </a:gridCol>
              </a:tblGrid>
              <a:tr h="289244">
                <a:tc>
                  <a:txBody>
                    <a:bodyPr/>
                    <a:lstStyle/>
                    <a:p>
                      <a:pPr latinLnBrk="1"/>
                      <a:r>
                        <a:rPr lang="ko-KR" altLang="en-US" sz="800" b="1" dirty="0">
                          <a:solidFill>
                            <a:schemeClr val="bg1"/>
                          </a:solidFill>
                          <a:latin typeface="Nanum Gothic" panose="020D0604000000000000" pitchFamily="34" charset="-127"/>
                          <a:ea typeface="Nanum Gothic" panose="020D0604000000000000" pitchFamily="34" charset="-127"/>
                        </a:rPr>
                        <a:t>◻︎</a:t>
                      </a:r>
                    </a:p>
                  </a:txBody>
                  <a:tcPr marL="36000" marR="36000" anchor="ctr">
                    <a:solidFill>
                      <a:schemeClr val="tx2">
                        <a:lumMod val="75000"/>
                      </a:schemeClr>
                    </a:solidFill>
                  </a:tcPr>
                </a:tc>
                <a:tc>
                  <a:txBody>
                    <a:bodyPr/>
                    <a:lstStyle/>
                    <a:p>
                      <a:pPr latinLnBrk="1"/>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 đại diện</a:t>
                      </a:r>
                      <a:endParaRPr lang="en-US" altLang="ko-KR"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thường</a:t>
                      </a:r>
                    </a:p>
                  </a:txBody>
                  <a:tcPr marL="36000" marR="36000">
                    <a:solidFill>
                      <a:schemeClr val="accent1">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lượng</a:t>
                      </a:r>
                      <a:endParaRPr lang="ko-KR" altLang="en-US"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bắt đầu 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ngưng 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bắt đầu hiệu 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kết thúc hiệu 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 theo kênh</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extLst>
                  <a:ext uri="{0D108BD9-81ED-4DB2-BD59-A6C34878D82A}">
                    <a16:rowId xmlns:a16="http://schemas.microsoft.com/office/drawing/2014/main" val="10000"/>
                  </a:ext>
                </a:extLst>
              </a:tr>
              <a:tr h="764754">
                <a:tc gridSpan="12">
                  <a:txBody>
                    <a:bodyPr/>
                    <a:lstStyle/>
                    <a:p>
                      <a:pPr algn="ctr"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Vui lòng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đăng option.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hMerge="1">
                  <a:txBody>
                    <a:bodyPr/>
                    <a:lstStyle/>
                    <a:p>
                      <a:endParaRPr lang="en-US"/>
                    </a:p>
                  </a:txBody>
                  <a:tcPr marL="36000" marR="36000" anchor="ctr">
                    <a:solidFill>
                      <a:schemeClr val="bg1"/>
                    </a:solidFill>
                  </a:tcPr>
                </a:tc>
                <a:tc hMerge="1">
                  <a:txBody>
                    <a:bodyPr/>
                    <a:lstStyle/>
                    <a:p>
                      <a:endParaRPr lang="en-US"/>
                    </a:p>
                  </a:txBody>
                  <a:tcPr marL="36000" marR="36000" anchor="ctr">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extLst>
                  <a:ext uri="{0D108BD9-81ED-4DB2-BD59-A6C34878D82A}">
                    <a16:rowId xmlns:a16="http://schemas.microsoft.com/office/drawing/2014/main" val="10001"/>
                  </a:ext>
                </a:extLst>
              </a:tr>
            </a:tbl>
          </a:graphicData>
        </a:graphic>
      </p:graphicFrame>
      <p:sp>
        <p:nvSpPr>
          <p:cNvPr id="121" name="직사각형 121"/>
          <p:cNvSpPr/>
          <p:nvPr/>
        </p:nvSpPr>
        <p:spPr>
          <a:xfrm>
            <a:off x="1396263" y="4512970"/>
            <a:ext cx="942531"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thời gian bán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2" name="직사각형 122"/>
          <p:cNvSpPr/>
          <p:nvPr/>
        </p:nvSpPr>
        <p:spPr>
          <a:xfrm>
            <a:off x="2378694" y="4512970"/>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giá</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3" name="직사각형 123"/>
          <p:cNvSpPr/>
          <p:nvPr/>
        </p:nvSpPr>
        <p:spPr>
          <a:xfrm>
            <a:off x="3228290" y="4512970"/>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số lượng</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4" name="직사각형 124"/>
          <p:cNvSpPr/>
          <p:nvPr/>
        </p:nvSpPr>
        <p:spPr>
          <a:xfrm>
            <a:off x="4077886" y="4512970"/>
            <a:ext cx="461047"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직사각형 125"/>
          <p:cNvSpPr/>
          <p:nvPr/>
        </p:nvSpPr>
        <p:spPr>
          <a:xfrm>
            <a:off x="6535702" y="4512970"/>
            <a:ext cx="618149"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Thiết lập giá đại diện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6" name="직사각형 131"/>
          <p:cNvSpPr/>
          <p:nvPr/>
        </p:nvSpPr>
        <p:spPr>
          <a:xfrm>
            <a:off x="1342611" y="3917318"/>
            <a:ext cx="5187523" cy="615553"/>
          </a:xfrm>
          <a:prstGeom prst="rect">
            <a:avLst/>
          </a:prstGeom>
        </p:spPr>
        <p:txBody>
          <a:bodyPr wrap="square">
            <a:spAutoFit/>
          </a:bodyPr>
          <a:lstStyle/>
          <a:p>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Danh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sách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option</a:t>
            </a:r>
            <a:endParaRPr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Xem option đã thêm bằng cách nhập trực tiếp hoặc bằng file excel, có thể sửa giá thường/giá bán/số lượng bán/thời gian bán của từng option.</a:t>
            </a: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Sau khi đăng sản phẩm, có thể xem số lượng bán và thời gian bán của từng kênh ở menu quản lý "Phí/Số lượng".</a:t>
            </a:r>
            <a:r>
              <a:rPr lang="ko-KR" altLang="en-US" sz="800"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7" name="모서리가 둥근 직사각형 116"/>
          <p:cNvSpPr/>
          <p:nvPr/>
        </p:nvSpPr>
        <p:spPr>
          <a:xfrm>
            <a:off x="6877841" y="6494539"/>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theo</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8" name="모서리가 둥근 직사각형 117"/>
          <p:cNvSpPr/>
          <p:nvPr/>
        </p:nvSpPr>
        <p:spPr>
          <a:xfrm>
            <a:off x="6327852" y="6494538"/>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9" name="TextBox 128"/>
          <p:cNvSpPr txBox="1"/>
          <p:nvPr/>
        </p:nvSpPr>
        <p:spPr>
          <a:xfrm>
            <a:off x="1245689" y="6241957"/>
            <a:ext cx="1400813" cy="215444"/>
          </a:xfrm>
          <a:prstGeom prst="rect">
            <a:avLst/>
          </a:prstGeom>
          <a:noFill/>
        </p:spPr>
        <p:txBody>
          <a:bodyPr wrap="square" rtlCol="0">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Di chuyển thứ tự</a:t>
            </a:r>
            <a:r>
              <a:rPr lang="ko-KR" altLang="en-US" sz="800" b="1"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3" name="직사각형 127"/>
          <p:cNvSpPr/>
          <p:nvPr/>
        </p:nvSpPr>
        <p:spPr>
          <a:xfrm>
            <a:off x="2173775" y="6256877"/>
            <a:ext cx="519893"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Trên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128"/>
          <p:cNvSpPr/>
          <p:nvPr/>
        </p:nvSpPr>
        <p:spPr>
          <a:xfrm>
            <a:off x="2744882" y="6256877"/>
            <a:ext cx="51802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Lên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6" name="직사각형 129"/>
          <p:cNvSpPr/>
          <p:nvPr/>
        </p:nvSpPr>
        <p:spPr>
          <a:xfrm>
            <a:off x="3322062" y="6256877"/>
            <a:ext cx="65104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Xuống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130"/>
          <p:cNvSpPr/>
          <p:nvPr/>
        </p:nvSpPr>
        <p:spPr>
          <a:xfrm>
            <a:off x="4023538" y="6256877"/>
            <a:ext cx="577170"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Dưới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Button"/>
          <p:cNvSpPr/>
          <p:nvPr/>
        </p:nvSpPr>
        <p:spPr bwMode="auto">
          <a:xfrm>
            <a:off x="2696899" y="2446088"/>
            <a:ext cx="728662" cy="146050"/>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2013-06-16</a:t>
            </a:r>
          </a:p>
        </p:txBody>
      </p:sp>
      <p:sp>
        <p:nvSpPr>
          <p:cNvPr id="91" name="Button"/>
          <p:cNvSpPr/>
          <p:nvPr/>
        </p:nvSpPr>
        <p:spPr bwMode="auto">
          <a:xfrm>
            <a:off x="3598693" y="2446088"/>
            <a:ext cx="728663" cy="146050"/>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2013-06-31</a:t>
            </a:r>
          </a:p>
        </p:txBody>
      </p:sp>
      <p:sp>
        <p:nvSpPr>
          <p:cNvPr id="93" name="Button"/>
          <p:cNvSpPr/>
          <p:nvPr/>
        </p:nvSpPr>
        <p:spPr bwMode="auto">
          <a:xfrm>
            <a:off x="4480858" y="2450792"/>
            <a:ext cx="697290" cy="133951"/>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20,000</a:t>
            </a:r>
          </a:p>
        </p:txBody>
      </p:sp>
      <p:sp>
        <p:nvSpPr>
          <p:cNvPr id="110" name="Button"/>
          <p:cNvSpPr/>
          <p:nvPr/>
        </p:nvSpPr>
        <p:spPr bwMode="auto">
          <a:xfrm>
            <a:off x="5324078" y="2458186"/>
            <a:ext cx="697290" cy="133951"/>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30,0000</a:t>
            </a:r>
          </a:p>
        </p:txBody>
      </p:sp>
      <p:sp>
        <p:nvSpPr>
          <p:cNvPr id="111" name="Button"/>
          <p:cNvSpPr/>
          <p:nvPr/>
        </p:nvSpPr>
        <p:spPr bwMode="auto">
          <a:xfrm>
            <a:off x="2704850" y="2670047"/>
            <a:ext cx="728662" cy="146050"/>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2013-06-16</a:t>
            </a:r>
          </a:p>
        </p:txBody>
      </p:sp>
      <p:sp>
        <p:nvSpPr>
          <p:cNvPr id="112" name="Button"/>
          <p:cNvSpPr/>
          <p:nvPr/>
        </p:nvSpPr>
        <p:spPr bwMode="auto">
          <a:xfrm>
            <a:off x="3606644" y="2670047"/>
            <a:ext cx="728663" cy="146050"/>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2013-06-31</a:t>
            </a:r>
          </a:p>
        </p:txBody>
      </p:sp>
      <p:sp>
        <p:nvSpPr>
          <p:cNvPr id="113" name="Button"/>
          <p:cNvSpPr/>
          <p:nvPr/>
        </p:nvSpPr>
        <p:spPr bwMode="auto">
          <a:xfrm>
            <a:off x="4488809" y="2674751"/>
            <a:ext cx="697290" cy="133951"/>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20,000</a:t>
            </a:r>
          </a:p>
        </p:txBody>
      </p:sp>
      <p:sp>
        <p:nvSpPr>
          <p:cNvPr id="114" name="Button"/>
          <p:cNvSpPr/>
          <p:nvPr/>
        </p:nvSpPr>
        <p:spPr bwMode="auto">
          <a:xfrm>
            <a:off x="5332029" y="2682145"/>
            <a:ext cx="697290" cy="133951"/>
          </a:xfrm>
          <a:prstGeom prst="roundRect">
            <a:avLst>
              <a:gd name="adj" fmla="val 8776"/>
            </a:avLst>
          </a:prstGeom>
          <a:solidFill>
            <a:schemeClr val="bg1"/>
          </a:solidFill>
          <a:ln w="6350" cap="flat" cmpd="sng" algn="ctr">
            <a:solidFill>
              <a:schemeClr val="bg1">
                <a:lumMod val="75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36000" rIns="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ko-KR" sz="800" dirty="0">
                <a:solidFill>
                  <a:schemeClr val="tx1"/>
                </a:solidFill>
                <a:latin typeface="Times New Roman" panose="02020603050405020304" pitchFamily="18" charset="0"/>
                <a:cs typeface="Times New Roman" panose="02020603050405020304" pitchFamily="18" charset="0"/>
              </a:rPr>
              <a:t>30,0000</a:t>
            </a:r>
          </a:p>
        </p:txBody>
      </p:sp>
      <p:sp>
        <p:nvSpPr>
          <p:cNvPr id="115" name="직사각형 99"/>
          <p:cNvSpPr/>
          <p:nvPr/>
        </p:nvSpPr>
        <p:spPr>
          <a:xfrm>
            <a:off x="2140897" y="2453543"/>
            <a:ext cx="489358" cy="15192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7" name="직사각형 99"/>
          <p:cNvSpPr/>
          <p:nvPr/>
        </p:nvSpPr>
        <p:spPr>
          <a:xfrm>
            <a:off x="2138197" y="2668716"/>
            <a:ext cx="489358" cy="15192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normAutofit/>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 &gt; Thông tin sản phẩm/Option_Option sản phẩm&gt;Upload file Excel</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34" name="표 133"/>
          <p:cNvGraphicFramePr>
            <a:graphicFrameLocks noGrp="1"/>
          </p:cNvGraphicFramePr>
          <p:nvPr/>
        </p:nvGraphicFramePr>
        <p:xfrm>
          <a:off x="1342611" y="1088858"/>
          <a:ext cx="5900517" cy="243840"/>
        </p:xfrm>
        <a:graphic>
          <a:graphicData uri="http://schemas.openxmlformats.org/drawingml/2006/table">
            <a:tbl>
              <a:tblPr firstRow="1" bandRow="1">
                <a:tableStyleId>{5C22544A-7EE6-4342-B048-85BDC9FD1C3A}</a:tableStyleId>
              </a:tblPr>
              <a:tblGrid>
                <a:gridCol w="5900517">
                  <a:extLst>
                    <a:ext uri="{9D8B030D-6E8A-4147-A177-3AD203B41FA5}">
                      <a16:colId xmlns:a16="http://schemas.microsoft.com/office/drawing/2014/main" val="20000"/>
                    </a:ext>
                  </a:extLst>
                </a:gridCol>
              </a:tblGrid>
              <a:tr h="0">
                <a:tc>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Option sản</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8" name="직사각형 57"/>
          <p:cNvSpPr/>
          <p:nvPr/>
        </p:nvSpPr>
        <p:spPr>
          <a:xfrm>
            <a:off x="2529071" y="1412776"/>
            <a:ext cx="1298248" cy="31050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quy định ngày</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4" name="직사각형 63"/>
          <p:cNvSpPr/>
          <p:nvPr/>
        </p:nvSpPr>
        <p:spPr>
          <a:xfrm>
            <a:off x="1408471" y="1723283"/>
            <a:ext cx="5773508" cy="855266"/>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t"/>
          <a:lstStyle/>
          <a:p>
            <a:r>
              <a:rPr lang="vi-VN"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 option vào file excel theo đúng </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định dạng</a:t>
            </a:r>
            <a:r>
              <a:rPr lang="vi-VN"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sau đó upload file excel. </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직사각형 71"/>
          <p:cNvSpPr/>
          <p:nvPr/>
        </p:nvSpPr>
        <p:spPr>
          <a:xfrm>
            <a:off x="1405599" y="1412776"/>
            <a:ext cx="1059023" cy="310508"/>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vi-VN"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trực tiếp sản phẩm voucher</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직사각형 115"/>
          <p:cNvSpPr/>
          <p:nvPr/>
        </p:nvSpPr>
        <p:spPr>
          <a:xfrm>
            <a:off x="3228290" y="2291512"/>
            <a:ext cx="1658207" cy="176395"/>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1">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Thêm vào danh sách option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0" name="직사각형 49"/>
          <p:cNvSpPr/>
          <p:nvPr/>
        </p:nvSpPr>
        <p:spPr>
          <a:xfrm>
            <a:off x="3395869" y="2015095"/>
            <a:ext cx="1691622" cy="215444"/>
          </a:xfrm>
          <a:prstGeom prst="rect">
            <a:avLst/>
          </a:prstGeom>
        </p:spPr>
        <p:txBody>
          <a:bodyPr wrap="squar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Tên file.xlsx</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1" name="직사각형 50"/>
          <p:cNvSpPr/>
          <p:nvPr/>
        </p:nvSpPr>
        <p:spPr>
          <a:xfrm>
            <a:off x="1597594" y="1980427"/>
            <a:ext cx="979142" cy="236917"/>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72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Download file mẫu</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59"/>
          <p:cNvSpPr/>
          <p:nvPr/>
        </p:nvSpPr>
        <p:spPr>
          <a:xfrm>
            <a:off x="2632883" y="1984495"/>
            <a:ext cx="723010" cy="22878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72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file</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7"/>
          <p:cNvGrpSpPr/>
          <p:nvPr/>
        </p:nvGrpSpPr>
        <p:grpSpPr>
          <a:xfrm>
            <a:off x="3878028" y="1412776"/>
            <a:ext cx="1298248" cy="310509"/>
            <a:chOff x="3878028" y="1513490"/>
            <a:chExt cx="1298248" cy="209795"/>
          </a:xfrm>
        </p:grpSpPr>
        <p:sp>
          <p:nvSpPr>
            <p:cNvPr id="74" name="직사각형 73"/>
            <p:cNvSpPr/>
            <p:nvPr/>
          </p:nvSpPr>
          <p:spPr>
            <a:xfrm>
              <a:off x="3878028" y="1513490"/>
              <a:ext cx="1298248" cy="20979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Upload file excel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73" name="직선 연결선[R] 72"/>
            <p:cNvCxnSpPr/>
            <p:nvPr/>
          </p:nvCxnSpPr>
          <p:spPr>
            <a:xfrm>
              <a:off x="3884452" y="1723285"/>
              <a:ext cx="1282299"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1"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4" name="그룹 46"/>
          <p:cNvGrpSpPr/>
          <p:nvPr/>
        </p:nvGrpSpPr>
        <p:grpSpPr>
          <a:xfrm>
            <a:off x="1267854" y="665402"/>
            <a:ext cx="1931523" cy="207884"/>
            <a:chOff x="1267854" y="665402"/>
            <a:chExt cx="1931523" cy="207884"/>
          </a:xfrm>
        </p:grpSpPr>
        <p:sp>
          <p:nvSpPr>
            <p:cNvPr id="98"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5" name="그룹 57"/>
            <p:cNvGrpSpPr/>
            <p:nvPr/>
          </p:nvGrpSpPr>
          <p:grpSpPr>
            <a:xfrm>
              <a:off x="2995760" y="665405"/>
              <a:ext cx="203617" cy="207881"/>
              <a:chOff x="2939843" y="5447120"/>
              <a:chExt cx="272722" cy="278432"/>
            </a:xfrm>
          </p:grpSpPr>
          <p:sp>
            <p:nvSpPr>
              <p:cNvPr id="100"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101"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102" name="직선 연결선 145"/>
              <p:cNvCxnSpPr>
                <a:stCxn id="101"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03"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19" name="그림 156"/>
          <p:cNvPicPr>
            <a:picLocks noChangeAspect="1"/>
          </p:cNvPicPr>
          <p:nvPr/>
        </p:nvPicPr>
        <p:blipFill>
          <a:blip r:embed="rId3" cstate="print"/>
          <a:stretch>
            <a:fillRect/>
          </a:stretch>
        </p:blipFill>
        <p:spPr>
          <a:xfrm rot="10800000" flipV="1">
            <a:off x="4020377" y="4956907"/>
            <a:ext cx="5232106" cy="157076"/>
          </a:xfrm>
          <a:prstGeom prst="rect">
            <a:avLst/>
          </a:prstGeom>
        </p:spPr>
      </p:pic>
      <p:pic>
        <p:nvPicPr>
          <p:cNvPr id="120" name="그림 157"/>
          <p:cNvPicPr>
            <a:picLocks noChangeAspect="1"/>
          </p:cNvPicPr>
          <p:nvPr/>
        </p:nvPicPr>
        <p:blipFill>
          <a:blip r:embed="rId4" cstate="print"/>
          <a:stretch>
            <a:fillRect/>
          </a:stretch>
        </p:blipFill>
        <p:spPr>
          <a:xfrm>
            <a:off x="9325861" y="4038035"/>
            <a:ext cx="91635" cy="1036624"/>
          </a:xfrm>
          <a:prstGeom prst="rect">
            <a:avLst/>
          </a:prstGeom>
        </p:spPr>
      </p:pic>
      <p:graphicFrame>
        <p:nvGraphicFramePr>
          <p:cNvPr id="121" name="표 168"/>
          <p:cNvGraphicFramePr>
            <a:graphicFrameLocks noGrp="1"/>
          </p:cNvGraphicFramePr>
          <p:nvPr/>
        </p:nvGraphicFramePr>
        <p:xfrm>
          <a:off x="1326865" y="3817555"/>
          <a:ext cx="7962307" cy="1100034"/>
        </p:xfrm>
        <a:graphic>
          <a:graphicData uri="http://schemas.openxmlformats.org/drawingml/2006/table">
            <a:tbl>
              <a:tblPr firstRow="1" bandRow="1">
                <a:tableStyleId>{5940675A-B579-460E-94D1-54222C63F5DA}</a:tableStyleId>
              </a:tblPr>
              <a:tblGrid>
                <a:gridCol w="293206">
                  <a:extLst>
                    <a:ext uri="{9D8B030D-6E8A-4147-A177-3AD203B41FA5}">
                      <a16:colId xmlns:a16="http://schemas.microsoft.com/office/drawing/2014/main" val="20000"/>
                    </a:ext>
                  </a:extLst>
                </a:gridCol>
                <a:gridCol w="413512">
                  <a:extLst>
                    <a:ext uri="{9D8B030D-6E8A-4147-A177-3AD203B41FA5}">
                      <a16:colId xmlns:a16="http://schemas.microsoft.com/office/drawing/2014/main" val="20001"/>
                    </a:ext>
                  </a:extLst>
                </a:gridCol>
                <a:gridCol w="413512">
                  <a:extLst>
                    <a:ext uri="{9D8B030D-6E8A-4147-A177-3AD203B41FA5}">
                      <a16:colId xmlns:a16="http://schemas.microsoft.com/office/drawing/2014/main" val="20002"/>
                    </a:ext>
                  </a:extLst>
                </a:gridCol>
                <a:gridCol w="1157831">
                  <a:extLst>
                    <a:ext uri="{9D8B030D-6E8A-4147-A177-3AD203B41FA5}">
                      <a16:colId xmlns:a16="http://schemas.microsoft.com/office/drawing/2014/main" val="20003"/>
                    </a:ext>
                  </a:extLst>
                </a:gridCol>
                <a:gridCol w="531862">
                  <a:extLst>
                    <a:ext uri="{9D8B030D-6E8A-4147-A177-3AD203B41FA5}">
                      <a16:colId xmlns:a16="http://schemas.microsoft.com/office/drawing/2014/main" val="20004"/>
                    </a:ext>
                  </a:extLst>
                </a:gridCol>
                <a:gridCol w="661618">
                  <a:extLst>
                    <a:ext uri="{9D8B030D-6E8A-4147-A177-3AD203B41FA5}">
                      <a16:colId xmlns:a16="http://schemas.microsoft.com/office/drawing/2014/main" val="20005"/>
                    </a:ext>
                  </a:extLst>
                </a:gridCol>
                <a:gridCol w="462704">
                  <a:extLst>
                    <a:ext uri="{9D8B030D-6E8A-4147-A177-3AD203B41FA5}">
                      <a16:colId xmlns:a16="http://schemas.microsoft.com/office/drawing/2014/main" val="20006"/>
                    </a:ext>
                  </a:extLst>
                </a:gridCol>
                <a:gridCol w="761507">
                  <a:extLst>
                    <a:ext uri="{9D8B030D-6E8A-4147-A177-3AD203B41FA5}">
                      <a16:colId xmlns:a16="http://schemas.microsoft.com/office/drawing/2014/main" val="20007"/>
                    </a:ext>
                  </a:extLst>
                </a:gridCol>
                <a:gridCol w="818283">
                  <a:extLst>
                    <a:ext uri="{9D8B030D-6E8A-4147-A177-3AD203B41FA5}">
                      <a16:colId xmlns:a16="http://schemas.microsoft.com/office/drawing/2014/main" val="20008"/>
                    </a:ext>
                  </a:extLst>
                </a:gridCol>
                <a:gridCol w="792088">
                  <a:extLst>
                    <a:ext uri="{9D8B030D-6E8A-4147-A177-3AD203B41FA5}">
                      <a16:colId xmlns:a16="http://schemas.microsoft.com/office/drawing/2014/main" val="20009"/>
                    </a:ext>
                  </a:extLst>
                </a:gridCol>
                <a:gridCol w="794281">
                  <a:extLst>
                    <a:ext uri="{9D8B030D-6E8A-4147-A177-3AD203B41FA5}">
                      <a16:colId xmlns:a16="http://schemas.microsoft.com/office/drawing/2014/main" val="20010"/>
                    </a:ext>
                  </a:extLst>
                </a:gridCol>
                <a:gridCol w="861903">
                  <a:extLst>
                    <a:ext uri="{9D8B030D-6E8A-4147-A177-3AD203B41FA5}">
                      <a16:colId xmlns:a16="http://schemas.microsoft.com/office/drawing/2014/main" val="20011"/>
                    </a:ext>
                  </a:extLst>
                </a:gridCol>
              </a:tblGrid>
              <a:tr h="289244">
                <a:tc>
                  <a:txBody>
                    <a:bodyPr/>
                    <a:lstStyle/>
                    <a:p>
                      <a:pPr latinLnBrk="1"/>
                      <a:r>
                        <a:rPr lang="ko-KR" altLang="en-US" sz="800" b="1" dirty="0">
                          <a:solidFill>
                            <a:schemeClr val="bg1"/>
                          </a:solidFill>
                          <a:latin typeface="Nanum Gothic" panose="020D0604000000000000" pitchFamily="34" charset="-127"/>
                          <a:ea typeface="Nanum Gothic" panose="020D0604000000000000" pitchFamily="34" charset="-127"/>
                        </a:rPr>
                        <a:t>◻︎</a:t>
                      </a:r>
                    </a:p>
                  </a:txBody>
                  <a:tcPr marL="36000" marR="36000" anchor="ctr">
                    <a:solidFill>
                      <a:schemeClr val="tx2">
                        <a:lumMod val="75000"/>
                      </a:schemeClr>
                    </a:solidFill>
                  </a:tcPr>
                </a:tc>
                <a:tc>
                  <a:txBody>
                    <a:bodyPr/>
                    <a:lstStyle/>
                    <a:p>
                      <a:pPr latinLnBrk="1"/>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 đại diện</a:t>
                      </a:r>
                      <a:endParaRPr lang="en-US" altLang="ko-KR"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dirty="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tx2">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thường</a:t>
                      </a:r>
                    </a:p>
                  </a:txBody>
                  <a:tcPr marL="36000" marR="36000">
                    <a:solidFill>
                      <a:schemeClr val="accent1">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Số</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lượng</a:t>
                      </a:r>
                      <a:endParaRPr lang="ko-KR" altLang="en-US"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bắt đầu 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ngưng bán</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bắt đầu hiệu 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kết thúc hiệu lực</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tc>
                  <a:txBody>
                    <a:bodyPr/>
                    <a:lstStyle/>
                    <a:p>
                      <a:pPr latinLnBrk="1"/>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option theo kênh</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solidFill>
                      <a:schemeClr val="accent1">
                        <a:lumMod val="75000"/>
                      </a:schemeClr>
                    </a:solidFill>
                  </a:tcPr>
                </a:tc>
                <a:extLst>
                  <a:ext uri="{0D108BD9-81ED-4DB2-BD59-A6C34878D82A}">
                    <a16:rowId xmlns:a16="http://schemas.microsoft.com/office/drawing/2014/main" val="10000"/>
                  </a:ext>
                </a:extLst>
              </a:tr>
              <a:tr h="764754">
                <a:tc gridSpan="12">
                  <a:txBody>
                    <a:bodyPr/>
                    <a:lstStyle/>
                    <a:p>
                      <a:pPr algn="ctr"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Vui lòng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đăng option.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solidFill>
                      <a:schemeClr val="bg1"/>
                    </a:solidFill>
                  </a:tcPr>
                </a:tc>
                <a:tc hMerge="1">
                  <a:txBody>
                    <a:bodyPr/>
                    <a:lstStyle/>
                    <a:p>
                      <a:endParaRPr lang="en-US"/>
                    </a:p>
                  </a:txBody>
                  <a:tcPr marL="36000" marR="36000" anchor="ctr">
                    <a:solidFill>
                      <a:schemeClr val="bg1"/>
                    </a:solidFill>
                  </a:tcPr>
                </a:tc>
                <a:tc hMerge="1">
                  <a:txBody>
                    <a:bodyPr/>
                    <a:lstStyle/>
                    <a:p>
                      <a:endParaRPr lang="en-US"/>
                    </a:p>
                  </a:txBody>
                  <a:tcPr marL="36000" marR="36000" anchor="ctr">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tc hMerge="1">
                  <a:txBody>
                    <a:bodyPr/>
                    <a:lstStyle/>
                    <a:p>
                      <a:endParaRPr lang="en-US"/>
                    </a:p>
                  </a:txBody>
                  <a:tcPr marL="36000" marR="36000">
                    <a:solidFill>
                      <a:schemeClr val="bg1"/>
                    </a:solidFill>
                  </a:tcPr>
                </a:tc>
                <a:extLst>
                  <a:ext uri="{0D108BD9-81ED-4DB2-BD59-A6C34878D82A}">
                    <a16:rowId xmlns:a16="http://schemas.microsoft.com/office/drawing/2014/main" val="10001"/>
                  </a:ext>
                </a:extLst>
              </a:tr>
            </a:tbl>
          </a:graphicData>
        </a:graphic>
      </p:graphicFrame>
      <p:sp>
        <p:nvSpPr>
          <p:cNvPr id="122" name="직사각형 121"/>
          <p:cNvSpPr/>
          <p:nvPr/>
        </p:nvSpPr>
        <p:spPr>
          <a:xfrm>
            <a:off x="1396263" y="3448588"/>
            <a:ext cx="942531"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thời gian bán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3" name="직사각형 122"/>
          <p:cNvSpPr/>
          <p:nvPr/>
        </p:nvSpPr>
        <p:spPr>
          <a:xfrm>
            <a:off x="2378694" y="3448588"/>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giá</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4" name="직사각형 123"/>
          <p:cNvSpPr/>
          <p:nvPr/>
        </p:nvSpPr>
        <p:spPr>
          <a:xfrm>
            <a:off x="3228290" y="3448588"/>
            <a:ext cx="792088"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đồng loạt số lượng</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직사각형 124"/>
          <p:cNvSpPr/>
          <p:nvPr/>
        </p:nvSpPr>
        <p:spPr>
          <a:xfrm>
            <a:off x="4077886" y="3448588"/>
            <a:ext cx="461047"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6" name="직사각형 125"/>
          <p:cNvSpPr/>
          <p:nvPr/>
        </p:nvSpPr>
        <p:spPr>
          <a:xfrm>
            <a:off x="6535702" y="3448588"/>
            <a:ext cx="618149" cy="236917"/>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Thiết lập giá đại diện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7" name="직사각형 131"/>
          <p:cNvSpPr/>
          <p:nvPr/>
        </p:nvSpPr>
        <p:spPr>
          <a:xfrm>
            <a:off x="1342611" y="2852936"/>
            <a:ext cx="5187523" cy="615553"/>
          </a:xfrm>
          <a:prstGeom prst="rect">
            <a:avLst/>
          </a:prstGeom>
        </p:spPr>
        <p:txBody>
          <a:bodyPr wrap="square">
            <a:spAutoFit/>
          </a:bodyPr>
          <a:lstStyle/>
          <a:p>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Danh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err="1" smtClean="0">
                <a:latin typeface="Times New Roman" panose="02020603050405020304" pitchFamily="18" charset="0"/>
                <a:ea typeface="Nanum Gothic" panose="020D0604000000000000" pitchFamily="34" charset="-127"/>
                <a:cs typeface="Times New Roman" panose="02020603050405020304" pitchFamily="18" charset="0"/>
              </a:rPr>
              <a:t>sách</a:t>
            </a:r>
            <a:r>
              <a:rPr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 option</a:t>
            </a:r>
            <a:endParaRPr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Xem option đã thêm bằng cách nhập trực tiếp hoặc bằng file excel, có thể sửa giá thường/giá bán/số lượng bán/thời gian bán của từng option.</a:t>
            </a:r>
          </a:p>
          <a:p>
            <a:r>
              <a:rPr lang="vi-VN" altLang="ko-KR" sz="800" dirty="0" smtClean="0">
                <a:latin typeface="Times New Roman" panose="02020603050405020304" pitchFamily="18" charset="0"/>
                <a:ea typeface="Nanum Gothic" panose="020D0604000000000000" pitchFamily="34" charset="-127"/>
                <a:cs typeface="Times New Roman" panose="02020603050405020304" pitchFamily="18" charset="0"/>
              </a:rPr>
              <a:t>Sau khi đăng sản phẩm, có thể xem số lượng bán và thời gian bán của từng kênh ở menu quản lý "Phí/Số lượng".</a:t>
            </a:r>
            <a:r>
              <a:rPr lang="ko-KR" altLang="en-US" sz="800"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8" name="모서리가 둥근 직사각형 116"/>
          <p:cNvSpPr/>
          <p:nvPr/>
        </p:nvSpPr>
        <p:spPr>
          <a:xfrm>
            <a:off x="6877841" y="5430157"/>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theo</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9" name="모서리가 둥근 직사각형 117"/>
          <p:cNvSpPr/>
          <p:nvPr/>
        </p:nvSpPr>
        <p:spPr>
          <a:xfrm>
            <a:off x="6327852" y="5430156"/>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0" name="TextBox 129"/>
          <p:cNvSpPr txBox="1"/>
          <p:nvPr/>
        </p:nvSpPr>
        <p:spPr>
          <a:xfrm>
            <a:off x="1245689" y="5177575"/>
            <a:ext cx="1400813" cy="215444"/>
          </a:xfrm>
          <a:prstGeom prst="rect">
            <a:avLst/>
          </a:prstGeom>
          <a:noFill/>
        </p:spPr>
        <p:txBody>
          <a:bodyPr wrap="square" rtlCol="0">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Di chuyển thứ tự</a:t>
            </a:r>
            <a:r>
              <a:rPr lang="ko-KR" altLang="en-US" sz="800" b="1"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1" name="직사각형 127"/>
          <p:cNvSpPr/>
          <p:nvPr/>
        </p:nvSpPr>
        <p:spPr>
          <a:xfrm>
            <a:off x="2176476" y="5203090"/>
            <a:ext cx="519893"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Trên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3" name="직사각형 128"/>
          <p:cNvSpPr/>
          <p:nvPr/>
        </p:nvSpPr>
        <p:spPr>
          <a:xfrm>
            <a:off x="2747583" y="5203090"/>
            <a:ext cx="51802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Lên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5" name="직사각형 129"/>
          <p:cNvSpPr/>
          <p:nvPr/>
        </p:nvSpPr>
        <p:spPr>
          <a:xfrm>
            <a:off x="3324763" y="5203090"/>
            <a:ext cx="651046"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Xuống 1 dòng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6" name="직사각형 130"/>
          <p:cNvSpPr/>
          <p:nvPr/>
        </p:nvSpPr>
        <p:spPr>
          <a:xfrm>
            <a:off x="4026239" y="5203090"/>
            <a:ext cx="577170" cy="18515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Dưới cùng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4"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 name="표 97"/>
          <p:cNvGraphicFramePr>
            <a:graphicFrameLocks noGrp="1"/>
          </p:cNvGraphicFramePr>
          <p:nvPr/>
        </p:nvGraphicFramePr>
        <p:xfrm>
          <a:off x="1365895" y="1934587"/>
          <a:ext cx="5900517" cy="3325707"/>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254392">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Điều</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kiện bán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4660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 bán sản phẩm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3511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 hiệu lực của sản phẩm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92088">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Kên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 bán</a:t>
                      </a:r>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endPar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a:p>
                      <a:pPr algn="ctr" latinLnBrk="1"/>
                      <a:endPar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a:p>
                      <a:pPr algn="ctr" latinLnBrk="1"/>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vi-VN"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Tỷ lệ phí của mỗi kênh khác nhau tùy theo phân loại sản phẩm, có thể sửa được.</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b">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186">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Gửi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check list</a:t>
                      </a:r>
                      <a:endPar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7186">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Nhà</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cung cấp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005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Tiêu</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chuẩn quyết toán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a:solidFill>
                            <a:schemeClr val="tx1"/>
                          </a:solidFill>
                          <a:latin typeface="Times New Roman" panose="02020603050405020304" pitchFamily="18" charset="0"/>
                          <a:cs typeface="Times New Roman" panose="02020603050405020304" pitchFamily="18" charset="0"/>
                        </a:rPr>
                        <a:t>● </a:t>
                      </a:r>
                      <a:r>
                        <a:rPr lang="en-US" altLang="ko-KR" sz="800" b="0" smtClean="0">
                          <a:solidFill>
                            <a:schemeClr val="tx1"/>
                          </a:solidFill>
                          <a:latin typeface="Times New Roman" panose="02020603050405020304" pitchFamily="18" charset="0"/>
                          <a:cs typeface="Times New Roman" panose="02020603050405020304" pitchFamily="18" charset="0"/>
                        </a:rPr>
                        <a:t>Quyết</a:t>
                      </a:r>
                      <a:r>
                        <a:rPr lang="en-US" altLang="ko-KR" sz="800" b="0" baseline="0" smtClean="0">
                          <a:solidFill>
                            <a:schemeClr val="tx1"/>
                          </a:solidFill>
                          <a:latin typeface="Times New Roman" panose="02020603050405020304" pitchFamily="18" charset="0"/>
                          <a:cs typeface="Times New Roman" panose="02020603050405020304" pitchFamily="18" charset="0"/>
                        </a:rPr>
                        <a:t> toán giá nộp tiền</a:t>
                      </a:r>
                      <a:r>
                        <a:rPr lang="ko-KR" altLang="en-US" sz="800" b="0" smtClean="0">
                          <a:solidFill>
                            <a:schemeClr val="tx1"/>
                          </a:solidFill>
                          <a:latin typeface="Times New Roman" panose="02020603050405020304" pitchFamily="18" charset="0"/>
                          <a:cs typeface="Times New Roman" panose="02020603050405020304" pitchFamily="18" charset="0"/>
                        </a:rPr>
                        <a:t>   </a:t>
                      </a:r>
                      <a:r>
                        <a:rPr lang="ko-KR" altLang="en-US" sz="800" b="0">
                          <a:solidFill>
                            <a:schemeClr val="tx1"/>
                          </a:solidFill>
                          <a:latin typeface="Times New Roman" panose="02020603050405020304" pitchFamily="18" charset="0"/>
                          <a:cs typeface="Times New Roman" panose="02020603050405020304" pitchFamily="18" charset="0"/>
                        </a:rPr>
                        <a:t>○ </a:t>
                      </a:r>
                      <a:r>
                        <a:rPr lang="en-US" altLang="ko-KR" sz="800" b="0" smtClean="0">
                          <a:solidFill>
                            <a:schemeClr val="tx1"/>
                          </a:solidFill>
                          <a:latin typeface="Times New Roman" panose="02020603050405020304" pitchFamily="18" charset="0"/>
                          <a:cs typeface="Times New Roman" panose="02020603050405020304" pitchFamily="18" charset="0"/>
                        </a:rPr>
                        <a:t>Quyết</a:t>
                      </a:r>
                      <a:r>
                        <a:rPr lang="en-US" altLang="ko-KR" sz="800" b="0" baseline="0" smtClean="0">
                          <a:solidFill>
                            <a:schemeClr val="tx1"/>
                          </a:solidFill>
                          <a:latin typeface="Times New Roman" panose="02020603050405020304" pitchFamily="18" charset="0"/>
                          <a:cs typeface="Times New Roman" panose="02020603050405020304" pitchFamily="18" charset="0"/>
                        </a:rPr>
                        <a:t> toán giá bán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phẩm&gt;Điều kiện bán/mua</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TextBox 69"/>
          <p:cNvSpPr txBox="1"/>
          <p:nvPr/>
        </p:nvSpPr>
        <p:spPr>
          <a:xfrm>
            <a:off x="1280592" y="1078062"/>
            <a:ext cx="147508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sản phẩm&gt;Vé</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0" name="직사각형 29"/>
          <p:cNvSpPr/>
          <p:nvPr/>
        </p:nvSpPr>
        <p:spPr>
          <a:xfrm>
            <a:off x="2434247" y="2238455"/>
            <a:ext cx="997263" cy="20899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2020-01-01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44"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0517" y="2268600"/>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45" name="직사각형 44"/>
          <p:cNvSpPr/>
          <p:nvPr/>
        </p:nvSpPr>
        <p:spPr>
          <a:xfrm>
            <a:off x="3671788" y="2238455"/>
            <a:ext cx="991239" cy="20899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2020-10-01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46"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2034" y="2268600"/>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47" name="직사각형 46"/>
          <p:cNvSpPr/>
          <p:nvPr/>
        </p:nvSpPr>
        <p:spPr>
          <a:xfrm>
            <a:off x="2440272" y="2582659"/>
            <a:ext cx="991238" cy="20899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2020-01-01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48"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2602" y="2612804"/>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49" name="직사각형 48"/>
          <p:cNvSpPr/>
          <p:nvPr/>
        </p:nvSpPr>
        <p:spPr>
          <a:xfrm>
            <a:off x="3671789" y="2582659"/>
            <a:ext cx="991238" cy="20899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2020-12-01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50"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04119" y="2612804"/>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69" name="직사각형 68"/>
          <p:cNvSpPr/>
          <p:nvPr/>
        </p:nvSpPr>
        <p:spPr>
          <a:xfrm>
            <a:off x="2434247" y="2934271"/>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쿠팡</a:t>
            </a:r>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(9%)</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1/2 액자 71"/>
          <p:cNvSpPr/>
          <p:nvPr/>
        </p:nvSpPr>
        <p:spPr>
          <a:xfrm rot="13500000">
            <a:off x="2488996" y="2908910"/>
            <a:ext cx="116863" cy="130032"/>
          </a:xfrm>
          <a:prstGeom prst="halfFrame">
            <a:avLst>
              <a:gd name="adj1" fmla="val 22689"/>
              <a:gd name="adj2" fmla="val 18695"/>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76" name="직사각형 75"/>
          <p:cNvSpPr/>
          <p:nvPr/>
        </p:nvSpPr>
        <p:spPr>
          <a:xfrm>
            <a:off x="3404017" y="2938377"/>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티몬</a:t>
            </a:r>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직사각형 79"/>
          <p:cNvSpPr/>
          <p:nvPr/>
        </p:nvSpPr>
        <p:spPr>
          <a:xfrm>
            <a:off x="4344712" y="2941800"/>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위메프</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(11%)</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80"/>
          <p:cNvSpPr/>
          <p:nvPr/>
        </p:nvSpPr>
        <p:spPr>
          <a:xfrm>
            <a:off x="5276225" y="2941800"/>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야놀자</a:t>
            </a:r>
            <a:r>
              <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81"/>
          <p:cNvSpPr/>
          <p:nvPr/>
        </p:nvSpPr>
        <p:spPr>
          <a:xfrm>
            <a:off x="6217623" y="2941800"/>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여기어때</a:t>
            </a:r>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(9%)</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3" name="직사각형 82"/>
          <p:cNvSpPr/>
          <p:nvPr/>
        </p:nvSpPr>
        <p:spPr>
          <a:xfrm>
            <a:off x="2434247" y="3238305"/>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11</a:t>
            </a:r>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번가 </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(8%)</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84"/>
          <p:cNvSpPr/>
          <p:nvPr/>
        </p:nvSpPr>
        <p:spPr>
          <a:xfrm>
            <a:off x="3404017" y="3242411"/>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a:t>
            </a:r>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마켓</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직사각형 85"/>
          <p:cNvSpPr/>
          <p:nvPr/>
        </p:nvSpPr>
        <p:spPr>
          <a:xfrm>
            <a:off x="4344712" y="3245834"/>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옥션</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직사각형 86"/>
          <p:cNvSpPr/>
          <p:nvPr/>
        </p:nvSpPr>
        <p:spPr>
          <a:xfrm>
            <a:off x="5276225" y="3245834"/>
            <a:ext cx="858802"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네이버예약</a:t>
            </a:r>
            <a:r>
              <a:rPr lang="en-US" altLang="ko-KR"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직사각형 87"/>
          <p:cNvSpPr/>
          <p:nvPr/>
        </p:nvSpPr>
        <p:spPr>
          <a:xfrm>
            <a:off x="6217622" y="3245834"/>
            <a:ext cx="953831" cy="20979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스마트스토어</a:t>
            </a:r>
            <a:r>
              <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1/2 액자 88"/>
          <p:cNvSpPr/>
          <p:nvPr/>
        </p:nvSpPr>
        <p:spPr>
          <a:xfrm rot="13500000">
            <a:off x="4396740" y="2908909"/>
            <a:ext cx="116863" cy="130032"/>
          </a:xfrm>
          <a:prstGeom prst="halfFrame">
            <a:avLst>
              <a:gd name="adj1" fmla="val 22689"/>
              <a:gd name="adj2" fmla="val 18695"/>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90" name="1/2 액자 89"/>
          <p:cNvSpPr/>
          <p:nvPr/>
        </p:nvSpPr>
        <p:spPr>
          <a:xfrm rot="13500000">
            <a:off x="5327874" y="2892966"/>
            <a:ext cx="116863" cy="130032"/>
          </a:xfrm>
          <a:prstGeom prst="halfFrame">
            <a:avLst>
              <a:gd name="adj1" fmla="val 22689"/>
              <a:gd name="adj2" fmla="val 18695"/>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latin typeface="Times New Roman" panose="02020603050405020304" pitchFamily="18" charset="0"/>
              <a:cs typeface="Times New Roman" panose="02020603050405020304" pitchFamily="18" charset="0"/>
            </a:endParaRPr>
          </a:p>
        </p:txBody>
      </p:sp>
      <p:sp>
        <p:nvSpPr>
          <p:cNvPr id="91" name="직사각형 90"/>
          <p:cNvSpPr/>
          <p:nvPr/>
        </p:nvSpPr>
        <p:spPr>
          <a:xfrm>
            <a:off x="2434247" y="4646972"/>
            <a:ext cx="1424607" cy="216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Vui lòng chọn</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3" name="직사각형 2"/>
          <p:cNvSpPr/>
          <p:nvPr/>
        </p:nvSpPr>
        <p:spPr>
          <a:xfrm>
            <a:off x="4677728" y="2222619"/>
            <a:ext cx="1486304" cy="230832"/>
          </a:xfrm>
          <a:prstGeom prst="rect">
            <a:avLst/>
          </a:prstGeom>
        </p:spPr>
        <p:txBody>
          <a:bodyPr wrap="none">
            <a:spAutoFit/>
          </a:bodyPr>
          <a:lstStyle/>
          <a:p>
            <a:r>
              <a:rPr lang="ko-KR" altLang="en-US" sz="900" b="1">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9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Không giới hạn thời gian</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0" name="타원 119"/>
          <p:cNvSpPr/>
          <p:nvPr/>
        </p:nvSpPr>
        <p:spPr>
          <a:xfrm>
            <a:off x="1307240"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1" name="TextBox 120"/>
          <p:cNvSpPr txBox="1"/>
          <p:nvPr/>
        </p:nvSpPr>
        <p:spPr>
          <a:xfrm>
            <a:off x="1288626" y="1435612"/>
            <a:ext cx="1394026"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2" name="타원 121"/>
          <p:cNvSpPr/>
          <p:nvPr/>
        </p:nvSpPr>
        <p:spPr>
          <a:xfrm>
            <a:off x="2565057" y="1423658"/>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3" name="TextBox 122"/>
          <p:cNvSpPr txBox="1"/>
          <p:nvPr/>
        </p:nvSpPr>
        <p:spPr>
          <a:xfrm>
            <a:off x="2764906" y="1435612"/>
            <a:ext cx="1221809" cy="246221"/>
          </a:xfrm>
          <a:prstGeom prst="rect">
            <a:avLst/>
          </a:prstGeom>
          <a:noFill/>
        </p:spPr>
        <p:txBody>
          <a:bodyPr wrap="none" rtlCol="0">
            <a:spAutoFit/>
          </a:bodyPr>
          <a:lstStyle/>
          <a:p>
            <a:pPr algn="ctr"/>
            <a:r>
              <a:rPr kumimoji="1" lang="en-US" altLang="ko-KR" sz="100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Điều kiện bán/mua</a:t>
            </a:r>
            <a:endParaRPr kumimoji="1" lang="ko-KR" altLang="en-US" sz="10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4" name="타원 123"/>
          <p:cNvSpPr/>
          <p:nvPr/>
        </p:nvSpPr>
        <p:spPr>
          <a:xfrm>
            <a:off x="3912490"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TextBox 124"/>
          <p:cNvSpPr txBox="1"/>
          <p:nvPr/>
        </p:nvSpPr>
        <p:spPr>
          <a:xfrm>
            <a:off x="4024324" y="1435612"/>
            <a:ext cx="1069641"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hủy/hoàn tiền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6" name="타원 125"/>
          <p:cNvSpPr/>
          <p:nvPr/>
        </p:nvSpPr>
        <p:spPr>
          <a:xfrm>
            <a:off x="5257039"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7" name="TextBox 126"/>
          <p:cNvSpPr txBox="1"/>
          <p:nvPr/>
        </p:nvSpPr>
        <p:spPr>
          <a:xfrm>
            <a:off x="5447729" y="1435612"/>
            <a:ext cx="697627"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8" name="타원 127"/>
          <p:cNvSpPr/>
          <p:nvPr/>
        </p:nvSpPr>
        <p:spPr>
          <a:xfrm>
            <a:off x="6153894"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9" name="TextBox 128"/>
          <p:cNvSpPr txBox="1"/>
          <p:nvPr/>
        </p:nvSpPr>
        <p:spPr>
          <a:xfrm>
            <a:off x="6369226" y="1435612"/>
            <a:ext cx="1186543"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74"/>
          <p:cNvSpPr/>
          <p:nvPr/>
        </p:nvSpPr>
        <p:spPr>
          <a:xfrm>
            <a:off x="1527456" y="3245835"/>
            <a:ext cx="613040" cy="18316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Chọn tất cả</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76"/>
          <p:cNvSpPr/>
          <p:nvPr/>
        </p:nvSpPr>
        <p:spPr>
          <a:xfrm>
            <a:off x="2440272" y="3734787"/>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honghong@gmail.com</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직사각형 78"/>
          <p:cNvSpPr/>
          <p:nvPr/>
        </p:nvSpPr>
        <p:spPr>
          <a:xfrm>
            <a:off x="2440272" y="4042703"/>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Nhập địa chỉ email</a:t>
            </a:r>
            <a:endParaRPr lang="ko-KR" altLang="en-US" sz="800" dirty="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타원 91"/>
          <p:cNvSpPr/>
          <p:nvPr/>
        </p:nvSpPr>
        <p:spPr>
          <a:xfrm>
            <a:off x="2367529" y="2168713"/>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93" name="표 92"/>
          <p:cNvGraphicFramePr>
            <a:graphicFrameLocks noGrp="1"/>
          </p:cNvGraphicFramePr>
          <p:nvPr/>
        </p:nvGraphicFramePr>
        <p:xfrm>
          <a:off x="7453089" y="836962"/>
          <a:ext cx="2357214" cy="196704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Mở giao diện lịch</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check vào thì sẽ không chọn được ngày kết thúc, mà tự động setting thành 9999-12-31</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tên kênh bán + tỷ lệ phí theo phân loại đã chọn ở thông tin sản phẩm/option (dự định sẽ quản lý tỷ lệ phí ở menu quản lý phân loại)</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Có thể nhập tối đa 3 cái</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tên nhà cung cấp để chọn.</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Trường hợp không có nhà cung cấp thì chỉ hiển thị tên người bán để chọn.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94" name="직사각형 93"/>
          <p:cNvSpPr/>
          <p:nvPr/>
        </p:nvSpPr>
        <p:spPr>
          <a:xfrm>
            <a:off x="2442360" y="4315883"/>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Nhập địa chỉ email</a:t>
            </a:r>
            <a:endParaRPr lang="ko-KR" altLang="en-US" sz="800" dirty="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타원 94"/>
          <p:cNvSpPr/>
          <p:nvPr/>
        </p:nvSpPr>
        <p:spPr>
          <a:xfrm>
            <a:off x="6171490" y="2247670"/>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96" name="직사각형 95"/>
          <p:cNvSpPr/>
          <p:nvPr/>
        </p:nvSpPr>
        <p:spPr>
          <a:xfrm>
            <a:off x="4733518" y="2219966"/>
            <a:ext cx="1443618" cy="272929"/>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97" name="타원 96"/>
          <p:cNvSpPr/>
          <p:nvPr/>
        </p:nvSpPr>
        <p:spPr>
          <a:xfrm>
            <a:off x="3191328" y="2917053"/>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101" name="타원 100"/>
          <p:cNvSpPr/>
          <p:nvPr/>
        </p:nvSpPr>
        <p:spPr>
          <a:xfrm>
            <a:off x="2263507" y="396787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4</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6" name="왼쪽 대괄호[L] 5"/>
          <p:cNvSpPr/>
          <p:nvPr/>
        </p:nvSpPr>
        <p:spPr>
          <a:xfrm>
            <a:off x="2367529" y="3796119"/>
            <a:ext cx="92607" cy="632445"/>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anose="02020603050405020304" pitchFamily="18" charset="0"/>
              <a:cs typeface="Times New Roman" panose="02020603050405020304" pitchFamily="18" charset="0"/>
            </a:endParaRPr>
          </a:p>
        </p:txBody>
      </p:sp>
      <p:sp>
        <p:nvSpPr>
          <p:cNvPr id="102" name="타원 101"/>
          <p:cNvSpPr/>
          <p:nvPr/>
        </p:nvSpPr>
        <p:spPr>
          <a:xfrm>
            <a:off x="2310474" y="4704649"/>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5</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74"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4" name="그룹 46"/>
          <p:cNvGrpSpPr/>
          <p:nvPr/>
        </p:nvGrpSpPr>
        <p:grpSpPr>
          <a:xfrm>
            <a:off x="1267854" y="665402"/>
            <a:ext cx="1931523" cy="207884"/>
            <a:chOff x="1267854" y="665402"/>
            <a:chExt cx="1931523" cy="207884"/>
          </a:xfrm>
        </p:grpSpPr>
        <p:sp>
          <p:nvSpPr>
            <p:cNvPr id="99"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5" name="그룹 57"/>
            <p:cNvGrpSpPr/>
            <p:nvPr/>
          </p:nvGrpSpPr>
          <p:grpSpPr>
            <a:xfrm>
              <a:off x="2995760" y="665405"/>
              <a:ext cx="203617" cy="207881"/>
              <a:chOff x="2939843" y="5447120"/>
              <a:chExt cx="272722" cy="278432"/>
            </a:xfrm>
          </p:grpSpPr>
          <p:sp>
            <p:nvSpPr>
              <p:cNvPr id="104"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105"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106" name="직선 연결선 145"/>
              <p:cNvCxnSpPr>
                <a:stCxn id="10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07"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8"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9"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2"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3"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4"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5"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phẩm&gt;Điều kiện bán/mua</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TextBox 69"/>
          <p:cNvSpPr txBox="1"/>
          <p:nvPr/>
        </p:nvSpPr>
        <p:spPr>
          <a:xfrm>
            <a:off x="1280592" y="1078062"/>
            <a:ext cx="1521570"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sản phẩm&gt;Vé</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99" name="표 98"/>
          <p:cNvGraphicFramePr>
            <a:graphicFrameLocks noGrp="1"/>
          </p:cNvGraphicFramePr>
          <p:nvPr/>
        </p:nvGraphicFramePr>
        <p:xfrm>
          <a:off x="1365894" y="1928814"/>
          <a:ext cx="5900517" cy="1720562"/>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0">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Điều</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kiện mua</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32224">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SL mua tối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đa 1 lần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9224">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SL mua tối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đa 1 người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803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Dưới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19 tuổi k0 đc mua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Times New Roman" panose="02020603050405020304" pitchFamily="18" charset="0"/>
                          <a:cs typeface="Times New Roman" panose="02020603050405020304" pitchFamily="18" charset="0"/>
                        </a:rPr>
                        <a:t>○ </a:t>
                      </a:r>
                      <a:r>
                        <a:rPr lang="en-US" altLang="ko-KR" sz="800" b="0" dirty="0">
                          <a:solidFill>
                            <a:schemeClr val="tx1"/>
                          </a:solidFill>
                          <a:latin typeface="Times New Roman" panose="02020603050405020304" pitchFamily="18" charset="0"/>
                          <a:cs typeface="Times New Roman" panose="02020603050405020304" pitchFamily="18" charset="0"/>
                        </a:rPr>
                        <a:t>YES    </a:t>
                      </a:r>
                      <a:r>
                        <a:rPr lang="ko-KR" altLang="en-US" sz="800" b="0" dirty="0">
                          <a:solidFill>
                            <a:schemeClr val="tx1"/>
                          </a:solidFill>
                          <a:latin typeface="Times New Roman" panose="02020603050405020304" pitchFamily="18" charset="0"/>
                          <a:cs typeface="Times New Roman" panose="02020603050405020304" pitchFamily="18" charset="0"/>
                        </a:rPr>
                        <a:t>   ● </a:t>
                      </a:r>
                      <a:r>
                        <a:rPr lang="en-US" altLang="ko-KR" sz="800" b="0" dirty="0">
                          <a:solidFill>
                            <a:schemeClr val="tx1"/>
                          </a:solidFill>
                          <a:latin typeface="Times New Roman" panose="02020603050405020304" pitchFamily="18" charset="0"/>
                          <a:cs typeface="Times New Roman" panose="02020603050405020304" pitchFamily="18" charset="0"/>
                        </a:rPr>
                        <a:t>NO</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0882">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thêm đk mua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0" name="표 99"/>
          <p:cNvGraphicFramePr>
            <a:graphicFrameLocks noGrp="1"/>
          </p:cNvGraphicFramePr>
          <p:nvPr/>
        </p:nvGraphicFramePr>
        <p:xfrm>
          <a:off x="1365894" y="3573016"/>
          <a:ext cx="5900517" cy="1785080"/>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1785080">
                <a:tc>
                  <a:txBody>
                    <a:bodyPr/>
                    <a:lstStyle/>
                    <a:p>
                      <a:pPr algn="ctr" latinLnBrk="1"/>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Hướng dẫn mua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05" name="직사각형 104"/>
          <p:cNvSpPr/>
          <p:nvPr/>
        </p:nvSpPr>
        <p:spPr>
          <a:xfrm>
            <a:off x="2417254" y="3894384"/>
            <a:ext cx="4681959" cy="1193922"/>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lvl="0">
              <a:defRPr/>
            </a:pPr>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VD: Sau khi mua coupon, khoảng 20~30 phút sau vui lòng kiểm tra tin nhắn SMS.</a:t>
            </a:r>
          </a:p>
          <a:p>
            <a:pPr lvl="0">
              <a:defRPr/>
            </a:pPr>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Địa điểm: oooo</a:t>
            </a:r>
          </a:p>
          <a:p>
            <a:pPr lvl="0">
              <a:defRPr/>
            </a:pPr>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Tại nơi bán vé, vui lòng kiểm tra tên người mua, số điện thoại và mã vạch.</a:t>
            </a:r>
          </a:p>
          <a:p>
            <a:pPr lvl="0">
              <a:defRPr/>
            </a:pPr>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Bắt buộc mang theo mã vạch.</a:t>
            </a:r>
            <a:endParaRPr lang="en-US" altLang="ko-KR"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모서리가 둥근 직사각형 108"/>
          <p:cNvSpPr/>
          <p:nvPr/>
        </p:nvSpPr>
        <p:spPr>
          <a:xfrm>
            <a:off x="6799133" y="6483153"/>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tục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0" name="모서리가 둥근 직사각형 109"/>
          <p:cNvSpPr/>
          <p:nvPr/>
        </p:nvSpPr>
        <p:spPr>
          <a:xfrm>
            <a:off x="5673080" y="6483152"/>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1" name="모서리가 둥근 직사각형 110"/>
          <p:cNvSpPr/>
          <p:nvPr/>
        </p:nvSpPr>
        <p:spPr>
          <a:xfrm>
            <a:off x="6249144" y="6480919"/>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Quay lại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70"/>
          <p:cNvSpPr/>
          <p:nvPr/>
        </p:nvSpPr>
        <p:spPr>
          <a:xfrm>
            <a:off x="2429183" y="2225975"/>
            <a:ext cx="1424607" cy="216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 giới hạn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직사각형 72"/>
          <p:cNvSpPr/>
          <p:nvPr/>
        </p:nvSpPr>
        <p:spPr>
          <a:xfrm>
            <a:off x="2429183" y="2554467"/>
            <a:ext cx="1424607" cy="216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Nhập trực tiếp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직사각형 73"/>
          <p:cNvSpPr/>
          <p:nvPr/>
        </p:nvSpPr>
        <p:spPr>
          <a:xfrm>
            <a:off x="3916506" y="2557081"/>
            <a:ext cx="451373" cy="216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10</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8" name="직사각형 157"/>
          <p:cNvSpPr/>
          <p:nvPr/>
        </p:nvSpPr>
        <p:spPr>
          <a:xfrm>
            <a:off x="2417254" y="3203360"/>
            <a:ext cx="4086554" cy="24074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VD: Nếu người sử dụng là người khác, vui lòng viết tên người sử dụng.</a:t>
            </a:r>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 name="TextBox 3"/>
          <p:cNvSpPr txBox="1"/>
          <p:nvPr/>
        </p:nvSpPr>
        <p:spPr>
          <a:xfrm>
            <a:off x="6576313" y="5088306"/>
            <a:ext cx="708848" cy="215444"/>
          </a:xfrm>
          <a:prstGeom prst="rect">
            <a:avLst/>
          </a:prstGeom>
          <a:noFill/>
        </p:spPr>
        <p:txBody>
          <a:bodyPr wrap="none" rtlCol="0">
            <a:spAutoFit/>
          </a:bodyPr>
          <a:lstStyle/>
          <a:p>
            <a:r>
              <a:rPr kumimoji="1" lang="en-US" altLang="ko-KR" sz="800" dirty="0">
                <a:latin typeface="Times New Roman" panose="02020603050405020304" pitchFamily="18" charset="0"/>
                <a:cs typeface="Times New Roman" panose="02020603050405020304" pitchFamily="18" charset="0"/>
              </a:rPr>
              <a:t>0</a:t>
            </a:r>
            <a:r>
              <a:rPr kumimoji="1" lang="ko-KR" altLang="en-US" sz="800" dirty="0">
                <a:latin typeface="Times New Roman" panose="02020603050405020304" pitchFamily="18" charset="0"/>
                <a:cs typeface="Times New Roman" panose="02020603050405020304" pitchFamily="18" charset="0"/>
              </a:rPr>
              <a:t> </a:t>
            </a:r>
            <a:r>
              <a:rPr kumimoji="1" lang="en-US" altLang="ko-KR" sz="800">
                <a:latin typeface="Times New Roman" panose="02020603050405020304" pitchFamily="18" charset="0"/>
                <a:cs typeface="Times New Roman" panose="02020603050405020304" pitchFamily="18" charset="0"/>
              </a:rPr>
              <a:t>/</a:t>
            </a:r>
            <a:r>
              <a:rPr kumimoji="1" lang="ko-KR" altLang="en-US" sz="800">
                <a:latin typeface="Times New Roman" panose="02020603050405020304" pitchFamily="18" charset="0"/>
                <a:cs typeface="Times New Roman" panose="02020603050405020304" pitchFamily="18" charset="0"/>
              </a:rPr>
              <a:t> </a:t>
            </a:r>
            <a:r>
              <a:rPr kumimoji="1" lang="en-US" altLang="ko-KR" sz="800" smtClean="0">
                <a:latin typeface="Times New Roman" panose="02020603050405020304" pitchFamily="18" charset="0"/>
                <a:cs typeface="Times New Roman" panose="02020603050405020304" pitchFamily="18" charset="0"/>
              </a:rPr>
              <a:t>100</a:t>
            </a:r>
            <a:r>
              <a:rPr kumimoji="1" lang="ko-KR" altLang="en-US" sz="800" smtClean="0">
                <a:latin typeface="Times New Roman" panose="02020603050405020304" pitchFamily="18" charset="0"/>
                <a:cs typeface="Times New Roman" panose="02020603050405020304" pitchFamily="18" charset="0"/>
              </a:rPr>
              <a:t> </a:t>
            </a:r>
            <a:r>
              <a:rPr kumimoji="1" lang="en-US" altLang="ko-KR" sz="800" smtClean="0">
                <a:latin typeface="Times New Roman" panose="02020603050405020304" pitchFamily="18" charset="0"/>
                <a:cs typeface="Times New Roman" panose="02020603050405020304" pitchFamily="18" charset="0"/>
              </a:rPr>
              <a:t>ký tự</a:t>
            </a:r>
            <a:endParaRPr kumimoji="1" lang="ko-KR" altLang="en-US" sz="800" dirty="0">
              <a:latin typeface="Times New Roman" panose="02020603050405020304" pitchFamily="18" charset="0"/>
              <a:cs typeface="Times New Roman" panose="02020603050405020304" pitchFamily="18" charset="0"/>
            </a:endParaRPr>
          </a:p>
        </p:txBody>
      </p:sp>
      <p:sp>
        <p:nvSpPr>
          <p:cNvPr id="79" name="TextBox 78"/>
          <p:cNvSpPr txBox="1"/>
          <p:nvPr/>
        </p:nvSpPr>
        <p:spPr>
          <a:xfrm>
            <a:off x="6504962" y="3219792"/>
            <a:ext cx="657552" cy="215444"/>
          </a:xfrm>
          <a:prstGeom prst="rect">
            <a:avLst/>
          </a:prstGeom>
          <a:noFill/>
        </p:spPr>
        <p:txBody>
          <a:bodyPr wrap="none" rtlCol="0">
            <a:spAutoFit/>
          </a:bodyPr>
          <a:lstStyle/>
          <a:p>
            <a:r>
              <a:rPr kumimoji="1" lang="en-US" altLang="ko-KR" sz="800" dirty="0">
                <a:latin typeface="Times New Roman" panose="02020603050405020304" pitchFamily="18" charset="0"/>
                <a:cs typeface="Times New Roman" panose="02020603050405020304" pitchFamily="18" charset="0"/>
              </a:rPr>
              <a:t>0</a:t>
            </a:r>
            <a:r>
              <a:rPr kumimoji="1" lang="ko-KR" altLang="en-US" sz="800" dirty="0">
                <a:latin typeface="Times New Roman" panose="02020603050405020304" pitchFamily="18" charset="0"/>
                <a:cs typeface="Times New Roman" panose="02020603050405020304" pitchFamily="18" charset="0"/>
              </a:rPr>
              <a:t> </a:t>
            </a:r>
            <a:r>
              <a:rPr kumimoji="1" lang="en-US" altLang="ko-KR" sz="800">
                <a:latin typeface="Times New Roman" panose="02020603050405020304" pitchFamily="18" charset="0"/>
                <a:cs typeface="Times New Roman" panose="02020603050405020304" pitchFamily="18" charset="0"/>
              </a:rPr>
              <a:t>/</a:t>
            </a:r>
            <a:r>
              <a:rPr kumimoji="1" lang="ko-KR" altLang="en-US" sz="800">
                <a:latin typeface="Times New Roman" panose="02020603050405020304" pitchFamily="18" charset="0"/>
                <a:cs typeface="Times New Roman" panose="02020603050405020304" pitchFamily="18" charset="0"/>
              </a:rPr>
              <a:t> </a:t>
            </a:r>
            <a:r>
              <a:rPr kumimoji="1" lang="en-US" altLang="ko-KR" sz="800" smtClean="0">
                <a:latin typeface="Times New Roman" panose="02020603050405020304" pitchFamily="18" charset="0"/>
                <a:cs typeface="Times New Roman" panose="02020603050405020304" pitchFamily="18" charset="0"/>
              </a:rPr>
              <a:t>30</a:t>
            </a:r>
            <a:r>
              <a:rPr kumimoji="1" lang="ko-KR" altLang="en-US" sz="800" smtClean="0">
                <a:latin typeface="Times New Roman" panose="02020603050405020304" pitchFamily="18" charset="0"/>
                <a:cs typeface="Times New Roman" panose="02020603050405020304" pitchFamily="18" charset="0"/>
              </a:rPr>
              <a:t> </a:t>
            </a:r>
            <a:r>
              <a:rPr kumimoji="1" lang="en-US" altLang="ko-KR" sz="800" smtClean="0">
                <a:latin typeface="Times New Roman" panose="02020603050405020304" pitchFamily="18" charset="0"/>
                <a:cs typeface="Times New Roman" panose="02020603050405020304" pitchFamily="18" charset="0"/>
              </a:rPr>
              <a:t>ký tự</a:t>
            </a:r>
            <a:endParaRPr kumimoji="1" lang="ko-KR" altLang="en-US" sz="800" dirty="0">
              <a:latin typeface="Times New Roman" panose="02020603050405020304" pitchFamily="18" charset="0"/>
              <a:cs typeface="Times New Roman" panose="02020603050405020304" pitchFamily="18" charset="0"/>
            </a:endParaRPr>
          </a:p>
        </p:txBody>
      </p:sp>
      <p:graphicFrame>
        <p:nvGraphicFramePr>
          <p:cNvPr id="84" name="표 83"/>
          <p:cNvGraphicFramePr>
            <a:graphicFrameLocks noGrp="1"/>
          </p:cNvGraphicFramePr>
          <p:nvPr/>
        </p:nvGraphicFramePr>
        <p:xfrm>
          <a:off x="7453089" y="836962"/>
          <a:ext cx="2357214" cy="18451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Giá trị chọn: Chọn "k0 giới hạn", hoặc chọn 1 số từ 1~10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Giá trị chọn: Chọn 1 số từ 1~10, hoặc "giới hạn", hoặc "nhập trực tiếp"</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chọn "nhập trực tiếp" thì có thể nhập vào khung nhập bên phải.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93" name="타원 92"/>
          <p:cNvSpPr/>
          <p:nvPr/>
        </p:nvSpPr>
        <p:spPr>
          <a:xfrm>
            <a:off x="2307326" y="2169290"/>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94" name="타원 93"/>
          <p:cNvSpPr/>
          <p:nvPr/>
        </p:nvSpPr>
        <p:spPr>
          <a:xfrm>
            <a:off x="2308102" y="2502406"/>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58"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61"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5" name="그룹 57"/>
            <p:cNvGrpSpPr/>
            <p:nvPr/>
          </p:nvGrpSpPr>
          <p:grpSpPr>
            <a:xfrm>
              <a:off x="2995760" y="665405"/>
              <a:ext cx="203617" cy="207881"/>
              <a:chOff x="2939843" y="5447120"/>
              <a:chExt cx="272722" cy="278432"/>
            </a:xfrm>
          </p:grpSpPr>
          <p:sp>
            <p:nvSpPr>
              <p:cNvPr id="63"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64"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65" name="직선 연결선 145"/>
              <p:cNvCxnSpPr>
                <a:stCxn id="6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타원 119"/>
          <p:cNvSpPr/>
          <p:nvPr/>
        </p:nvSpPr>
        <p:spPr>
          <a:xfrm>
            <a:off x="1316765"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TextBox 88"/>
          <p:cNvSpPr txBox="1"/>
          <p:nvPr/>
        </p:nvSpPr>
        <p:spPr>
          <a:xfrm>
            <a:off x="1298151" y="1435612"/>
            <a:ext cx="1394026"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타원 121"/>
          <p:cNvSpPr/>
          <p:nvPr/>
        </p:nvSpPr>
        <p:spPr>
          <a:xfrm>
            <a:off x="2574582" y="1423658"/>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TextBox 90"/>
          <p:cNvSpPr txBox="1"/>
          <p:nvPr/>
        </p:nvSpPr>
        <p:spPr>
          <a:xfrm>
            <a:off x="2774431" y="1435612"/>
            <a:ext cx="1221809" cy="246221"/>
          </a:xfrm>
          <a:prstGeom prst="rect">
            <a:avLst/>
          </a:prstGeom>
          <a:noFill/>
        </p:spPr>
        <p:txBody>
          <a:bodyPr wrap="none" rtlCol="0">
            <a:spAutoFit/>
          </a:bodyPr>
          <a:lstStyle/>
          <a:p>
            <a:pPr algn="ctr"/>
            <a:r>
              <a:rPr kumimoji="1" lang="en-US" altLang="ko-KR" sz="100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Điều kiện bán/mua</a:t>
            </a:r>
            <a:endParaRPr kumimoji="1" lang="ko-KR" altLang="en-US" sz="10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타원 123"/>
          <p:cNvSpPr/>
          <p:nvPr/>
        </p:nvSpPr>
        <p:spPr>
          <a:xfrm>
            <a:off x="3922015"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TextBox 97"/>
          <p:cNvSpPr txBox="1"/>
          <p:nvPr/>
        </p:nvSpPr>
        <p:spPr>
          <a:xfrm>
            <a:off x="4033849" y="1435612"/>
            <a:ext cx="1069641"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hủy/hoàn tiền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5" name="타원 125"/>
          <p:cNvSpPr/>
          <p:nvPr/>
        </p:nvSpPr>
        <p:spPr>
          <a:xfrm>
            <a:off x="5266564"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TextBox 115"/>
          <p:cNvSpPr txBox="1"/>
          <p:nvPr/>
        </p:nvSpPr>
        <p:spPr>
          <a:xfrm>
            <a:off x="5457254" y="1435612"/>
            <a:ext cx="697627"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7" name="타원 127"/>
          <p:cNvSpPr/>
          <p:nvPr/>
        </p:nvSpPr>
        <p:spPr>
          <a:xfrm>
            <a:off x="6163419"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8" name="TextBox 117"/>
          <p:cNvSpPr txBox="1"/>
          <p:nvPr/>
        </p:nvSpPr>
        <p:spPr>
          <a:xfrm>
            <a:off x="6378751" y="1435612"/>
            <a:ext cx="1186543"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7"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3"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phẩm&gt;Điều kiện hủy/hoàn tiền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58" name="표 57"/>
          <p:cNvGraphicFramePr>
            <a:graphicFrameLocks noGrp="1"/>
          </p:cNvGraphicFramePr>
          <p:nvPr/>
        </p:nvGraphicFramePr>
        <p:xfrm>
          <a:off x="1451928" y="1973046"/>
          <a:ext cx="5900517" cy="2274709"/>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0">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Điều</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kiện hủy/hoàn tiền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9093">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100% khi chưa sử dụng</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YES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NO</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9093">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Phạm</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vi có thể hoàn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toàn bộ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một phần</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đc hoàn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1676">
                <a:tc rowSpan="3">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Quy định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hoàn</a:t>
                      </a:r>
                      <a:endPar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(Khi hoàn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toàn bộ</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Có</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thể hoàn trước khi xử lý sử dụng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(trước</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khi hết tgian hiệu lực</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1677">
                <a:tc vMerge="1">
                  <a:txBody>
                    <a:bodyPr/>
                    <a:lstStyle/>
                    <a:p>
                      <a:endParaRPr lang="en-US"/>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Theo ngày</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mua</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41676">
                <a:tc vMerge="1">
                  <a:txBody>
                    <a:bodyPr/>
                    <a:lstStyle/>
                    <a:p>
                      <a:endParaRPr lang="en-US"/>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Theo ngày</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sử dụng</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3838">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Phương</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thức xử lý hoàn tiền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Xử</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lý sau khi người bán xác nhận</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Tự</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động xử lý</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82" name="직사각형 81"/>
          <p:cNvSpPr/>
          <p:nvPr/>
        </p:nvSpPr>
        <p:spPr>
          <a:xfrm>
            <a:off x="3508530" y="3298040"/>
            <a:ext cx="1424607" cy="216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 vòng 10 ngày</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83"/>
          <p:cNvSpPr/>
          <p:nvPr/>
        </p:nvSpPr>
        <p:spPr>
          <a:xfrm>
            <a:off x="3508530" y="3638773"/>
            <a:ext cx="1424607" cy="21691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 vòng 10 ngày</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 name="표 3"/>
          <p:cNvGraphicFramePr>
            <a:graphicFrameLocks noGrp="1"/>
          </p:cNvGraphicFramePr>
          <p:nvPr/>
        </p:nvGraphicFramePr>
        <p:xfrm>
          <a:off x="5640548" y="2980976"/>
          <a:ext cx="2812470" cy="914400"/>
        </p:xfrm>
        <a:graphic>
          <a:graphicData uri="http://schemas.openxmlformats.org/drawingml/2006/table">
            <a:tbl>
              <a:tblPr firstRow="1" bandRow="1">
                <a:tableStyleId>{5C22544A-7EE6-4342-B048-85BDC9FD1C3A}</a:tableStyleId>
              </a:tblPr>
              <a:tblGrid>
                <a:gridCol w="815254">
                  <a:extLst>
                    <a:ext uri="{9D8B030D-6E8A-4147-A177-3AD203B41FA5}">
                      <a16:colId xmlns:a16="http://schemas.microsoft.com/office/drawing/2014/main" val="20000"/>
                    </a:ext>
                  </a:extLst>
                </a:gridCol>
                <a:gridCol w="1997216">
                  <a:extLst>
                    <a:ext uri="{9D8B030D-6E8A-4147-A177-3AD203B41FA5}">
                      <a16:colId xmlns:a16="http://schemas.microsoft.com/office/drawing/2014/main" val="20001"/>
                    </a:ext>
                  </a:extLst>
                </a:gridCol>
              </a:tblGrid>
              <a:tr h="156804">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Phạm</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vi có thể hoàn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toàn bộ</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một phần</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 đc</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hoàn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1107">
                <a:tc rowSpan="2">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Quy định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hoàn</a:t>
                      </a:r>
                      <a:endPar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(Khi k0</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đc hoàn</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K0 đc</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hoàn sau khi giao vé</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1107">
                <a:tc vMerge="1">
                  <a:txBody>
                    <a:bodyPr/>
                    <a:lstStyle/>
                    <a:p>
                      <a:endParaRPr lang="en-US"/>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 đc</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hoàn sau khi xác nhận đặt chỗ</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9" name="직사각형 58"/>
          <p:cNvSpPr/>
          <p:nvPr/>
        </p:nvSpPr>
        <p:spPr>
          <a:xfrm>
            <a:off x="3508529" y="3866850"/>
            <a:ext cx="1424607" cy="54176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 vòng 1 ngày</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 vòng 2 ngày</a:t>
            </a: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Trong vòng 10 ngày</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60" name="표 59"/>
          <p:cNvGraphicFramePr>
            <a:graphicFrameLocks noGrp="1"/>
          </p:cNvGraphicFramePr>
          <p:nvPr/>
        </p:nvGraphicFramePr>
        <p:xfrm>
          <a:off x="5625083" y="3846236"/>
          <a:ext cx="4124974" cy="1221521"/>
        </p:xfrm>
        <a:graphic>
          <a:graphicData uri="http://schemas.openxmlformats.org/drawingml/2006/table">
            <a:tbl>
              <a:tblPr firstRow="1" bandRow="1">
                <a:tableStyleId>{5C22544A-7EE6-4342-B048-85BDC9FD1C3A}</a:tableStyleId>
              </a:tblPr>
              <a:tblGrid>
                <a:gridCol w="707665">
                  <a:extLst>
                    <a:ext uri="{9D8B030D-6E8A-4147-A177-3AD203B41FA5}">
                      <a16:colId xmlns:a16="http://schemas.microsoft.com/office/drawing/2014/main" val="20000"/>
                    </a:ext>
                  </a:extLst>
                </a:gridCol>
                <a:gridCol w="3417309">
                  <a:extLst>
                    <a:ext uri="{9D8B030D-6E8A-4147-A177-3AD203B41FA5}">
                      <a16:colId xmlns:a16="http://schemas.microsoft.com/office/drawing/2014/main" val="20001"/>
                    </a:ext>
                  </a:extLst>
                </a:gridCol>
              </a:tblGrid>
              <a:tr h="156804">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Phạm</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vi có thể hoàn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toàn bộ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một phần</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K0</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đc hoàn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8624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Quy định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hoàn</a:t>
                      </a:r>
                      <a:endPar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(Khi hoàn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1 phần</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7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sử dụng:    </a:t>
                      </a:r>
                      <a:r>
                        <a:rPr lang="ko-KR" altLang="en-US"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7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a:t>
                      </a:r>
                      <a:r>
                        <a:rPr lang="ko-KR" altLang="en-US"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Tỷ</a:t>
                      </a:r>
                      <a:r>
                        <a:rPr lang="en-US" altLang="ko-KR" sz="7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lệ hoàn:</a:t>
                      </a:r>
                      <a:r>
                        <a:rPr lang="ko-KR" altLang="en-US"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700" b="0" smtClean="0">
                        <a:solidFill>
                          <a:schemeClr val="tx1"/>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700" b="0" dirty="0">
                        <a:solidFill>
                          <a:schemeClr val="tx1"/>
                        </a:solidFill>
                        <a:latin typeface="Nanum Gothic" panose="020D0604000000000000" pitchFamily="34" charset="-127"/>
                        <a:ea typeface="Nanum Gothic" panose="020D0604000000000000" pitchFamily="34" charset="-127"/>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7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sử dụng:    </a:t>
                      </a:r>
                      <a:r>
                        <a:rPr lang="ko-KR" altLang="en-US"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Thời</a:t>
                      </a:r>
                      <a:r>
                        <a:rPr lang="en-US" altLang="ko-KR" sz="7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gian:</a:t>
                      </a:r>
                      <a:r>
                        <a:rPr lang="ko-KR" altLang="en-US"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Tỷ</a:t>
                      </a:r>
                      <a:r>
                        <a:rPr lang="en-US" altLang="ko-KR" sz="7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lệ hoàn:</a:t>
                      </a:r>
                      <a:r>
                        <a:rPr lang="ko-KR" altLang="en-US"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7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71"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5" name="그룹 46"/>
          <p:cNvGrpSpPr/>
          <p:nvPr/>
        </p:nvGrpSpPr>
        <p:grpSpPr>
          <a:xfrm>
            <a:off x="1267854" y="665402"/>
            <a:ext cx="1931523" cy="207884"/>
            <a:chOff x="1267854" y="665402"/>
            <a:chExt cx="1931523" cy="207884"/>
          </a:xfrm>
        </p:grpSpPr>
        <p:sp>
          <p:nvSpPr>
            <p:cNvPr id="74"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6" name="그룹 57"/>
            <p:cNvGrpSpPr/>
            <p:nvPr/>
          </p:nvGrpSpPr>
          <p:grpSpPr>
            <a:xfrm>
              <a:off x="2995760" y="665405"/>
              <a:ext cx="203617" cy="207881"/>
              <a:chOff x="2939843" y="5447120"/>
              <a:chExt cx="272722" cy="278432"/>
            </a:xfrm>
          </p:grpSpPr>
          <p:sp>
            <p:nvSpPr>
              <p:cNvPr id="78"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87"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88" name="직선 연결선 145"/>
              <p:cNvCxnSpPr>
                <a:stCxn id="87"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9"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TextBox 100"/>
          <p:cNvSpPr txBox="1"/>
          <p:nvPr/>
        </p:nvSpPr>
        <p:spPr>
          <a:xfrm>
            <a:off x="1280592" y="1078062"/>
            <a:ext cx="1481496"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sản phẩm&gt;Vé</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타원 142"/>
          <p:cNvSpPr/>
          <p:nvPr/>
        </p:nvSpPr>
        <p:spPr>
          <a:xfrm>
            <a:off x="1459640"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타원 144"/>
          <p:cNvSpPr/>
          <p:nvPr/>
        </p:nvSpPr>
        <p:spPr>
          <a:xfrm>
            <a:off x="2622207"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TextBox 103"/>
          <p:cNvSpPr txBox="1"/>
          <p:nvPr/>
        </p:nvSpPr>
        <p:spPr>
          <a:xfrm>
            <a:off x="2831579" y="1435612"/>
            <a:ext cx="1221809"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bán/mua</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타원 147"/>
          <p:cNvSpPr/>
          <p:nvPr/>
        </p:nvSpPr>
        <p:spPr>
          <a:xfrm>
            <a:off x="4007740" y="1423658"/>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3</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6" name="TextBox 105"/>
          <p:cNvSpPr txBox="1"/>
          <p:nvPr/>
        </p:nvSpPr>
        <p:spPr>
          <a:xfrm>
            <a:off x="4090996" y="1435612"/>
            <a:ext cx="1082220" cy="400110"/>
          </a:xfrm>
          <a:prstGeom prst="rect">
            <a:avLst/>
          </a:prstGeom>
          <a:noFill/>
        </p:spPr>
        <p:txBody>
          <a:bodyPr wrap="square" rtlCol="0">
            <a:spAutoFit/>
          </a:bodyPr>
          <a:lstStyle/>
          <a:p>
            <a:pPr algn="ctr"/>
            <a:r>
              <a:rPr kumimoji="1" lang="en-US" altLang="ko-KR" sz="100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Điều kiện hủy/hoàn tiền</a:t>
            </a:r>
            <a:endParaRPr kumimoji="1" lang="ko-KR" altLang="en-US" sz="10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7" name="타원 149"/>
          <p:cNvSpPr/>
          <p:nvPr/>
        </p:nvSpPr>
        <p:spPr>
          <a:xfrm>
            <a:off x="5152264"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TextBox 107"/>
          <p:cNvSpPr txBox="1"/>
          <p:nvPr/>
        </p:nvSpPr>
        <p:spPr>
          <a:xfrm>
            <a:off x="5371528" y="1435612"/>
            <a:ext cx="697627"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2" name="타원 151"/>
          <p:cNvSpPr/>
          <p:nvPr/>
        </p:nvSpPr>
        <p:spPr>
          <a:xfrm>
            <a:off x="6153894"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3" name="TextBox 112"/>
          <p:cNvSpPr txBox="1"/>
          <p:nvPr/>
        </p:nvSpPr>
        <p:spPr>
          <a:xfrm>
            <a:off x="6369411" y="1435612"/>
            <a:ext cx="1186543"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4" name="TextBox 113"/>
          <p:cNvSpPr txBox="1"/>
          <p:nvPr/>
        </p:nvSpPr>
        <p:spPr>
          <a:xfrm>
            <a:off x="1450551" y="1435612"/>
            <a:ext cx="1394026"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6" name="모서리가 둥근 직사각형 108"/>
          <p:cNvSpPr/>
          <p:nvPr/>
        </p:nvSpPr>
        <p:spPr>
          <a:xfrm>
            <a:off x="6799133" y="6533969"/>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Hoàn tất</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7" name="모서리가 둥근 직사각형 109"/>
          <p:cNvSpPr/>
          <p:nvPr/>
        </p:nvSpPr>
        <p:spPr>
          <a:xfrm>
            <a:off x="5673080" y="6533968"/>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8" name="모서리가 둥근 직사각형 110"/>
          <p:cNvSpPr/>
          <p:nvPr/>
        </p:nvSpPr>
        <p:spPr>
          <a:xfrm>
            <a:off x="6249144" y="6531735"/>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Quay lại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29" name="표 134"/>
          <p:cNvGraphicFramePr>
            <a:graphicFrameLocks noGrp="1"/>
          </p:cNvGraphicFramePr>
          <p:nvPr/>
        </p:nvGraphicFramePr>
        <p:xfrm>
          <a:off x="1451926" y="4933553"/>
          <a:ext cx="5900517" cy="1512168"/>
        </p:xfrm>
        <a:graphic>
          <a:graphicData uri="http://schemas.openxmlformats.org/drawingml/2006/table">
            <a:tbl>
              <a:tblPr firstRow="1" bandRow="1">
                <a:tableStyleId>{5C22544A-7EE6-4342-B048-85BDC9FD1C3A}</a:tableStyleId>
              </a:tblPr>
              <a:tblGrid>
                <a:gridCol w="980791">
                  <a:extLst>
                    <a:ext uri="{9D8B030D-6E8A-4147-A177-3AD203B41FA5}">
                      <a16:colId xmlns:a16="http://schemas.microsoft.com/office/drawing/2014/main" val="20000"/>
                    </a:ext>
                  </a:extLst>
                </a:gridCol>
                <a:gridCol w="4919726">
                  <a:extLst>
                    <a:ext uri="{9D8B030D-6E8A-4147-A177-3AD203B41FA5}">
                      <a16:colId xmlns:a16="http://schemas.microsoft.com/office/drawing/2014/main" val="20001"/>
                    </a:ext>
                  </a:extLst>
                </a:gridCol>
              </a:tblGrid>
              <a:tr h="244328">
                <a:tc gridSpan="2">
                  <a:txBody>
                    <a:bodyPr/>
                    <a:lstStyle/>
                    <a:p>
                      <a:pPr algn="l" latinLnBrk="1"/>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Hướng dẫn hủy/hoàn tiền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267840">
                <a:tc>
                  <a:txBody>
                    <a:bodyPr/>
                    <a:lstStyle/>
                    <a:p>
                      <a:pPr marL="0" marR="0" indent="0" algn="ctr" defTabSz="914400" rtl="0" eaLnBrk="1" fontAlgn="auto" latinLnBrk="1" hangingPunct="1">
                        <a:lnSpc>
                          <a:spcPct val="100000"/>
                        </a:lnSpc>
                        <a:spcBef>
                          <a:spcPts val="0"/>
                        </a:spcBef>
                        <a:spcAft>
                          <a:spcPts val="0"/>
                        </a:spcAft>
                        <a:buClrTx/>
                        <a:buSzTx/>
                        <a:buFontTx/>
                        <a:buNone/>
                        <a:defRPr/>
                      </a:pP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Hướng dẫn hủy/hoàn tiền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32" name="직사각형 129"/>
          <p:cNvSpPr/>
          <p:nvPr/>
        </p:nvSpPr>
        <p:spPr>
          <a:xfrm>
            <a:off x="2584822" y="5365601"/>
            <a:ext cx="4681959" cy="854147"/>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VD: * Vé chưa sử dụng trong thời gian hiệu lực được hoàn 100%</a:t>
            </a:r>
          </a:p>
          <a:p>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 Sau thời gian hiệu lực không thể hoàn tiền.</a:t>
            </a:r>
          </a:p>
          <a:p>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 Vé đã sử dụng không thể h</a:t>
            </a:r>
            <a:r>
              <a:rPr lang="en-US"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òa</a:t>
            </a:r>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n tiền.</a:t>
            </a:r>
          </a:p>
          <a:p>
            <a:r>
              <a:rPr lang="vi-VN" altLang="ko-KR" sz="800" smtClean="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rPr>
              <a:t>※Sản phẩm gói (Vé 1 người+BIG5) phải được sử dụng tất cả trong ngày sử dụng, không thể hủy và hoàn tiền một phần.</a:t>
            </a:r>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8" name="TextBox 137"/>
          <p:cNvSpPr txBox="1"/>
          <p:nvPr/>
        </p:nvSpPr>
        <p:spPr>
          <a:xfrm>
            <a:off x="6631764" y="6254052"/>
            <a:ext cx="708848" cy="215444"/>
          </a:xfrm>
          <a:prstGeom prst="rect">
            <a:avLst/>
          </a:prstGeom>
          <a:noFill/>
        </p:spPr>
        <p:txBody>
          <a:bodyPr wrap="none" rtlCol="0">
            <a:spAutoFit/>
          </a:bodyPr>
          <a:lstStyle/>
          <a:p>
            <a:r>
              <a:rPr kumimoji="1" lang="en-US" altLang="ko-KR" sz="800" dirty="0">
                <a:latin typeface="Times New Roman" panose="02020603050405020304" pitchFamily="18" charset="0"/>
                <a:cs typeface="Times New Roman" panose="02020603050405020304" pitchFamily="18" charset="0"/>
              </a:rPr>
              <a:t>0</a:t>
            </a:r>
            <a:r>
              <a:rPr kumimoji="1" lang="ko-KR" altLang="en-US" sz="800" dirty="0">
                <a:latin typeface="Times New Roman" panose="02020603050405020304" pitchFamily="18" charset="0"/>
                <a:cs typeface="Times New Roman" panose="02020603050405020304" pitchFamily="18" charset="0"/>
              </a:rPr>
              <a:t> </a:t>
            </a:r>
            <a:r>
              <a:rPr kumimoji="1" lang="en-US" altLang="ko-KR" sz="800">
                <a:latin typeface="Times New Roman" panose="02020603050405020304" pitchFamily="18" charset="0"/>
                <a:cs typeface="Times New Roman" panose="02020603050405020304" pitchFamily="18" charset="0"/>
              </a:rPr>
              <a:t>/</a:t>
            </a:r>
            <a:r>
              <a:rPr kumimoji="1" lang="ko-KR" altLang="en-US" sz="800">
                <a:latin typeface="Times New Roman" panose="02020603050405020304" pitchFamily="18" charset="0"/>
                <a:cs typeface="Times New Roman" panose="02020603050405020304" pitchFamily="18" charset="0"/>
              </a:rPr>
              <a:t> </a:t>
            </a:r>
            <a:r>
              <a:rPr kumimoji="1" lang="en-US" altLang="ko-KR" sz="800" smtClean="0">
                <a:latin typeface="Times New Roman" panose="02020603050405020304" pitchFamily="18" charset="0"/>
                <a:cs typeface="Times New Roman" panose="02020603050405020304" pitchFamily="18" charset="0"/>
              </a:rPr>
              <a:t>100 ký tự</a:t>
            </a:r>
            <a:endParaRPr kumimoji="1" lang="ko-KR" altLang="en-US" sz="800" dirty="0">
              <a:latin typeface="Times New Roman" panose="02020603050405020304" pitchFamily="18" charset="0"/>
              <a:cs typeface="Times New Roman" panose="02020603050405020304" pitchFamily="18" charset="0"/>
            </a:endParaRPr>
          </a:p>
        </p:txBody>
      </p:sp>
      <p:graphicFrame>
        <p:nvGraphicFramePr>
          <p:cNvPr id="52" name="표 70"/>
          <p:cNvGraphicFramePr>
            <a:graphicFrameLocks noGrp="1"/>
          </p:cNvGraphicFramePr>
          <p:nvPr/>
        </p:nvGraphicFramePr>
        <p:xfrm>
          <a:off x="7453089" y="807470"/>
          <a:ext cx="2357214" cy="16291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chọn YES thì k0 hiển thị 3 trường bên dưới.</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chọn NO thì hiển thị 3 trường bên dưới.</a:t>
                      </a: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Mặc định là hoàn toàn bộ </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Giá trị của quy định hoàn sẽ thay đổi tùy theo phạm vi đc chọn. </a:t>
                      </a:r>
                      <a:endParaRPr lang="vi-VN"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bấm thêm thì thêm trường nhập ngày sử dụng, thời gian, tỷ lệ hoàn ở bên dưới</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có dù chỉ 1 trường đc nhập thì k0 đc xóa</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Tham khảo giao diện: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dirty="0">
                          <a:latin typeface="Times New Roman" panose="02020603050405020304" pitchFamily="18" charset="0"/>
                          <a:cs typeface="Times New Roman" panose="02020603050405020304" pitchFamily="18" charset="0"/>
                          <a:hlinkClick r:id="rId2"/>
                        </a:rPr>
                        <a:t>https://ovenapp.io/view/hy3ezlZiSvwHWfkuN5Cn6Pd12N2i0nMP/Q8xcP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3"/>
                  </a:ext>
                </a:extLst>
              </a:tr>
            </a:tbl>
          </a:graphicData>
        </a:graphic>
      </p:graphicFrame>
      <p:cxnSp>
        <p:nvCxnSpPr>
          <p:cNvPr id="53" name="직선 화살표 연결선 5"/>
          <p:cNvCxnSpPr/>
          <p:nvPr/>
        </p:nvCxnSpPr>
        <p:spPr>
          <a:xfrm>
            <a:off x="4718689" y="2749243"/>
            <a:ext cx="954391" cy="751765"/>
          </a:xfrm>
          <a:prstGeom prst="curved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직선 화살표 연결선 5"/>
          <p:cNvCxnSpPr/>
          <p:nvPr/>
        </p:nvCxnSpPr>
        <p:spPr>
          <a:xfrm>
            <a:off x="4718689" y="2749243"/>
            <a:ext cx="882383" cy="1970887"/>
          </a:xfrm>
          <a:prstGeom prst="curved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7" name="타원 87"/>
          <p:cNvSpPr/>
          <p:nvPr/>
        </p:nvSpPr>
        <p:spPr>
          <a:xfrm>
            <a:off x="2344764" y="2334477"/>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65" name="타원 88"/>
          <p:cNvSpPr/>
          <p:nvPr/>
        </p:nvSpPr>
        <p:spPr>
          <a:xfrm>
            <a:off x="2338172" y="2608009"/>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66" name="직사각형 60"/>
          <p:cNvSpPr/>
          <p:nvPr/>
        </p:nvSpPr>
        <p:spPr>
          <a:xfrm>
            <a:off x="6958678" y="4363735"/>
            <a:ext cx="491516" cy="20908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61"/>
          <p:cNvSpPr/>
          <p:nvPr/>
        </p:nvSpPr>
        <p:spPr>
          <a:xfrm>
            <a:off x="9392125" y="4371050"/>
            <a:ext cx="411245"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-Xóa</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직사각형 60"/>
          <p:cNvSpPr/>
          <p:nvPr/>
        </p:nvSpPr>
        <p:spPr>
          <a:xfrm>
            <a:off x="7901098" y="4363962"/>
            <a:ext cx="491516" cy="20908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60"/>
          <p:cNvSpPr/>
          <p:nvPr/>
        </p:nvSpPr>
        <p:spPr>
          <a:xfrm>
            <a:off x="8844589" y="4363962"/>
            <a:ext cx="491516" cy="20908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3" name="직사각형 60"/>
          <p:cNvSpPr/>
          <p:nvPr/>
        </p:nvSpPr>
        <p:spPr>
          <a:xfrm>
            <a:off x="6964778" y="4684380"/>
            <a:ext cx="491516" cy="20908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61"/>
          <p:cNvSpPr/>
          <p:nvPr/>
        </p:nvSpPr>
        <p:spPr>
          <a:xfrm>
            <a:off x="9398225" y="4691695"/>
            <a:ext cx="507775" cy="209794"/>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직사각형 60"/>
          <p:cNvSpPr/>
          <p:nvPr/>
        </p:nvSpPr>
        <p:spPr>
          <a:xfrm>
            <a:off x="7907198" y="4684607"/>
            <a:ext cx="491516" cy="20908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직사각형 60"/>
          <p:cNvSpPr/>
          <p:nvPr/>
        </p:nvSpPr>
        <p:spPr>
          <a:xfrm>
            <a:off x="8850689" y="4684607"/>
            <a:ext cx="491516" cy="20908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타원 89"/>
          <p:cNvSpPr/>
          <p:nvPr/>
        </p:nvSpPr>
        <p:spPr>
          <a:xfrm>
            <a:off x="9747134" y="4610388"/>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phẩm&gt;Hình ảnh</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136" name="표 135"/>
          <p:cNvGraphicFramePr>
            <a:graphicFrameLocks noGrp="1"/>
          </p:cNvGraphicFramePr>
          <p:nvPr/>
        </p:nvGraphicFramePr>
        <p:xfrm>
          <a:off x="1342610" y="4067462"/>
          <a:ext cx="5900517" cy="1943218"/>
        </p:xfrm>
        <a:graphic>
          <a:graphicData uri="http://schemas.openxmlformats.org/drawingml/2006/table">
            <a:tbl>
              <a:tblPr firstRow="1" bandRow="1">
                <a:tableStyleId>{5C22544A-7EE6-4342-B048-85BDC9FD1C3A}</a:tableStyleId>
              </a:tblPr>
              <a:tblGrid>
                <a:gridCol w="5900517">
                  <a:extLst>
                    <a:ext uri="{9D8B030D-6E8A-4147-A177-3AD203B41FA5}">
                      <a16:colId xmlns:a16="http://schemas.microsoft.com/office/drawing/2014/main" val="20000"/>
                    </a:ext>
                  </a:extLst>
                </a:gridCol>
              </a:tblGrid>
              <a:tr h="0">
                <a:tc>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hình chi tiết sản 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r h="1699378">
                <a:tc>
                  <a:txBody>
                    <a:bodyPr/>
                    <a:lstStyle/>
                    <a:p>
                      <a:pPr algn="ctr" latinLnBrk="1"/>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57" name="표 56"/>
          <p:cNvGraphicFramePr>
            <a:graphicFrameLocks noGrp="1"/>
          </p:cNvGraphicFramePr>
          <p:nvPr/>
        </p:nvGraphicFramePr>
        <p:xfrm>
          <a:off x="1371118" y="1844824"/>
          <a:ext cx="5900517" cy="2088232"/>
        </p:xfrm>
        <a:graphic>
          <a:graphicData uri="http://schemas.openxmlformats.org/drawingml/2006/table">
            <a:tbl>
              <a:tblPr firstRow="1" bandRow="1">
                <a:tableStyleId>{5C22544A-7EE6-4342-B048-85BDC9FD1C3A}</a:tableStyleId>
              </a:tblPr>
              <a:tblGrid>
                <a:gridCol w="759544">
                  <a:extLst>
                    <a:ext uri="{9D8B030D-6E8A-4147-A177-3AD203B41FA5}">
                      <a16:colId xmlns:a16="http://schemas.microsoft.com/office/drawing/2014/main" val="20000"/>
                    </a:ext>
                  </a:extLst>
                </a:gridCol>
                <a:gridCol w="5140973">
                  <a:extLst>
                    <a:ext uri="{9D8B030D-6E8A-4147-A177-3AD203B41FA5}">
                      <a16:colId xmlns:a16="http://schemas.microsoft.com/office/drawing/2014/main" val="20001"/>
                    </a:ext>
                  </a:extLst>
                </a:gridCol>
              </a:tblGrid>
              <a:tr h="0">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Hình</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sản 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24312">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Chính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diện</a:t>
                      </a:r>
                      <a:r>
                        <a:rPr lang="ko-KR" altLang="en-US"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1" dirty="0">
                          <a:solidFill>
                            <a:srgbClr val="FF0000"/>
                          </a:solidFill>
                          <a:latin typeface="Times New Roman" panose="02020603050405020304" pitchFamily="18" charset="0"/>
                          <a:ea typeface="Nanum Gothic" panose="020D0604000000000000" pitchFamily="34" charset="-127"/>
                          <a:cs typeface="Times New Roman" panose="02020603050405020304" pitchFamily="18" charset="0"/>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0040">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Hình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ngang</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0040">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Hình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dọc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5" name="직사각형 54"/>
          <p:cNvSpPr/>
          <p:nvPr/>
        </p:nvSpPr>
        <p:spPr>
          <a:xfrm>
            <a:off x="4390203" y="2151131"/>
            <a:ext cx="1012402" cy="808855"/>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57"/>
          <p:cNvSpPr/>
          <p:nvPr/>
        </p:nvSpPr>
        <p:spPr>
          <a:xfrm>
            <a:off x="2205709" y="3269103"/>
            <a:ext cx="992436" cy="23691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직사각형 61"/>
          <p:cNvSpPr/>
          <p:nvPr/>
        </p:nvSpPr>
        <p:spPr>
          <a:xfrm>
            <a:off x="2202670" y="3633165"/>
            <a:ext cx="992436" cy="23691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4" name="그룹 5"/>
          <p:cNvGrpSpPr/>
          <p:nvPr/>
        </p:nvGrpSpPr>
        <p:grpSpPr>
          <a:xfrm>
            <a:off x="2205709" y="2151132"/>
            <a:ext cx="1012402" cy="808855"/>
            <a:chOff x="2476184" y="2239081"/>
            <a:chExt cx="1012402" cy="808855"/>
          </a:xfrm>
        </p:grpSpPr>
        <p:sp>
          <p:nvSpPr>
            <p:cNvPr id="28" name="직사각형 27"/>
            <p:cNvSpPr/>
            <p:nvPr/>
          </p:nvSpPr>
          <p:spPr>
            <a:xfrm>
              <a:off x="2476184" y="2239081"/>
              <a:ext cx="1012402" cy="80885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5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img</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64"/>
            <p:cNvSpPr/>
            <p:nvPr/>
          </p:nvSpPr>
          <p:spPr>
            <a:xfrm>
              <a:off x="2576736" y="2864237"/>
              <a:ext cx="637336" cy="164848"/>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700">
                  <a:solidFill>
                    <a:schemeClr val="tx1"/>
                  </a:solidFill>
                  <a:latin typeface="Times New Roman" panose="02020603050405020304" pitchFamily="18" charset="0"/>
                  <a:cs typeface="Times New Roman" panose="02020603050405020304" pitchFamily="18" charset="0"/>
                </a:rPr>
                <a:t>●</a:t>
              </a:r>
              <a:r>
                <a:rPr lang="ko-KR" altLang="en-US" sz="700" b="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Hình đại diện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67"/>
            <p:cNvSpPr/>
            <p:nvPr/>
          </p:nvSpPr>
          <p:spPr>
            <a:xfrm>
              <a:off x="3244493" y="2868059"/>
              <a:ext cx="213672" cy="164848"/>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grpSp>
        <p:nvGrpSpPr>
          <p:cNvPr id="5" name="그룹 72"/>
          <p:cNvGrpSpPr/>
          <p:nvPr/>
        </p:nvGrpSpPr>
        <p:grpSpPr>
          <a:xfrm>
            <a:off x="3248532" y="2156710"/>
            <a:ext cx="1012402" cy="808855"/>
            <a:chOff x="2476184" y="2239081"/>
            <a:chExt cx="1012402" cy="808855"/>
          </a:xfrm>
        </p:grpSpPr>
        <p:sp>
          <p:nvSpPr>
            <p:cNvPr id="74" name="직사각형 73"/>
            <p:cNvSpPr/>
            <p:nvPr/>
          </p:nvSpPr>
          <p:spPr>
            <a:xfrm>
              <a:off x="2476184" y="2239081"/>
              <a:ext cx="1012402" cy="80885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5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img</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74"/>
            <p:cNvSpPr/>
            <p:nvPr/>
          </p:nvSpPr>
          <p:spPr>
            <a:xfrm>
              <a:off x="2576736" y="2864237"/>
              <a:ext cx="637336" cy="164848"/>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70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7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Hình đại diện</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75"/>
            <p:cNvSpPr/>
            <p:nvPr/>
          </p:nvSpPr>
          <p:spPr>
            <a:xfrm>
              <a:off x="3244493" y="2868059"/>
              <a:ext cx="213672" cy="164848"/>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7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graphicFrame>
        <p:nvGraphicFramePr>
          <p:cNvPr id="77" name="표 76"/>
          <p:cNvGraphicFramePr>
            <a:graphicFrameLocks noGrp="1"/>
          </p:cNvGraphicFramePr>
          <p:nvPr/>
        </p:nvGraphicFramePr>
        <p:xfrm>
          <a:off x="1551443" y="4656677"/>
          <a:ext cx="5538469" cy="1877760"/>
        </p:xfrm>
        <a:graphic>
          <a:graphicData uri="http://schemas.openxmlformats.org/drawingml/2006/table">
            <a:tbl>
              <a:tblPr firstRow="1" bandRow="1">
                <a:tableStyleId>{5C22544A-7EE6-4342-B048-85BDC9FD1C3A}</a:tableStyleId>
              </a:tblPr>
              <a:tblGrid>
                <a:gridCol w="305537">
                  <a:extLst>
                    <a:ext uri="{9D8B030D-6E8A-4147-A177-3AD203B41FA5}">
                      <a16:colId xmlns:a16="http://schemas.microsoft.com/office/drawing/2014/main" val="20000"/>
                    </a:ext>
                  </a:extLst>
                </a:gridCol>
                <a:gridCol w="646290">
                  <a:extLst>
                    <a:ext uri="{9D8B030D-6E8A-4147-A177-3AD203B41FA5}">
                      <a16:colId xmlns:a16="http://schemas.microsoft.com/office/drawing/2014/main" val="20001"/>
                    </a:ext>
                  </a:extLst>
                </a:gridCol>
                <a:gridCol w="712177">
                  <a:extLst>
                    <a:ext uri="{9D8B030D-6E8A-4147-A177-3AD203B41FA5}">
                      <a16:colId xmlns:a16="http://schemas.microsoft.com/office/drawing/2014/main" val="20002"/>
                    </a:ext>
                  </a:extLst>
                </a:gridCol>
                <a:gridCol w="3874465">
                  <a:extLst>
                    <a:ext uri="{9D8B030D-6E8A-4147-A177-3AD203B41FA5}">
                      <a16:colId xmlns:a16="http://schemas.microsoft.com/office/drawing/2014/main" val="20003"/>
                    </a:ext>
                  </a:extLst>
                </a:gridCol>
              </a:tblGrid>
              <a:tr h="248144">
                <a:tc>
                  <a:txBody>
                    <a:bodyPr/>
                    <a:lstStyle/>
                    <a:p>
                      <a:pPr algn="ctr" latinLnBrk="1"/>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Thứ</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tự hiển thị</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Thumbnail</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latinLnBrk="1"/>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9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hình</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2000">
                <a:tc>
                  <a:txBody>
                    <a:bodyPr/>
                    <a:lstStyle/>
                    <a:p>
                      <a:pPr algn="ctr" latinLnBrk="1"/>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ko-KR" sz="900" dirty="0">
                          <a:latin typeface="Times New Roman" panose="02020603050405020304" pitchFamily="18" charset="0"/>
                          <a:ea typeface="Nanum Gothic" panose="020D0604000000000000" pitchFamily="34" charset="-127"/>
                          <a:cs typeface="Times New Roman" panose="02020603050405020304" pitchFamily="18" charset="0"/>
                        </a:rPr>
                        <a:t>1</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9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Hình</a:t>
                      </a:r>
                      <a:r>
                        <a:rPr lang="en-US" altLang="ko-KR" sz="9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9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1.jpg</a:t>
                      </a:r>
                      <a:endPar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200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ko-KR" sz="900" dirty="0">
                          <a:latin typeface="Times New Roman" panose="02020603050405020304" pitchFamily="18" charset="0"/>
                          <a:ea typeface="Nanum Gothic" panose="020D0604000000000000" pitchFamily="34" charset="-127"/>
                          <a:cs typeface="Times New Roman" panose="02020603050405020304" pitchFamily="18" charset="0"/>
                        </a:rPr>
                        <a:t>2</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latinLnBrk="1"/>
                      <a:r>
                        <a:rPr lang="en-US" altLang="ko-KR" sz="9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Hình</a:t>
                      </a:r>
                      <a:r>
                        <a:rPr lang="en-US" altLang="ko-KR" sz="9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2</a:t>
                      </a:r>
                      <a:r>
                        <a:rPr lang="en-US" altLang="ko-KR" sz="9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2.png</a:t>
                      </a:r>
                      <a:endPar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2000">
                <a:tc>
                  <a:txBody>
                    <a:bodyPr/>
                    <a:lstStyle/>
                    <a:p>
                      <a:pPr algn="ct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이미지</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6.png</a:t>
                      </a:r>
                      <a:endPar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2000">
                <a:tc>
                  <a:txBody>
                    <a:bodyPr/>
                    <a:lstStyle/>
                    <a:p>
                      <a:pPr algn="ctr" latinLnBrk="1"/>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이미지</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8.png</a:t>
                      </a:r>
                      <a:endPar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2000">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이미지</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9.png</a:t>
                      </a:r>
                      <a:endParaRPr lang="ko-KR" altLang="en-US" sz="9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52000">
                <a:tc>
                  <a:txBody>
                    <a:bodyPr/>
                    <a:lstStyle/>
                    <a:p>
                      <a:pPr algn="ct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ko-KR" sz="900" dirty="0">
                          <a:latin typeface="Times New Roman" panose="02020603050405020304" pitchFamily="18" charset="0"/>
                          <a:ea typeface="Nanum Gothic" panose="020D0604000000000000" pitchFamily="34" charset="-127"/>
                          <a:cs typeface="Times New Roman" panose="02020603050405020304" pitchFamily="18" charset="0"/>
                        </a:rPr>
                        <a:t>10</a:t>
                      </a:r>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이미지</a:t>
                      </a:r>
                      <a:r>
                        <a:rPr lang="en-US" altLang="ko-KR"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10.png</a:t>
                      </a:r>
                      <a:endParaRPr lang="ko-KR" altLang="en-US" sz="9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180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pSp>
        <p:nvGrpSpPr>
          <p:cNvPr id="6" name="그룹 78"/>
          <p:cNvGrpSpPr/>
          <p:nvPr/>
        </p:nvGrpSpPr>
        <p:grpSpPr>
          <a:xfrm>
            <a:off x="2667087" y="5085570"/>
            <a:ext cx="429697" cy="144000"/>
            <a:chOff x="2707210" y="4420600"/>
            <a:chExt cx="4394926" cy="941514"/>
          </a:xfrm>
        </p:grpSpPr>
        <p:sp>
          <p:nvSpPr>
            <p:cNvPr id="80" name="직사각형 79"/>
            <p:cNvSpPr/>
            <p:nvPr/>
          </p:nvSpPr>
          <p:spPr>
            <a:xfrm>
              <a:off x="2707210" y="4421081"/>
              <a:ext cx="4394926" cy="9410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image</a:t>
              </a:r>
              <a:endParaRPr lang="ko-KR" altLang="en-US" sz="1100" dirty="0">
                <a:solidFill>
                  <a:schemeClr val="tx1"/>
                </a:solidFill>
                <a:latin typeface="Times New Roman" panose="02020603050405020304" pitchFamily="18" charset="0"/>
                <a:cs typeface="Times New Roman" panose="02020603050405020304" pitchFamily="18" charset="0"/>
              </a:endParaRPr>
            </a:p>
          </p:txBody>
        </p:sp>
        <p:cxnSp>
          <p:nvCxnSpPr>
            <p:cNvPr id="81" name="직선 연결선 129"/>
            <p:cNvCxnSpPr/>
            <p:nvPr/>
          </p:nvCxnSpPr>
          <p:spPr>
            <a:xfrm>
              <a:off x="2707210" y="4421080"/>
              <a:ext cx="4394926" cy="94103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2" name="직선 연결선 130"/>
            <p:cNvCxnSpPr/>
            <p:nvPr/>
          </p:nvCxnSpPr>
          <p:spPr>
            <a:xfrm flipV="1">
              <a:off x="2707210" y="4420600"/>
              <a:ext cx="4394926" cy="94151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7" name="그룹 82"/>
          <p:cNvGrpSpPr/>
          <p:nvPr/>
        </p:nvGrpSpPr>
        <p:grpSpPr>
          <a:xfrm>
            <a:off x="2667087" y="5337421"/>
            <a:ext cx="429697" cy="144000"/>
            <a:chOff x="2707210" y="4420600"/>
            <a:chExt cx="4394926" cy="941514"/>
          </a:xfrm>
        </p:grpSpPr>
        <p:sp>
          <p:nvSpPr>
            <p:cNvPr id="84" name="직사각형 83"/>
            <p:cNvSpPr/>
            <p:nvPr/>
          </p:nvSpPr>
          <p:spPr>
            <a:xfrm>
              <a:off x="2707210" y="4421081"/>
              <a:ext cx="4394926" cy="9410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image</a:t>
              </a:r>
              <a:endParaRPr lang="ko-KR" altLang="en-US" sz="1100" dirty="0">
                <a:solidFill>
                  <a:schemeClr val="tx1"/>
                </a:solidFill>
                <a:latin typeface="Times New Roman" panose="02020603050405020304" pitchFamily="18" charset="0"/>
                <a:cs typeface="Times New Roman" panose="02020603050405020304" pitchFamily="18" charset="0"/>
              </a:endParaRPr>
            </a:p>
          </p:txBody>
        </p:sp>
        <p:cxnSp>
          <p:nvCxnSpPr>
            <p:cNvPr id="85" name="직선 연결선 141"/>
            <p:cNvCxnSpPr/>
            <p:nvPr/>
          </p:nvCxnSpPr>
          <p:spPr>
            <a:xfrm>
              <a:off x="2707210" y="4421080"/>
              <a:ext cx="4394926" cy="94103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6" name="직선 연결선 142"/>
            <p:cNvCxnSpPr/>
            <p:nvPr/>
          </p:nvCxnSpPr>
          <p:spPr>
            <a:xfrm flipV="1">
              <a:off x="2707210" y="4420600"/>
              <a:ext cx="4394926" cy="94151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8" name="그룹 103"/>
          <p:cNvGrpSpPr/>
          <p:nvPr/>
        </p:nvGrpSpPr>
        <p:grpSpPr>
          <a:xfrm>
            <a:off x="2667087" y="6087771"/>
            <a:ext cx="429697" cy="144000"/>
            <a:chOff x="2707210" y="4420600"/>
            <a:chExt cx="4394926" cy="941514"/>
          </a:xfrm>
        </p:grpSpPr>
        <p:sp>
          <p:nvSpPr>
            <p:cNvPr id="105" name="직사각형 104"/>
            <p:cNvSpPr/>
            <p:nvPr/>
          </p:nvSpPr>
          <p:spPr>
            <a:xfrm>
              <a:off x="2707210" y="4421081"/>
              <a:ext cx="4394926" cy="9410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image</a:t>
              </a:r>
              <a:endParaRPr lang="ko-KR" altLang="en-US" sz="1100" dirty="0">
                <a:solidFill>
                  <a:schemeClr val="tx1"/>
                </a:solidFill>
                <a:latin typeface="Times New Roman" panose="02020603050405020304" pitchFamily="18" charset="0"/>
                <a:cs typeface="Times New Roman" panose="02020603050405020304" pitchFamily="18" charset="0"/>
              </a:endParaRPr>
            </a:p>
          </p:txBody>
        </p:sp>
        <p:cxnSp>
          <p:nvCxnSpPr>
            <p:cNvPr id="106" name="직선 연결선 161"/>
            <p:cNvCxnSpPr/>
            <p:nvPr/>
          </p:nvCxnSpPr>
          <p:spPr>
            <a:xfrm>
              <a:off x="2707210" y="4421080"/>
              <a:ext cx="4394926" cy="94103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62"/>
            <p:cNvCxnSpPr/>
            <p:nvPr/>
          </p:nvCxnSpPr>
          <p:spPr>
            <a:xfrm flipV="1">
              <a:off x="2707210" y="4420600"/>
              <a:ext cx="4394926" cy="94151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9" name="그룹 107"/>
          <p:cNvGrpSpPr/>
          <p:nvPr/>
        </p:nvGrpSpPr>
        <p:grpSpPr>
          <a:xfrm>
            <a:off x="2667087" y="6339622"/>
            <a:ext cx="429697" cy="144000"/>
            <a:chOff x="2707210" y="4420600"/>
            <a:chExt cx="4394926" cy="941514"/>
          </a:xfrm>
        </p:grpSpPr>
        <p:sp>
          <p:nvSpPr>
            <p:cNvPr id="109" name="직사각형 108"/>
            <p:cNvSpPr/>
            <p:nvPr/>
          </p:nvSpPr>
          <p:spPr>
            <a:xfrm>
              <a:off x="2707210" y="4421081"/>
              <a:ext cx="4394926" cy="9410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image</a:t>
              </a:r>
              <a:endParaRPr lang="ko-KR" altLang="en-US" sz="1100" dirty="0">
                <a:solidFill>
                  <a:schemeClr val="tx1"/>
                </a:solidFill>
                <a:latin typeface="Times New Roman" panose="02020603050405020304" pitchFamily="18" charset="0"/>
                <a:cs typeface="Times New Roman" panose="02020603050405020304" pitchFamily="18" charset="0"/>
              </a:endParaRPr>
            </a:p>
          </p:txBody>
        </p:sp>
        <p:cxnSp>
          <p:nvCxnSpPr>
            <p:cNvPr id="110" name="직선 연결선 165"/>
            <p:cNvCxnSpPr/>
            <p:nvPr/>
          </p:nvCxnSpPr>
          <p:spPr>
            <a:xfrm>
              <a:off x="2707210" y="4421080"/>
              <a:ext cx="4394926" cy="94103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1" name="직선 연결선 166"/>
            <p:cNvCxnSpPr/>
            <p:nvPr/>
          </p:nvCxnSpPr>
          <p:spPr>
            <a:xfrm flipV="1">
              <a:off x="2707210" y="4420600"/>
              <a:ext cx="4394926" cy="94151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115"/>
          <p:cNvGrpSpPr/>
          <p:nvPr/>
        </p:nvGrpSpPr>
        <p:grpSpPr>
          <a:xfrm>
            <a:off x="2667087" y="5835920"/>
            <a:ext cx="429697" cy="144000"/>
            <a:chOff x="2707210" y="4420600"/>
            <a:chExt cx="4394926" cy="941514"/>
          </a:xfrm>
        </p:grpSpPr>
        <p:sp>
          <p:nvSpPr>
            <p:cNvPr id="117" name="직사각형 116"/>
            <p:cNvSpPr/>
            <p:nvPr/>
          </p:nvSpPr>
          <p:spPr>
            <a:xfrm>
              <a:off x="2707210" y="4421081"/>
              <a:ext cx="4394926" cy="9410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image</a:t>
              </a:r>
              <a:endParaRPr lang="ko-KR" altLang="en-US" sz="1100" dirty="0">
                <a:solidFill>
                  <a:schemeClr val="tx1"/>
                </a:solidFill>
                <a:latin typeface="Times New Roman" panose="02020603050405020304" pitchFamily="18" charset="0"/>
                <a:cs typeface="Times New Roman" panose="02020603050405020304" pitchFamily="18" charset="0"/>
              </a:endParaRPr>
            </a:p>
          </p:txBody>
        </p:sp>
        <p:cxnSp>
          <p:nvCxnSpPr>
            <p:cNvPr id="118" name="직선 연결선 173"/>
            <p:cNvCxnSpPr/>
            <p:nvPr/>
          </p:nvCxnSpPr>
          <p:spPr>
            <a:xfrm>
              <a:off x="2707210" y="4421080"/>
              <a:ext cx="4394926" cy="94103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9" name="직선 연결선 174"/>
            <p:cNvCxnSpPr/>
            <p:nvPr/>
          </p:nvCxnSpPr>
          <p:spPr>
            <a:xfrm flipV="1">
              <a:off x="2707210" y="4420600"/>
              <a:ext cx="4394926" cy="94151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1" name="그룹 119"/>
          <p:cNvGrpSpPr/>
          <p:nvPr/>
        </p:nvGrpSpPr>
        <p:grpSpPr>
          <a:xfrm>
            <a:off x="2941460" y="5418589"/>
            <a:ext cx="1254382" cy="1376324"/>
            <a:chOff x="2823709" y="3463094"/>
            <a:chExt cx="1446450" cy="1587064"/>
          </a:xfrm>
        </p:grpSpPr>
        <p:sp>
          <p:nvSpPr>
            <p:cNvPr id="121" name="직사각형 120"/>
            <p:cNvSpPr/>
            <p:nvPr/>
          </p:nvSpPr>
          <p:spPr>
            <a:xfrm>
              <a:off x="2925743" y="3604702"/>
              <a:ext cx="1344416" cy="144545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grpSp>
          <p:nvGrpSpPr>
            <p:cNvPr id="12" name="그룹 121"/>
            <p:cNvGrpSpPr/>
            <p:nvPr/>
          </p:nvGrpSpPr>
          <p:grpSpPr>
            <a:xfrm>
              <a:off x="3028499" y="3691550"/>
              <a:ext cx="1165782" cy="1264783"/>
              <a:chOff x="2707210" y="4420600"/>
              <a:chExt cx="4394926" cy="941514"/>
            </a:xfrm>
          </p:grpSpPr>
          <p:sp>
            <p:nvSpPr>
              <p:cNvPr id="124" name="직사각형 123"/>
              <p:cNvSpPr/>
              <p:nvPr/>
            </p:nvSpPr>
            <p:spPr>
              <a:xfrm>
                <a:off x="2707210" y="4421081"/>
                <a:ext cx="4394926" cy="9410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err="1">
                    <a:solidFill>
                      <a:schemeClr val="tx1"/>
                    </a:solidFill>
                    <a:latin typeface="Times New Roman" panose="02020603050405020304" pitchFamily="18" charset="0"/>
                    <a:cs typeface="Times New Roman" panose="02020603050405020304" pitchFamily="18" charset="0"/>
                  </a:rPr>
                  <a:t>Img</a:t>
                </a:r>
                <a:endParaRPr lang="en-US" altLang="ko-KR" sz="1050" b="1" dirty="0">
                  <a:solidFill>
                    <a:schemeClr val="tx1"/>
                  </a:solidFill>
                  <a:latin typeface="Times New Roman" panose="02020603050405020304" pitchFamily="18" charset="0"/>
                  <a:cs typeface="Times New Roman" panose="02020603050405020304" pitchFamily="18" charset="0"/>
                </a:endParaRPr>
              </a:p>
              <a:p>
                <a:pPr algn="ctr"/>
                <a:r>
                  <a:rPr lang="en-US" altLang="ko-KR" sz="1050" b="1" smtClean="0">
                    <a:solidFill>
                      <a:schemeClr val="tx1"/>
                    </a:solidFill>
                    <a:latin typeface="Times New Roman" panose="02020603050405020304" pitchFamily="18" charset="0"/>
                    <a:cs typeface="Times New Roman" panose="02020603050405020304" pitchFamily="18" charset="0"/>
                  </a:rPr>
                  <a:t>(Size gốc)</a:t>
                </a:r>
                <a:endParaRPr lang="ko-KR" altLang="en-US" sz="1400" b="1" dirty="0">
                  <a:solidFill>
                    <a:schemeClr val="tx1"/>
                  </a:solidFill>
                  <a:latin typeface="Times New Roman" panose="02020603050405020304" pitchFamily="18" charset="0"/>
                  <a:cs typeface="Times New Roman" panose="02020603050405020304" pitchFamily="18" charset="0"/>
                </a:endParaRPr>
              </a:p>
            </p:txBody>
          </p:sp>
          <p:cxnSp>
            <p:nvCxnSpPr>
              <p:cNvPr id="125" name="직선 연결선 180"/>
              <p:cNvCxnSpPr/>
              <p:nvPr/>
            </p:nvCxnSpPr>
            <p:spPr>
              <a:xfrm>
                <a:off x="2707210" y="4421080"/>
                <a:ext cx="4394926" cy="94103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6" name="직선 연결선 181"/>
              <p:cNvCxnSpPr/>
              <p:nvPr/>
            </p:nvCxnSpPr>
            <p:spPr>
              <a:xfrm flipV="1">
                <a:off x="2707210" y="4420600"/>
                <a:ext cx="4394926" cy="941513"/>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23" name="아래쪽 화살표 178"/>
            <p:cNvSpPr/>
            <p:nvPr/>
          </p:nvSpPr>
          <p:spPr>
            <a:xfrm rot="8203096">
              <a:off x="2823709" y="3463094"/>
              <a:ext cx="180597" cy="248125"/>
            </a:xfrm>
            <a:prstGeom prst="downArrow">
              <a:avLst>
                <a:gd name="adj1" fmla="val 19565"/>
                <a:gd name="adj2" fmla="val 95910"/>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grpSp>
      <p:sp>
        <p:nvSpPr>
          <p:cNvPr id="132" name="직사각형 131"/>
          <p:cNvSpPr/>
          <p:nvPr/>
        </p:nvSpPr>
        <p:spPr>
          <a:xfrm>
            <a:off x="1978658" y="5061134"/>
            <a:ext cx="396000" cy="19287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1   V</a:t>
            </a:r>
            <a:endParaRPr lang="ko-KR" altLang="en-US" sz="900" dirty="0">
              <a:solidFill>
                <a:schemeClr val="tx1"/>
              </a:solidFill>
              <a:latin typeface="Times New Roman" panose="02020603050405020304" pitchFamily="18" charset="0"/>
              <a:cs typeface="Times New Roman" panose="02020603050405020304" pitchFamily="18" charset="0"/>
            </a:endParaRPr>
          </a:p>
        </p:txBody>
      </p:sp>
      <p:sp>
        <p:nvSpPr>
          <p:cNvPr id="133" name="직사각형 132"/>
          <p:cNvSpPr/>
          <p:nvPr/>
        </p:nvSpPr>
        <p:spPr>
          <a:xfrm>
            <a:off x="1978658" y="5313492"/>
            <a:ext cx="396000" cy="19287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   V</a:t>
            </a:r>
            <a:endParaRPr lang="ko-KR" altLang="en-US" sz="900" dirty="0">
              <a:solidFill>
                <a:schemeClr val="tx1"/>
              </a:solidFill>
              <a:latin typeface="Times New Roman" panose="02020603050405020304" pitchFamily="18" charset="0"/>
              <a:cs typeface="Times New Roman" panose="02020603050405020304" pitchFamily="18" charset="0"/>
            </a:endParaRPr>
          </a:p>
        </p:txBody>
      </p:sp>
      <p:sp>
        <p:nvSpPr>
          <p:cNvPr id="135" name="직사각형 134"/>
          <p:cNvSpPr/>
          <p:nvPr/>
        </p:nvSpPr>
        <p:spPr>
          <a:xfrm>
            <a:off x="1978658" y="6319748"/>
            <a:ext cx="396000" cy="19287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10  V</a:t>
            </a:r>
            <a:endParaRPr lang="ko-KR" altLang="en-US" sz="900" dirty="0">
              <a:solidFill>
                <a:schemeClr val="tx1"/>
              </a:solidFill>
              <a:latin typeface="Times New Roman" panose="02020603050405020304" pitchFamily="18" charset="0"/>
              <a:cs typeface="Times New Roman" panose="02020603050405020304" pitchFamily="18" charset="0"/>
            </a:endParaRPr>
          </a:p>
        </p:txBody>
      </p:sp>
      <p:sp>
        <p:nvSpPr>
          <p:cNvPr id="138" name="직사각형 137"/>
          <p:cNvSpPr/>
          <p:nvPr/>
        </p:nvSpPr>
        <p:spPr>
          <a:xfrm>
            <a:off x="1978658" y="6067391"/>
            <a:ext cx="396000" cy="19287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9   V</a:t>
            </a:r>
            <a:endParaRPr lang="ko-KR" altLang="en-US" sz="900" dirty="0">
              <a:solidFill>
                <a:schemeClr val="tx1"/>
              </a:solidFill>
              <a:latin typeface="Times New Roman" panose="02020603050405020304" pitchFamily="18" charset="0"/>
              <a:cs typeface="Times New Roman" panose="02020603050405020304" pitchFamily="18" charset="0"/>
            </a:endParaRPr>
          </a:p>
        </p:txBody>
      </p:sp>
      <p:sp>
        <p:nvSpPr>
          <p:cNvPr id="140" name="직사각형 139"/>
          <p:cNvSpPr/>
          <p:nvPr/>
        </p:nvSpPr>
        <p:spPr>
          <a:xfrm>
            <a:off x="1978658" y="5815033"/>
            <a:ext cx="396000" cy="19287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8   V</a:t>
            </a:r>
            <a:endParaRPr lang="ko-KR" altLang="en-US" sz="900" dirty="0">
              <a:solidFill>
                <a:schemeClr val="tx1"/>
              </a:solidFill>
              <a:latin typeface="Times New Roman" panose="02020603050405020304" pitchFamily="18" charset="0"/>
              <a:cs typeface="Times New Roman" panose="02020603050405020304" pitchFamily="18" charset="0"/>
            </a:endParaRPr>
          </a:p>
        </p:txBody>
      </p:sp>
      <p:sp>
        <p:nvSpPr>
          <p:cNvPr id="147" name="모서리가 둥근 직사각형 146"/>
          <p:cNvSpPr/>
          <p:nvPr/>
        </p:nvSpPr>
        <p:spPr>
          <a:xfrm>
            <a:off x="6799133" y="6592260"/>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tục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8" name="모서리가 둥근 직사각형 147"/>
          <p:cNvSpPr/>
          <p:nvPr/>
        </p:nvSpPr>
        <p:spPr>
          <a:xfrm>
            <a:off x="5673080" y="6592259"/>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9" name="모서리가 둥근 직사각형 148"/>
          <p:cNvSpPr/>
          <p:nvPr/>
        </p:nvSpPr>
        <p:spPr>
          <a:xfrm>
            <a:off x="6249144" y="6590026"/>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Quay lại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 name="직사각형 2"/>
          <p:cNvSpPr/>
          <p:nvPr/>
        </p:nvSpPr>
        <p:spPr>
          <a:xfrm>
            <a:off x="1495766" y="4411696"/>
            <a:ext cx="2061783" cy="215444"/>
          </a:xfrm>
          <a:prstGeom prst="rect">
            <a:avLst/>
          </a:prstGeom>
        </p:spPr>
        <p:txBody>
          <a:bodyPr wrap="none">
            <a:spAutoFit/>
          </a:bodyPr>
          <a:lstStyle/>
          <a:p>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Đăng bằng hình</a:t>
            </a:r>
            <a:r>
              <a:rPr lang="ko-KR" altLang="en-US" sz="800" smtClean="0">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Đăng bằng HTML</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7" name="타원 136"/>
          <p:cNvSpPr/>
          <p:nvPr/>
        </p:nvSpPr>
        <p:spPr>
          <a:xfrm>
            <a:off x="4007740" y="1420013"/>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1" name="타원 140"/>
          <p:cNvSpPr/>
          <p:nvPr/>
        </p:nvSpPr>
        <p:spPr>
          <a:xfrm>
            <a:off x="5174357" y="1418878"/>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4</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타원 87"/>
          <p:cNvSpPr/>
          <p:nvPr/>
        </p:nvSpPr>
        <p:spPr>
          <a:xfrm>
            <a:off x="2100457" y="2149110"/>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89" name="표 88"/>
          <p:cNvGraphicFramePr>
            <a:graphicFrameLocks noGrp="1"/>
          </p:cNvGraphicFramePr>
          <p:nvPr/>
        </p:nvGraphicFramePr>
        <p:xfrm>
          <a:off x="7453089" y="807470"/>
          <a:ext cx="2357214" cy="203904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đúng size đã upload</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Hình đại diện chỉ thiết lập ở hình chính diện.</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Chỉ có thể thiết lập 1 hình.</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bằng hình thumbnail, khi click vào có thể xem size gốc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Tham khảo giao diện: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dirty="0">
                          <a:latin typeface="Times New Roman" panose="02020603050405020304" pitchFamily="18" charset="0"/>
                          <a:cs typeface="Times New Roman" panose="02020603050405020304" pitchFamily="18" charset="0"/>
                          <a:hlinkClick r:id="rId2"/>
                        </a:rPr>
                        <a:t>https://ovenapp.io/view/tiQeRpxKtR4ynV4Bkk89wLkHxkycIGSr/HpGnZ</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90" name="TextBox 89"/>
          <p:cNvSpPr txBox="1"/>
          <p:nvPr/>
        </p:nvSpPr>
        <p:spPr>
          <a:xfrm>
            <a:off x="2143176" y="3001848"/>
            <a:ext cx="2023311" cy="215444"/>
          </a:xfrm>
          <a:prstGeom prst="rect">
            <a:avLst/>
          </a:prstGeom>
          <a:noFill/>
        </p:spPr>
        <p:txBody>
          <a:bodyPr wrap="none" rtlCol="0">
            <a:spAutoFit/>
          </a:bodyPr>
          <a:lstStyle/>
          <a:p>
            <a:r>
              <a:rPr kumimoji="1" lang="en-US" altLang="ko-KR" sz="800" smtClean="0">
                <a:latin typeface="Times New Roman" panose="02020603050405020304" pitchFamily="18" charset="0"/>
                <a:cs typeface="Times New Roman" panose="02020603050405020304" pitchFamily="18" charset="0"/>
              </a:rPr>
              <a:t>Khuyến nghị: </a:t>
            </a:r>
            <a:r>
              <a:rPr kumimoji="1" lang="en-US" altLang="ko-KR" sz="800" dirty="0">
                <a:latin typeface="Times New Roman" panose="02020603050405020304" pitchFamily="18" charset="0"/>
                <a:cs typeface="Times New Roman" panose="02020603050405020304" pitchFamily="18" charset="0"/>
              </a:rPr>
              <a:t>460*460 </a:t>
            </a:r>
            <a:r>
              <a:rPr kumimoji="1" lang="en-US" altLang="ko-KR" sz="800">
                <a:latin typeface="Times New Roman" panose="02020603050405020304" pitchFamily="18" charset="0"/>
                <a:cs typeface="Times New Roman" panose="02020603050405020304" pitchFamily="18" charset="0"/>
              </a:rPr>
              <a:t>/ </a:t>
            </a:r>
            <a:r>
              <a:rPr kumimoji="1" lang="en-US" altLang="ko-KR" sz="800" smtClean="0">
                <a:latin typeface="Times New Roman" panose="02020603050405020304" pitchFamily="18" charset="0"/>
                <a:cs typeface="Times New Roman" panose="02020603050405020304" pitchFamily="18" charset="0"/>
              </a:rPr>
              <a:t>Tối thiểu: </a:t>
            </a:r>
            <a:r>
              <a:rPr kumimoji="1" lang="en-US" altLang="ko-KR" sz="800" dirty="0">
                <a:latin typeface="Times New Roman" panose="02020603050405020304" pitchFamily="18" charset="0"/>
                <a:cs typeface="Times New Roman" panose="02020603050405020304" pitchFamily="18" charset="0"/>
              </a:rPr>
              <a:t>200*200 </a:t>
            </a:r>
            <a:endParaRPr kumimoji="1" lang="ko-KR" altLang="en-US" sz="800" dirty="0">
              <a:latin typeface="Times New Roman" panose="02020603050405020304" pitchFamily="18" charset="0"/>
              <a:cs typeface="Times New Roman" panose="02020603050405020304" pitchFamily="18" charset="0"/>
            </a:endParaRPr>
          </a:p>
        </p:txBody>
      </p:sp>
      <p:sp>
        <p:nvSpPr>
          <p:cNvPr id="91" name="타원 90"/>
          <p:cNvSpPr/>
          <p:nvPr/>
        </p:nvSpPr>
        <p:spPr>
          <a:xfrm>
            <a:off x="2280815" y="267861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92" name="타원 91"/>
          <p:cNvSpPr/>
          <p:nvPr/>
        </p:nvSpPr>
        <p:spPr>
          <a:xfrm>
            <a:off x="2610788" y="4970998"/>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153"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54"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13" name="그룹 46"/>
          <p:cNvGrpSpPr/>
          <p:nvPr/>
        </p:nvGrpSpPr>
        <p:grpSpPr>
          <a:xfrm>
            <a:off x="1267854" y="665402"/>
            <a:ext cx="1931523" cy="207884"/>
            <a:chOff x="1267854" y="665402"/>
            <a:chExt cx="1931523" cy="207884"/>
          </a:xfrm>
        </p:grpSpPr>
        <p:sp>
          <p:nvSpPr>
            <p:cNvPr id="156"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14" name="그룹 57"/>
            <p:cNvGrpSpPr/>
            <p:nvPr/>
          </p:nvGrpSpPr>
          <p:grpSpPr>
            <a:xfrm>
              <a:off x="2995760" y="665405"/>
              <a:ext cx="203617" cy="207881"/>
              <a:chOff x="2939843" y="5447120"/>
              <a:chExt cx="272722" cy="278432"/>
            </a:xfrm>
          </p:grpSpPr>
          <p:sp>
            <p:nvSpPr>
              <p:cNvPr id="158"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159"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160" name="직선 연결선 145"/>
              <p:cNvCxnSpPr>
                <a:stCxn id="15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61"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2"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63"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86" name="타원 142"/>
          <p:cNvSpPr/>
          <p:nvPr/>
        </p:nvSpPr>
        <p:spPr>
          <a:xfrm>
            <a:off x="1459640" y="141887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87" name="타원 144"/>
          <p:cNvSpPr/>
          <p:nvPr/>
        </p:nvSpPr>
        <p:spPr>
          <a:xfrm>
            <a:off x="2622207" y="141887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88" name="TextBox 187"/>
          <p:cNvSpPr txBox="1"/>
          <p:nvPr/>
        </p:nvSpPr>
        <p:spPr>
          <a:xfrm>
            <a:off x="2831579" y="1430832"/>
            <a:ext cx="1221809"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bán/mua</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0" name="TextBox 189"/>
          <p:cNvSpPr txBox="1"/>
          <p:nvPr/>
        </p:nvSpPr>
        <p:spPr>
          <a:xfrm>
            <a:off x="4090996" y="1430832"/>
            <a:ext cx="1082220"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hủy/hoàn tiền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2" name="TextBox 191"/>
          <p:cNvSpPr txBox="1"/>
          <p:nvPr/>
        </p:nvSpPr>
        <p:spPr>
          <a:xfrm>
            <a:off x="5371528" y="1430832"/>
            <a:ext cx="697627" cy="246221"/>
          </a:xfrm>
          <a:prstGeom prst="rect">
            <a:avLst/>
          </a:prstGeom>
          <a:noFill/>
        </p:spPr>
        <p:txBody>
          <a:bodyPr wrap="none" rtlCol="0">
            <a:spAutoFit/>
          </a:bodyPr>
          <a:lstStyle/>
          <a:p>
            <a:pPr algn="ctr"/>
            <a:r>
              <a:rPr kumimoji="1" lang="en-US" altLang="ko-KR" sz="1000" b="1" dirty="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10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3" name="타원 151"/>
          <p:cNvSpPr/>
          <p:nvPr/>
        </p:nvSpPr>
        <p:spPr>
          <a:xfrm>
            <a:off x="6153894" y="141887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4" name="TextBox 193"/>
          <p:cNvSpPr txBox="1"/>
          <p:nvPr/>
        </p:nvSpPr>
        <p:spPr>
          <a:xfrm>
            <a:off x="6369411" y="1430832"/>
            <a:ext cx="1186543"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5" name="TextBox 194"/>
          <p:cNvSpPr txBox="1"/>
          <p:nvPr/>
        </p:nvSpPr>
        <p:spPr>
          <a:xfrm>
            <a:off x="1450551" y="1430832"/>
            <a:ext cx="1394026"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96" name="TextBox 195"/>
          <p:cNvSpPr txBox="1"/>
          <p:nvPr/>
        </p:nvSpPr>
        <p:spPr>
          <a:xfrm>
            <a:off x="1280592" y="1039962"/>
            <a:ext cx="1481496"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sản phẩm&gt;Vé</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직사각형 36"/>
          <p:cNvSpPr/>
          <p:nvPr/>
        </p:nvSpPr>
        <p:spPr>
          <a:xfrm>
            <a:off x="128462" y="262372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3" name="직사각형 38"/>
          <p:cNvSpPr/>
          <p:nvPr/>
        </p:nvSpPr>
        <p:spPr>
          <a:xfrm>
            <a:off x="128457" y="29257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5" name="직사각형 37"/>
          <p:cNvSpPr/>
          <p:nvPr/>
        </p:nvSpPr>
        <p:spPr>
          <a:xfrm>
            <a:off x="128461" y="36179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2" name="직사각형 39"/>
          <p:cNvSpPr/>
          <p:nvPr/>
        </p:nvSpPr>
        <p:spPr>
          <a:xfrm>
            <a:off x="128457" y="3265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8" name="직사각형 35"/>
          <p:cNvSpPr/>
          <p:nvPr/>
        </p:nvSpPr>
        <p:spPr>
          <a:xfrm>
            <a:off x="128463" y="230903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9"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phẩm&gt;Thông tin sử dụng</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타원 95"/>
          <p:cNvSpPr/>
          <p:nvPr/>
        </p:nvSpPr>
        <p:spPr>
          <a:xfrm>
            <a:off x="5170165" y="1333153"/>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타원 97"/>
          <p:cNvSpPr/>
          <p:nvPr/>
        </p:nvSpPr>
        <p:spPr>
          <a:xfrm>
            <a:off x="6163419" y="1351056"/>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5</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63" name="표 62"/>
          <p:cNvGraphicFramePr>
            <a:graphicFrameLocks noGrp="1"/>
          </p:cNvGraphicFramePr>
          <p:nvPr/>
        </p:nvGraphicFramePr>
        <p:xfrm>
          <a:off x="7453089" y="807470"/>
          <a:ext cx="2357214" cy="121344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Tham khảo giao diện: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dirty="0">
                          <a:latin typeface="Times New Roman" panose="02020603050405020304" pitchFamily="18" charset="0"/>
                          <a:cs typeface="Times New Roman" panose="02020603050405020304" pitchFamily="18" charset="0"/>
                          <a:hlinkClick r:id="rId2"/>
                        </a:rPr>
                        <a:t>https://ovenapp.io/view/gEe0CAMfEMrej8dROCJhqaUm3MZFGrWn/TpjsO</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83"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86"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94"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99"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104" name="직선 연결선 145"/>
              <p:cNvCxnSpPr>
                <a:stCxn id="9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05"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1"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2"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7" name="타원 136"/>
          <p:cNvSpPr/>
          <p:nvPr/>
        </p:nvSpPr>
        <p:spPr>
          <a:xfrm>
            <a:off x="4007740" y="133428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9" name="타원 142"/>
          <p:cNvSpPr/>
          <p:nvPr/>
        </p:nvSpPr>
        <p:spPr>
          <a:xfrm>
            <a:off x="1459640" y="1333153"/>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0" name="타원 144"/>
          <p:cNvSpPr/>
          <p:nvPr/>
        </p:nvSpPr>
        <p:spPr>
          <a:xfrm>
            <a:off x="2622207" y="1333153"/>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1" name="TextBox 140"/>
          <p:cNvSpPr txBox="1"/>
          <p:nvPr/>
        </p:nvSpPr>
        <p:spPr>
          <a:xfrm>
            <a:off x="2831579" y="1345107"/>
            <a:ext cx="1221809" cy="246221"/>
          </a:xfrm>
          <a:prstGeom prst="rect">
            <a:avLst/>
          </a:prstGeom>
          <a:noFill/>
        </p:spPr>
        <p:txBody>
          <a:bodyPr wrap="non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bán/mua</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2" name="TextBox 141"/>
          <p:cNvSpPr txBox="1"/>
          <p:nvPr/>
        </p:nvSpPr>
        <p:spPr>
          <a:xfrm>
            <a:off x="4090996" y="1345107"/>
            <a:ext cx="1082220"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hủy/hoàn tiền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3" name="TextBox 142"/>
          <p:cNvSpPr txBox="1"/>
          <p:nvPr/>
        </p:nvSpPr>
        <p:spPr>
          <a:xfrm>
            <a:off x="5371528" y="1345107"/>
            <a:ext cx="697627" cy="246221"/>
          </a:xfrm>
          <a:prstGeom prst="rect">
            <a:avLst/>
          </a:prstGeom>
          <a:noFill/>
        </p:spPr>
        <p:txBody>
          <a:bodyPr wrap="none" rtlCol="0">
            <a:spAutoFit/>
          </a:bodyPr>
          <a:lstStyle/>
          <a:p>
            <a:pPr algn="ctr"/>
            <a:r>
              <a:rPr kumimoji="1" lang="en-US" altLang="ko-KR" sz="1000" b="1" dirty="0" smtClean="0">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5" name="TextBox 144"/>
          <p:cNvSpPr txBox="1"/>
          <p:nvPr/>
        </p:nvSpPr>
        <p:spPr>
          <a:xfrm>
            <a:off x="6369412" y="1345107"/>
            <a:ext cx="1186542" cy="246221"/>
          </a:xfrm>
          <a:prstGeom prst="rect">
            <a:avLst/>
          </a:prstGeom>
          <a:noFill/>
        </p:spPr>
        <p:txBody>
          <a:bodyPr wrap="none" rtlCol="0">
            <a:spAutoFit/>
          </a:bodyPr>
          <a:lstStyle/>
          <a:p>
            <a:pPr algn="ctr"/>
            <a:r>
              <a:rPr kumimoji="1" lang="en-US" altLang="ko-KR" sz="1000" b="1" dirty="0"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sử dụng</a:t>
            </a:r>
            <a:endParaRPr kumimoji="1" lang="ko-KR" altLang="en-US" sz="10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6" name="TextBox 145"/>
          <p:cNvSpPr txBox="1"/>
          <p:nvPr/>
        </p:nvSpPr>
        <p:spPr>
          <a:xfrm>
            <a:off x="1450551" y="1345107"/>
            <a:ext cx="1394026" cy="400110"/>
          </a:xfrm>
          <a:prstGeom prst="rect">
            <a:avLst/>
          </a:prstGeom>
          <a:noFill/>
        </p:spPr>
        <p:txBody>
          <a:bodyPr wrap="square"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sản phẩm/Option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47" name="TextBox 146"/>
          <p:cNvSpPr txBox="1"/>
          <p:nvPr/>
        </p:nvSpPr>
        <p:spPr>
          <a:xfrm>
            <a:off x="1280592" y="1039962"/>
            <a:ext cx="1481496"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sản phẩm&gt;Vé</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직사각형 36"/>
          <p:cNvSpPr/>
          <p:nvPr/>
        </p:nvSpPr>
        <p:spPr>
          <a:xfrm>
            <a:off x="128462" y="261641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38"/>
          <p:cNvSpPr/>
          <p:nvPr/>
        </p:nvSpPr>
        <p:spPr>
          <a:xfrm>
            <a:off x="128457" y="291845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37"/>
          <p:cNvSpPr/>
          <p:nvPr/>
        </p:nvSpPr>
        <p:spPr>
          <a:xfrm>
            <a:off x="128461" y="36106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39"/>
          <p:cNvSpPr/>
          <p:nvPr/>
        </p:nvSpPr>
        <p:spPr>
          <a:xfrm>
            <a:off x="128457" y="325847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35"/>
          <p:cNvSpPr/>
          <p:nvPr/>
        </p:nvSpPr>
        <p:spPr>
          <a:xfrm>
            <a:off x="128463" y="230171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57" name="그림 2"/>
          <p:cNvPicPr>
            <a:picLocks noChangeAspect="1"/>
          </p:cNvPicPr>
          <p:nvPr/>
        </p:nvPicPr>
        <p:blipFill>
          <a:blip r:embed="rId3" cstate="print"/>
          <a:stretch>
            <a:fillRect/>
          </a:stretch>
        </p:blipFill>
        <p:spPr>
          <a:xfrm>
            <a:off x="1443879" y="1813269"/>
            <a:ext cx="4625591" cy="3118286"/>
          </a:xfrm>
          <a:prstGeom prst="rect">
            <a:avLst/>
          </a:prstGeom>
        </p:spPr>
      </p:pic>
      <p:sp>
        <p:nvSpPr>
          <p:cNvPr id="65" name="TextBox 64"/>
          <p:cNvSpPr txBox="1"/>
          <p:nvPr/>
        </p:nvSpPr>
        <p:spPr>
          <a:xfrm>
            <a:off x="1526384" y="1856700"/>
            <a:ext cx="1080120" cy="153888"/>
          </a:xfrm>
          <a:prstGeom prst="rect">
            <a:avLst/>
          </a:prstGeom>
          <a:solidFill>
            <a:schemeClr val="bg1"/>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TextBox 70"/>
          <p:cNvSpPr txBox="1"/>
          <p:nvPr/>
        </p:nvSpPr>
        <p:spPr>
          <a:xfrm>
            <a:off x="1540438" y="3227608"/>
            <a:ext cx="720080" cy="153888"/>
          </a:xfrm>
          <a:prstGeom prst="rect">
            <a:avLst/>
          </a:prstGeom>
          <a:solidFill>
            <a:schemeClr val="bg1"/>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Điều kiện vé</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TextBox 71"/>
          <p:cNvSpPr txBox="1"/>
          <p:nvPr/>
        </p:nvSpPr>
        <p:spPr>
          <a:xfrm>
            <a:off x="1630584" y="2094508"/>
            <a:ext cx="864096" cy="123111"/>
          </a:xfrm>
          <a:prstGeom prst="rect">
            <a:avLst/>
          </a:prstGeom>
          <a:solidFill>
            <a:schemeClr val="bg1">
              <a:lumMod val="95000"/>
            </a:schemeClr>
          </a:solidFill>
        </p:spPr>
        <p:txBody>
          <a:bodyPr wrap="square" lIns="0" tIns="0" rIns="0" bIns="0" rtlCol="0">
            <a:spAutoFit/>
          </a:bodyPr>
          <a:lstStyle/>
          <a:p>
            <a:pPr algn="ct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Đặt ngay khi mua</a:t>
            </a:r>
            <a:endParaRPr kumimoji="1"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TextBox 72"/>
          <p:cNvSpPr txBox="1"/>
          <p:nvPr/>
        </p:nvSpPr>
        <p:spPr>
          <a:xfrm>
            <a:off x="1660728" y="2452892"/>
            <a:ext cx="864096" cy="123111"/>
          </a:xfrm>
          <a:prstGeom prst="rect">
            <a:avLst/>
          </a:prstGeom>
          <a:solidFill>
            <a:schemeClr val="bg1">
              <a:lumMod val="95000"/>
            </a:schemeClr>
          </a:solidFill>
        </p:spPr>
        <p:txBody>
          <a:bodyPr wrap="square" lIns="0" tIns="0" rIns="0" bIns="0" rtlCol="0">
            <a:spAutoFit/>
          </a:bodyPr>
          <a:lstStyle/>
          <a:p>
            <a:pPr algn="ct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Sử dụng ngay</a:t>
            </a:r>
            <a:endParaRPr kumimoji="1"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TextBox 86"/>
          <p:cNvSpPr txBox="1"/>
          <p:nvPr/>
        </p:nvSpPr>
        <p:spPr>
          <a:xfrm>
            <a:off x="1633936" y="2782600"/>
            <a:ext cx="864096" cy="246221"/>
          </a:xfrm>
          <a:prstGeom prst="rect">
            <a:avLst/>
          </a:prstGeom>
          <a:solidFill>
            <a:schemeClr val="bg1">
              <a:lumMod val="95000"/>
            </a:schemeClr>
          </a:solidFill>
        </p:spPr>
        <p:txBody>
          <a:bodyPr wrap="square" lIns="0" tIns="0" rIns="0" bIns="0" rtlCol="0">
            <a:spAutoFit/>
          </a:bodyPr>
          <a:lstStyle/>
          <a:p>
            <a:pPr algn="ct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Phương thức xử lý sử dụng xong</a:t>
            </a:r>
            <a:endParaRPr kumimoji="1"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TextBox 87"/>
          <p:cNvSpPr txBox="1"/>
          <p:nvPr/>
        </p:nvSpPr>
        <p:spPr>
          <a:xfrm>
            <a:off x="1595416" y="3556272"/>
            <a:ext cx="936104" cy="246221"/>
          </a:xfrm>
          <a:prstGeom prst="rect">
            <a:avLst/>
          </a:prstGeom>
          <a:solidFill>
            <a:schemeClr val="bg1">
              <a:lumMod val="95000"/>
            </a:schemeClr>
          </a:solidFill>
        </p:spPr>
        <p:txBody>
          <a:bodyPr wrap="square" lIns="0" tIns="0" rIns="0" bIns="0" rtlCol="0">
            <a:spAutoFit/>
          </a:bodyPr>
          <a:lstStyle/>
          <a:p>
            <a:pPr algn="ct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Sử dụng vé ngoài/</a:t>
            </a:r>
          </a:p>
          <a:p>
            <a:pPr algn="ct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Loại hình</a:t>
            </a:r>
            <a:endParaRPr kumimoji="1"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TextBox 88"/>
          <p:cNvSpPr txBox="1"/>
          <p:nvPr/>
        </p:nvSpPr>
        <p:spPr>
          <a:xfrm>
            <a:off x="1593744" y="3933056"/>
            <a:ext cx="936104" cy="123111"/>
          </a:xfrm>
          <a:prstGeom prst="rect">
            <a:avLst/>
          </a:prstGeom>
          <a:solidFill>
            <a:schemeClr val="bg1">
              <a:lumMod val="95000"/>
            </a:schemeClr>
          </a:solidFill>
        </p:spPr>
        <p:txBody>
          <a:bodyPr wrap="square" lIns="0" tIns="0" rIns="0" bIns="0" rtlCol="0">
            <a:spAutoFit/>
          </a:bodyPr>
          <a:lstStyle/>
          <a:p>
            <a:pPr algn="ctr"/>
            <a:r>
              <a:rPr kumimoji="1" lang="en-US" altLang="ko-KR" sz="800" b="1" smtClean="0">
                <a:solidFill>
                  <a:srgbClr val="FF0000"/>
                </a:solidFill>
                <a:latin typeface="Times New Roman" panose="02020603050405020304" pitchFamily="18" charset="0"/>
                <a:ea typeface="Nanum Gothic" panose="020D0604000000000000" pitchFamily="34" charset="-127"/>
                <a:cs typeface="Times New Roman" panose="02020603050405020304" pitchFamily="18" charset="0"/>
              </a:rPr>
              <a:t>*</a:t>
            </a: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Cách cung cấp vé</a:t>
            </a:r>
            <a:endParaRPr kumimoji="1"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TextBox 89"/>
          <p:cNvSpPr txBox="1"/>
          <p:nvPr/>
        </p:nvSpPr>
        <p:spPr>
          <a:xfrm>
            <a:off x="1580344" y="4318216"/>
            <a:ext cx="936104" cy="123111"/>
          </a:xfrm>
          <a:prstGeom prst="rect">
            <a:avLst/>
          </a:prstGeom>
          <a:solidFill>
            <a:schemeClr val="bg1">
              <a:lumMod val="95000"/>
            </a:schemeClr>
          </a:solidFill>
        </p:spPr>
        <p:txBody>
          <a:bodyPr wrap="square" lIns="0" tIns="0" rIns="0" bIns="0" rtlCol="0">
            <a:spAutoFit/>
          </a:bodyPr>
          <a:lstStyle/>
          <a:p>
            <a:pPr algn="ct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Ngày giao tiêu chuẩn</a:t>
            </a:r>
            <a:endParaRPr kumimoji="1"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TextBox 90"/>
          <p:cNvSpPr txBox="1"/>
          <p:nvPr/>
        </p:nvSpPr>
        <p:spPr>
          <a:xfrm>
            <a:off x="1585368" y="4636408"/>
            <a:ext cx="936104" cy="123111"/>
          </a:xfrm>
          <a:prstGeom prst="rect">
            <a:avLst/>
          </a:prstGeom>
          <a:solidFill>
            <a:schemeClr val="bg1">
              <a:lumMod val="95000"/>
            </a:schemeClr>
          </a:solidFill>
        </p:spPr>
        <p:txBody>
          <a:bodyPr wrap="square" lIns="0" tIns="0" rIns="0" bIns="0" rtlCol="0">
            <a:spAutoFit/>
          </a:bodyPr>
          <a:lstStyle/>
          <a:p>
            <a:pPr algn="ctr"/>
            <a:r>
              <a:rPr kumimoji="1"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Giao trong bao lâu</a:t>
            </a:r>
            <a:endParaRPr kumimoji="1"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TextBox 91"/>
          <p:cNvSpPr txBox="1"/>
          <p:nvPr/>
        </p:nvSpPr>
        <p:spPr>
          <a:xfrm>
            <a:off x="2762616" y="2815233"/>
            <a:ext cx="705008"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Xử lý khi soát vé</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TextBox 92"/>
          <p:cNvSpPr txBox="1"/>
          <p:nvPr/>
        </p:nvSpPr>
        <p:spPr>
          <a:xfrm>
            <a:off x="4351816" y="2809392"/>
            <a:ext cx="1060024"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Xử lý khi xác nhận mua</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TextBox 94"/>
          <p:cNvSpPr txBox="1"/>
          <p:nvPr/>
        </p:nvSpPr>
        <p:spPr>
          <a:xfrm>
            <a:off x="2737496" y="3490960"/>
            <a:ext cx="736816" cy="123111"/>
          </a:xfrm>
          <a:prstGeom prst="rect">
            <a:avLst/>
          </a:prstGeom>
          <a:solidFill>
            <a:schemeClr val="bg1"/>
          </a:solidFill>
        </p:spPr>
        <p:txBody>
          <a:bodyPr wrap="square" lIns="0" tIns="0" rIns="0" bIns="0" rtlCol="0">
            <a:spAutoFit/>
          </a:bodyPr>
          <a:lstStyle/>
          <a:p>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Sử dụng vé ngoài</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TextBox 96"/>
          <p:cNvSpPr txBox="1"/>
          <p:nvPr/>
        </p:nvSpPr>
        <p:spPr>
          <a:xfrm>
            <a:off x="2720752" y="3697745"/>
            <a:ext cx="158417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loại hình sử dụng vé ngoài</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TextBox 99"/>
          <p:cNvSpPr txBox="1"/>
          <p:nvPr/>
        </p:nvSpPr>
        <p:spPr>
          <a:xfrm>
            <a:off x="2652096" y="2512992"/>
            <a:ext cx="1312880"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Có thể sử dụng ngay khi mua</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TextBox 100"/>
          <p:cNvSpPr txBox="1"/>
          <p:nvPr/>
        </p:nvSpPr>
        <p:spPr>
          <a:xfrm>
            <a:off x="2672184" y="4005064"/>
            <a:ext cx="736816" cy="123111"/>
          </a:xfrm>
          <a:prstGeom prst="rect">
            <a:avLst/>
          </a:prstGeom>
          <a:solidFill>
            <a:schemeClr val="bg1"/>
          </a:solidFill>
        </p:spPr>
        <p:txBody>
          <a:bodyPr wrap="square" lIns="0" tIns="0" rIns="0" bIns="0" rtlCol="0">
            <a:spAutoFit/>
          </a:bodyPr>
          <a:lstStyle/>
          <a:p>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Vui lòng chọn</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TextBox 101"/>
          <p:cNvSpPr txBox="1"/>
          <p:nvPr/>
        </p:nvSpPr>
        <p:spPr>
          <a:xfrm>
            <a:off x="2685584" y="4330745"/>
            <a:ext cx="736816" cy="123111"/>
          </a:xfrm>
          <a:prstGeom prst="rect">
            <a:avLst/>
          </a:prstGeom>
          <a:solidFill>
            <a:schemeClr val="bg1"/>
          </a:solidFill>
        </p:spPr>
        <p:txBody>
          <a:bodyPr wrap="square" lIns="0" tIns="0" rIns="0" bIns="0" rtlCol="0">
            <a:spAutoFit/>
          </a:bodyPr>
          <a:lstStyle/>
          <a:p>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Vui lòng chọn</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TextBox 102"/>
          <p:cNvSpPr txBox="1"/>
          <p:nvPr/>
        </p:nvSpPr>
        <p:spPr>
          <a:xfrm>
            <a:off x="2685584" y="4650601"/>
            <a:ext cx="736816" cy="123111"/>
          </a:xfrm>
          <a:prstGeom prst="rect">
            <a:avLst/>
          </a:prstGeom>
          <a:solidFill>
            <a:schemeClr val="bg1"/>
          </a:solidFill>
        </p:spPr>
        <p:txBody>
          <a:bodyPr wrap="square" lIns="0" tIns="0" rIns="0" bIns="0" rtlCol="0">
            <a:spAutoFit/>
          </a:bodyPr>
          <a:lstStyle/>
          <a:p>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Vui lòng chọn</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phẩm&gt;Thông tin sử dụng</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3" name="그림 2"/>
          <p:cNvPicPr>
            <a:picLocks noChangeAspect="1"/>
          </p:cNvPicPr>
          <p:nvPr/>
        </p:nvPicPr>
        <p:blipFill>
          <a:blip r:embed="rId2" cstate="print"/>
          <a:stretch>
            <a:fillRect/>
          </a:stretch>
        </p:blipFill>
        <p:spPr>
          <a:xfrm>
            <a:off x="1472196" y="1272124"/>
            <a:ext cx="5619803" cy="4788353"/>
          </a:xfrm>
          <a:prstGeom prst="rect">
            <a:avLst/>
          </a:prstGeom>
        </p:spPr>
      </p:pic>
      <p:graphicFrame>
        <p:nvGraphicFramePr>
          <p:cNvPr id="39" name="표 38"/>
          <p:cNvGraphicFramePr>
            <a:graphicFrameLocks noGrp="1"/>
          </p:cNvGraphicFramePr>
          <p:nvPr/>
        </p:nvGraphicFramePr>
        <p:xfrm>
          <a:off x="7453089" y="807470"/>
          <a:ext cx="2357214" cy="4377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Tham khảo giao diện: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dirty="0">
                          <a:latin typeface="Times New Roman" panose="02020603050405020304" pitchFamily="18" charset="0"/>
                          <a:cs typeface="Times New Roman" panose="02020603050405020304" pitchFamily="18" charset="0"/>
                          <a:hlinkClick r:id="rId3"/>
                        </a:rPr>
                        <a:t>https://ovenapp.io/view/4U8vI9wuwmJrVGxaM1ZvbMueRveKAjSP/YigfM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bl>
          </a:graphicData>
        </a:graphic>
      </p:graphicFrame>
      <p:sp>
        <p:nvSpPr>
          <p:cNvPr id="56"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7"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58" name="그룹 46"/>
          <p:cNvGrpSpPr/>
          <p:nvPr/>
        </p:nvGrpSpPr>
        <p:grpSpPr>
          <a:xfrm>
            <a:off x="1267854" y="665402"/>
            <a:ext cx="1931523" cy="207884"/>
            <a:chOff x="1267854" y="665402"/>
            <a:chExt cx="1931523" cy="207884"/>
          </a:xfrm>
        </p:grpSpPr>
        <p:sp>
          <p:nvSpPr>
            <p:cNvPr id="59"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60" name="그룹 57"/>
            <p:cNvGrpSpPr/>
            <p:nvPr/>
          </p:nvGrpSpPr>
          <p:grpSpPr>
            <a:xfrm>
              <a:off x="2995760" y="665405"/>
              <a:ext cx="203617" cy="207881"/>
              <a:chOff x="2939843" y="5447120"/>
              <a:chExt cx="272722" cy="278432"/>
            </a:xfrm>
          </p:grpSpPr>
          <p:sp>
            <p:nvSpPr>
              <p:cNvPr id="65"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66"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68" name="직선 연결선 145"/>
              <p:cNvCxnSpPr>
                <a:stCxn id="66"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9"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36"/>
          <p:cNvSpPr/>
          <p:nvPr/>
        </p:nvSpPr>
        <p:spPr>
          <a:xfrm>
            <a:off x="128462" y="261641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38"/>
          <p:cNvSpPr/>
          <p:nvPr/>
        </p:nvSpPr>
        <p:spPr>
          <a:xfrm>
            <a:off x="128457" y="291845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직사각형 37"/>
          <p:cNvSpPr/>
          <p:nvPr/>
        </p:nvSpPr>
        <p:spPr>
          <a:xfrm>
            <a:off x="128461" y="36106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39"/>
          <p:cNvSpPr/>
          <p:nvPr/>
        </p:nvSpPr>
        <p:spPr>
          <a:xfrm>
            <a:off x="128457" y="325847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직사각형 35"/>
          <p:cNvSpPr/>
          <p:nvPr/>
        </p:nvSpPr>
        <p:spPr>
          <a:xfrm>
            <a:off x="128463" y="230171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모서리가 둥근 직사각형 146"/>
          <p:cNvSpPr/>
          <p:nvPr/>
        </p:nvSpPr>
        <p:spPr>
          <a:xfrm>
            <a:off x="6799133" y="6461961"/>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tục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모서리가 둥근 직사각형 147"/>
          <p:cNvSpPr/>
          <p:nvPr/>
        </p:nvSpPr>
        <p:spPr>
          <a:xfrm>
            <a:off x="5673080" y="6461960"/>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모서리가 둥근 직사각형 148"/>
          <p:cNvSpPr/>
          <p:nvPr/>
        </p:nvSpPr>
        <p:spPr>
          <a:xfrm>
            <a:off x="6249144" y="6459727"/>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Quay lại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TextBox 86"/>
          <p:cNvSpPr txBox="1"/>
          <p:nvPr/>
        </p:nvSpPr>
        <p:spPr>
          <a:xfrm>
            <a:off x="1539084" y="1341438"/>
            <a:ext cx="1338384" cy="153888"/>
          </a:xfrm>
          <a:prstGeom prst="rect">
            <a:avLst/>
          </a:prstGeom>
          <a:solidFill>
            <a:schemeClr val="bg1"/>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doanh nghiệp</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TextBox 87"/>
          <p:cNvSpPr txBox="1"/>
          <p:nvPr/>
        </p:nvSpPr>
        <p:spPr>
          <a:xfrm>
            <a:off x="1749772" y="1653804"/>
            <a:ext cx="322908" cy="153888"/>
          </a:xfrm>
          <a:prstGeom prst="rect">
            <a:avLst/>
          </a:prstGeom>
          <a:solidFill>
            <a:schemeClr val="bg1"/>
          </a:solidFill>
        </p:spPr>
        <p:txBody>
          <a:bodyPr wrap="square" lIns="0" tIns="0" rIns="0" bIns="0"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DN 1</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TextBox 88"/>
          <p:cNvSpPr txBox="1"/>
          <p:nvPr/>
        </p:nvSpPr>
        <p:spPr>
          <a:xfrm>
            <a:off x="2176634" y="1671118"/>
            <a:ext cx="868530" cy="153888"/>
          </a:xfrm>
          <a:prstGeom prst="rect">
            <a:avLst/>
          </a:prstGeom>
          <a:solidFill>
            <a:schemeClr val="bg1">
              <a:lumMod val="8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Load thông tin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TextBox 89"/>
          <p:cNvSpPr txBox="1"/>
          <p:nvPr/>
        </p:nvSpPr>
        <p:spPr>
          <a:xfrm>
            <a:off x="1953168" y="2003472"/>
            <a:ext cx="648072"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Tên DN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TextBox 90"/>
          <p:cNvSpPr txBox="1"/>
          <p:nvPr/>
        </p:nvSpPr>
        <p:spPr>
          <a:xfrm>
            <a:off x="1947230" y="2278876"/>
            <a:ext cx="648072"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Địa chỉ DN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TextBox 91"/>
          <p:cNvSpPr txBox="1"/>
          <p:nvPr/>
        </p:nvSpPr>
        <p:spPr>
          <a:xfrm>
            <a:off x="1796524" y="2561912"/>
            <a:ext cx="936104" cy="307777"/>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Thời gian làm việc</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TextBox 95"/>
          <p:cNvSpPr txBox="1"/>
          <p:nvPr/>
        </p:nvSpPr>
        <p:spPr>
          <a:xfrm>
            <a:off x="1904160" y="3072215"/>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Ngày nghỉ</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TextBox 96"/>
          <p:cNvSpPr txBox="1"/>
          <p:nvPr/>
        </p:nvSpPr>
        <p:spPr>
          <a:xfrm>
            <a:off x="1893036" y="3491136"/>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SĐT bàn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TextBox 97"/>
          <p:cNvSpPr txBox="1"/>
          <p:nvPr/>
        </p:nvSpPr>
        <p:spPr>
          <a:xfrm>
            <a:off x="1898222" y="3849672"/>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SĐT tư vấn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TextBox 98"/>
          <p:cNvSpPr txBox="1"/>
          <p:nvPr/>
        </p:nvSpPr>
        <p:spPr>
          <a:xfrm>
            <a:off x="1898222" y="4144394"/>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SĐT hủy</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TextBox 99"/>
          <p:cNvSpPr txBox="1"/>
          <p:nvPr/>
        </p:nvSpPr>
        <p:spPr>
          <a:xfrm>
            <a:off x="1887850" y="4421302"/>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Hot line</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TextBox 100"/>
          <p:cNvSpPr txBox="1"/>
          <p:nvPr/>
        </p:nvSpPr>
        <p:spPr>
          <a:xfrm>
            <a:off x="1897738" y="4692462"/>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Chỗ đậu xe</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TextBox 101"/>
          <p:cNvSpPr txBox="1"/>
          <p:nvPr/>
        </p:nvSpPr>
        <p:spPr>
          <a:xfrm>
            <a:off x="3008784" y="4684952"/>
            <a:ext cx="687342" cy="138499"/>
          </a:xfrm>
          <a:prstGeom prst="rect">
            <a:avLst/>
          </a:prstGeom>
          <a:solidFill>
            <a:schemeClr val="bg1"/>
          </a:solidFill>
        </p:spPr>
        <p:txBody>
          <a:bodyPr wrap="square" lIns="0" tIns="0" rIns="0" bIns="0" rtlCol="0">
            <a:spAutoFit/>
          </a:bodyPr>
          <a:lstStyle/>
          <a:p>
            <a:pPr algn="ctr"/>
            <a:r>
              <a:rPr kumimoji="1"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K0 đc đậu xe</a:t>
            </a:r>
            <a:endParaRPr kumimoji="1"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TextBox 102"/>
          <p:cNvSpPr txBox="1"/>
          <p:nvPr/>
        </p:nvSpPr>
        <p:spPr>
          <a:xfrm>
            <a:off x="3905618" y="4680264"/>
            <a:ext cx="504056" cy="138499"/>
          </a:xfrm>
          <a:prstGeom prst="rect">
            <a:avLst/>
          </a:prstGeom>
          <a:solidFill>
            <a:schemeClr val="bg1"/>
          </a:solidFill>
        </p:spPr>
        <p:txBody>
          <a:bodyPr wrap="square" lIns="0" tIns="0" rIns="0" bIns="0" rtlCol="0">
            <a:spAutoFit/>
          </a:bodyPr>
          <a:lstStyle/>
          <a:p>
            <a:pPr algn="ctr"/>
            <a:r>
              <a:rPr kumimoji="1" lang="en-US" altLang="ko-KR" sz="900" smtClean="0">
                <a:latin typeface="Times New Roman" panose="02020603050405020304" pitchFamily="18" charset="0"/>
                <a:ea typeface="Nanum Gothic" panose="020D0604000000000000" pitchFamily="34" charset="-127"/>
                <a:cs typeface="Times New Roman" panose="02020603050405020304" pitchFamily="18" charset="0"/>
              </a:rPr>
              <a:t>Đc đậu xe</a:t>
            </a:r>
            <a:endParaRPr kumimoji="1" lang="ko-KR" altLang="en-US" sz="9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TextBox 103"/>
          <p:cNvSpPr txBox="1"/>
          <p:nvPr/>
        </p:nvSpPr>
        <p:spPr>
          <a:xfrm>
            <a:off x="4576130" y="4691484"/>
            <a:ext cx="1168958" cy="138499"/>
          </a:xfrm>
          <a:prstGeom prst="rect">
            <a:avLst/>
          </a:prstGeom>
          <a:solidFill>
            <a:schemeClr val="bg1"/>
          </a:solidFill>
        </p:spPr>
        <p:txBody>
          <a:bodyPr wrap="square" lIns="0" tIns="0" rIns="0" bIns="0" rtlCol="0">
            <a:spAutoFit/>
          </a:bodyPr>
          <a:lstStyle/>
          <a:p>
            <a:pPr algn="ctr"/>
            <a:r>
              <a:rPr kumimoji="1" lang="en-US" altLang="ko-KR" sz="9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giá gửi xe</a:t>
            </a:r>
            <a:endParaRPr kumimoji="1" lang="ko-KR" altLang="en-US" sz="9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TextBox 104"/>
          <p:cNvSpPr txBox="1"/>
          <p:nvPr/>
        </p:nvSpPr>
        <p:spPr>
          <a:xfrm>
            <a:off x="1923054" y="4965878"/>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Website</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6" name="TextBox 105"/>
          <p:cNvSpPr txBox="1"/>
          <p:nvPr/>
        </p:nvSpPr>
        <p:spPr>
          <a:xfrm>
            <a:off x="1899692" y="5264208"/>
            <a:ext cx="740340" cy="153888"/>
          </a:xfrm>
          <a:prstGeom prst="rect">
            <a:avLst/>
          </a:prstGeom>
          <a:solidFill>
            <a:schemeClr val="bg1">
              <a:lumMod val="9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Email/Fax</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7" name="TextBox 106"/>
          <p:cNvSpPr txBox="1"/>
          <p:nvPr/>
        </p:nvSpPr>
        <p:spPr>
          <a:xfrm>
            <a:off x="6082688" y="1323938"/>
            <a:ext cx="807996" cy="153888"/>
          </a:xfrm>
          <a:prstGeom prst="rect">
            <a:avLst/>
          </a:prstGeom>
          <a:solidFill>
            <a:schemeClr val="tx2">
              <a:lumMod val="60000"/>
              <a:lumOff val="40000"/>
            </a:schemeClr>
          </a:solidFill>
        </p:spPr>
        <p:txBody>
          <a:bodyPr wrap="square" lIns="0" tIns="0" rIns="0" bIns="0" rtlCol="0">
            <a:spAutoFit/>
          </a:bodyPr>
          <a:lstStyle/>
          <a:p>
            <a:pPr algn="ctr"/>
            <a:r>
              <a:rPr kumimoji="1"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Upload excel</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TextBox 107"/>
          <p:cNvSpPr txBox="1"/>
          <p:nvPr/>
        </p:nvSpPr>
        <p:spPr>
          <a:xfrm>
            <a:off x="3778432" y="5762228"/>
            <a:ext cx="807996" cy="153888"/>
          </a:xfrm>
          <a:prstGeom prst="rect">
            <a:avLst/>
          </a:prstGeom>
          <a:solidFill>
            <a:schemeClr val="tx2">
              <a:lumMod val="60000"/>
              <a:lumOff val="40000"/>
            </a:schemeClr>
          </a:solidFill>
        </p:spPr>
        <p:txBody>
          <a:bodyPr wrap="square" lIns="0" tIns="0" rIns="0" bIns="0" rtlCol="0">
            <a:spAutoFit/>
          </a:bodyPr>
          <a:lstStyle/>
          <a:p>
            <a:pPr algn="ctr"/>
            <a:r>
              <a:rPr kumimoji="1"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Thêm</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TextBox 108"/>
          <p:cNvSpPr txBox="1"/>
          <p:nvPr/>
        </p:nvSpPr>
        <p:spPr>
          <a:xfrm>
            <a:off x="2836321" y="2268482"/>
            <a:ext cx="868530" cy="153888"/>
          </a:xfrm>
          <a:prstGeom prst="rect">
            <a:avLst/>
          </a:prstGeom>
          <a:solidFill>
            <a:schemeClr val="bg1">
              <a:lumMod val="85000"/>
            </a:schemeClr>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Tìm địa chỉ</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0" name="TextBox 109"/>
          <p:cNvSpPr txBox="1"/>
          <p:nvPr/>
        </p:nvSpPr>
        <p:spPr>
          <a:xfrm>
            <a:off x="5252522" y="3867398"/>
            <a:ext cx="884356" cy="153888"/>
          </a:xfrm>
          <a:prstGeom prst="rect">
            <a:avLst/>
          </a:prstGeom>
          <a:solidFill>
            <a:schemeClr val="bg1"/>
          </a:solidFill>
        </p:spPr>
        <p:txBody>
          <a:bodyPr wrap="square" lIns="0" tIns="0" rIns="0" b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Giống SĐT bàn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1" name="TextBox 110"/>
          <p:cNvSpPr txBox="1"/>
          <p:nvPr/>
        </p:nvSpPr>
        <p:spPr>
          <a:xfrm>
            <a:off x="5239822" y="4140448"/>
            <a:ext cx="884356" cy="153888"/>
          </a:xfrm>
          <a:prstGeom prst="rect">
            <a:avLst/>
          </a:prstGeom>
          <a:solidFill>
            <a:schemeClr val="bg1"/>
          </a:solidFill>
        </p:spPr>
        <p:txBody>
          <a:bodyPr wrap="square" lIns="0" tIns="0" rIns="0" b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Giống SĐT bàn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2" name="TextBox 111"/>
          <p:cNvSpPr txBox="1"/>
          <p:nvPr/>
        </p:nvSpPr>
        <p:spPr>
          <a:xfrm>
            <a:off x="5241032" y="4426198"/>
            <a:ext cx="884356" cy="153888"/>
          </a:xfrm>
          <a:prstGeom prst="rect">
            <a:avLst/>
          </a:prstGeom>
          <a:solidFill>
            <a:schemeClr val="bg1"/>
          </a:solidFill>
        </p:spPr>
        <p:txBody>
          <a:bodyPr wrap="square" lIns="0" tIns="0" rIns="0" b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Giống SĐT bàn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Đăng sản phẩm&gt;Thông tin sử dụng</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3" name="그림 2"/>
          <p:cNvPicPr>
            <a:picLocks noChangeAspect="1"/>
          </p:cNvPicPr>
          <p:nvPr/>
        </p:nvPicPr>
        <p:blipFill>
          <a:blip r:embed="rId2" cstate="print"/>
          <a:stretch>
            <a:fillRect/>
          </a:stretch>
        </p:blipFill>
        <p:spPr>
          <a:xfrm>
            <a:off x="1523875" y="1122969"/>
            <a:ext cx="4725269" cy="5194384"/>
          </a:xfrm>
          <a:prstGeom prst="rect">
            <a:avLst/>
          </a:prstGeom>
        </p:spPr>
      </p:pic>
      <p:graphicFrame>
        <p:nvGraphicFramePr>
          <p:cNvPr id="39" name="표 38"/>
          <p:cNvGraphicFramePr>
            <a:graphicFrameLocks noGrp="1"/>
          </p:cNvGraphicFramePr>
          <p:nvPr/>
        </p:nvGraphicFramePr>
        <p:xfrm>
          <a:off x="7453089" y="807470"/>
          <a:ext cx="2357214" cy="4377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Tham khảo giao diện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dirty="0">
                          <a:latin typeface="Times New Roman" panose="02020603050405020304" pitchFamily="18" charset="0"/>
                          <a:cs typeface="Times New Roman" panose="02020603050405020304" pitchFamily="18" charset="0"/>
                          <a:hlinkClick r:id="rId3"/>
                        </a:rPr>
                        <a:t>https://ovenapp.io/view/4U8vI9wuwmJrVGxaM1ZvbMueRveKAjSP/YigfM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bl>
          </a:graphicData>
        </a:graphic>
      </p:graphicFrame>
      <p:sp>
        <p:nvSpPr>
          <p:cNvPr id="29"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0"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1" name="그룹 46"/>
          <p:cNvGrpSpPr/>
          <p:nvPr/>
        </p:nvGrpSpPr>
        <p:grpSpPr>
          <a:xfrm>
            <a:off x="1267854" y="665402"/>
            <a:ext cx="1931523" cy="207884"/>
            <a:chOff x="1267854" y="665402"/>
            <a:chExt cx="1931523" cy="207884"/>
          </a:xfrm>
        </p:grpSpPr>
        <p:sp>
          <p:nvSpPr>
            <p:cNvPr id="32"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33" name="그룹 57"/>
            <p:cNvGrpSpPr/>
            <p:nvPr/>
          </p:nvGrpSpPr>
          <p:grpSpPr>
            <a:xfrm>
              <a:off x="2995760" y="665405"/>
              <a:ext cx="203617" cy="207881"/>
              <a:chOff x="2939843" y="5447120"/>
              <a:chExt cx="272722" cy="278432"/>
            </a:xfrm>
          </p:grpSpPr>
          <p:sp>
            <p:nvSpPr>
              <p:cNvPr id="34"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35"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36" name="직선 연결선 145"/>
              <p:cNvCxnSpPr>
                <a:stCxn id="3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7"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40"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5"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6" name="직사각형 43"/>
          <p:cNvSpPr/>
          <p:nvPr/>
        </p:nvSpPr>
        <p:spPr>
          <a:xfrm>
            <a:off x="128461" y="91953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7" name="직사각형 33"/>
          <p:cNvSpPr/>
          <p:nvPr/>
        </p:nvSpPr>
        <p:spPr>
          <a:xfrm>
            <a:off x="128464" y="16075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sp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34"/>
          <p:cNvSpPr/>
          <p:nvPr/>
        </p:nvSpPr>
        <p:spPr>
          <a:xfrm>
            <a:off x="128463" y="19508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36"/>
          <p:cNvSpPr/>
          <p:nvPr/>
        </p:nvSpPr>
        <p:spPr>
          <a:xfrm>
            <a:off x="128462" y="261641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0" name="직사각형 38"/>
          <p:cNvSpPr/>
          <p:nvPr/>
        </p:nvSpPr>
        <p:spPr>
          <a:xfrm>
            <a:off x="128457" y="291845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37"/>
          <p:cNvSpPr/>
          <p:nvPr/>
        </p:nvSpPr>
        <p:spPr>
          <a:xfrm>
            <a:off x="128461" y="36106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6" name="직사각형 39"/>
          <p:cNvSpPr/>
          <p:nvPr/>
        </p:nvSpPr>
        <p:spPr>
          <a:xfrm>
            <a:off x="128457" y="325847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8" name="직사각형 35"/>
          <p:cNvSpPr/>
          <p:nvPr/>
        </p:nvSpPr>
        <p:spPr>
          <a:xfrm>
            <a:off x="128463" y="230171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직사각형 75"/>
          <p:cNvSpPr/>
          <p:nvPr/>
        </p:nvSpPr>
        <p:spPr>
          <a:xfrm>
            <a:off x="128464" y="1265356"/>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sp </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모서리가 둥근 직사각형 146"/>
          <p:cNvSpPr/>
          <p:nvPr/>
        </p:nvSpPr>
        <p:spPr>
          <a:xfrm>
            <a:off x="6799133" y="6472594"/>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tục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1" name="모서리가 둥근 직사각형 147"/>
          <p:cNvSpPr/>
          <p:nvPr/>
        </p:nvSpPr>
        <p:spPr>
          <a:xfrm>
            <a:off x="5673080" y="6472593"/>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 tạm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모서리가 둥근 직사각형 148"/>
          <p:cNvSpPr/>
          <p:nvPr/>
        </p:nvSpPr>
        <p:spPr>
          <a:xfrm>
            <a:off x="6249144" y="6470360"/>
            <a:ext cx="504056"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Quay lại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3" name="TextBox 72"/>
          <p:cNvSpPr txBox="1"/>
          <p:nvPr/>
        </p:nvSpPr>
        <p:spPr>
          <a:xfrm>
            <a:off x="3249312" y="2097228"/>
            <a:ext cx="714722" cy="153888"/>
          </a:xfrm>
          <a:prstGeom prst="rect">
            <a:avLst/>
          </a:prstGeom>
          <a:solidFill>
            <a:schemeClr val="tx2">
              <a:lumMod val="60000"/>
              <a:lumOff val="40000"/>
            </a:schemeClr>
          </a:solidFill>
        </p:spPr>
        <p:txBody>
          <a:bodyPr wrap="square" lIns="0" tIns="0" rIns="0" bIns="0" rtlCol="0">
            <a:spAutoFit/>
          </a:bodyPr>
          <a:lstStyle/>
          <a:p>
            <a:pPr algn="ctr"/>
            <a:r>
              <a:rPr kumimoji="1"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Thêm</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4" name="TextBox 73"/>
          <p:cNvSpPr txBox="1"/>
          <p:nvPr/>
        </p:nvSpPr>
        <p:spPr>
          <a:xfrm>
            <a:off x="3253262" y="3514888"/>
            <a:ext cx="714722" cy="153888"/>
          </a:xfrm>
          <a:prstGeom prst="rect">
            <a:avLst/>
          </a:prstGeom>
          <a:solidFill>
            <a:schemeClr val="tx2">
              <a:lumMod val="60000"/>
              <a:lumOff val="40000"/>
            </a:schemeClr>
          </a:solidFill>
        </p:spPr>
        <p:txBody>
          <a:bodyPr wrap="square" lIns="0" tIns="0" rIns="0" bIns="0" rtlCol="0">
            <a:spAutoFit/>
          </a:bodyPr>
          <a:lstStyle/>
          <a:p>
            <a:pPr algn="ctr"/>
            <a:r>
              <a:rPr kumimoji="1"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Thêm</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TextBox 74"/>
          <p:cNvSpPr txBox="1"/>
          <p:nvPr/>
        </p:nvSpPr>
        <p:spPr>
          <a:xfrm>
            <a:off x="3395774" y="5955718"/>
            <a:ext cx="714722" cy="153888"/>
          </a:xfrm>
          <a:prstGeom prst="rect">
            <a:avLst/>
          </a:prstGeom>
          <a:solidFill>
            <a:schemeClr val="tx2">
              <a:lumMod val="60000"/>
              <a:lumOff val="40000"/>
            </a:schemeClr>
          </a:solidFill>
        </p:spPr>
        <p:txBody>
          <a:bodyPr wrap="square" lIns="0" tIns="0" rIns="0" bIns="0" rtlCol="0">
            <a:spAutoFit/>
          </a:bodyPr>
          <a:lstStyle/>
          <a:p>
            <a:pPr algn="ctr"/>
            <a:r>
              <a:rPr kumimoji="1" lang="en-US" altLang="ko-KR" sz="10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 Thêm</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TextBox 75"/>
          <p:cNvSpPr txBox="1"/>
          <p:nvPr/>
        </p:nvSpPr>
        <p:spPr>
          <a:xfrm>
            <a:off x="1568624" y="1213062"/>
            <a:ext cx="660772" cy="153888"/>
          </a:xfrm>
          <a:prstGeom prst="rect">
            <a:avLst/>
          </a:prstGeom>
          <a:solidFill>
            <a:schemeClr val="bg1"/>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báo</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7" name="TextBox 76"/>
          <p:cNvSpPr txBox="1"/>
          <p:nvPr/>
        </p:nvSpPr>
        <p:spPr>
          <a:xfrm>
            <a:off x="1598314" y="2637412"/>
            <a:ext cx="1091996" cy="153888"/>
          </a:xfrm>
          <a:prstGeom prst="rect">
            <a:avLst/>
          </a:prstGeom>
          <a:solidFill>
            <a:schemeClr val="bg1"/>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Hướng dẫn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TextBox 77"/>
          <p:cNvSpPr txBox="1"/>
          <p:nvPr/>
        </p:nvSpPr>
        <p:spPr>
          <a:xfrm>
            <a:off x="1599066" y="3908552"/>
            <a:ext cx="864096" cy="153888"/>
          </a:xfrm>
          <a:prstGeom prst="rect">
            <a:avLst/>
          </a:prstGeom>
          <a:solidFill>
            <a:schemeClr val="bg1"/>
          </a:solidFill>
        </p:spPr>
        <p:txBody>
          <a:bodyPr wrap="square" lIns="0" tIns="0" rIns="0" bIns="0" rtlCol="0">
            <a:spAutoFit/>
          </a:bodyPr>
          <a:lstStyle/>
          <a:p>
            <a:pPr algn="ctr"/>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thêm</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9" name="TextBox 78"/>
          <p:cNvSpPr txBox="1"/>
          <p:nvPr/>
        </p:nvSpPr>
        <p:spPr>
          <a:xfrm>
            <a:off x="1646570" y="1634317"/>
            <a:ext cx="660772" cy="138499"/>
          </a:xfrm>
          <a:prstGeom prst="rect">
            <a:avLst/>
          </a:prstGeom>
          <a:solidFill>
            <a:schemeClr val="bg1">
              <a:lumMod val="95000"/>
            </a:schemeClr>
          </a:solidFill>
        </p:spPr>
        <p:txBody>
          <a:bodyPr wrap="square" lIns="0" tIns="0" rIns="0" bIns="0" rtlCol="0">
            <a:spAutoFit/>
          </a:bodyPr>
          <a:lstStyle/>
          <a:p>
            <a:pPr algn="ctr"/>
            <a:r>
              <a:rPr kumimoji="1" lang="en-US" altLang="ko-KR" sz="900" b="1" smtClean="0">
                <a:latin typeface="Times New Roman" panose="02020603050405020304" pitchFamily="18" charset="0"/>
                <a:ea typeface="Nanum Gothic" panose="020D0604000000000000" pitchFamily="34" charset="-127"/>
                <a:cs typeface="Times New Roman" panose="02020603050405020304" pitchFamily="18" charset="0"/>
              </a:rPr>
              <a:t>Thông báo 1</a:t>
            </a:r>
            <a:endParaRPr kumimoji="1" lang="ko-KR" altLang="en-US" sz="9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TextBox 79"/>
          <p:cNvSpPr txBox="1"/>
          <p:nvPr/>
        </p:nvSpPr>
        <p:spPr>
          <a:xfrm>
            <a:off x="1721094" y="3068960"/>
            <a:ext cx="531078" cy="138499"/>
          </a:xfrm>
          <a:prstGeom prst="rect">
            <a:avLst/>
          </a:prstGeom>
          <a:solidFill>
            <a:schemeClr val="bg1">
              <a:lumMod val="95000"/>
            </a:schemeClr>
          </a:solidFill>
        </p:spPr>
        <p:txBody>
          <a:bodyPr wrap="square" lIns="0" tIns="0" rIns="0" bIns="0" rtlCol="0">
            <a:spAutoFit/>
          </a:bodyPr>
          <a:lstStyle/>
          <a:p>
            <a:pPr algn="ctr"/>
            <a:r>
              <a:rPr kumimoji="1" lang="en-US" altLang="ko-KR" sz="900" b="1" smtClean="0">
                <a:latin typeface="Times New Roman" panose="02020603050405020304" pitchFamily="18" charset="0"/>
                <a:ea typeface="Nanum Gothic" panose="020D0604000000000000" pitchFamily="34" charset="-127"/>
                <a:cs typeface="Times New Roman" panose="02020603050405020304" pitchFamily="18" charset="0"/>
              </a:rPr>
              <a:t>HDSD 1</a:t>
            </a:r>
            <a:endParaRPr kumimoji="1" lang="ko-KR" altLang="en-US" sz="9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TextBox 80"/>
          <p:cNvSpPr txBox="1"/>
          <p:nvPr/>
        </p:nvSpPr>
        <p:spPr>
          <a:xfrm>
            <a:off x="1657462" y="4860519"/>
            <a:ext cx="648072" cy="276999"/>
          </a:xfrm>
          <a:prstGeom prst="rect">
            <a:avLst/>
          </a:prstGeom>
          <a:solidFill>
            <a:schemeClr val="bg1">
              <a:lumMod val="95000"/>
            </a:schemeClr>
          </a:solidFill>
        </p:spPr>
        <p:txBody>
          <a:bodyPr wrap="square" lIns="0" tIns="0" rIns="0" bIns="0" rtlCol="0">
            <a:spAutoFit/>
          </a:bodyPr>
          <a:lstStyle/>
          <a:p>
            <a:pPr algn="ctr"/>
            <a:r>
              <a:rPr kumimoji="1" lang="en-US" altLang="ko-KR" sz="900" b="1" smtClean="0">
                <a:latin typeface="Times New Roman" panose="02020603050405020304" pitchFamily="18" charset="0"/>
                <a:ea typeface="Nanum Gothic" panose="020D0604000000000000" pitchFamily="34" charset="-127"/>
                <a:cs typeface="Times New Roman" panose="02020603050405020304" pitchFamily="18" charset="0"/>
              </a:rPr>
              <a:t>Thông tin thêm 1</a:t>
            </a:r>
            <a:endParaRPr kumimoji="1" lang="ko-KR" altLang="en-US" sz="9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TextBox 81"/>
          <p:cNvSpPr txBox="1"/>
          <p:nvPr/>
        </p:nvSpPr>
        <p:spPr>
          <a:xfrm>
            <a:off x="2436072" y="1474736"/>
            <a:ext cx="504056"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Chọn loại</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TextBox 83"/>
          <p:cNvSpPr txBox="1"/>
          <p:nvPr/>
        </p:nvSpPr>
        <p:spPr>
          <a:xfrm>
            <a:off x="3507816" y="1471392"/>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tiêu đề</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TextBox 84"/>
          <p:cNvSpPr txBox="1"/>
          <p:nvPr/>
        </p:nvSpPr>
        <p:spPr>
          <a:xfrm>
            <a:off x="2513096" y="1768601"/>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nội dung</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TextBox 85"/>
          <p:cNvSpPr txBox="1"/>
          <p:nvPr/>
        </p:nvSpPr>
        <p:spPr>
          <a:xfrm>
            <a:off x="2427696" y="2891456"/>
            <a:ext cx="504056"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Chọn loại</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TextBox 86"/>
          <p:cNvSpPr txBox="1"/>
          <p:nvPr/>
        </p:nvSpPr>
        <p:spPr>
          <a:xfrm>
            <a:off x="3499440" y="2888112"/>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tiêu đề</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8" name="TextBox 87"/>
          <p:cNvSpPr txBox="1"/>
          <p:nvPr/>
        </p:nvSpPr>
        <p:spPr>
          <a:xfrm>
            <a:off x="2504720" y="3185321"/>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nội dung</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TextBox 88"/>
          <p:cNvSpPr txBox="1"/>
          <p:nvPr/>
        </p:nvSpPr>
        <p:spPr>
          <a:xfrm>
            <a:off x="2504728" y="4437937"/>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tiêu đề</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TextBox 89"/>
          <p:cNvSpPr txBox="1"/>
          <p:nvPr/>
        </p:nvSpPr>
        <p:spPr>
          <a:xfrm>
            <a:off x="2501376" y="4734329"/>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nội dung</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1" name="TextBox 90"/>
          <p:cNvSpPr txBox="1"/>
          <p:nvPr/>
        </p:nvSpPr>
        <p:spPr>
          <a:xfrm>
            <a:off x="2645384" y="4206833"/>
            <a:ext cx="291392"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Text</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2" name="TextBox 91"/>
          <p:cNvSpPr txBox="1"/>
          <p:nvPr/>
        </p:nvSpPr>
        <p:spPr>
          <a:xfrm>
            <a:off x="3253264" y="4217736"/>
            <a:ext cx="291392"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Video</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TextBox 95"/>
          <p:cNvSpPr txBox="1"/>
          <p:nvPr/>
        </p:nvSpPr>
        <p:spPr>
          <a:xfrm>
            <a:off x="3864496" y="4219416"/>
            <a:ext cx="363400"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Địa chỉ</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7" name="TextBox 96"/>
          <p:cNvSpPr txBox="1"/>
          <p:nvPr/>
        </p:nvSpPr>
        <p:spPr>
          <a:xfrm>
            <a:off x="4536016" y="4221088"/>
            <a:ext cx="422008" cy="123111"/>
          </a:xfrm>
          <a:prstGeom prst="rect">
            <a:avLst/>
          </a:prstGeom>
          <a:solidFill>
            <a:schemeClr val="bg1"/>
          </a:solidFill>
        </p:spPr>
        <p:txBody>
          <a:bodyPr wrap="square" lIns="0" tIns="0" rIns="0" bIns="0" rtlCol="0">
            <a:spAutoFit/>
          </a:bodyPr>
          <a:lstStyle/>
          <a:p>
            <a:pPr algn="ctr"/>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8" name="TextBox 97"/>
          <p:cNvSpPr txBox="1"/>
          <p:nvPr/>
        </p:nvSpPr>
        <p:spPr>
          <a:xfrm>
            <a:off x="2844672" y="5082649"/>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địa chỉ video</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TextBox 98"/>
          <p:cNvSpPr txBox="1"/>
          <p:nvPr/>
        </p:nvSpPr>
        <p:spPr>
          <a:xfrm>
            <a:off x="2844672" y="5380745"/>
            <a:ext cx="1013136" cy="123111"/>
          </a:xfrm>
          <a:prstGeom prst="rect">
            <a:avLst/>
          </a:prstGeom>
          <a:solidFill>
            <a:schemeClr val="bg1"/>
          </a:solidFill>
        </p:spPr>
        <p:txBody>
          <a:bodyPr wrap="square" lIns="0" tIns="0" rIns="0" bIns="0" rtlCol="0">
            <a:spAutoFit/>
          </a:bodyPr>
          <a:lstStyle/>
          <a:p>
            <a:r>
              <a:rPr kumimoji="1" lang="en-US" altLang="ko-KR" sz="800" smtClean="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rPr>
              <a:t>Nhập địa chỉ </a:t>
            </a:r>
            <a:endParaRPr kumimoji="1" lang="ko-KR" altLang="en-US" sz="800" dirty="0">
              <a:solidFill>
                <a:schemeClr val="tx1">
                  <a:lumMod val="50000"/>
                  <a:lumOff val="5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TextBox 99"/>
          <p:cNvSpPr txBox="1"/>
          <p:nvPr/>
        </p:nvSpPr>
        <p:spPr>
          <a:xfrm>
            <a:off x="2583432" y="5641961"/>
            <a:ext cx="509080" cy="123111"/>
          </a:xfrm>
          <a:prstGeom prst="rect">
            <a:avLst/>
          </a:prstGeom>
          <a:solidFill>
            <a:schemeClr val="bg1">
              <a:lumMod val="85000"/>
            </a:schemeClr>
          </a:solidFill>
        </p:spPr>
        <p:txBody>
          <a:bodyPr wrap="square" lIns="0" tIns="0" rIns="0" bIns="0" rtlCol="0">
            <a:spAutoFit/>
          </a:bodyPr>
          <a:lstStyle/>
          <a:p>
            <a:r>
              <a:rPr kumimoji="1"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Upload hình</a:t>
            </a:r>
            <a:endParaRPr kumimoji="1"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3204723" cy="461665"/>
          </a:xfrm>
          <a:prstGeom prst="rect">
            <a:avLst/>
          </a:prstGeom>
          <a:noFill/>
        </p:spPr>
        <p:txBody>
          <a:bodyPr wrap="none" rtlCol="0">
            <a:spAutoFit/>
          </a:bodyPr>
          <a:lstStyle/>
          <a:p>
            <a:r>
              <a:rPr lang="en-US" altLang="ko-KR" sz="2400" b="1">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2400" b="1" smtClean="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rPr>
              <a:t>PC]Quản lý sản phẩm</a:t>
            </a:r>
            <a:endParaRPr lang="en-US" altLang="ko-KR" sz="2400" b="1" dirty="0">
              <a:solidFill>
                <a:srgbClr val="4B4C58"/>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 name="TextBox 4"/>
          <p:cNvSpPr txBox="1"/>
          <p:nvPr/>
        </p:nvSpPr>
        <p:spPr>
          <a:xfrm>
            <a:off x="374438" y="2670820"/>
            <a:ext cx="2150269" cy="276999"/>
          </a:xfrm>
          <a:prstGeom prst="rect">
            <a:avLst/>
          </a:prstGeom>
          <a:noFill/>
        </p:spPr>
        <p:txBody>
          <a:bodyPr wrap="none" rtlCol="0">
            <a:spAutoFit/>
          </a:bodyPr>
          <a:lstStyle/>
          <a:p>
            <a:r>
              <a:rPr lang="en-US" altLang="ko-KR" sz="1200" smtClean="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rPr>
              <a:t>T-Bridge Giải pháp vé tổng hợp</a:t>
            </a:r>
            <a:endParaRPr lang="ko-KR" altLang="en-US" sz="1200" dirty="0">
              <a:solidFill>
                <a:srgbClr val="E72F14"/>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anose="02020603050405020304" pitchFamily="18" charset="0"/>
                <a:ea typeface="Nanum Gothic" panose="020D0604000000000000" pitchFamily="34" charset="-127"/>
                <a:cs typeface="Times New Roman" panose="02020603050405020304" pitchFamily="18" charset="0"/>
              </a:rPr>
              <a:t>[CHÍNH SÁCH] QUẢN LÝ SẢN PHẨM</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76" name="TextBox 375"/>
          <p:cNvSpPr txBox="1"/>
          <p:nvPr/>
        </p:nvSpPr>
        <p:spPr>
          <a:xfrm>
            <a:off x="416496" y="1153538"/>
            <a:ext cx="7446590" cy="830997"/>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sản phẩm</a:t>
            </a:r>
            <a:r>
              <a:rPr kumimoji="1" lang="ko-KR" altLang="en-US" sz="1200" b="1"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endParaRPr>
          </a:p>
          <a:p>
            <a:pPr marL="182880">
              <a:lnSpc>
                <a:spcPct val="150000"/>
              </a:lnSpc>
            </a:pPr>
            <a:r>
              <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rPr>
              <a:t>1</a:t>
            </a:r>
            <a:r>
              <a:rPr kumimoji="1" lang="en-US" altLang="ko-KR" sz="1000">
                <a:latin typeface="Times New Roman" panose="02020603050405020304" pitchFamily="18" charset="0"/>
                <a:ea typeface="Nanum Gothic" panose="020D0604000000000000" pitchFamily="34" charset="-127"/>
                <a:cs typeface="Times New Roman" panose="02020603050405020304" pitchFamily="18" charset="0"/>
              </a:rPr>
              <a:t>.</a:t>
            </a:r>
            <a:r>
              <a:rPr kumimoji="1" lang="ko-KR" altLang="en-US" sz="10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Sau khi sp đc đăng lên T-Bridge, ở menu quản lý sp có thể lưu và quản lý danh sách thông tin so khớp của từng kênh dựa theo mã sp.</a:t>
            </a:r>
            <a:endPar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endParaRPr>
          </a:p>
          <a:p>
            <a:pPr marL="182880">
              <a:lnSpc>
                <a:spcPct val="150000"/>
              </a:lnSpc>
            </a:pPr>
            <a:r>
              <a:rPr kumimoji="1" lang="en-US" altLang="ko-KR" sz="1000" dirty="0">
                <a:latin typeface="Times New Roman" panose="02020603050405020304" pitchFamily="18" charset="0"/>
                <a:ea typeface="Nanum Gothic" panose="020D0604000000000000" pitchFamily="34" charset="-127"/>
                <a:cs typeface="Times New Roman" panose="02020603050405020304" pitchFamily="18" charset="0"/>
              </a:rPr>
              <a:t>2</a:t>
            </a:r>
            <a:r>
              <a:rPr kumimoji="1" lang="en-US" altLang="ko-KR" sz="1000">
                <a:latin typeface="Times New Roman" panose="02020603050405020304" pitchFamily="18" charset="0"/>
                <a:ea typeface="Nanum Gothic" panose="020D0604000000000000" pitchFamily="34" charset="-127"/>
                <a:cs typeface="Times New Roman" panose="02020603050405020304" pitchFamily="18" charset="0"/>
              </a:rPr>
              <a:t>.</a:t>
            </a:r>
            <a:r>
              <a:rPr kumimoji="1" lang="ko-KR" altLang="en-US" sz="100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Sản phẩm đã đăng thì k0 thể xóa, chỉ cung cấp chức năng ngưng bán sp.</a:t>
            </a:r>
            <a:r>
              <a:rPr kumimoji="1" lang="ko-KR" altLang="en-US" sz="1000"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8" name="TextBox 27"/>
          <p:cNvSpPr txBox="1"/>
          <p:nvPr/>
        </p:nvSpPr>
        <p:spPr>
          <a:xfrm>
            <a:off x="416496" y="2231354"/>
            <a:ext cx="6144631" cy="1061829"/>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Ngưng bán sản phẩm</a:t>
            </a:r>
            <a:r>
              <a:rPr kumimoji="1" lang="ko-KR" altLang="en-US" sz="1000" b="1"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en-US" altLang="ko-KR" sz="1000" smtClean="0">
                <a:latin typeface="Times New Roman" panose="02020603050405020304" pitchFamily="18" charset="0"/>
                <a:ea typeface="Malgun Gothic" panose="020B0503020000020004" charset="-127"/>
                <a:cs typeface="Times New Roman" panose="02020603050405020304" pitchFamily="18" charset="0"/>
              </a:rPr>
              <a:t>Sản phẩm đc đăng bằng API: Sửa trạng thái bán của sp và option thành “ngưng bán” rồi gửi đến kênh bán.</a:t>
            </a:r>
            <a:endParaRPr lang="en-US" altLang="ko-KR" sz="1000" dirty="0">
              <a:latin typeface="Times New Roman" panose="02020603050405020304" pitchFamily="18" charset="0"/>
              <a:ea typeface="Malgun Gothic" panose="020B0503020000020004" charset="-127"/>
              <a:cs typeface="Times New Roman" panose="02020603050405020304" pitchFamily="18" charset="0"/>
            </a:endParaRPr>
          </a:p>
          <a:p>
            <a:pPr marL="412750" indent="-228600">
              <a:lnSpc>
                <a:spcPct val="150000"/>
              </a:lnSpc>
              <a:buFontTx/>
              <a:buAutoNum type="arabicPeriod"/>
            </a:pPr>
            <a:r>
              <a:rPr lang="en-US" altLang="ko-KR" sz="1000" smtClean="0">
                <a:latin typeface="Times New Roman" panose="02020603050405020304" pitchFamily="18" charset="0"/>
                <a:ea typeface="Malgun Gothic" panose="020B0503020000020004" charset="-127"/>
                <a:cs typeface="Times New Roman" panose="02020603050405020304" pitchFamily="18" charset="0"/>
              </a:rPr>
              <a:t>Đăng bằng thu thập: Gửi thủ công đến người phụ trách của các kênh (cần thông báo bằng mail, SMS)</a:t>
            </a:r>
            <a:endParaRPr lang="en-US" altLang="ko-KR" sz="1000" dirty="0">
              <a:latin typeface="Times New Roman" panose="02020603050405020304" pitchFamily="18" charset="0"/>
              <a:ea typeface="Malgun Gothic" panose="020B0503020000020004" charset="-127"/>
              <a:cs typeface="Times New Roman" panose="02020603050405020304" pitchFamily="18" charset="0"/>
            </a:endParaRPr>
          </a:p>
          <a:p>
            <a:pPr marL="412750" indent="-228600">
              <a:lnSpc>
                <a:spcPct val="150000"/>
              </a:lnSpc>
              <a:buAutoNum type="arabicPeriod"/>
            </a:pPr>
            <a:r>
              <a:rPr kumimoji="1" lang="en-US" altLang="ko-KR" sz="1000" smtClean="0">
                <a:latin typeface="Times New Roman" panose="02020603050405020304" pitchFamily="18" charset="0"/>
                <a:ea typeface="Malgun Gothic" panose="020B0503020000020004" charset="-127"/>
                <a:cs typeface="Times New Roman" panose="02020603050405020304" pitchFamily="18" charset="0"/>
              </a:rPr>
              <a:t>Việc xử lý ngưng bán cuối cùng phụ thuộc vào chính sách của từng kênh</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9" name="TextBox 28"/>
          <p:cNvSpPr txBox="1"/>
          <p:nvPr/>
        </p:nvSpPr>
        <p:spPr>
          <a:xfrm>
            <a:off x="448341" y="3598076"/>
            <a:ext cx="9457659" cy="1292662"/>
          </a:xfrm>
          <a:prstGeom prst="rect">
            <a:avLst/>
          </a:prstGeom>
          <a:noFill/>
        </p:spPr>
        <p:txBody>
          <a:bodyPr wrap="square" rtlCol="0">
            <a:spAutoFit/>
          </a:bodyPr>
          <a:lstStyle/>
          <a:p>
            <a:pPr marL="171450" indent="-171450">
              <a:lnSpc>
                <a:spcPct val="150000"/>
              </a:lnSpc>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Khôi phục sản phẩm</a:t>
            </a:r>
            <a:r>
              <a:rPr kumimoji="1" lang="ko-KR" altLang="en-US" sz="1200" b="1"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ko-KR" altLang="en-US" sz="1000" b="1"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Tất cả thông tin đc khôi phục, và mã option/mã deal đc cấp mới</a:t>
            </a:r>
            <a:r>
              <a:rPr lang="ko-KR" altLang="en-US" sz="1000" smtClean="0">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1000"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Có thể khôi phục sản phẩm cho dù ở trạng thái sản phẩm nào</a:t>
            </a:r>
          </a:p>
          <a:p>
            <a:pPr marL="412750" indent="-228600">
              <a:lnSpc>
                <a:spcPct val="150000"/>
              </a:lnSpc>
              <a:buAutoNum type="arabicPeriod"/>
            </a:pPr>
            <a:r>
              <a:rPr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Sau khi khôi phục xong, trạng thái sản phẩm ở trạng thái lưu tạm, khi hoàn tất việc đăng sản phẩm thì chuyển sang trạng thái chờ duyệt và tiến hành liên kết sản phẩm với kênh bán.</a:t>
            </a:r>
            <a:endParaRPr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1" name="TextBox 30"/>
          <p:cNvSpPr txBox="1"/>
          <p:nvPr/>
        </p:nvSpPr>
        <p:spPr>
          <a:xfrm>
            <a:off x="461219" y="4730535"/>
            <a:ext cx="4126451" cy="830997"/>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Phí</a:t>
            </a:r>
            <a:r>
              <a:rPr kumimoji="1" lang="ko-KR" altLang="en-US" sz="1200" b="1"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ko-KR" altLang="en-US" sz="1000" b="1"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en-US" altLang="ko-KR" sz="1000" b="1"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Khi chọn phân loại thì hiển thị phí của từng phân loại trên từng kênh</a:t>
            </a:r>
            <a:endParaRPr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a:p>
            <a:pPr marL="412750" indent="-228600">
              <a:lnSpc>
                <a:spcPct val="150000"/>
              </a:lnSpc>
              <a:buAutoNum type="arabicPeriod"/>
            </a:pPr>
            <a:r>
              <a:rPr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Cần quản lý phí theo kênh/theo phân loại</a:t>
            </a:r>
            <a:endParaRPr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anose="02020603050405020304" pitchFamily="18" charset="0"/>
                <a:ea typeface="Nanum Gothic" panose="020D0604000000000000" pitchFamily="34" charset="-127"/>
                <a:cs typeface="Times New Roman" panose="02020603050405020304" pitchFamily="18" charset="0"/>
              </a:rPr>
              <a:t>[Chính sách] Quản </a:t>
            </a:r>
            <a:r>
              <a:rPr kumimoji="1" lang="en-US" altLang="ko-KR" dirty="0" err="1" smtClean="0">
                <a:latin typeface="Times New Roman" panose="02020603050405020304" pitchFamily="18" charset="0"/>
                <a:ea typeface="Nanum Gothic" panose="020D0604000000000000" pitchFamily="34" charset="-127"/>
                <a:cs typeface="Times New Roman" panose="02020603050405020304" pitchFamily="18" charset="0"/>
              </a:rPr>
              <a:t>lý</a:t>
            </a:r>
            <a:r>
              <a:rPr kumimoji="1" lang="en-US" altLang="ko-KR"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dirty="0" err="1" smtClean="0">
                <a:latin typeface="Times New Roman" panose="02020603050405020304" pitchFamily="18" charset="0"/>
                <a:ea typeface="Nanum Gothic" panose="020D0604000000000000" pitchFamily="34" charset="-127"/>
                <a:cs typeface="Times New Roman" panose="02020603050405020304" pitchFamily="18" charset="0"/>
              </a:rPr>
              <a:t>số</a:t>
            </a:r>
            <a:r>
              <a:rPr kumimoji="1" lang="en-US" altLang="ko-KR" dirty="0"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dirty="0" err="1" smtClean="0">
                <a:latin typeface="Times New Roman" panose="02020603050405020304" pitchFamily="18" charset="0"/>
                <a:ea typeface="Nanum Gothic" panose="020D0604000000000000" pitchFamily="34" charset="-127"/>
                <a:cs typeface="Times New Roman" panose="02020603050405020304" pitchFamily="18" charset="0"/>
              </a:rPr>
              <a:t>lượng</a:t>
            </a:r>
            <a:r>
              <a:rPr kumimoji="1" lang="en-US" altLang="ko-KR" dirty="0" smtClean="0">
                <a:latin typeface="Times New Roman" panose="02020603050405020304" pitchFamily="18" charset="0"/>
                <a:ea typeface="Nanum Gothic" panose="020D0604000000000000" pitchFamily="34" charset="-127"/>
                <a:cs typeface="Times New Roman" panose="02020603050405020304" pitchFamily="18" charset="0"/>
              </a:rPr>
              <a:t> option</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76" name="TextBox 375"/>
          <p:cNvSpPr txBox="1"/>
          <p:nvPr/>
        </p:nvSpPr>
        <p:spPr>
          <a:xfrm>
            <a:off x="416496" y="960554"/>
            <a:ext cx="7245189" cy="646331"/>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lang="en-US" sz="1200" b="1" dirty="0" smtClean="0">
                <a:latin typeface="Times New Roman" panose="02020603050405020304" pitchFamily="18" charset="0"/>
                <a:cs typeface="Times New Roman" panose="02020603050405020304" pitchFamily="18" charset="0"/>
              </a:rPr>
              <a:t>Ti</a:t>
            </a:r>
            <a:r>
              <a:rPr lang="vi-VN" sz="1200" b="1" dirty="0" smtClean="0">
                <a:latin typeface="Times New Roman" panose="02020603050405020304" pitchFamily="18" charset="0"/>
                <a:cs typeface="Times New Roman" panose="02020603050405020304" pitchFamily="18" charset="0"/>
              </a:rPr>
              <a:t>ế</a:t>
            </a:r>
            <a:r>
              <a:rPr lang="en-US" sz="1200" b="1" dirty="0" smtClean="0">
                <a:latin typeface="Times New Roman" panose="02020603050405020304" pitchFamily="18" charset="0"/>
                <a:cs typeface="Times New Roman" panose="02020603050405020304" pitchFamily="18" charset="0"/>
              </a:rPr>
              <a:t>n </a:t>
            </a:r>
            <a:r>
              <a:rPr lang="en-US" sz="1200" b="1" dirty="0" err="1" smtClean="0">
                <a:latin typeface="Times New Roman" panose="02020603050405020304" pitchFamily="18" charset="0"/>
                <a:cs typeface="Times New Roman" panose="02020603050405020304" pitchFamily="18" charset="0"/>
              </a:rPr>
              <a:t>hành</a:t>
            </a:r>
            <a:r>
              <a:rPr lang="en-US" sz="1200" b="1" dirty="0" smtClean="0">
                <a:latin typeface="Times New Roman" panose="02020603050405020304" pitchFamily="18" charset="0"/>
                <a:cs typeface="Times New Roman" panose="02020603050405020304" pitchFamily="18" charset="0"/>
              </a:rPr>
              <a:t> </a:t>
            </a:r>
            <a:r>
              <a:rPr lang="en-US" sz="1200" b="1" dirty="0" err="1" smtClean="0">
                <a:latin typeface="Times New Roman" panose="02020603050405020304" pitchFamily="18" charset="0"/>
                <a:cs typeface="Times New Roman" panose="02020603050405020304" pitchFamily="18" charset="0"/>
              </a:rPr>
              <a:t>bước</a:t>
            </a:r>
            <a:r>
              <a:rPr lang="en-US" sz="1200" b="1" dirty="0" smtClean="0">
                <a:latin typeface="Times New Roman" panose="02020603050405020304" pitchFamily="18" charset="0"/>
                <a:cs typeface="Times New Roman" panose="02020603050405020304" pitchFamily="18" charset="0"/>
              </a:rPr>
              <a:t> 1 b</a:t>
            </a:r>
            <a:r>
              <a:rPr lang="vi-VN" sz="1200" b="1" dirty="0" smtClean="0">
                <a:latin typeface="Times New Roman" panose="02020603050405020304" pitchFamily="18" charset="0"/>
                <a:cs typeface="Times New Roman" panose="02020603050405020304" pitchFamily="18" charset="0"/>
              </a:rPr>
              <a:t>ằng phương thức đồ</a:t>
            </a:r>
            <a:r>
              <a:rPr lang="en-US" sz="1200" b="1" dirty="0" err="1" smtClean="0">
                <a:latin typeface="Times New Roman" panose="02020603050405020304" pitchFamily="18" charset="0"/>
                <a:cs typeface="Times New Roman" panose="02020603050405020304" pitchFamily="18" charset="0"/>
              </a:rPr>
              <a:t>ng</a:t>
            </a:r>
            <a:r>
              <a:rPr lang="en-US" sz="1200" b="1" dirty="0" smtClean="0">
                <a:latin typeface="Times New Roman" panose="02020603050405020304" pitchFamily="18" charset="0"/>
                <a:cs typeface="Times New Roman" panose="02020603050405020304" pitchFamily="18" charset="0"/>
              </a:rPr>
              <a:t> b</a:t>
            </a:r>
            <a:r>
              <a:rPr lang="vi-VN" sz="1200" b="1" dirty="0" smtClean="0">
                <a:latin typeface="Times New Roman" panose="02020603050405020304" pitchFamily="18" charset="0"/>
                <a:cs typeface="Times New Roman" panose="02020603050405020304" pitchFamily="18" charset="0"/>
              </a:rPr>
              <a:t>ộ</a:t>
            </a:r>
            <a:r>
              <a:rPr lang="en-US" sz="1200" b="1" dirty="0" smtClean="0">
                <a:latin typeface="Times New Roman" panose="02020603050405020304" pitchFamily="18" charset="0"/>
                <a:cs typeface="Times New Roman" panose="02020603050405020304" pitchFamily="18" charset="0"/>
              </a:rPr>
              <a:t> </a:t>
            </a:r>
            <a:r>
              <a:rPr lang="en-US" sz="1200" b="1" dirty="0" err="1" smtClean="0">
                <a:latin typeface="Times New Roman" panose="02020603050405020304" pitchFamily="18" charset="0"/>
                <a:cs typeface="Times New Roman" panose="02020603050405020304" pitchFamily="18" charset="0"/>
              </a:rPr>
              <a:t>hóa</a:t>
            </a:r>
            <a:r>
              <a:rPr lang="en-US" sz="1200" b="1" dirty="0" smtClean="0">
                <a:latin typeface="Times New Roman" panose="02020603050405020304" pitchFamily="18" charset="0"/>
                <a:cs typeface="Times New Roman" panose="02020603050405020304" pitchFamily="18" charset="0"/>
              </a:rPr>
              <a:t> s</a:t>
            </a:r>
            <a:r>
              <a:rPr lang="vi-VN" sz="1200" b="1" dirty="0" smtClean="0">
                <a:latin typeface="Times New Roman" panose="02020603050405020304" pitchFamily="18" charset="0"/>
                <a:cs typeface="Times New Roman" panose="02020603050405020304" pitchFamily="18" charset="0"/>
              </a:rPr>
              <a:t>ố lượng (phương thứ</a:t>
            </a:r>
            <a:r>
              <a:rPr lang="en-US" sz="1200" b="1" dirty="0" smtClean="0">
                <a:latin typeface="Times New Roman" panose="02020603050405020304" pitchFamily="18" charset="0"/>
                <a:cs typeface="Times New Roman" panose="02020603050405020304" pitchFamily="18" charset="0"/>
              </a:rPr>
              <a:t>c </a:t>
            </a:r>
            <a:r>
              <a:rPr lang="en-US" sz="1200" b="1" dirty="0" err="1" smtClean="0">
                <a:latin typeface="Times New Roman" panose="02020603050405020304" pitchFamily="18" charset="0"/>
                <a:cs typeface="Times New Roman" panose="02020603050405020304" pitchFamily="18" charset="0"/>
              </a:rPr>
              <a:t>liên</a:t>
            </a:r>
            <a:r>
              <a:rPr lang="en-US" sz="1200" b="1" dirty="0" smtClean="0">
                <a:latin typeface="Times New Roman" panose="02020603050405020304" pitchFamily="18" charset="0"/>
                <a:cs typeface="Times New Roman" panose="02020603050405020304" pitchFamily="18" charset="0"/>
              </a:rPr>
              <a:t> k</a:t>
            </a:r>
            <a:r>
              <a:rPr lang="vi-VN" sz="1200" b="1" dirty="0" smtClean="0">
                <a:latin typeface="Times New Roman" panose="02020603050405020304" pitchFamily="18" charset="0"/>
                <a:cs typeface="Times New Roman" panose="02020603050405020304" pitchFamily="18" charset="0"/>
              </a:rPr>
              <a:t>ế</a:t>
            </a:r>
            <a:r>
              <a:rPr lang="en-US" sz="1200" b="1" dirty="0" smtClean="0">
                <a:latin typeface="Times New Roman" panose="02020603050405020304" pitchFamily="18" charset="0"/>
                <a:cs typeface="Times New Roman" panose="02020603050405020304" pitchFamily="18" charset="0"/>
              </a:rPr>
              <a:t>t </a:t>
            </a:r>
            <a:r>
              <a:rPr lang="en-US" sz="1200" b="1" dirty="0" err="1" smtClean="0">
                <a:latin typeface="Times New Roman" panose="02020603050405020304" pitchFamily="18" charset="0"/>
                <a:cs typeface="Times New Roman" panose="02020603050405020304" pitchFamily="18" charset="0"/>
              </a:rPr>
              <a:t>t</a:t>
            </a:r>
            <a:r>
              <a:rPr lang="vi-VN" sz="1200" b="1" dirty="0" smtClean="0">
                <a:latin typeface="Times New Roman" panose="02020603050405020304" pitchFamily="18" charset="0"/>
                <a:cs typeface="Times New Roman" panose="02020603050405020304" pitchFamily="18" charset="0"/>
              </a:rPr>
              <a:t>ổ</a:t>
            </a:r>
            <a:r>
              <a:rPr lang="en-US" sz="1200" b="1" dirty="0" err="1" smtClean="0">
                <a:latin typeface="Times New Roman" panose="02020603050405020304" pitchFamily="18" charset="0"/>
                <a:cs typeface="Times New Roman" panose="02020603050405020304" pitchFamily="18" charset="0"/>
              </a:rPr>
              <a:t>ng</a:t>
            </a:r>
            <a:r>
              <a:rPr lang="en-US" sz="1200" b="1" dirty="0" smtClean="0">
                <a:latin typeface="Times New Roman" panose="02020603050405020304" pitchFamily="18" charset="0"/>
                <a:cs typeface="Times New Roman" panose="02020603050405020304" pitchFamily="18" charset="0"/>
              </a:rPr>
              <a:t> s</a:t>
            </a:r>
            <a:r>
              <a:rPr lang="vi-VN" sz="1200" b="1" dirty="0" smtClean="0">
                <a:latin typeface="Times New Roman" panose="02020603050405020304" pitchFamily="18" charset="0"/>
                <a:cs typeface="Times New Roman" panose="02020603050405020304" pitchFamily="18" charset="0"/>
              </a:rPr>
              <a:t>ố lượ</a:t>
            </a:r>
            <a:r>
              <a:rPr lang="en-US" sz="1200" b="1" dirty="0" err="1" smtClean="0">
                <a:latin typeface="Times New Roman" panose="02020603050405020304" pitchFamily="18" charset="0"/>
                <a:cs typeface="Times New Roman" panose="02020603050405020304" pitchFamily="18" charset="0"/>
              </a:rPr>
              <a:t>ng</a:t>
            </a:r>
            <a:r>
              <a:rPr lang="en-US" sz="1200" b="1" dirty="0" smtClean="0">
                <a:latin typeface="Times New Roman" panose="02020603050405020304" pitchFamily="18" charset="0"/>
                <a:cs typeface="Times New Roman" panose="02020603050405020304" pitchFamily="18" charset="0"/>
              </a:rPr>
              <a:t>).</a:t>
            </a:r>
            <a:endParaRPr kumimoji="1" lang="en-US" altLang="ko-KR" sz="1200" b="1" dirty="0" smtClean="0">
              <a:latin typeface="Times New Roman" panose="02020603050405020304" pitchFamily="18" charset="0"/>
              <a:ea typeface="Nanum Gothic" panose="020D0604000000000000" pitchFamily="34" charset="-127"/>
              <a:cs typeface="Times New Roman" panose="02020603050405020304" pitchFamily="18" charset="0"/>
            </a:endParaRPr>
          </a:p>
          <a:p>
            <a:pPr marL="171450" indent="-171450">
              <a:lnSpc>
                <a:spcPct val="150000"/>
              </a:lnSpc>
              <a:buFont typeface="Wingdings" panose="05000000000000000000" pitchFamily="2" charset="2"/>
              <a:buChar char="v"/>
            </a:pPr>
            <a:r>
              <a:rPr lang="en-US" sz="1200" b="1" dirty="0" err="1" smtClean="0">
                <a:latin typeface="Times New Roman" panose="02020603050405020304" pitchFamily="18" charset="0"/>
                <a:cs typeface="Times New Roman" panose="02020603050405020304" pitchFamily="18" charset="0"/>
              </a:rPr>
              <a:t>Thi</a:t>
            </a:r>
            <a:r>
              <a:rPr lang="vi-VN" sz="1200" b="1" dirty="0" smtClean="0">
                <a:latin typeface="Times New Roman" panose="02020603050405020304" pitchFamily="18" charset="0"/>
                <a:cs typeface="Times New Roman" panose="02020603050405020304" pitchFamily="18" charset="0"/>
              </a:rPr>
              <a:t>ế</a:t>
            </a:r>
            <a:r>
              <a:rPr lang="en-US" sz="1200" b="1" dirty="0" smtClean="0">
                <a:latin typeface="Times New Roman" panose="02020603050405020304" pitchFamily="18" charset="0"/>
                <a:cs typeface="Times New Roman" panose="02020603050405020304" pitchFamily="18" charset="0"/>
              </a:rPr>
              <a:t>t l</a:t>
            </a:r>
            <a:r>
              <a:rPr lang="vi-VN" sz="1200" b="1" dirty="0" smtClean="0">
                <a:latin typeface="Times New Roman" panose="02020603050405020304" pitchFamily="18" charset="0"/>
                <a:cs typeface="Times New Roman" panose="02020603050405020304" pitchFamily="18" charset="0"/>
              </a:rPr>
              <a:t>ậ</a:t>
            </a:r>
            <a:r>
              <a:rPr lang="en-US" sz="1200" b="1" dirty="0" smtClean="0">
                <a:latin typeface="Times New Roman" panose="02020603050405020304" pitchFamily="18" charset="0"/>
                <a:cs typeface="Times New Roman" panose="02020603050405020304" pitchFamily="18" charset="0"/>
              </a:rPr>
              <a:t>p s</a:t>
            </a:r>
            <a:r>
              <a:rPr lang="vi-VN" sz="1200" b="1" dirty="0" smtClean="0">
                <a:latin typeface="Times New Roman" panose="02020603050405020304" pitchFamily="18" charset="0"/>
                <a:cs typeface="Times New Roman" panose="02020603050405020304" pitchFamily="18" charset="0"/>
              </a:rPr>
              <a:t>ố lượ</a:t>
            </a:r>
            <a:r>
              <a:rPr lang="en-US" sz="1200" b="1" dirty="0" err="1" smtClean="0">
                <a:latin typeface="Times New Roman" panose="02020603050405020304" pitchFamily="18" charset="0"/>
                <a:cs typeface="Times New Roman" panose="02020603050405020304" pitchFamily="18" charset="0"/>
              </a:rPr>
              <a:t>ng</a:t>
            </a:r>
            <a:r>
              <a:rPr lang="en-US" sz="1200" b="1" dirty="0" smtClean="0">
                <a:latin typeface="Times New Roman" panose="02020603050405020304" pitchFamily="18" charset="0"/>
                <a:cs typeface="Times New Roman" panose="02020603050405020304" pitchFamily="18" charset="0"/>
              </a:rPr>
              <a:t> </a:t>
            </a:r>
            <a:r>
              <a:rPr lang="en-US" sz="1200" b="1" dirty="0" err="1" smtClean="0">
                <a:latin typeface="Times New Roman" panose="02020603050405020304" pitchFamily="18" charset="0"/>
                <a:cs typeface="Times New Roman" panose="02020603050405020304" pitchFamily="18" charset="0"/>
              </a:rPr>
              <a:t>cho</a:t>
            </a:r>
            <a:r>
              <a:rPr lang="en-US" sz="1200" b="1" dirty="0" smtClean="0">
                <a:latin typeface="Times New Roman" panose="02020603050405020304" pitchFamily="18" charset="0"/>
                <a:cs typeface="Times New Roman" panose="02020603050405020304" pitchFamily="18" charset="0"/>
              </a:rPr>
              <a:t> t</a:t>
            </a:r>
            <a:r>
              <a:rPr lang="vi-VN" sz="1200" b="1" dirty="0" smtClean="0">
                <a:latin typeface="Times New Roman" panose="02020603050405020304" pitchFamily="18" charset="0"/>
                <a:cs typeface="Times New Roman" panose="02020603050405020304" pitchFamily="18" charset="0"/>
              </a:rPr>
              <a:t>ừ</a:t>
            </a:r>
            <a:r>
              <a:rPr lang="en-US" sz="1200" b="1" dirty="0" err="1" smtClean="0">
                <a:latin typeface="Times New Roman" panose="02020603050405020304" pitchFamily="18" charset="0"/>
                <a:cs typeface="Times New Roman" panose="02020603050405020304" pitchFamily="18" charset="0"/>
              </a:rPr>
              <a:t>ng</a:t>
            </a:r>
            <a:r>
              <a:rPr lang="en-US" sz="1200" b="1" dirty="0" smtClean="0">
                <a:latin typeface="Times New Roman" panose="02020603050405020304" pitchFamily="18" charset="0"/>
                <a:cs typeface="Times New Roman" panose="02020603050405020304" pitchFamily="18" charset="0"/>
              </a:rPr>
              <a:t> option: </a:t>
            </a:r>
            <a:r>
              <a:rPr lang="en-US" sz="1200" b="1" dirty="0" err="1" smtClean="0">
                <a:latin typeface="Times New Roman" panose="02020603050405020304" pitchFamily="18" charset="0"/>
                <a:cs typeface="Times New Roman" panose="02020603050405020304" pitchFamily="18" charset="0"/>
              </a:rPr>
              <a:t>Coupang</a:t>
            </a:r>
            <a:r>
              <a:rPr lang="en-US" sz="1200" b="1" dirty="0" smtClean="0">
                <a:latin typeface="Times New Roman" panose="02020603050405020304" pitchFamily="18" charset="0"/>
                <a:cs typeface="Times New Roman" panose="02020603050405020304" pitchFamily="18" charset="0"/>
              </a:rPr>
              <a:t>, </a:t>
            </a:r>
            <a:r>
              <a:rPr lang="en-US" sz="1200" b="1" dirty="0" err="1" smtClean="0">
                <a:latin typeface="Times New Roman" panose="02020603050405020304" pitchFamily="18" charset="0"/>
                <a:cs typeface="Times New Roman" panose="02020603050405020304" pitchFamily="18" charset="0"/>
              </a:rPr>
              <a:t>Wemakeprice</a:t>
            </a:r>
            <a:r>
              <a:rPr lang="en-US" sz="1200" b="1" dirty="0" smtClean="0">
                <a:latin typeface="Times New Roman" panose="02020603050405020304" pitchFamily="18" charset="0"/>
                <a:cs typeface="Times New Roman" panose="02020603050405020304" pitchFamily="18" charset="0"/>
              </a:rPr>
              <a:t>, </a:t>
            </a:r>
            <a:r>
              <a:rPr lang="en-US" sz="1200" b="1" dirty="0" err="1" smtClean="0">
                <a:latin typeface="Times New Roman" panose="02020603050405020304" pitchFamily="18" charset="0"/>
                <a:cs typeface="Times New Roman" panose="02020603050405020304" pitchFamily="18" charset="0"/>
              </a:rPr>
              <a:t>Timon</a:t>
            </a:r>
            <a:r>
              <a:rPr lang="en-US" sz="1200" b="1" dirty="0" smtClean="0">
                <a:latin typeface="Times New Roman" panose="02020603050405020304" pitchFamily="18" charset="0"/>
                <a:cs typeface="Times New Roman" panose="02020603050405020304" pitchFamily="18" charset="0"/>
              </a:rPr>
              <a:t> k0 </a:t>
            </a:r>
            <a:r>
              <a:rPr lang="en-US" sz="1200" b="1" dirty="0" err="1" smtClean="0">
                <a:latin typeface="Times New Roman" panose="02020603050405020304" pitchFamily="18" charset="0"/>
                <a:cs typeface="Times New Roman" panose="02020603050405020304" pitchFamily="18" charset="0"/>
              </a:rPr>
              <a:t>gi</a:t>
            </a:r>
            <a:r>
              <a:rPr lang="vi-VN" sz="1200" b="1" dirty="0" smtClean="0">
                <a:latin typeface="Times New Roman" panose="02020603050405020304" pitchFamily="18" charset="0"/>
                <a:cs typeface="Times New Roman" panose="02020603050405020304" pitchFamily="18" charset="0"/>
              </a:rPr>
              <a:t>ớ</a:t>
            </a:r>
            <a:r>
              <a:rPr lang="en-US" sz="1200" b="1" dirty="0" err="1" smtClean="0">
                <a:latin typeface="Times New Roman" panose="02020603050405020304" pitchFamily="18" charset="0"/>
                <a:cs typeface="Times New Roman" panose="02020603050405020304" pitchFamily="18" charset="0"/>
              </a:rPr>
              <a:t>i</a:t>
            </a:r>
            <a:r>
              <a:rPr lang="en-US" sz="1200" b="1" dirty="0" smtClean="0">
                <a:latin typeface="Times New Roman" panose="02020603050405020304" pitchFamily="18" charset="0"/>
                <a:cs typeface="Times New Roman" panose="02020603050405020304" pitchFamily="18" charset="0"/>
              </a:rPr>
              <a:t> h</a:t>
            </a:r>
            <a:r>
              <a:rPr lang="vi-VN" sz="1200" b="1" dirty="0" smtClean="0">
                <a:latin typeface="Times New Roman" panose="02020603050405020304" pitchFamily="18" charset="0"/>
                <a:cs typeface="Times New Roman" panose="02020603050405020304" pitchFamily="18" charset="0"/>
              </a:rPr>
              <a:t>ạ</a:t>
            </a:r>
            <a:r>
              <a:rPr lang="pt-BR" sz="1200" b="1" dirty="0" smtClean="0">
                <a:latin typeface="Times New Roman" panose="02020603050405020304" pitchFamily="18" charset="0"/>
                <a:cs typeface="Times New Roman" panose="02020603050405020304" pitchFamily="18" charset="0"/>
              </a:rPr>
              <a:t>n/các trang khác chia đ</a:t>
            </a:r>
            <a:r>
              <a:rPr lang="vi-VN" sz="1200" b="1" dirty="0" smtClean="0">
                <a:latin typeface="Times New Roman" panose="02020603050405020304" pitchFamily="18" charset="0"/>
                <a:cs typeface="Times New Roman" panose="02020603050405020304" pitchFamily="18" charset="0"/>
              </a:rPr>
              <a:t>ề</a:t>
            </a:r>
            <a:r>
              <a:rPr lang="en-US" sz="1200" b="1" dirty="0" smtClean="0">
                <a:latin typeface="Times New Roman" panose="02020603050405020304" pitchFamily="18" charset="0"/>
                <a:cs typeface="Times New Roman" panose="02020603050405020304" pitchFamily="18" charset="0"/>
              </a:rPr>
              <a:t>u.</a:t>
            </a:r>
            <a:r>
              <a:rPr kumimoji="1" lang="ko-KR" altLang="en-US" sz="1200" b="1" dirty="0" smtClean="0">
                <a:latin typeface="Times New Roman" panose="02020603050405020304" pitchFamily="18" charset="0"/>
                <a:ea typeface="Nanum Gothic" panose="020D0604000000000000" pitchFamily="34" charset="-127"/>
                <a:cs typeface="Times New Roman" panose="02020603050405020304" pitchFamily="18" charset="0"/>
              </a:rPr>
              <a:t> </a:t>
            </a:r>
            <a:endParaRPr kumimoji="1"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 name="텍스트 개체 틀 2"/>
          <p:cNvSpPr>
            <a:spLocks noGrp="1"/>
          </p:cNvSpPr>
          <p:nvPr>
            <p:ph type="body" sz="quarter" idx="10"/>
          </p:nvPr>
        </p:nvSpPr>
        <p:spPr>
          <a:xfrm>
            <a:off x="704528" y="1844824"/>
            <a:ext cx="8856662" cy="3888432"/>
          </a:xfrm>
        </p:spPr>
        <p:txBody>
          <a:bodyPr>
            <a:normAutofit lnSpcReduction="10000"/>
          </a:bodyPr>
          <a:lstStyle/>
          <a:p>
            <a:pPr marL="0" lvl="1" indent="0">
              <a:buNone/>
            </a:pPr>
            <a:endParaRPr lang="en-US" altLang="ko-KR" sz="1100" b="1"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r>
              <a:rPr lang="en-US" altLang="ko-KR" sz="1100" b="1"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1100" b="1" dirty="0" err="1"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Bước</a:t>
            </a:r>
            <a:r>
              <a:rPr lang="en-US" altLang="ko-KR" sz="1100" b="1"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 1: </a:t>
            </a:r>
            <a:r>
              <a:rPr lang="en-US" altLang="ko-KR" sz="1100" b="1" dirty="0" err="1"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Tiến</a:t>
            </a:r>
            <a:r>
              <a:rPr lang="en-US" altLang="ko-KR" sz="1100" b="1"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100" b="1" dirty="0" err="1"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hành</a:t>
            </a:r>
            <a:r>
              <a:rPr lang="en-US" altLang="ko-KR" sz="1100" b="1"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 </a:t>
            </a:r>
            <a:r>
              <a:rPr lang="vi-VN" altLang="ko-KR" sz="1100" b="1"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Phương thức đồng bộ hóa số lượng (phương thức liên kết tổng số lượng) =&gt; Về mặt kinh doanh có vẻ phù hợp. Cần kiểm tra tải hệ thống.</a:t>
            </a:r>
            <a:endParaRPr lang="en-US" altLang="ko-KR" sz="1100" b="1"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r>
              <a:rPr lang="vi-VN" altLang="ko-KR" sz="1050"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Phương thức setting số lượng tồn kho (do công ty nhập vào) cho đồng nhất với số lượng trên từng kênh (100%, 90%, 80%).</a:t>
            </a:r>
          </a:p>
          <a:p>
            <a:pPr marL="0" indent="0">
              <a:buNone/>
            </a:pPr>
            <a:r>
              <a:rPr lang="vi-VN" altLang="ko-KR" sz="1050"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Nếu sản phẩm trên 1 kênh nào đó được bán khiến số lượng tồn kho giảm, thì số lượng tồn kho trên các kênh khác cũng phải được điều chỉnh.</a:t>
            </a:r>
            <a:endParaRPr lang="en-US" altLang="ko-KR" sz="1050"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endParaRPr lang="en-US" altLang="ko-KR" sz="1050"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r>
              <a:rPr lang="vi-VN" altLang="ko-KR" sz="1050"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Ưu điểm: Không cần bận tâm việc chia số lượng cho phù hợp.</a:t>
            </a:r>
          </a:p>
          <a:p>
            <a:pPr marL="0" indent="0">
              <a:buNone/>
            </a:pPr>
            <a:r>
              <a:rPr lang="vi-VN" altLang="ko-KR" sz="1050"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Khuyết điểm: Phải đồng bộ số lượng của tất cả các kênh theo một chu kỳ nhất định. Có khả năng bị overbooking.</a:t>
            </a:r>
            <a:endParaRPr lang="en-US" altLang="ko-KR" sz="1050"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endParaRPr lang="en-US" altLang="ko-KR" sz="1050"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r>
              <a:rPr lang="vi-VN" altLang="ko-KR" sz="1050"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Nếu tồn kho xuống dưới % nhất định nào đó, thì phải hỗ trợ chức năng </a:t>
            </a:r>
            <a:r>
              <a:rPr lang="en-US" altLang="ko-KR" sz="1050" dirty="0" err="1"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cảnh</a:t>
            </a:r>
            <a:r>
              <a:rPr lang="en-US" altLang="ko-KR" sz="1050"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 </a:t>
            </a:r>
            <a:r>
              <a:rPr lang="vi-VN" altLang="ko-KR" sz="1050" dirty="0" smtClean="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rPr>
              <a:t>báo hoặc ngưng bán.</a:t>
            </a:r>
            <a:endParaRPr lang="en-US" altLang="ko-KR" sz="1050"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endParaRPr lang="en-US" altLang="ko-KR" sz="1100" b="1"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endParaRPr lang="en-US" altLang="ko-KR" sz="1100" b="1" dirty="0">
              <a:highlight>
                <a:srgbClr val="FFFF00"/>
              </a:highlight>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r>
              <a:rPr lang="vi-VN" altLang="ko-KR" sz="1100" b="1" dirty="0" smtClean="0">
                <a:latin typeface="Times New Roman" panose="02020603050405020304" pitchFamily="18" charset="0"/>
                <a:ea typeface="Nanum Gothic" panose="020D0604000000000000" pitchFamily="34" charset="-127"/>
                <a:cs typeface="Times New Roman" panose="02020603050405020304" pitchFamily="18" charset="0"/>
              </a:rPr>
              <a:t>(Bước 2: xem xét) Phương thức chia số lượng phù hợp (Phương thức chia Crawler)</a:t>
            </a:r>
            <a:endParaRPr lang="en-US" altLang="ko-KR" sz="1100" b="1" dirty="0">
              <a:latin typeface="Times New Roman" panose="02020603050405020304" pitchFamily="18" charset="0"/>
              <a:ea typeface="Nanum Gothic" panose="020D0604000000000000" pitchFamily="34" charset="-127"/>
              <a:cs typeface="Times New Roman" panose="02020603050405020304" pitchFamily="18" charset="0"/>
            </a:endParaRPr>
          </a:p>
          <a:p>
            <a:pPr marL="0" lvl="0" indent="0" fontAlgn="ctr">
              <a:spcBef>
                <a:spcPts val="0"/>
              </a:spcBef>
              <a:buNone/>
              <a:defRPr/>
            </a:pPr>
            <a:r>
              <a:rPr lang="vi-VN" altLang="ko-KR" sz="1050" dirty="0" smtClean="0">
                <a:solidFill>
                  <a:srgbClr val="000000"/>
                </a:solidFill>
                <a:latin typeface="Times New Roman" panose="02020603050405020304" pitchFamily="18" charset="0"/>
                <a:ea typeface="Nanum Gothic" panose="020D0604000000000000" pitchFamily="34" charset="-127"/>
                <a:cs typeface="Times New Roman" panose="02020603050405020304" pitchFamily="18" charset="0"/>
              </a:rPr>
              <a:t>Phương thức để người quản lý dựa trên số lượng tồn kho tổng trên trang admin mà điều chỉnh số lượng chia hợp lý cho mỗi kênh.</a:t>
            </a:r>
          </a:p>
          <a:p>
            <a:pPr marL="0" lvl="0" indent="0" fontAlgn="ctr">
              <a:spcBef>
                <a:spcPts val="0"/>
              </a:spcBef>
              <a:buNone/>
              <a:defRPr/>
            </a:pPr>
            <a:r>
              <a:rPr lang="vi-VN" altLang="ko-KR" sz="1050" dirty="0" smtClean="0">
                <a:solidFill>
                  <a:srgbClr val="000000"/>
                </a:solidFill>
                <a:latin typeface="Times New Roman" panose="02020603050405020304" pitchFamily="18" charset="0"/>
                <a:ea typeface="Nanum Gothic" panose="020D0604000000000000" pitchFamily="34" charset="-127"/>
                <a:cs typeface="Times New Roman" panose="02020603050405020304" pitchFamily="18" charset="0"/>
              </a:rPr>
              <a:t>Phải xem diễn biến bán hàng và liên tục dùng crawler để điều chỉnh "số lượng tồn kho trên mỗi kênh" trong tổng số lượng.</a:t>
            </a:r>
            <a:endParaRPr lang="en-US" altLang="ko-KR" sz="1050" dirty="0">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endParaRPr lang="en-US" altLang="ko-KR" sz="1050" dirty="0">
              <a:latin typeface="Times New Roman" panose="02020603050405020304" pitchFamily="18" charset="0"/>
              <a:ea typeface="Nanum Gothic" panose="020D0604000000000000" pitchFamily="34" charset="-127"/>
              <a:cs typeface="Times New Roman" panose="02020603050405020304" pitchFamily="18" charset="0"/>
            </a:endParaRPr>
          </a:p>
          <a:p>
            <a:pPr marL="0" indent="0">
              <a:buNone/>
            </a:pPr>
            <a:r>
              <a:rPr lang="vi-VN" altLang="ko-KR" sz="1050" dirty="0" smtClean="0">
                <a:latin typeface="Times New Roman" panose="02020603050405020304" pitchFamily="18" charset="0"/>
                <a:ea typeface="Nanum Gothic" panose="020D0604000000000000" pitchFamily="34" charset="-127"/>
                <a:cs typeface="Times New Roman" panose="02020603050405020304" pitchFamily="18" charset="0"/>
              </a:rPr>
              <a:t>Ưu điểm: Không cần thực hiện liên kết để đồng bộ hóa số lượng tồn kho.</a:t>
            </a:r>
          </a:p>
          <a:p>
            <a:pPr marL="0" indent="0">
              <a:buNone/>
            </a:pPr>
            <a:r>
              <a:rPr lang="vi-VN" altLang="ko-KR" sz="1050" dirty="0" smtClean="0">
                <a:latin typeface="Times New Roman" panose="02020603050405020304" pitchFamily="18" charset="0"/>
                <a:ea typeface="Nanum Gothic" panose="020D0604000000000000" pitchFamily="34" charset="-127"/>
                <a:cs typeface="Times New Roman" panose="02020603050405020304" pitchFamily="18" charset="0"/>
              </a:rPr>
              <a:t>Khuyết điểm: Cần nâng cao phương pháp setting số lượng thích hợp.</a:t>
            </a:r>
            <a:endParaRPr lang="en-US" altLang="ko-KR" sz="1050" dirty="0">
              <a:latin typeface="Times New Roman" panose="02020603050405020304" pitchFamily="18" charset="0"/>
              <a:ea typeface="Nanum Gothic" panose="020D0604000000000000" pitchFamily="34" charset="-127"/>
              <a:cs typeface="Times New Roman" panose="02020603050405020304" pitchFamily="18" charset="0"/>
            </a:endParaRPr>
          </a:p>
          <a:p>
            <a:pPr marL="0" lvl="0" indent="0" fontAlgn="ctr">
              <a:spcBef>
                <a:spcPts val="0"/>
              </a:spcBef>
              <a:buNone/>
              <a:defRPr/>
            </a:pPr>
            <a:endParaRPr lang="en-US" altLang="ko-KR" sz="1050" dirty="0">
              <a:solidFill>
                <a:srgbClr val="000000"/>
              </a:solidFill>
              <a:latin typeface="Times New Roman" panose="02020603050405020304" pitchFamily="18" charset="0"/>
              <a:ea typeface="Nanum Gothic" panose="020D0604000000000000" pitchFamily="34" charset="-127"/>
              <a:cs typeface="Times New Roman" panose="02020603050405020304" pitchFamily="18" charset="0"/>
            </a:endParaRPr>
          </a:p>
          <a:p>
            <a:pPr marL="0" lvl="0" indent="0" fontAlgn="ctr">
              <a:spcBef>
                <a:spcPts val="0"/>
              </a:spcBef>
              <a:buNone/>
              <a:defRPr/>
            </a:pPr>
            <a:r>
              <a:rPr lang="vi-VN" altLang="ko-KR" sz="1050" dirty="0" smtClean="0">
                <a:solidFill>
                  <a:srgbClr val="000000"/>
                </a:solidFill>
                <a:latin typeface="Times New Roman" panose="02020603050405020304" pitchFamily="18" charset="0"/>
                <a:ea typeface="Nanum Gothic" panose="020D0604000000000000" pitchFamily="34" charset="-127"/>
                <a:cs typeface="Times New Roman" panose="02020603050405020304" pitchFamily="18" charset="0"/>
              </a:rPr>
              <a:t>Trọng tâm là phải chia số lượng mỗi kênh cho phù hợp.</a:t>
            </a:r>
          </a:p>
          <a:p>
            <a:pPr marL="0" lvl="0" indent="0" fontAlgn="ctr">
              <a:spcBef>
                <a:spcPts val="0"/>
              </a:spcBef>
              <a:buNone/>
              <a:defRPr/>
            </a:pPr>
            <a:r>
              <a:rPr lang="vi-VN" altLang="ko-KR" sz="1050" dirty="0" smtClean="0">
                <a:solidFill>
                  <a:srgbClr val="000000"/>
                </a:solidFill>
                <a:latin typeface="Times New Roman" panose="02020603050405020304" pitchFamily="18" charset="0"/>
                <a:ea typeface="Nanum Gothic" panose="020D0604000000000000" pitchFamily="34" charset="-127"/>
                <a:cs typeface="Times New Roman" panose="02020603050405020304" pitchFamily="18" charset="0"/>
              </a:rPr>
              <a:t>Cần hỗ trợ kỹ thuật để phân tích sức bán hiện tại sau đó hệ thống sẽ khuyến nghị tỷ lệ chia (VD chia 110%).</a:t>
            </a:r>
          </a:p>
          <a:p>
            <a:pPr marL="0" lvl="0" indent="0" fontAlgn="ctr">
              <a:spcBef>
                <a:spcPts val="0"/>
              </a:spcBef>
              <a:buNone/>
              <a:defRPr/>
            </a:pPr>
            <a:r>
              <a:rPr lang="vi-VN" altLang="ko-KR" sz="1050" dirty="0" smtClean="0">
                <a:solidFill>
                  <a:srgbClr val="000000"/>
                </a:solidFill>
                <a:latin typeface="Times New Roman" panose="02020603050405020304" pitchFamily="18" charset="0"/>
                <a:ea typeface="Nanum Gothic" panose="020D0604000000000000" pitchFamily="34" charset="-127"/>
                <a:cs typeface="Times New Roman" panose="02020603050405020304" pitchFamily="18" charset="0"/>
              </a:rPr>
              <a:t>Cần chức năng theo dõi diễn biến bán hàng rồi thông báo thông tin của kênh cần được chia thêm số lượng.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 name="표 138"/>
          <p:cNvGraphicFramePr>
            <a:graphicFrameLocks noGrp="1"/>
          </p:cNvGraphicFramePr>
          <p:nvPr/>
        </p:nvGraphicFramePr>
        <p:xfrm>
          <a:off x="6401974" y="1090907"/>
          <a:ext cx="2368276" cy="5362429"/>
        </p:xfrm>
        <a:graphic>
          <a:graphicData uri="http://schemas.openxmlformats.org/drawingml/2006/table">
            <a:tbl>
              <a:tblPr firstRow="1" bandRow="1">
                <a:tableStyleId>{5C22544A-7EE6-4342-B048-85BDC9FD1C3A}</a:tableStyleId>
              </a:tblPr>
              <a:tblGrid>
                <a:gridCol w="1184138">
                  <a:extLst>
                    <a:ext uri="{9D8B030D-6E8A-4147-A177-3AD203B41FA5}">
                      <a16:colId xmlns:a16="http://schemas.microsoft.com/office/drawing/2014/main" val="20000"/>
                    </a:ext>
                  </a:extLst>
                </a:gridCol>
                <a:gridCol w="1184138">
                  <a:extLst>
                    <a:ext uri="{9D8B030D-6E8A-4147-A177-3AD203B41FA5}">
                      <a16:colId xmlns:a16="http://schemas.microsoft.com/office/drawing/2014/main" val="20001"/>
                    </a:ext>
                  </a:extLst>
                </a:gridCol>
              </a:tblGrid>
              <a:tr h="360040">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Cập</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nhật</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Hành</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động</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20080">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1"/>
                  </a:ext>
                </a:extLst>
              </a:tr>
              <a:tr h="995910">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2"/>
                  </a:ext>
                </a:extLst>
              </a:tr>
              <a:tr h="864096">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3"/>
                  </a:ext>
                </a:extLst>
              </a:tr>
              <a:tr h="766119">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4"/>
                  </a:ext>
                </a:extLst>
              </a:tr>
              <a:tr h="936104">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5"/>
                  </a:ext>
                </a:extLst>
              </a:tr>
              <a:tr h="720080">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graphicFrame>
        <p:nvGraphicFramePr>
          <p:cNvPr id="64" name="표 63"/>
          <p:cNvGraphicFramePr>
            <a:graphicFrameLocks noGrp="1"/>
          </p:cNvGraphicFramePr>
          <p:nvPr/>
        </p:nvGraphicFramePr>
        <p:xfrm>
          <a:off x="947305" y="1090907"/>
          <a:ext cx="3688441" cy="5398629"/>
        </p:xfrm>
        <a:graphic>
          <a:graphicData uri="http://schemas.openxmlformats.org/drawingml/2006/table">
            <a:tbl>
              <a:tblPr firstRow="1" bandRow="1">
                <a:tableStyleId>{5C22544A-7EE6-4342-B048-85BDC9FD1C3A}</a:tableStyleId>
              </a:tblPr>
              <a:tblGrid>
                <a:gridCol w="833215">
                  <a:extLst>
                    <a:ext uri="{9D8B030D-6E8A-4147-A177-3AD203B41FA5}">
                      <a16:colId xmlns:a16="http://schemas.microsoft.com/office/drawing/2014/main" val="20000"/>
                    </a:ext>
                  </a:extLst>
                </a:gridCol>
                <a:gridCol w="1775106">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360040">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thái sản phẩm</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Hành</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động</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Nội</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dung thay đổi</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20080">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1"/>
                  </a:ext>
                </a:extLst>
              </a:tr>
              <a:tr h="995910">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Chờ</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duyệt</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2"/>
                  </a:ext>
                </a:extLst>
              </a:tr>
              <a:tr h="766119">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Chờ</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3"/>
                  </a:ext>
                </a:extLst>
              </a:tr>
              <a:tr h="864096">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4"/>
                  </a:ext>
                </a:extLst>
              </a:tr>
              <a:tr h="936104">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5"/>
                  </a:ext>
                </a:extLst>
              </a:tr>
              <a:tr h="720080">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Bán</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xong</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2" name="제목 1"/>
          <p:cNvSpPr>
            <a:spLocks noGrp="1"/>
          </p:cNvSpPr>
          <p:nvPr>
            <p:ph type="title"/>
          </p:nvPr>
        </p:nvSpPr>
        <p:spPr>
          <a:xfrm>
            <a:off x="128464" y="28"/>
            <a:ext cx="9777536"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ormAutofit/>
          </a:bodyPr>
          <a:lstStyle/>
          <a:p>
            <a:r>
              <a:rPr lang="en-US" altLang="ko-KR" smtClean="0">
                <a:latin typeface="Times New Roman" panose="02020603050405020304" pitchFamily="18" charset="0"/>
                <a:cs typeface="Times New Roman" panose="02020603050405020304" pitchFamily="18" charset="0"/>
              </a:rPr>
              <a:t>[Chính sách] </a:t>
            </a:r>
            <a:r>
              <a:rPr lang="vi-VN" altLang="ko-KR" smtClean="0">
                <a:latin typeface="Times New Roman" panose="02020603050405020304" pitchFamily="18" charset="0"/>
                <a:cs typeface="Times New Roman" panose="02020603050405020304" pitchFamily="18" charset="0"/>
              </a:rPr>
              <a:t>Xử lý liên kết với kênh bán theo trạng thái sản phẩm và hành động : Kênh liên kết API</a:t>
            </a:r>
            <a:endParaRPr lang="ko-KR" altLang="en-US" dirty="0">
              <a:latin typeface="Times New Roman" panose="02020603050405020304" pitchFamily="18" charset="0"/>
              <a:cs typeface="Times New Roman" panose="02020603050405020304" pitchFamily="18" charset="0"/>
            </a:endParaRPr>
          </a:p>
        </p:txBody>
      </p:sp>
      <p:sp>
        <p:nvSpPr>
          <p:cNvPr id="48" name="TextBox 47"/>
          <p:cNvSpPr txBox="1"/>
          <p:nvPr/>
        </p:nvSpPr>
        <p:spPr>
          <a:xfrm>
            <a:off x="2360172" y="2498271"/>
            <a:ext cx="865615" cy="246221"/>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Đăng sp xong</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8" name="TextBox 137"/>
          <p:cNvSpPr txBox="1"/>
          <p:nvPr/>
        </p:nvSpPr>
        <p:spPr>
          <a:xfrm>
            <a:off x="2360171" y="1676064"/>
            <a:ext cx="865615" cy="246221"/>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Lưu tạm</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83" name="직선 화살표 연결선 182"/>
          <p:cNvCxnSpPr>
            <a:stCxn id="138" idx="2"/>
            <a:endCxn id="48" idx="0"/>
          </p:cNvCxnSpPr>
          <p:nvPr/>
        </p:nvCxnSpPr>
        <p:spPr>
          <a:xfrm>
            <a:off x="2792979" y="1922285"/>
            <a:ext cx="1" cy="575986"/>
          </a:xfrm>
          <a:prstGeom prst="straightConnector1">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9" name="직선 화살표 연결선 188"/>
          <p:cNvCxnSpPr>
            <a:stCxn id="48" idx="2"/>
            <a:endCxn id="190" idx="0"/>
          </p:cNvCxnSpPr>
          <p:nvPr/>
        </p:nvCxnSpPr>
        <p:spPr>
          <a:xfrm flipH="1">
            <a:off x="2792761" y="2744492"/>
            <a:ext cx="219" cy="1458415"/>
          </a:xfrm>
          <a:prstGeom prst="straightConnector1">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0" name="TextBox 189"/>
          <p:cNvSpPr txBox="1"/>
          <p:nvPr/>
        </p:nvSpPr>
        <p:spPr>
          <a:xfrm>
            <a:off x="2072681" y="4202907"/>
            <a:ext cx="1440159" cy="553998"/>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(Hệ thống kiểm tra)</a:t>
            </a:r>
          </a:p>
          <a:p>
            <a:pPr algn="ctr"/>
            <a:r>
              <a:rPr kumimoji="1" lang="vi-VN" altLang="ko-KR" sz="1000" smtClean="0">
                <a:latin typeface="Times New Roman" panose="02020603050405020304" pitchFamily="18" charset="0"/>
                <a:ea typeface="Nanum Gothic" panose="020D0604000000000000" pitchFamily="34" charset="-127"/>
                <a:cs typeface="Times New Roman" panose="02020603050405020304" pitchFamily="18" charset="0"/>
              </a:rPr>
              <a:t>Check ngày bắt đầu bán</a:t>
            </a:r>
          </a:p>
          <a:p>
            <a:pPr algn="ctr"/>
            <a:r>
              <a:rPr kumimoji="1" lang="vi-VN" altLang="ko-KR" sz="1000" smtClean="0">
                <a:latin typeface="Times New Roman" panose="02020603050405020304" pitchFamily="18" charset="0"/>
                <a:ea typeface="Nanum Gothic" panose="020D0604000000000000" pitchFamily="34" charset="-127"/>
                <a:cs typeface="Times New Roman" panose="02020603050405020304" pitchFamily="18" charset="0"/>
              </a:rPr>
              <a:t>Ngày bắt đầu &lt; = Hôm nay</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11" name="TextBox 210"/>
          <p:cNvSpPr txBox="1"/>
          <p:nvPr/>
        </p:nvSpPr>
        <p:spPr>
          <a:xfrm>
            <a:off x="2356377" y="5297270"/>
            <a:ext cx="865615" cy="246221"/>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Click ngưng bán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12" name="직선 화살표 연결선 211"/>
          <p:cNvCxnSpPr>
            <a:stCxn id="190" idx="2"/>
            <a:endCxn id="211" idx="0"/>
          </p:cNvCxnSpPr>
          <p:nvPr/>
        </p:nvCxnSpPr>
        <p:spPr>
          <a:xfrm flipH="1">
            <a:off x="2789185" y="4756905"/>
            <a:ext cx="3576" cy="540365"/>
          </a:xfrm>
          <a:prstGeom prst="straightConnector1">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2" name="TextBox 221"/>
          <p:cNvSpPr txBox="1"/>
          <p:nvPr/>
        </p:nvSpPr>
        <p:spPr>
          <a:xfrm>
            <a:off x="2072681" y="5852177"/>
            <a:ext cx="1368151" cy="553998"/>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(Hệ thống kiểm tra)</a:t>
            </a:r>
          </a:p>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Check ngày kết thúc bán</a:t>
            </a:r>
          </a:p>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Ngày kết thúc &lt; Hôm nay</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24" name="직선 화살표 연결선 223"/>
          <p:cNvCxnSpPr>
            <a:stCxn id="190" idx="1"/>
            <a:endCxn id="222" idx="1"/>
          </p:cNvCxnSpPr>
          <p:nvPr/>
        </p:nvCxnSpPr>
        <p:spPr>
          <a:xfrm rot="10800000" flipV="1">
            <a:off x="2072681" y="4479906"/>
            <a:ext cx="12700" cy="1649270"/>
          </a:xfrm>
          <a:prstGeom prst="bentConnector3">
            <a:avLst>
              <a:gd name="adj1" fmla="val 1800000"/>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8" name="TextBox 227"/>
          <p:cNvSpPr txBox="1"/>
          <p:nvPr/>
        </p:nvSpPr>
        <p:spPr>
          <a:xfrm>
            <a:off x="6524573" y="2497587"/>
            <a:ext cx="915955" cy="246221"/>
          </a:xfrm>
          <a:prstGeom prst="rect">
            <a:avLst/>
          </a:prstGeom>
          <a:noFill/>
          <a:ln>
            <a:solidFill>
              <a:schemeClr val="bg1">
                <a:lumMod val="50000"/>
              </a:schemeClr>
            </a:solidFill>
          </a:ln>
        </p:spPr>
        <p:txBody>
          <a:bodyPr wrap="square" lIns="36000" rIns="3600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Đăng sp</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9" name="TextBox 228"/>
          <p:cNvSpPr txBox="1"/>
          <p:nvPr/>
        </p:nvSpPr>
        <p:spPr>
          <a:xfrm>
            <a:off x="7718661" y="3410118"/>
            <a:ext cx="915955" cy="246221"/>
          </a:xfrm>
          <a:prstGeom prst="rect">
            <a:avLst/>
          </a:prstGeom>
          <a:noFill/>
          <a:ln>
            <a:solidFill>
              <a:schemeClr val="bg1">
                <a:lumMod val="50000"/>
              </a:schemeClr>
            </a:solidFill>
          </a:ln>
        </p:spPr>
        <p:txBody>
          <a:bodyPr wrap="square" lIns="36000" rIns="3600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Duyệt bán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38" name="TextBox 237"/>
          <p:cNvSpPr txBox="1"/>
          <p:nvPr/>
        </p:nvSpPr>
        <p:spPr>
          <a:xfrm>
            <a:off x="3768998" y="3335687"/>
            <a:ext cx="705442" cy="400110"/>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Đổi trạng thái</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39" name="직선 화살표 연결선 238"/>
          <p:cNvCxnSpPr>
            <a:stCxn id="48" idx="3"/>
            <a:endCxn id="228" idx="1"/>
          </p:cNvCxnSpPr>
          <p:nvPr/>
        </p:nvCxnSpPr>
        <p:spPr>
          <a:xfrm flipV="1">
            <a:off x="3225787" y="2620698"/>
            <a:ext cx="3298786" cy="684"/>
          </a:xfrm>
          <a:prstGeom prst="straightConnector1">
            <a:avLst/>
          </a:prstGeom>
          <a:ln w="3175">
            <a:solidFill>
              <a:schemeClr val="tx2">
                <a:lumMod val="60000"/>
                <a:lumOff val="40000"/>
              </a:schemeClr>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1" name="직선 화살표 연결선 240"/>
          <p:cNvCxnSpPr>
            <a:stCxn id="229" idx="1"/>
            <a:endCxn id="238" idx="3"/>
          </p:cNvCxnSpPr>
          <p:nvPr/>
        </p:nvCxnSpPr>
        <p:spPr>
          <a:xfrm flipH="1">
            <a:off x="4474440" y="3533229"/>
            <a:ext cx="3244221" cy="2513"/>
          </a:xfrm>
          <a:prstGeom prst="straightConnector1">
            <a:avLst/>
          </a:prstGeom>
          <a:ln w="3175">
            <a:solidFill>
              <a:srgbClr val="C00000"/>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2" name="TextBox 241"/>
          <p:cNvSpPr txBox="1"/>
          <p:nvPr/>
        </p:nvSpPr>
        <p:spPr>
          <a:xfrm>
            <a:off x="5746540" y="3410118"/>
            <a:ext cx="519800" cy="264963"/>
          </a:xfrm>
          <a:prstGeom prst="rect">
            <a:avLst/>
          </a:prstGeom>
          <a:solidFill>
            <a:schemeClr val="accent2">
              <a:lumMod val="20000"/>
              <a:lumOff val="80000"/>
            </a:schemeClr>
          </a:solidFill>
          <a:ln>
            <a:noFill/>
          </a:ln>
        </p:spPr>
        <p:txBody>
          <a:bodyPr wrap="square" rtlCol="0">
            <a:spAutoFit/>
          </a:bodyPr>
          <a:lstStyle/>
          <a:p>
            <a:pPr algn="ctr"/>
            <a:r>
              <a:rPr kumimoji="1" lang="en-US" altLang="ko-KR" sz="11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1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7" name="TextBox 226"/>
          <p:cNvSpPr txBox="1"/>
          <p:nvPr/>
        </p:nvSpPr>
        <p:spPr>
          <a:xfrm>
            <a:off x="4780807" y="2519537"/>
            <a:ext cx="519800" cy="264963"/>
          </a:xfrm>
          <a:prstGeom prst="rect">
            <a:avLst/>
          </a:prstGeom>
          <a:solidFill>
            <a:schemeClr val="accent1">
              <a:lumMod val="20000"/>
              <a:lumOff val="80000"/>
            </a:schemeClr>
          </a:solidFill>
          <a:ln>
            <a:noFill/>
          </a:ln>
        </p:spPr>
        <p:txBody>
          <a:bodyPr wrap="square" rtlCol="0">
            <a:spAutoFit/>
          </a:bodyPr>
          <a:lstStyle/>
          <a:p>
            <a:pPr algn="ctr"/>
            <a:r>
              <a:rPr kumimoji="1" lang="en-US" altLang="ko-KR"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58" name="직선 화살표 연결선 257"/>
          <p:cNvCxnSpPr>
            <a:stCxn id="211" idx="3"/>
            <a:endCxn id="260" idx="1"/>
          </p:cNvCxnSpPr>
          <p:nvPr/>
        </p:nvCxnSpPr>
        <p:spPr>
          <a:xfrm>
            <a:off x="3221992" y="5420381"/>
            <a:ext cx="3376170" cy="4695"/>
          </a:xfrm>
          <a:prstGeom prst="straightConnector1">
            <a:avLst/>
          </a:prstGeom>
          <a:ln w="3175">
            <a:solidFill>
              <a:schemeClr val="tx2">
                <a:lumMod val="60000"/>
                <a:lumOff val="40000"/>
              </a:schemeClr>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4780807" y="5278528"/>
            <a:ext cx="519800" cy="264963"/>
          </a:xfrm>
          <a:prstGeom prst="rect">
            <a:avLst/>
          </a:prstGeom>
          <a:solidFill>
            <a:schemeClr val="accent1">
              <a:lumMod val="20000"/>
              <a:lumOff val="80000"/>
            </a:schemeClr>
          </a:solidFill>
          <a:ln>
            <a:noFill/>
          </a:ln>
        </p:spPr>
        <p:txBody>
          <a:bodyPr wrap="square" rtlCol="0">
            <a:spAutoFit/>
          </a:bodyPr>
          <a:lstStyle/>
          <a:p>
            <a:pPr algn="ctr"/>
            <a:r>
              <a:rPr kumimoji="1" lang="en-US" altLang="ko-KR"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0" name="TextBox 259"/>
          <p:cNvSpPr txBox="1"/>
          <p:nvPr/>
        </p:nvSpPr>
        <p:spPr>
          <a:xfrm>
            <a:off x="6598162" y="5225021"/>
            <a:ext cx="705442" cy="400110"/>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Đổi trạng thái</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62" name="직선 화살표 연결선 261"/>
          <p:cNvCxnSpPr>
            <a:stCxn id="222" idx="3"/>
            <a:endCxn id="264" idx="1"/>
          </p:cNvCxnSpPr>
          <p:nvPr/>
        </p:nvCxnSpPr>
        <p:spPr>
          <a:xfrm>
            <a:off x="3440832" y="6129176"/>
            <a:ext cx="3157330" cy="1373"/>
          </a:xfrm>
          <a:prstGeom prst="straightConnector1">
            <a:avLst/>
          </a:prstGeom>
          <a:ln w="3175">
            <a:solidFill>
              <a:schemeClr val="tx2">
                <a:lumMod val="60000"/>
                <a:lumOff val="40000"/>
              </a:schemeClr>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3" name="TextBox 262"/>
          <p:cNvSpPr txBox="1"/>
          <p:nvPr/>
        </p:nvSpPr>
        <p:spPr>
          <a:xfrm>
            <a:off x="4780807" y="6005267"/>
            <a:ext cx="519800" cy="264963"/>
          </a:xfrm>
          <a:prstGeom prst="rect">
            <a:avLst/>
          </a:prstGeom>
          <a:solidFill>
            <a:schemeClr val="accent1">
              <a:lumMod val="20000"/>
              <a:lumOff val="80000"/>
            </a:schemeClr>
          </a:solidFill>
          <a:ln>
            <a:noFill/>
          </a:ln>
        </p:spPr>
        <p:txBody>
          <a:bodyPr wrap="square" rtlCol="0">
            <a:spAutoFit/>
          </a:bodyPr>
          <a:lstStyle/>
          <a:p>
            <a:pPr algn="ctr"/>
            <a:r>
              <a:rPr kumimoji="1" lang="en-US" altLang="ko-KR"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4" name="TextBox 263"/>
          <p:cNvSpPr txBox="1"/>
          <p:nvPr/>
        </p:nvSpPr>
        <p:spPr>
          <a:xfrm>
            <a:off x="6598162" y="5930494"/>
            <a:ext cx="705442" cy="400110"/>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Đổi trạng thái</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6" name="TextBox 265"/>
          <p:cNvSpPr txBox="1"/>
          <p:nvPr/>
        </p:nvSpPr>
        <p:spPr>
          <a:xfrm>
            <a:off x="7718661" y="4866557"/>
            <a:ext cx="915955" cy="246221"/>
          </a:xfrm>
          <a:prstGeom prst="rect">
            <a:avLst/>
          </a:prstGeom>
          <a:noFill/>
          <a:ln>
            <a:solidFill>
              <a:schemeClr val="bg1">
                <a:lumMod val="50000"/>
              </a:schemeClr>
            </a:solidFill>
          </a:ln>
        </p:spPr>
        <p:txBody>
          <a:bodyPr wrap="square" lIns="36000" rIns="3600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Ngưng bán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7" name="TextBox 266"/>
          <p:cNvSpPr txBox="1"/>
          <p:nvPr/>
        </p:nvSpPr>
        <p:spPr>
          <a:xfrm>
            <a:off x="3743641" y="4872303"/>
            <a:ext cx="705442" cy="400110"/>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Đổi trạng thái</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69" name="직선 화살표 연결선 268"/>
          <p:cNvCxnSpPr/>
          <p:nvPr/>
        </p:nvCxnSpPr>
        <p:spPr>
          <a:xfrm flipH="1">
            <a:off x="4443664" y="4989668"/>
            <a:ext cx="3244221" cy="0"/>
          </a:xfrm>
          <a:prstGeom prst="straightConnector1">
            <a:avLst/>
          </a:prstGeom>
          <a:ln w="3175">
            <a:solidFill>
              <a:srgbClr val="C00000"/>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0" name="TextBox 269"/>
          <p:cNvSpPr txBox="1"/>
          <p:nvPr/>
        </p:nvSpPr>
        <p:spPr>
          <a:xfrm>
            <a:off x="5715764" y="4866557"/>
            <a:ext cx="519800" cy="264963"/>
          </a:xfrm>
          <a:prstGeom prst="rect">
            <a:avLst/>
          </a:prstGeom>
          <a:solidFill>
            <a:schemeClr val="accent2">
              <a:lumMod val="20000"/>
              <a:lumOff val="80000"/>
            </a:schemeClr>
          </a:solidFill>
          <a:ln>
            <a:noFill/>
          </a:ln>
        </p:spPr>
        <p:txBody>
          <a:bodyPr wrap="square" rtlCol="0">
            <a:spAutoFit/>
          </a:bodyPr>
          <a:lstStyle/>
          <a:p>
            <a:pPr algn="ctr"/>
            <a:r>
              <a:rPr kumimoji="1" lang="en-US" altLang="ko-KR" sz="11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API</a:t>
            </a:r>
            <a:endParaRPr kumimoji="1" lang="ko-KR" altLang="en-US" sz="11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1" name="TextBox 270"/>
          <p:cNvSpPr txBox="1"/>
          <p:nvPr/>
        </p:nvSpPr>
        <p:spPr>
          <a:xfrm>
            <a:off x="2072681" y="755904"/>
            <a:ext cx="1803314" cy="276999"/>
          </a:xfrm>
          <a:prstGeom prst="rect">
            <a:avLst/>
          </a:prstGeom>
          <a:noFill/>
        </p:spPr>
        <p:txBody>
          <a:bodyPr wrap="none" rtlCol="0">
            <a:spAutoFit/>
          </a:bodyPr>
          <a:lstStyle/>
          <a:p>
            <a:r>
              <a:rPr kumimoji="1" lang="en-US" altLang="ko-KR" sz="1200" b="1">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T-Bridge Seller Office</a:t>
            </a:r>
            <a:r>
              <a:rPr kumimoji="1" lang="ko-KR" altLang="en-US" sz="1200" b="1"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2" name="TextBox 271"/>
          <p:cNvSpPr txBox="1"/>
          <p:nvPr/>
        </p:nvSpPr>
        <p:spPr>
          <a:xfrm>
            <a:off x="7293660" y="755904"/>
            <a:ext cx="1008609" cy="276999"/>
          </a:xfrm>
          <a:prstGeom prst="rect">
            <a:avLst/>
          </a:prstGeom>
          <a:noFill/>
        </p:spPr>
        <p:txBody>
          <a:bodyPr wrap="none" rtlCol="0">
            <a:spAutoFit/>
          </a:bodyPr>
          <a:lstStyle/>
          <a:p>
            <a:r>
              <a:rPr kumimoji="1" lang="en-US" altLang="ko-KR" sz="1200" b="1">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Kênh bán</a:t>
            </a:r>
            <a:r>
              <a:rPr kumimoji="1" lang="ko-KR" altLang="en-US" sz="1200" b="1"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 name="표 138"/>
          <p:cNvGraphicFramePr>
            <a:graphicFrameLocks noGrp="1"/>
          </p:cNvGraphicFramePr>
          <p:nvPr/>
        </p:nvGraphicFramePr>
        <p:xfrm>
          <a:off x="6401974" y="1090907"/>
          <a:ext cx="2368276" cy="5362429"/>
        </p:xfrm>
        <a:graphic>
          <a:graphicData uri="http://schemas.openxmlformats.org/drawingml/2006/table">
            <a:tbl>
              <a:tblPr firstRow="1" bandRow="1">
                <a:tableStyleId>{5C22544A-7EE6-4342-B048-85BDC9FD1C3A}</a:tableStyleId>
              </a:tblPr>
              <a:tblGrid>
                <a:gridCol w="1184138">
                  <a:extLst>
                    <a:ext uri="{9D8B030D-6E8A-4147-A177-3AD203B41FA5}">
                      <a16:colId xmlns:a16="http://schemas.microsoft.com/office/drawing/2014/main" val="20000"/>
                    </a:ext>
                  </a:extLst>
                </a:gridCol>
                <a:gridCol w="1184138">
                  <a:extLst>
                    <a:ext uri="{9D8B030D-6E8A-4147-A177-3AD203B41FA5}">
                      <a16:colId xmlns:a16="http://schemas.microsoft.com/office/drawing/2014/main" val="20001"/>
                    </a:ext>
                  </a:extLst>
                </a:gridCol>
              </a:tblGrid>
              <a:tr h="360040">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Cập</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nhật</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Hành</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động</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20080">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1"/>
                  </a:ext>
                </a:extLst>
              </a:tr>
              <a:tr h="995910">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2"/>
                  </a:ext>
                </a:extLst>
              </a:tr>
              <a:tr h="864096">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3"/>
                  </a:ext>
                </a:extLst>
              </a:tr>
              <a:tr h="766119">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4"/>
                  </a:ext>
                </a:extLst>
              </a:tr>
              <a:tr h="936104">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5"/>
                  </a:ext>
                </a:extLst>
              </a:tr>
              <a:tr h="720080">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graphicFrame>
        <p:nvGraphicFramePr>
          <p:cNvPr id="64" name="표 63"/>
          <p:cNvGraphicFramePr>
            <a:graphicFrameLocks noGrp="1"/>
          </p:cNvGraphicFramePr>
          <p:nvPr/>
        </p:nvGraphicFramePr>
        <p:xfrm>
          <a:off x="947305" y="1090907"/>
          <a:ext cx="3688441" cy="5398629"/>
        </p:xfrm>
        <a:graphic>
          <a:graphicData uri="http://schemas.openxmlformats.org/drawingml/2006/table">
            <a:tbl>
              <a:tblPr firstRow="1" bandRow="1">
                <a:tableStyleId>{5C22544A-7EE6-4342-B048-85BDC9FD1C3A}</a:tableStyleId>
              </a:tblPr>
              <a:tblGrid>
                <a:gridCol w="833215">
                  <a:extLst>
                    <a:ext uri="{9D8B030D-6E8A-4147-A177-3AD203B41FA5}">
                      <a16:colId xmlns:a16="http://schemas.microsoft.com/office/drawing/2014/main" val="20000"/>
                    </a:ext>
                  </a:extLst>
                </a:gridCol>
                <a:gridCol w="1775106">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360040">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thái sản phẩm</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Hành</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động</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en-US" altLang="ko-KR" sz="10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Nội</a:t>
                      </a:r>
                      <a:r>
                        <a:rPr lang="en-US" altLang="ko-KR" sz="100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dung thay đổi</a:t>
                      </a:r>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20080">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1"/>
                  </a:ext>
                </a:extLst>
              </a:tr>
              <a:tr h="995910">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Chờ</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duyệt</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2"/>
                  </a:ext>
                </a:extLst>
              </a:tr>
              <a:tr h="766119">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Chờ</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3"/>
                  </a:ext>
                </a:extLst>
              </a:tr>
              <a:tr h="864096">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4"/>
                  </a:ext>
                </a:extLst>
              </a:tr>
              <a:tr h="936104">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5"/>
                  </a:ext>
                </a:extLst>
              </a:tr>
              <a:tr h="720080">
                <a:tc>
                  <a:txBody>
                    <a:bodyPr/>
                    <a:lstStyle/>
                    <a:p>
                      <a:pPr algn="ctr"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Bán</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xong</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2" name="제목 1"/>
          <p:cNvSpPr>
            <a:spLocks noGrp="1"/>
          </p:cNvSpPr>
          <p:nvPr>
            <p:ph type="title"/>
          </p:nvPr>
        </p:nvSpPr>
        <p:spPr>
          <a:xfrm>
            <a:off x="128464" y="28"/>
            <a:ext cx="9777536"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ormAutofit/>
          </a:bodyPr>
          <a:lstStyle/>
          <a:p>
            <a:r>
              <a:rPr lang="en-US" altLang="ko-KR" smtClean="0">
                <a:latin typeface="Times New Roman" panose="02020603050405020304" pitchFamily="18" charset="0"/>
                <a:cs typeface="Times New Roman" panose="02020603050405020304" pitchFamily="18" charset="0"/>
              </a:rPr>
              <a:t>[Chính sách] </a:t>
            </a:r>
            <a:r>
              <a:rPr lang="vi-VN" altLang="ko-KR" smtClean="0">
                <a:latin typeface="Times New Roman" panose="02020603050405020304" pitchFamily="18" charset="0"/>
                <a:cs typeface="Times New Roman" panose="02020603050405020304" pitchFamily="18" charset="0"/>
              </a:rPr>
              <a:t>Xử lý liên kết với kênh bán theo trạng thái sản phẩm và hành động : Kênh </a:t>
            </a:r>
            <a:r>
              <a:rPr lang="en-US" altLang="ko-KR" smtClean="0">
                <a:latin typeface="Times New Roman" panose="02020603050405020304" pitchFamily="18" charset="0"/>
                <a:cs typeface="Times New Roman" panose="02020603050405020304" pitchFamily="18" charset="0"/>
              </a:rPr>
              <a:t>k0 </a:t>
            </a:r>
            <a:r>
              <a:rPr lang="vi-VN" altLang="ko-KR" smtClean="0">
                <a:latin typeface="Times New Roman" panose="02020603050405020304" pitchFamily="18" charset="0"/>
                <a:cs typeface="Times New Roman" panose="02020603050405020304" pitchFamily="18" charset="0"/>
              </a:rPr>
              <a:t>liên kết API</a:t>
            </a:r>
            <a:endParaRPr lang="ko-KR" altLang="en-US" dirty="0">
              <a:latin typeface="Times New Roman" panose="02020603050405020304" pitchFamily="18" charset="0"/>
              <a:cs typeface="Times New Roman" panose="02020603050405020304" pitchFamily="18" charset="0"/>
            </a:endParaRPr>
          </a:p>
        </p:txBody>
      </p:sp>
      <p:sp>
        <p:nvSpPr>
          <p:cNvPr id="48" name="TextBox 47"/>
          <p:cNvSpPr txBox="1"/>
          <p:nvPr/>
        </p:nvSpPr>
        <p:spPr>
          <a:xfrm>
            <a:off x="2360172" y="2498271"/>
            <a:ext cx="865615" cy="246221"/>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Đăng sp xong</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8" name="TextBox 137"/>
          <p:cNvSpPr txBox="1"/>
          <p:nvPr/>
        </p:nvSpPr>
        <p:spPr>
          <a:xfrm>
            <a:off x="2360171" y="1676064"/>
            <a:ext cx="865615" cy="246221"/>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Lưu tạm</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183" name="직선 화살표 연결선 182"/>
          <p:cNvCxnSpPr>
            <a:stCxn id="138" idx="2"/>
            <a:endCxn id="48" idx="0"/>
          </p:cNvCxnSpPr>
          <p:nvPr/>
        </p:nvCxnSpPr>
        <p:spPr>
          <a:xfrm>
            <a:off x="2792979" y="1922285"/>
            <a:ext cx="1" cy="575986"/>
          </a:xfrm>
          <a:prstGeom prst="straightConnector1">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9" name="직선 화살표 연결선 188"/>
          <p:cNvCxnSpPr>
            <a:stCxn id="48" idx="2"/>
            <a:endCxn id="190" idx="0"/>
          </p:cNvCxnSpPr>
          <p:nvPr/>
        </p:nvCxnSpPr>
        <p:spPr>
          <a:xfrm flipH="1">
            <a:off x="2792761" y="2744492"/>
            <a:ext cx="219" cy="1458415"/>
          </a:xfrm>
          <a:prstGeom prst="straightConnector1">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0" name="TextBox 189"/>
          <p:cNvSpPr txBox="1"/>
          <p:nvPr/>
        </p:nvSpPr>
        <p:spPr>
          <a:xfrm>
            <a:off x="2072681" y="4202907"/>
            <a:ext cx="1440159" cy="553998"/>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(Hệ thống kiểm tra)</a:t>
            </a:r>
          </a:p>
          <a:p>
            <a:pPr algn="ctr"/>
            <a:r>
              <a:rPr kumimoji="1" lang="vi-VN" altLang="ko-KR" sz="1000" smtClean="0">
                <a:latin typeface="Times New Roman" panose="02020603050405020304" pitchFamily="18" charset="0"/>
                <a:ea typeface="Nanum Gothic" panose="020D0604000000000000" pitchFamily="34" charset="-127"/>
                <a:cs typeface="Times New Roman" panose="02020603050405020304" pitchFamily="18" charset="0"/>
              </a:rPr>
              <a:t>Check ngày bắt đầu bán</a:t>
            </a:r>
          </a:p>
          <a:p>
            <a:pPr algn="ctr"/>
            <a:r>
              <a:rPr kumimoji="1" lang="vi-VN" altLang="ko-KR" sz="1000" smtClean="0">
                <a:latin typeface="Times New Roman" panose="02020603050405020304" pitchFamily="18" charset="0"/>
                <a:ea typeface="Nanum Gothic" panose="020D0604000000000000" pitchFamily="34" charset="-127"/>
                <a:cs typeface="Times New Roman" panose="02020603050405020304" pitchFamily="18" charset="0"/>
              </a:rPr>
              <a:t>Ngày bắt đầu &lt; = Hôm nay</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11" name="TextBox 210"/>
          <p:cNvSpPr txBox="1"/>
          <p:nvPr/>
        </p:nvSpPr>
        <p:spPr>
          <a:xfrm>
            <a:off x="2356377" y="5297270"/>
            <a:ext cx="865615" cy="246221"/>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Click ngưng bán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12" name="직선 화살표 연결선 211"/>
          <p:cNvCxnSpPr>
            <a:stCxn id="190" idx="2"/>
            <a:endCxn id="211" idx="0"/>
          </p:cNvCxnSpPr>
          <p:nvPr/>
        </p:nvCxnSpPr>
        <p:spPr>
          <a:xfrm flipH="1">
            <a:off x="2789185" y="4756905"/>
            <a:ext cx="3576" cy="540365"/>
          </a:xfrm>
          <a:prstGeom prst="straightConnector1">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2" name="TextBox 221"/>
          <p:cNvSpPr txBox="1"/>
          <p:nvPr/>
        </p:nvSpPr>
        <p:spPr>
          <a:xfrm>
            <a:off x="2072681" y="5879793"/>
            <a:ext cx="1368151" cy="553998"/>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(Hệ thống kiểm tra)</a:t>
            </a:r>
          </a:p>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Check ngày kết thúc bán</a:t>
            </a:r>
          </a:p>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Ngày kết thúc &lt; Hôm nay</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24" name="직선 화살표 연결선 223"/>
          <p:cNvCxnSpPr>
            <a:stCxn id="190" idx="1"/>
            <a:endCxn id="222" idx="1"/>
          </p:cNvCxnSpPr>
          <p:nvPr/>
        </p:nvCxnSpPr>
        <p:spPr>
          <a:xfrm rot="10800000" flipV="1">
            <a:off x="2072681" y="4479906"/>
            <a:ext cx="12700" cy="1676886"/>
          </a:xfrm>
          <a:prstGeom prst="bentConnector3">
            <a:avLst>
              <a:gd name="adj1" fmla="val 1800000"/>
            </a:avLst>
          </a:prstGeom>
          <a:ln w="3175">
            <a:solidFill>
              <a:schemeClr val="tx1"/>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8" name="TextBox 227"/>
          <p:cNvSpPr txBox="1"/>
          <p:nvPr/>
        </p:nvSpPr>
        <p:spPr>
          <a:xfrm>
            <a:off x="6524573" y="2424437"/>
            <a:ext cx="915955" cy="400110"/>
          </a:xfrm>
          <a:prstGeom prst="rect">
            <a:avLst/>
          </a:prstGeom>
          <a:noFill/>
          <a:ln>
            <a:solidFill>
              <a:schemeClr val="bg1">
                <a:lumMod val="50000"/>
              </a:schemeClr>
            </a:solidFill>
          </a:ln>
        </p:spPr>
        <p:txBody>
          <a:bodyPr wrap="square" lIns="36000" rIns="3600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Đăng sp (thủ công)</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9" name="TextBox 228"/>
          <p:cNvSpPr txBox="1"/>
          <p:nvPr/>
        </p:nvSpPr>
        <p:spPr>
          <a:xfrm>
            <a:off x="7718661" y="3410118"/>
            <a:ext cx="915955" cy="246221"/>
          </a:xfrm>
          <a:prstGeom prst="rect">
            <a:avLst/>
          </a:prstGeom>
          <a:noFill/>
          <a:ln>
            <a:solidFill>
              <a:schemeClr val="bg1">
                <a:lumMod val="50000"/>
              </a:schemeClr>
            </a:solidFill>
          </a:ln>
        </p:spPr>
        <p:txBody>
          <a:bodyPr wrap="square" lIns="36000" rIns="3600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Duyệt bán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38" name="TextBox 237"/>
          <p:cNvSpPr txBox="1"/>
          <p:nvPr/>
        </p:nvSpPr>
        <p:spPr>
          <a:xfrm>
            <a:off x="3768998" y="3335687"/>
            <a:ext cx="705442" cy="400110"/>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Đổi trạng thái</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39" name="직선 화살표 연결선 238"/>
          <p:cNvCxnSpPr>
            <a:stCxn id="48" idx="3"/>
            <a:endCxn id="228" idx="1"/>
          </p:cNvCxnSpPr>
          <p:nvPr/>
        </p:nvCxnSpPr>
        <p:spPr>
          <a:xfrm>
            <a:off x="3225787" y="2621382"/>
            <a:ext cx="3298786" cy="3110"/>
          </a:xfrm>
          <a:prstGeom prst="straightConnector1">
            <a:avLst/>
          </a:prstGeom>
          <a:ln w="3175">
            <a:solidFill>
              <a:schemeClr val="tx2">
                <a:lumMod val="60000"/>
                <a:lumOff val="40000"/>
              </a:schemeClr>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1" name="직선 화살표 연결선 240"/>
          <p:cNvCxnSpPr>
            <a:stCxn id="229" idx="1"/>
            <a:endCxn id="238" idx="3"/>
          </p:cNvCxnSpPr>
          <p:nvPr/>
        </p:nvCxnSpPr>
        <p:spPr>
          <a:xfrm flipH="1">
            <a:off x="4474440" y="3533229"/>
            <a:ext cx="3244221" cy="2513"/>
          </a:xfrm>
          <a:prstGeom prst="straightConnector1">
            <a:avLst/>
          </a:prstGeom>
          <a:ln w="3175">
            <a:solidFill>
              <a:srgbClr val="C00000"/>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2" name="TextBox 241"/>
          <p:cNvSpPr txBox="1"/>
          <p:nvPr/>
        </p:nvSpPr>
        <p:spPr>
          <a:xfrm>
            <a:off x="5025008" y="3329653"/>
            <a:ext cx="1241332" cy="430887"/>
          </a:xfrm>
          <a:prstGeom prst="rect">
            <a:avLst/>
          </a:prstGeom>
          <a:solidFill>
            <a:schemeClr val="accent2">
              <a:lumMod val="20000"/>
              <a:lumOff val="80000"/>
            </a:schemeClr>
          </a:solidFill>
          <a:ln>
            <a:noFill/>
          </a:ln>
        </p:spPr>
        <p:txBody>
          <a:bodyPr wrap="square" rtlCol="0">
            <a:spAutoFit/>
          </a:bodyPr>
          <a:lstStyle/>
          <a:p>
            <a:pPr algn="ctr"/>
            <a:r>
              <a:rPr kumimoji="1" lang="en-US" altLang="ko-KR" sz="11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Thu thập trạng thái sp</a:t>
            </a:r>
            <a:endParaRPr kumimoji="1" lang="ko-KR" altLang="en-US" sz="11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7" name="TextBox 226"/>
          <p:cNvSpPr txBox="1"/>
          <p:nvPr/>
        </p:nvSpPr>
        <p:spPr>
          <a:xfrm>
            <a:off x="4780806" y="2317510"/>
            <a:ext cx="1036289" cy="600164"/>
          </a:xfrm>
          <a:prstGeom prst="rect">
            <a:avLst/>
          </a:prstGeom>
          <a:solidFill>
            <a:schemeClr val="accent1">
              <a:lumMod val="20000"/>
              <a:lumOff val="80000"/>
            </a:schemeClr>
          </a:solidFill>
          <a:ln>
            <a:noFill/>
          </a:ln>
        </p:spPr>
        <p:txBody>
          <a:bodyPr wrap="square" rtlCol="0">
            <a:spAutoFit/>
          </a:bodyPr>
          <a:lstStyle/>
          <a:p>
            <a:pPr algn="ctr"/>
            <a:r>
              <a:rPr kumimoji="1" lang="en-US" altLang="ko-KR" sz="1100" b="1" smtClean="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Thông báo cho người phụ trách</a:t>
            </a:r>
            <a:endParaRPr kumimoji="1" lang="ko-KR" altLang="en-US"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58" name="직선 화살표 연결선 257"/>
          <p:cNvCxnSpPr>
            <a:stCxn id="211" idx="3"/>
            <a:endCxn id="260" idx="1"/>
          </p:cNvCxnSpPr>
          <p:nvPr/>
        </p:nvCxnSpPr>
        <p:spPr>
          <a:xfrm>
            <a:off x="3221992" y="5420381"/>
            <a:ext cx="3376170" cy="4695"/>
          </a:xfrm>
          <a:prstGeom prst="straightConnector1">
            <a:avLst/>
          </a:prstGeom>
          <a:ln w="3175">
            <a:solidFill>
              <a:schemeClr val="tx2">
                <a:lumMod val="60000"/>
                <a:lumOff val="40000"/>
              </a:schemeClr>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0" name="TextBox 259"/>
          <p:cNvSpPr txBox="1"/>
          <p:nvPr/>
        </p:nvSpPr>
        <p:spPr>
          <a:xfrm>
            <a:off x="6598162" y="5225021"/>
            <a:ext cx="705442" cy="400110"/>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Ngưng bán (thủ công)</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6" name="TextBox 265"/>
          <p:cNvSpPr txBox="1"/>
          <p:nvPr/>
        </p:nvSpPr>
        <p:spPr>
          <a:xfrm>
            <a:off x="7718661" y="4866557"/>
            <a:ext cx="915955" cy="246221"/>
          </a:xfrm>
          <a:prstGeom prst="rect">
            <a:avLst/>
          </a:prstGeom>
          <a:noFill/>
          <a:ln>
            <a:solidFill>
              <a:schemeClr val="bg1">
                <a:lumMod val="50000"/>
              </a:schemeClr>
            </a:solidFill>
          </a:ln>
        </p:spPr>
        <p:txBody>
          <a:bodyPr wrap="square" lIns="36000" rIns="3600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Ngưng bán</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7" name="TextBox 266"/>
          <p:cNvSpPr txBox="1"/>
          <p:nvPr/>
        </p:nvSpPr>
        <p:spPr>
          <a:xfrm>
            <a:off x="3743641" y="4872303"/>
            <a:ext cx="705442" cy="400110"/>
          </a:xfrm>
          <a:prstGeom prst="rect">
            <a:avLst/>
          </a:prstGeom>
          <a:noFill/>
          <a:ln>
            <a:solidFill>
              <a:schemeClr val="bg1">
                <a:lumMod val="50000"/>
              </a:schemeClr>
            </a:solidFill>
          </a:ln>
        </p:spPr>
        <p:txBody>
          <a:bodyPr wrap="square" lIns="0" rIns="0" rtlCol="0">
            <a:spAutoFit/>
          </a:bodyPr>
          <a:lstStyle/>
          <a:p>
            <a:pPr algn="ctr"/>
            <a:r>
              <a:rPr kumimoji="1" lang="en-US" altLang="ko-KR" sz="1000" smtClean="0">
                <a:latin typeface="Times New Roman" panose="02020603050405020304" pitchFamily="18" charset="0"/>
                <a:ea typeface="Nanum Gothic" panose="020D0604000000000000" pitchFamily="34" charset="-127"/>
                <a:cs typeface="Times New Roman" panose="02020603050405020304" pitchFamily="18" charset="0"/>
              </a:rPr>
              <a:t>Đổi trạng thái</a:t>
            </a:r>
            <a:endParaRPr kumimoji="1" lang="ko-KR" altLang="en-US" sz="1000" dirty="0">
              <a:latin typeface="Times New Roman" panose="02020603050405020304" pitchFamily="18" charset="0"/>
              <a:ea typeface="Nanum Gothic" panose="020D0604000000000000" pitchFamily="34" charset="-127"/>
              <a:cs typeface="Times New Roman" panose="02020603050405020304" pitchFamily="18" charset="0"/>
            </a:endParaRPr>
          </a:p>
        </p:txBody>
      </p:sp>
      <p:cxnSp>
        <p:nvCxnSpPr>
          <p:cNvPr id="269" name="직선 화살표 연결선 268"/>
          <p:cNvCxnSpPr/>
          <p:nvPr/>
        </p:nvCxnSpPr>
        <p:spPr>
          <a:xfrm flipH="1">
            <a:off x="4443664" y="4989668"/>
            <a:ext cx="3244221" cy="0"/>
          </a:xfrm>
          <a:prstGeom prst="straightConnector1">
            <a:avLst/>
          </a:prstGeom>
          <a:ln w="3175">
            <a:solidFill>
              <a:srgbClr val="C00000"/>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1" name="TextBox 270"/>
          <p:cNvSpPr txBox="1"/>
          <p:nvPr/>
        </p:nvSpPr>
        <p:spPr>
          <a:xfrm>
            <a:off x="2072681" y="755904"/>
            <a:ext cx="1803314" cy="276999"/>
          </a:xfrm>
          <a:prstGeom prst="rect">
            <a:avLst/>
          </a:prstGeom>
          <a:noFill/>
        </p:spPr>
        <p:txBody>
          <a:bodyPr wrap="none" rtlCol="0">
            <a:spAutoFit/>
          </a:bodyPr>
          <a:lstStyle/>
          <a:p>
            <a:r>
              <a:rPr kumimoji="1" lang="en-US" altLang="ko-KR" sz="1200" b="1">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T-Bridge Seller Office</a:t>
            </a:r>
            <a:r>
              <a:rPr kumimoji="1" lang="ko-KR" altLang="en-US" sz="1200" b="1"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2" name="TextBox 271"/>
          <p:cNvSpPr txBox="1"/>
          <p:nvPr/>
        </p:nvSpPr>
        <p:spPr>
          <a:xfrm>
            <a:off x="7293660" y="755904"/>
            <a:ext cx="1008609" cy="276999"/>
          </a:xfrm>
          <a:prstGeom prst="rect">
            <a:avLst/>
          </a:prstGeom>
          <a:noFill/>
        </p:spPr>
        <p:txBody>
          <a:bodyPr wrap="none" rtlCol="0">
            <a:spAutoFit/>
          </a:bodyPr>
          <a:lstStyle/>
          <a:p>
            <a:r>
              <a:rPr kumimoji="1" lang="en-US" altLang="ko-KR" sz="1200" b="1">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Kênh bán</a:t>
            </a:r>
            <a:r>
              <a:rPr kumimoji="1" lang="ko-KR" altLang="en-US" sz="1200" b="1" smtClean="0">
                <a:latin typeface="Times New Roman" panose="02020603050405020304" pitchFamily="18" charset="0"/>
                <a:ea typeface="Nanum Gothic" panose="020D0604000000000000" pitchFamily="34" charset="-127"/>
                <a:cs typeface="Times New Roman" panose="02020603050405020304" pitchFamily="18" charset="0"/>
              </a:rPr>
              <a:t> </a:t>
            </a:r>
            <a:r>
              <a:rPr kumimoji="1" lang="en-US" altLang="ko-KR" sz="1200" b="1" dirty="0">
                <a:latin typeface="Times New Roman" panose="02020603050405020304" pitchFamily="18" charset="0"/>
                <a:ea typeface="Nanum Gothic" panose="020D0604000000000000" pitchFamily="34" charset="-127"/>
                <a:cs typeface="Times New Roman" panose="02020603050405020304" pitchFamily="18" charset="0"/>
              </a:rPr>
              <a:t>-</a:t>
            </a:r>
            <a:endParaRPr kumimoji="1"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3" name="TextBox 32"/>
          <p:cNvSpPr txBox="1"/>
          <p:nvPr/>
        </p:nvSpPr>
        <p:spPr>
          <a:xfrm>
            <a:off x="5001848" y="4776349"/>
            <a:ext cx="1241332" cy="430887"/>
          </a:xfrm>
          <a:prstGeom prst="rect">
            <a:avLst/>
          </a:prstGeom>
          <a:solidFill>
            <a:schemeClr val="accent2">
              <a:lumMod val="20000"/>
              <a:lumOff val="80000"/>
            </a:schemeClr>
          </a:solidFill>
          <a:ln>
            <a:noFill/>
          </a:ln>
        </p:spPr>
        <p:txBody>
          <a:bodyPr wrap="square" rtlCol="0">
            <a:spAutoFit/>
          </a:bodyPr>
          <a:lstStyle/>
          <a:p>
            <a:pPr algn="ctr"/>
            <a:r>
              <a:rPr kumimoji="1" lang="en-US" altLang="ko-KR" sz="11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Thu thập trạng thái sp</a:t>
            </a:r>
            <a:endParaRPr kumimoji="1" lang="ko-KR" altLang="en-US" sz="1100" b="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4" name="TextBox 33"/>
          <p:cNvSpPr txBox="1"/>
          <p:nvPr/>
        </p:nvSpPr>
        <p:spPr>
          <a:xfrm>
            <a:off x="4393171" y="5120617"/>
            <a:ext cx="1036289" cy="600164"/>
          </a:xfrm>
          <a:prstGeom prst="rect">
            <a:avLst/>
          </a:prstGeom>
          <a:solidFill>
            <a:schemeClr val="accent1">
              <a:lumMod val="20000"/>
              <a:lumOff val="80000"/>
            </a:schemeClr>
          </a:solidFill>
          <a:ln>
            <a:noFill/>
          </a:ln>
        </p:spPr>
        <p:txBody>
          <a:bodyPr wrap="square" rtlCol="0">
            <a:spAutoFit/>
          </a:bodyPr>
          <a:lstStyle/>
          <a:p>
            <a:pPr algn="ctr"/>
            <a:r>
              <a:rPr kumimoji="1" lang="en-US" altLang="ko-KR" sz="1100" b="1" smtClean="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rPr>
              <a:t>Thông báo cho người phụ trách</a:t>
            </a:r>
            <a:endParaRPr kumimoji="1" lang="ko-KR" altLang="en-US" sz="1100" b="1" dirty="0">
              <a:solidFill>
                <a:srgbClr val="0070C0"/>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그림 117"/>
          <p:cNvPicPr>
            <a:picLocks noChangeAspect="1"/>
          </p:cNvPicPr>
          <p:nvPr/>
        </p:nvPicPr>
        <p:blipFill>
          <a:blip r:embed="rId2" cstate="print"/>
          <a:stretch>
            <a:fillRect/>
          </a:stretch>
        </p:blipFill>
        <p:spPr>
          <a:xfrm rot="10800000" flipV="1">
            <a:off x="4098080" y="4977769"/>
            <a:ext cx="4549207" cy="133729"/>
          </a:xfrm>
          <a:prstGeom prst="rect">
            <a:avLst/>
          </a:prstGeom>
        </p:spPr>
      </p:pic>
      <p:graphicFrame>
        <p:nvGraphicFramePr>
          <p:cNvPr id="60" name="표 76"/>
          <p:cNvGraphicFramePr>
            <a:graphicFrameLocks noGrp="1"/>
          </p:cNvGraphicFramePr>
          <p:nvPr/>
        </p:nvGraphicFramePr>
        <p:xfrm>
          <a:off x="1280590" y="3733646"/>
          <a:ext cx="7272812" cy="772522"/>
        </p:xfrm>
        <a:graphic>
          <a:graphicData uri="http://schemas.openxmlformats.org/drawingml/2006/table">
            <a:tbl>
              <a:tblPr/>
              <a:tblGrid>
                <a:gridCol w="391623">
                  <a:extLst>
                    <a:ext uri="{9D8B030D-6E8A-4147-A177-3AD203B41FA5}">
                      <a16:colId xmlns:a16="http://schemas.microsoft.com/office/drawing/2014/main" val="20000"/>
                    </a:ext>
                  </a:extLst>
                </a:gridCol>
                <a:gridCol w="391623">
                  <a:extLst>
                    <a:ext uri="{9D8B030D-6E8A-4147-A177-3AD203B41FA5}">
                      <a16:colId xmlns:a16="http://schemas.microsoft.com/office/drawing/2014/main" val="20001"/>
                    </a:ext>
                  </a:extLst>
                </a:gridCol>
                <a:gridCol w="562534">
                  <a:extLst>
                    <a:ext uri="{9D8B030D-6E8A-4147-A177-3AD203B41FA5}">
                      <a16:colId xmlns:a16="http://schemas.microsoft.com/office/drawing/2014/main" val="20002"/>
                    </a:ext>
                  </a:extLst>
                </a:gridCol>
                <a:gridCol w="562534">
                  <a:extLst>
                    <a:ext uri="{9D8B030D-6E8A-4147-A177-3AD203B41FA5}">
                      <a16:colId xmlns:a16="http://schemas.microsoft.com/office/drawing/2014/main" val="20003"/>
                    </a:ext>
                  </a:extLst>
                </a:gridCol>
                <a:gridCol w="721352">
                  <a:extLst>
                    <a:ext uri="{9D8B030D-6E8A-4147-A177-3AD203B41FA5}">
                      <a16:colId xmlns:a16="http://schemas.microsoft.com/office/drawing/2014/main" val="20004"/>
                    </a:ext>
                  </a:extLst>
                </a:gridCol>
                <a:gridCol w="1074703">
                  <a:extLst>
                    <a:ext uri="{9D8B030D-6E8A-4147-A177-3AD203B41FA5}">
                      <a16:colId xmlns:a16="http://schemas.microsoft.com/office/drawing/2014/main" val="20005"/>
                    </a:ext>
                  </a:extLst>
                </a:gridCol>
                <a:gridCol w="532153">
                  <a:extLst>
                    <a:ext uri="{9D8B030D-6E8A-4147-A177-3AD203B41FA5}">
                      <a16:colId xmlns:a16="http://schemas.microsoft.com/office/drawing/2014/main" val="20006"/>
                    </a:ext>
                  </a:extLst>
                </a:gridCol>
                <a:gridCol w="954032">
                  <a:extLst>
                    <a:ext uri="{9D8B030D-6E8A-4147-A177-3AD203B41FA5}">
                      <a16:colId xmlns:a16="http://schemas.microsoft.com/office/drawing/2014/main" val="20007"/>
                    </a:ext>
                  </a:extLst>
                </a:gridCol>
                <a:gridCol w="668782">
                  <a:extLst>
                    <a:ext uri="{9D8B030D-6E8A-4147-A177-3AD203B41FA5}">
                      <a16:colId xmlns:a16="http://schemas.microsoft.com/office/drawing/2014/main" val="20008"/>
                    </a:ext>
                  </a:extLst>
                </a:gridCol>
                <a:gridCol w="706738">
                  <a:extLst>
                    <a:ext uri="{9D8B030D-6E8A-4147-A177-3AD203B41FA5}">
                      <a16:colId xmlns:a16="http://schemas.microsoft.com/office/drawing/2014/main" val="20009"/>
                    </a:ext>
                  </a:extLst>
                </a:gridCol>
                <a:gridCol w="706738">
                  <a:extLst>
                    <a:ext uri="{9D8B030D-6E8A-4147-A177-3AD203B41FA5}">
                      <a16:colId xmlns:a16="http://schemas.microsoft.com/office/drawing/2014/main" val="20010"/>
                    </a:ext>
                  </a:extLst>
                </a:gridCol>
              </a:tblGrid>
              <a:tr h="231238">
                <a:tc>
                  <a:txBody>
                    <a:bodyPr/>
                    <a:lstStyle/>
                    <a:p>
                      <a:pPr algn="ctr" fontAlgn="ctr"/>
                      <a:r>
                        <a:rPr lang="ko-KR" altLang="en-US" sz="800" b="1" i="0" u="none" strike="noStrike" dirty="0" err="1">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ㅁ</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lý</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Nhà</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CC</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sp</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sp</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loại</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Kênh</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deal của kênh</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thái bán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bắt đầu</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kết thúc</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70642">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ㅁ</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문경산업</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solidFill>
                      <a:schemeClr val="bg1"/>
                    </a:solidFill>
                  </a:tcPr>
                </a:tc>
                <a:tc>
                  <a:txBody>
                    <a:bodyPr/>
                    <a:lstStyle/>
                    <a:p>
                      <a:pPr algn="ctr" fontAlgn="ct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1111</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문경에코타운</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티켓</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패스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대분류명</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소분류명</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세분류명</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티몬</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sng"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TM11111</a:t>
                      </a:r>
                      <a:endParaRPr lang="ko-KR" altLang="en-US" sz="800" b="0" i="0" u="sng"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800" b="0" i="0" u="none" strike="noStrike" baseline="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bán</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2020-01-05</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2020-01-30</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0642">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ㅁ</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문경산업</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1111</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문경에코타운</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티켓</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패스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대분류명</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소분류명</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세분류명</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쿠팡</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CP11111</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Ngưng</a:t>
                      </a:r>
                      <a:r>
                        <a:rPr lang="en-US" altLang="ko-KR" sz="800" b="0" i="0" u="none" strike="noStrike" baseline="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bán</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2020-01-05</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Mãi</a:t>
                      </a:r>
                      <a:r>
                        <a:rPr lang="en-US" altLang="ko-KR" sz="800" b="0" i="0" u="none" strike="noStrike" baseline="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mãi</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Quản lý sản phẩm</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 name="TextBox 25"/>
          <p:cNvSpPr txBox="1"/>
          <p:nvPr/>
        </p:nvSpPr>
        <p:spPr>
          <a:xfrm>
            <a:off x="1191375" y="1085116"/>
            <a:ext cx="1383712"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sản phẩm</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9" name="직사각형 38"/>
          <p:cNvSpPr/>
          <p:nvPr/>
        </p:nvSpPr>
        <p:spPr>
          <a:xfrm>
            <a:off x="128464" y="1612033"/>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Quản lý sp</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4" name="표 43"/>
          <p:cNvGraphicFramePr>
            <a:graphicFrameLocks noGrp="1"/>
          </p:cNvGraphicFramePr>
          <p:nvPr/>
        </p:nvGraphicFramePr>
        <p:xfrm>
          <a:off x="1280592" y="1628800"/>
          <a:ext cx="6048673" cy="1432635"/>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84032">
                  <a:extLst>
                    <a:ext uri="{9D8B030D-6E8A-4147-A177-3AD203B41FA5}">
                      <a16:colId xmlns:a16="http://schemas.microsoft.com/office/drawing/2014/main" val="20001"/>
                    </a:ext>
                  </a:extLst>
                </a:gridCol>
                <a:gridCol w="711608">
                  <a:extLst>
                    <a:ext uri="{9D8B030D-6E8A-4147-A177-3AD203B41FA5}">
                      <a16:colId xmlns:a16="http://schemas.microsoft.com/office/drawing/2014/main" val="20002"/>
                    </a:ext>
                  </a:extLst>
                </a:gridCol>
                <a:gridCol w="1992505">
                  <a:extLst>
                    <a:ext uri="{9D8B030D-6E8A-4147-A177-3AD203B41FA5}">
                      <a16:colId xmlns:a16="http://schemas.microsoft.com/office/drawing/2014/main" val="20003"/>
                    </a:ext>
                  </a:extLst>
                </a:gridCol>
                <a:gridCol w="640448">
                  <a:extLst>
                    <a:ext uri="{9D8B030D-6E8A-4147-A177-3AD203B41FA5}">
                      <a16:colId xmlns:a16="http://schemas.microsoft.com/office/drawing/2014/main" val="20004"/>
                    </a:ext>
                  </a:extLst>
                </a:gridCol>
              </a:tblGrid>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0" indent="0"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Chỉ</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xem sp bán mãi mãi</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ctr"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Nhà</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cung cấp</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Kênh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thái sp</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Tất</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cả</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tạm</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Chờ</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duyệt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r>
                        <a:rPr lang="ko-KR" altLang="en-US" sz="800" b="0" u="none"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Bán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xong</a:t>
                      </a:r>
                      <a:r>
                        <a:rPr lang="ko-KR" altLang="en-US" sz="800" b="0" u="none"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loại</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Từ</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khóa</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45" name="직사각형 44"/>
          <p:cNvSpPr/>
          <p:nvPr/>
        </p:nvSpPr>
        <p:spPr>
          <a:xfrm>
            <a:off x="2058755" y="194010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 tất cả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46" name="직사각형 45"/>
          <p:cNvSpPr/>
          <p:nvPr/>
        </p:nvSpPr>
        <p:spPr>
          <a:xfrm>
            <a:off x="4764668" y="1940101"/>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쿠팡</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위메프</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티몬</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48" name="직사각형 47"/>
          <p:cNvSpPr/>
          <p:nvPr/>
        </p:nvSpPr>
        <p:spPr>
          <a:xfrm>
            <a:off x="2058755" y="2522763"/>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Loại sp</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0" name="직사각형 49"/>
          <p:cNvSpPr/>
          <p:nvPr/>
        </p:nvSpPr>
        <p:spPr>
          <a:xfrm>
            <a:off x="2977914"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1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52"/>
          <p:cNvSpPr/>
          <p:nvPr/>
        </p:nvSpPr>
        <p:spPr>
          <a:xfrm>
            <a:off x="3829437"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2</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4" name="직사각형 53"/>
          <p:cNvSpPr/>
          <p:nvPr/>
        </p:nvSpPr>
        <p:spPr>
          <a:xfrm>
            <a:off x="4672734"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3</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5" name="직사각형 54"/>
          <p:cNvSpPr/>
          <p:nvPr/>
        </p:nvSpPr>
        <p:spPr>
          <a:xfrm>
            <a:off x="5516031"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4</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7" name="직사각형 56"/>
          <p:cNvSpPr/>
          <p:nvPr/>
        </p:nvSpPr>
        <p:spPr>
          <a:xfrm>
            <a:off x="3952497" y="1694995"/>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1 tuần</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57"/>
          <p:cNvSpPr/>
          <p:nvPr/>
        </p:nvSpPr>
        <p:spPr>
          <a:xfrm>
            <a:off x="4413252" y="1694995"/>
            <a:ext cx="477265"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1 tháng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직사각형 61"/>
          <p:cNvSpPr/>
          <p:nvPr/>
        </p:nvSpPr>
        <p:spPr>
          <a:xfrm>
            <a:off x="4913819" y="1694995"/>
            <a:ext cx="518854"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3 tháng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64"/>
          <p:cNvSpPr/>
          <p:nvPr/>
        </p:nvSpPr>
        <p:spPr>
          <a:xfrm>
            <a:off x="2049438"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2020-01-01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68"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8404"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72" name="직사각형 71"/>
          <p:cNvSpPr/>
          <p:nvPr/>
        </p:nvSpPr>
        <p:spPr>
          <a:xfrm>
            <a:off x="3055059"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2020-01-01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73"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4025"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74" name="직사각형 73"/>
          <p:cNvSpPr/>
          <p:nvPr/>
        </p:nvSpPr>
        <p:spPr>
          <a:xfrm>
            <a:off x="2990949" y="280421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74"/>
          <p:cNvSpPr/>
          <p:nvPr/>
        </p:nvSpPr>
        <p:spPr>
          <a:xfrm>
            <a:off x="6749307" y="2057838"/>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Tìm</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75"/>
          <p:cNvSpPr/>
          <p:nvPr/>
        </p:nvSpPr>
        <p:spPr>
          <a:xfrm>
            <a:off x="6747628" y="2477156"/>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Reset</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77"/>
          <p:cNvSpPr/>
          <p:nvPr/>
        </p:nvSpPr>
        <p:spPr>
          <a:xfrm>
            <a:off x="1712640" y="4022425"/>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Sửa</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TextBox 79"/>
          <p:cNvSpPr txBox="1"/>
          <p:nvPr/>
        </p:nvSpPr>
        <p:spPr>
          <a:xfrm>
            <a:off x="1199202" y="3405559"/>
            <a:ext cx="873478" cy="215444"/>
          </a:xfrm>
          <a:prstGeom prst="rect">
            <a:avLst/>
          </a:prstGeom>
          <a:noFill/>
        </p:spPr>
        <p:txBody>
          <a:bodyPr wrap="square" rtlCol="0">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Tổng</a:t>
            </a:r>
            <a:r>
              <a:rPr lang="ko-KR" altLang="en-US" sz="800" b="1"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a:latin typeface="Times New Roman" panose="02020603050405020304" pitchFamily="18" charset="0"/>
                <a:ea typeface="Nanum Gothic" panose="020D0604000000000000" pitchFamily="34" charset="-127"/>
                <a:cs typeface="Times New Roman" panose="02020603050405020304" pitchFamily="18" charset="0"/>
              </a:rPr>
              <a:t>N </a:t>
            </a:r>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kết quả</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80"/>
          <p:cNvSpPr/>
          <p:nvPr/>
        </p:nvSpPr>
        <p:spPr>
          <a:xfrm>
            <a:off x="5215735" y="3411521"/>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Ngưng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81"/>
          <p:cNvSpPr/>
          <p:nvPr/>
        </p:nvSpPr>
        <p:spPr>
          <a:xfrm>
            <a:off x="5864126" y="3411521"/>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Mở bán lại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83"/>
          <p:cNvSpPr/>
          <p:nvPr/>
        </p:nvSpPr>
        <p:spPr>
          <a:xfrm>
            <a:off x="6508990" y="3411521"/>
            <a:ext cx="876510"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thời gian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84"/>
          <p:cNvSpPr/>
          <p:nvPr/>
        </p:nvSpPr>
        <p:spPr>
          <a:xfrm>
            <a:off x="2785763" y="3413716"/>
            <a:ext cx="871093"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Download excel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86" name="그림 85"/>
          <p:cNvPicPr>
            <a:picLocks noChangeAspect="1"/>
          </p:cNvPicPr>
          <p:nvPr/>
        </p:nvPicPr>
        <p:blipFill>
          <a:blip r:embed="rId4" cstate="print"/>
          <a:stretch>
            <a:fillRect/>
          </a:stretch>
        </p:blipFill>
        <p:spPr>
          <a:xfrm>
            <a:off x="2823975" y="6295943"/>
            <a:ext cx="3000375" cy="301408"/>
          </a:xfrm>
          <a:prstGeom prst="rect">
            <a:avLst/>
          </a:prstGeom>
        </p:spPr>
      </p:pic>
      <p:sp>
        <p:nvSpPr>
          <p:cNvPr id="87" name="직사각형 86"/>
          <p:cNvSpPr/>
          <p:nvPr/>
        </p:nvSpPr>
        <p:spPr>
          <a:xfrm>
            <a:off x="2051503" y="2804216"/>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 sp</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88" name="TextBox 87"/>
          <p:cNvSpPr txBox="1"/>
          <p:nvPr/>
        </p:nvSpPr>
        <p:spPr>
          <a:xfrm>
            <a:off x="1191375" y="1313869"/>
            <a:ext cx="3619902" cy="215444"/>
          </a:xfrm>
          <a:prstGeom prst="rect">
            <a:avLst/>
          </a:prstGeom>
          <a:noFill/>
        </p:spPr>
        <p:txBody>
          <a:bodyPr wrap="none" rtlCol="0">
            <a:spAutoFit/>
          </a:bodyPr>
          <a:lstStyle/>
          <a:p>
            <a:r>
              <a:rPr lang="vi-VN" altLang="ko-KR" sz="800" smtClean="0">
                <a:latin typeface="Times New Roman" panose="02020603050405020304" pitchFamily="18" charset="0"/>
                <a:ea typeface="Nanum Gothic" panose="020D0604000000000000" pitchFamily="34" charset="-127"/>
                <a:cs typeface="Times New Roman" panose="02020603050405020304" pitchFamily="18" charset="0"/>
              </a:rPr>
              <a:t>Đây là danh sách sản phẩm được thu thập lúc 9:00 ngày 21/12. (Update mỗi 5 phút)</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88"/>
          <p:cNvSpPr/>
          <p:nvPr/>
        </p:nvSpPr>
        <p:spPr>
          <a:xfrm>
            <a:off x="4736976"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Update ngay</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89"/>
          <p:cNvSpPr/>
          <p:nvPr/>
        </p:nvSpPr>
        <p:spPr>
          <a:xfrm>
            <a:off x="2041849" y="3409950"/>
            <a:ext cx="678903"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kết quả</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64"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6"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69"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71"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79"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91" name="직선 연결선 145"/>
              <p:cNvCxnSpPr>
                <a:stCxn id="7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2"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직사각형 112"/>
          <p:cNvSpPr/>
          <p:nvPr/>
        </p:nvSpPr>
        <p:spPr>
          <a:xfrm>
            <a:off x="128463" y="22868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매출</a:t>
            </a:r>
            <a:r>
              <a:rPr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정산관리</a:t>
            </a:r>
          </a:p>
        </p:txBody>
      </p:sp>
      <p:sp>
        <p:nvSpPr>
          <p:cNvPr id="97" name="직사각형 113"/>
          <p:cNvSpPr/>
          <p:nvPr/>
        </p:nvSpPr>
        <p:spPr>
          <a:xfrm>
            <a:off x="128462" y="26165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문의관리</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직사각형 126"/>
          <p:cNvSpPr/>
          <p:nvPr/>
        </p:nvSpPr>
        <p:spPr>
          <a:xfrm>
            <a:off x="128457" y="291855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카테고리 관리</a:t>
            </a:r>
          </a:p>
        </p:txBody>
      </p:sp>
      <p:sp>
        <p:nvSpPr>
          <p:cNvPr id="102" name="직사각형 34"/>
          <p:cNvSpPr/>
          <p:nvPr/>
        </p:nvSpPr>
        <p:spPr>
          <a:xfrm>
            <a:off x="128463" y="196201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직사각형 36"/>
          <p:cNvSpPr/>
          <p:nvPr/>
        </p:nvSpPr>
        <p:spPr>
          <a:xfrm>
            <a:off x="128462" y="26349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6" name="직사각형 38"/>
          <p:cNvSpPr/>
          <p:nvPr/>
        </p:nvSpPr>
        <p:spPr>
          <a:xfrm>
            <a:off x="128457" y="293697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3" name="직사각형 58"/>
          <p:cNvSpPr/>
          <p:nvPr/>
        </p:nvSpPr>
        <p:spPr>
          <a:xfrm>
            <a:off x="2064914" y="3019862"/>
            <a:ext cx="943870" cy="367015"/>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 sp</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 sp</a:t>
            </a: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 deal của kênh</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37"/>
          <p:cNvSpPr/>
          <p:nvPr/>
        </p:nvSpPr>
        <p:spPr>
          <a:xfrm>
            <a:off x="128461" y="363318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39"/>
          <p:cNvSpPr/>
          <p:nvPr/>
        </p:nvSpPr>
        <p:spPr>
          <a:xfrm>
            <a:off x="128457" y="328099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35"/>
          <p:cNvSpPr/>
          <p:nvPr/>
        </p:nvSpPr>
        <p:spPr>
          <a:xfrm>
            <a:off x="128463" y="229553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1" name="직사각형 77"/>
          <p:cNvSpPr/>
          <p:nvPr/>
        </p:nvSpPr>
        <p:spPr>
          <a:xfrm>
            <a:off x="1726055" y="4284550"/>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Sửa</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83" name="표 68"/>
          <p:cNvGraphicFramePr>
            <a:graphicFrameLocks noGrp="1"/>
          </p:cNvGraphicFramePr>
          <p:nvPr/>
        </p:nvGraphicFramePr>
        <p:xfrm>
          <a:off x="7453089" y="836962"/>
          <a:ext cx="2357214" cy="31641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Sắp xếp theo mã sản phẩm đã đăng ở menu “Đăng sản phẩm”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hiển thị lịch</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Mặc định: Ngày hôm nay</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1 tuần : 7 ngày gần nhất (bao gồm hôm nay)</a:t>
                      </a: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1 tháng : 30 ngày gần nhất (bao gồm hôm nay)</a:t>
                      </a: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3 tháng : 90 ngày gần nhất (bao gồm hôm nay)</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check thì chỉ hiển thị sản phẩm có ngày kết thúc bán là “mãi mãi”</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login bằng quyền người bán: Hiển thị tên người bán và tên nhà cung cấp của người bán</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vi-VN"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login bằng quyền NCC: Cố định ở tên NCC đó, k0 chọn đc option</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98" name="직사각형 69"/>
          <p:cNvSpPr/>
          <p:nvPr/>
        </p:nvSpPr>
        <p:spPr>
          <a:xfrm>
            <a:off x="7949547" y="2509038"/>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 tất cả</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100" name="직사각형 70"/>
          <p:cNvSpPr/>
          <p:nvPr/>
        </p:nvSpPr>
        <p:spPr>
          <a:xfrm>
            <a:off x="7949547" y="2725956"/>
            <a:ext cx="1424607" cy="61542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 tất cả</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 người bán</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NCC 1</a:t>
            </a:r>
            <a:endPar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NCC 2</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101" name="그림 118"/>
          <p:cNvPicPr>
            <a:picLocks noChangeAspect="1"/>
          </p:cNvPicPr>
          <p:nvPr/>
        </p:nvPicPr>
        <p:blipFill>
          <a:blip r:embed="rId5" cstate="print"/>
          <a:stretch>
            <a:fillRect/>
          </a:stretch>
        </p:blipFill>
        <p:spPr>
          <a:xfrm>
            <a:off x="8553402" y="3734383"/>
            <a:ext cx="108516" cy="1227588"/>
          </a:xfrm>
          <a:prstGeom prst="rect">
            <a:avLst/>
          </a:prstGeom>
        </p:spPr>
      </p:pic>
      <p:graphicFrame>
        <p:nvGraphicFramePr>
          <p:cNvPr id="103" name="표 4"/>
          <p:cNvGraphicFramePr>
            <a:graphicFrameLocks noGrp="1"/>
          </p:cNvGraphicFramePr>
          <p:nvPr/>
        </p:nvGraphicFramePr>
        <p:xfrm>
          <a:off x="7453089" y="4598343"/>
          <a:ext cx="2357214" cy="20889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Mặc định</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Tất cả</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Có thể chọn nhiều option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Mặc định : Tất cả</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Khi chọn option khác thì chỉ liệt kê sản phẩm thuộc trạng thái tương ứng</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Liệt kê sản phẩm thuộc phân loại đã chọn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8</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Tên sp : Tìm kiếm bao gồm từ khóa</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Mã sp, Mã deal: Tìm kiếm chính xác từ khóa</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9</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Download toàn bộ kết quả thành file excel</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Fomart excel giống với giao diện (bỏ cột Quản lý)</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10</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Chuyển đến trang sửa sản phẩm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mở trang mới hiển thị chi tiết sản phẩm của kênh đó</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cxnSp>
        <p:nvCxnSpPr>
          <p:cNvPr id="105" name="직선 연결선[R] 119"/>
          <p:cNvCxnSpPr/>
          <p:nvPr/>
        </p:nvCxnSpPr>
        <p:spPr>
          <a:xfrm>
            <a:off x="3904998" y="3312243"/>
            <a:ext cx="2" cy="1934318"/>
          </a:xfrm>
          <a:prstGeom prst="line">
            <a:avLst/>
          </a:prstGeom>
          <a:ln w="3175">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1723711" y="4712924"/>
            <a:ext cx="2028962" cy="215444"/>
          </a:xfrm>
          <a:prstGeom prst="rect">
            <a:avLst/>
          </a:prstGeom>
          <a:noFill/>
        </p:spPr>
        <p:txBody>
          <a:bodyPr wrap="square" rtlCol="0">
            <a:spAutoFit/>
          </a:bodyPr>
          <a:lstStyle/>
          <a:p>
            <a:r>
              <a:rPr lang="en-US" altLang="ko-KR" sz="800" b="1" i="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Phía bên này cố định, k0 có scroll bar</a:t>
            </a:r>
            <a:endParaRPr lang="ko-KR" altLang="en-US" sz="800" b="1" i="1" dirty="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타원 114"/>
          <p:cNvSpPr/>
          <p:nvPr/>
        </p:nvSpPr>
        <p:spPr>
          <a:xfrm>
            <a:off x="1199203" y="224542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6</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0" name="타원 115"/>
          <p:cNvSpPr/>
          <p:nvPr/>
        </p:nvSpPr>
        <p:spPr>
          <a:xfrm>
            <a:off x="1177754" y="255801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7</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1" name="타원 116"/>
          <p:cNvSpPr/>
          <p:nvPr/>
        </p:nvSpPr>
        <p:spPr>
          <a:xfrm>
            <a:off x="1177754" y="284013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8</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2" name="타원 82"/>
          <p:cNvSpPr/>
          <p:nvPr/>
        </p:nvSpPr>
        <p:spPr>
          <a:xfrm>
            <a:off x="1950643" y="155514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1</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3" name="타원 110"/>
          <p:cNvSpPr/>
          <p:nvPr/>
        </p:nvSpPr>
        <p:spPr>
          <a:xfrm>
            <a:off x="4348296" y="154852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2</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4" name="타원 111"/>
          <p:cNvSpPr/>
          <p:nvPr/>
        </p:nvSpPr>
        <p:spPr>
          <a:xfrm>
            <a:off x="5834210" y="153869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3</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5" name="타원 112"/>
          <p:cNvSpPr/>
          <p:nvPr/>
        </p:nvSpPr>
        <p:spPr>
          <a:xfrm>
            <a:off x="1933914" y="197204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4</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6" name="타원 113"/>
          <p:cNvSpPr/>
          <p:nvPr/>
        </p:nvSpPr>
        <p:spPr>
          <a:xfrm>
            <a:off x="4619184" y="197204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5</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7" name="타원 122"/>
          <p:cNvSpPr/>
          <p:nvPr/>
        </p:nvSpPr>
        <p:spPr>
          <a:xfrm>
            <a:off x="3591190" y="342080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Times New Roman" panose="02020603050405020304" pitchFamily="18" charset="0"/>
                <a:ea typeface="나눔고딕" pitchFamily="50" charset="-127"/>
                <a:cs typeface="Times New Roman" panose="02020603050405020304" pitchFamily="18" charset="0"/>
              </a:rPr>
              <a:t>9</a:t>
            </a:r>
            <a:endParaRPr lang="ko-KR" altLang="en-US" sz="900" b="1" dirty="0">
              <a:latin typeface="Times New Roman" panose="02020603050405020304" pitchFamily="18" charset="0"/>
              <a:ea typeface="나눔고딕" pitchFamily="50" charset="-127"/>
              <a:cs typeface="Times New Roman" panose="02020603050405020304" pitchFamily="18" charset="0"/>
            </a:endParaRPr>
          </a:p>
        </p:txBody>
      </p:sp>
      <p:sp>
        <p:nvSpPr>
          <p:cNvPr id="118" name="타원 123"/>
          <p:cNvSpPr/>
          <p:nvPr/>
        </p:nvSpPr>
        <p:spPr>
          <a:xfrm>
            <a:off x="1603739" y="438880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10</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119" name="타원 124"/>
          <p:cNvSpPr/>
          <p:nvPr/>
        </p:nvSpPr>
        <p:spPr>
          <a:xfrm>
            <a:off x="6249144" y="401813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120" name="직사각형 121"/>
          <p:cNvSpPr/>
          <p:nvPr/>
        </p:nvSpPr>
        <p:spPr>
          <a:xfrm>
            <a:off x="5613276" y="3994935"/>
            <a:ext cx="722597" cy="20004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표 76"/>
          <p:cNvGraphicFramePr>
            <a:graphicFrameLocks noGrp="1"/>
          </p:cNvGraphicFramePr>
          <p:nvPr/>
        </p:nvGraphicFramePr>
        <p:xfrm>
          <a:off x="1280590" y="3548503"/>
          <a:ext cx="7272812" cy="772522"/>
        </p:xfrm>
        <a:graphic>
          <a:graphicData uri="http://schemas.openxmlformats.org/drawingml/2006/table">
            <a:tbl>
              <a:tblPr/>
              <a:tblGrid>
                <a:gridCol w="391623">
                  <a:extLst>
                    <a:ext uri="{9D8B030D-6E8A-4147-A177-3AD203B41FA5}">
                      <a16:colId xmlns:a16="http://schemas.microsoft.com/office/drawing/2014/main" val="20000"/>
                    </a:ext>
                  </a:extLst>
                </a:gridCol>
                <a:gridCol w="391623">
                  <a:extLst>
                    <a:ext uri="{9D8B030D-6E8A-4147-A177-3AD203B41FA5}">
                      <a16:colId xmlns:a16="http://schemas.microsoft.com/office/drawing/2014/main" val="20001"/>
                    </a:ext>
                  </a:extLst>
                </a:gridCol>
                <a:gridCol w="562534">
                  <a:extLst>
                    <a:ext uri="{9D8B030D-6E8A-4147-A177-3AD203B41FA5}">
                      <a16:colId xmlns:a16="http://schemas.microsoft.com/office/drawing/2014/main" val="20002"/>
                    </a:ext>
                  </a:extLst>
                </a:gridCol>
                <a:gridCol w="562534">
                  <a:extLst>
                    <a:ext uri="{9D8B030D-6E8A-4147-A177-3AD203B41FA5}">
                      <a16:colId xmlns:a16="http://schemas.microsoft.com/office/drawing/2014/main" val="20003"/>
                    </a:ext>
                  </a:extLst>
                </a:gridCol>
                <a:gridCol w="721352">
                  <a:extLst>
                    <a:ext uri="{9D8B030D-6E8A-4147-A177-3AD203B41FA5}">
                      <a16:colId xmlns:a16="http://schemas.microsoft.com/office/drawing/2014/main" val="20004"/>
                    </a:ext>
                  </a:extLst>
                </a:gridCol>
                <a:gridCol w="1074703">
                  <a:extLst>
                    <a:ext uri="{9D8B030D-6E8A-4147-A177-3AD203B41FA5}">
                      <a16:colId xmlns:a16="http://schemas.microsoft.com/office/drawing/2014/main" val="20005"/>
                    </a:ext>
                  </a:extLst>
                </a:gridCol>
                <a:gridCol w="532153">
                  <a:extLst>
                    <a:ext uri="{9D8B030D-6E8A-4147-A177-3AD203B41FA5}">
                      <a16:colId xmlns:a16="http://schemas.microsoft.com/office/drawing/2014/main" val="20006"/>
                    </a:ext>
                  </a:extLst>
                </a:gridCol>
                <a:gridCol w="954032">
                  <a:extLst>
                    <a:ext uri="{9D8B030D-6E8A-4147-A177-3AD203B41FA5}">
                      <a16:colId xmlns:a16="http://schemas.microsoft.com/office/drawing/2014/main" val="20007"/>
                    </a:ext>
                  </a:extLst>
                </a:gridCol>
                <a:gridCol w="668782">
                  <a:extLst>
                    <a:ext uri="{9D8B030D-6E8A-4147-A177-3AD203B41FA5}">
                      <a16:colId xmlns:a16="http://schemas.microsoft.com/office/drawing/2014/main" val="20008"/>
                    </a:ext>
                  </a:extLst>
                </a:gridCol>
                <a:gridCol w="706738">
                  <a:extLst>
                    <a:ext uri="{9D8B030D-6E8A-4147-A177-3AD203B41FA5}">
                      <a16:colId xmlns:a16="http://schemas.microsoft.com/office/drawing/2014/main" val="20009"/>
                    </a:ext>
                  </a:extLst>
                </a:gridCol>
                <a:gridCol w="706738">
                  <a:extLst>
                    <a:ext uri="{9D8B030D-6E8A-4147-A177-3AD203B41FA5}">
                      <a16:colId xmlns:a16="http://schemas.microsoft.com/office/drawing/2014/main" val="20010"/>
                    </a:ext>
                  </a:extLst>
                </a:gridCol>
              </a:tblGrid>
              <a:tr h="231238">
                <a:tc>
                  <a:txBody>
                    <a:bodyPr/>
                    <a:lstStyle/>
                    <a:p>
                      <a:pPr algn="ctr" fontAlgn="ctr"/>
                      <a:r>
                        <a:rPr lang="ko-KR" altLang="en-US" sz="800" b="1" i="0" u="none" strike="noStrike" dirty="0" err="1">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ㅁ</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Quản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lý</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Nhà</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CC</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sp</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sp</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loại</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Kênh</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deal của kênh</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thái bán</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bắt đầu</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en-US" altLang="ko-KR" sz="800" b="1" i="0" u="none" strike="noStrike"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i="0" u="none" strike="noStrike" baseline="0" smtClean="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rPr>
                        <a:t> kết thúc</a:t>
                      </a:r>
                      <a:endParaRPr lang="ko-KR" altLang="en-US" sz="800" b="1" i="0" u="none" strike="noStrike" dirty="0">
                        <a:solidFill>
                          <a:schemeClr val="bg1"/>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70642">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ㅁ</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문경산업</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solidFill>
                      <a:schemeClr val="bg1"/>
                    </a:solidFill>
                  </a:tcPr>
                </a:tc>
                <a:tc>
                  <a:txBody>
                    <a:bodyPr/>
                    <a:lstStyle/>
                    <a:p>
                      <a:pPr algn="ctr" fontAlgn="ct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1111</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문경에코타운</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티켓</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패스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대분류명</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소분류명</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세분류명</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티몬</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sng"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TM11111</a:t>
                      </a:r>
                      <a:endParaRPr lang="ko-KR" altLang="en-US" sz="800" b="0" i="0" u="sng"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800" b="0" i="0" u="none" strike="noStrike" baseline="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bán</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2020-01-05</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2020-01-30</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0642">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ㅁ</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문경산업</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1111</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문경에코타운</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티켓</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패스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대분류명</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소분류명</a:t>
                      </a: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&gt;</a:t>
                      </a: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세분류명</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쿠팡</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CP11111</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Ngưng</a:t>
                      </a:r>
                      <a:r>
                        <a:rPr lang="en-US" altLang="ko-KR" sz="800" b="0" i="0" u="none" strike="noStrike" baseline="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bán</a:t>
                      </a:r>
                      <a:endPar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2020-01-05</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Mãi</a:t>
                      </a:r>
                      <a:r>
                        <a:rPr lang="en-US" altLang="ko-KR" sz="800" b="0" i="0" u="none" strike="noStrike" baseline="0" smtClean="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rPr>
                        <a:t> mãi</a:t>
                      </a:r>
                      <a:endParaRPr lang="ko-KR" altLang="en-US" sz="800" b="0" i="0" u="none" strike="noStrike" dirty="0">
                        <a:solidFill>
                          <a:srgbClr val="000000"/>
                        </a:solidFill>
                        <a:effectLst/>
                        <a:latin typeface="Times New Roman" panose="02020603050405020304" pitchFamily="18" charset="0"/>
                        <a:ea typeface="Nanum Gothic" panose="020D0604000000000000" pitchFamily="34" charset="-127"/>
                        <a:cs typeface="Times New Roman" panose="02020603050405020304" pitchFamily="18" charset="0"/>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Quản lý sản phẩm</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6" name="TextBox 25"/>
          <p:cNvSpPr txBox="1"/>
          <p:nvPr/>
        </p:nvSpPr>
        <p:spPr>
          <a:xfrm>
            <a:off x="1191375" y="1085116"/>
            <a:ext cx="1383712"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Quản lý sản phẩm</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39" name="직사각형 38"/>
          <p:cNvSpPr/>
          <p:nvPr/>
        </p:nvSpPr>
        <p:spPr>
          <a:xfrm>
            <a:off x="128464" y="1612033"/>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Quản lý sp</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44" name="표 43"/>
          <p:cNvGraphicFramePr>
            <a:graphicFrameLocks noGrp="1"/>
          </p:cNvGraphicFramePr>
          <p:nvPr/>
        </p:nvGraphicFramePr>
        <p:xfrm>
          <a:off x="1280592" y="1628800"/>
          <a:ext cx="6048673" cy="1432635"/>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84032">
                  <a:extLst>
                    <a:ext uri="{9D8B030D-6E8A-4147-A177-3AD203B41FA5}">
                      <a16:colId xmlns:a16="http://schemas.microsoft.com/office/drawing/2014/main" val="20001"/>
                    </a:ext>
                  </a:extLst>
                </a:gridCol>
                <a:gridCol w="711608">
                  <a:extLst>
                    <a:ext uri="{9D8B030D-6E8A-4147-A177-3AD203B41FA5}">
                      <a16:colId xmlns:a16="http://schemas.microsoft.com/office/drawing/2014/main" val="20002"/>
                    </a:ext>
                  </a:extLst>
                </a:gridCol>
                <a:gridCol w="1992505">
                  <a:extLst>
                    <a:ext uri="{9D8B030D-6E8A-4147-A177-3AD203B41FA5}">
                      <a16:colId xmlns:a16="http://schemas.microsoft.com/office/drawing/2014/main" val="20003"/>
                    </a:ext>
                  </a:extLst>
                </a:gridCol>
                <a:gridCol w="640448">
                  <a:extLst>
                    <a:ext uri="{9D8B030D-6E8A-4147-A177-3AD203B41FA5}">
                      <a16:colId xmlns:a16="http://schemas.microsoft.com/office/drawing/2014/main" val="20004"/>
                    </a:ext>
                  </a:extLst>
                </a:gridCol>
              </a:tblGrid>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Ngày</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0" indent="0"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Chỉ</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xem sp bán mãi mãi</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ctr"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Nhà</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cung cấp</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Kênh</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thái sp</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Tất</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cả</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Lưu</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tạm</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Chờ</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duyệt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r>
                        <a:rPr lang="ko-KR" altLang="en-US" sz="800" b="0" u="none"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Bán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xong</a:t>
                      </a:r>
                      <a:r>
                        <a:rPr lang="ko-KR" altLang="en-US" sz="800" b="0" u="none"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loại</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6527">
                <a:tc>
                  <a:txBody>
                    <a:bodyPr/>
                    <a:lstStyle/>
                    <a:p>
                      <a:pPr algn="ctr" latinLnBrk="1"/>
                      <a:r>
                        <a:rPr lang="en-US" altLang="ko-KR" sz="800" b="1"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Từ</a:t>
                      </a:r>
                      <a:r>
                        <a:rPr lang="en-US" altLang="ko-KR" sz="800" b="1" baseline="0" smtClean="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rPr>
                        <a:t> khóa</a:t>
                      </a:r>
                      <a:endParaRPr lang="ko-KR" altLang="en-US" sz="800" b="1"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45" name="직사각형 44"/>
          <p:cNvSpPr/>
          <p:nvPr/>
        </p:nvSpPr>
        <p:spPr>
          <a:xfrm>
            <a:off x="2058755" y="194010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Xem tất cả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46" name="직사각형 45"/>
          <p:cNvSpPr/>
          <p:nvPr/>
        </p:nvSpPr>
        <p:spPr>
          <a:xfrm>
            <a:off x="4764668" y="1940101"/>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쿠팡</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위메프</a:t>
            </a:r>
            <a:r>
              <a:rPr lang="en-US" altLang="ko-KR"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티몬</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p>
        </p:txBody>
      </p:sp>
      <p:sp>
        <p:nvSpPr>
          <p:cNvPr id="48" name="직사각형 47"/>
          <p:cNvSpPr/>
          <p:nvPr/>
        </p:nvSpPr>
        <p:spPr>
          <a:xfrm>
            <a:off x="2058755" y="2522763"/>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Loại sp</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0" name="직사각형 49"/>
          <p:cNvSpPr/>
          <p:nvPr/>
        </p:nvSpPr>
        <p:spPr>
          <a:xfrm>
            <a:off x="2977914"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1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3" name="직사각형 52"/>
          <p:cNvSpPr/>
          <p:nvPr/>
        </p:nvSpPr>
        <p:spPr>
          <a:xfrm>
            <a:off x="3829437"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2</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4" name="직사각형 53"/>
          <p:cNvSpPr/>
          <p:nvPr/>
        </p:nvSpPr>
        <p:spPr>
          <a:xfrm>
            <a:off x="4672734"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3</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5" name="직사각형 54"/>
          <p:cNvSpPr/>
          <p:nvPr/>
        </p:nvSpPr>
        <p:spPr>
          <a:xfrm>
            <a:off x="5516031" y="2522763"/>
            <a:ext cx="809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 loại 4</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57" name="직사각형 56"/>
          <p:cNvSpPr/>
          <p:nvPr/>
        </p:nvSpPr>
        <p:spPr>
          <a:xfrm>
            <a:off x="3952497" y="1694995"/>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1 tuần</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57"/>
          <p:cNvSpPr/>
          <p:nvPr/>
        </p:nvSpPr>
        <p:spPr>
          <a:xfrm>
            <a:off x="4413252" y="1694995"/>
            <a:ext cx="477265"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1 tháng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직사각형 61"/>
          <p:cNvSpPr/>
          <p:nvPr/>
        </p:nvSpPr>
        <p:spPr>
          <a:xfrm>
            <a:off x="4913819" y="1694995"/>
            <a:ext cx="518854"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3 tháng</a:t>
            </a:r>
            <a:endParaRPr lang="ko-KR" altLang="en-US" sz="7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64"/>
          <p:cNvSpPr/>
          <p:nvPr/>
        </p:nvSpPr>
        <p:spPr>
          <a:xfrm>
            <a:off x="2049438"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2020-01-01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68"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8404"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72" name="직사각형 71"/>
          <p:cNvSpPr/>
          <p:nvPr/>
        </p:nvSpPr>
        <p:spPr>
          <a:xfrm>
            <a:off x="3055059"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2020-01-01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73"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44025"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74" name="직사각형 73"/>
          <p:cNvSpPr/>
          <p:nvPr/>
        </p:nvSpPr>
        <p:spPr>
          <a:xfrm>
            <a:off x="2990949" y="280421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5" name="직사각형 74"/>
          <p:cNvSpPr/>
          <p:nvPr/>
        </p:nvSpPr>
        <p:spPr>
          <a:xfrm>
            <a:off x="6749307" y="2057838"/>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Tìm</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6" name="직사각형 75"/>
          <p:cNvSpPr/>
          <p:nvPr/>
        </p:nvSpPr>
        <p:spPr>
          <a:xfrm>
            <a:off x="6747628" y="2477156"/>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Reset</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8" name="직사각형 77"/>
          <p:cNvSpPr/>
          <p:nvPr/>
        </p:nvSpPr>
        <p:spPr>
          <a:xfrm>
            <a:off x="1712640" y="3837282"/>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Sửa</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0" name="TextBox 79"/>
          <p:cNvSpPr txBox="1"/>
          <p:nvPr/>
        </p:nvSpPr>
        <p:spPr>
          <a:xfrm>
            <a:off x="1199202" y="3220416"/>
            <a:ext cx="873478" cy="215444"/>
          </a:xfrm>
          <a:prstGeom prst="rect">
            <a:avLst/>
          </a:prstGeom>
          <a:noFill/>
        </p:spPr>
        <p:txBody>
          <a:bodyPr wrap="square" rtlCol="0">
            <a:spAutoFit/>
          </a:bodyPr>
          <a:lstStyle/>
          <a:p>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Tổng</a:t>
            </a:r>
            <a:r>
              <a:rPr lang="ko-KR" altLang="en-US" sz="800" b="1" smtClean="0">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1">
                <a:latin typeface="Times New Roman" panose="02020603050405020304" pitchFamily="18" charset="0"/>
                <a:ea typeface="Nanum Gothic" panose="020D0604000000000000" pitchFamily="34" charset="-127"/>
                <a:cs typeface="Times New Roman" panose="02020603050405020304" pitchFamily="18" charset="0"/>
              </a:rPr>
              <a:t>N </a:t>
            </a:r>
            <a:r>
              <a:rPr lang="en-US" altLang="ko-KR" sz="800" b="1" smtClean="0">
                <a:latin typeface="Times New Roman" panose="02020603050405020304" pitchFamily="18" charset="0"/>
                <a:ea typeface="Nanum Gothic" panose="020D0604000000000000" pitchFamily="34" charset="-127"/>
                <a:cs typeface="Times New Roman" panose="02020603050405020304" pitchFamily="18" charset="0"/>
              </a:rPr>
              <a:t>kết quả</a:t>
            </a:r>
            <a:endParaRPr lang="ko-KR" altLang="en-US" sz="8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1" name="직사각형 80"/>
          <p:cNvSpPr/>
          <p:nvPr/>
        </p:nvSpPr>
        <p:spPr>
          <a:xfrm>
            <a:off x="5215735" y="3226378"/>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Ngưng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81"/>
          <p:cNvSpPr/>
          <p:nvPr/>
        </p:nvSpPr>
        <p:spPr>
          <a:xfrm>
            <a:off x="5864126" y="3226378"/>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Mở bán lại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4" name="직사각형 83"/>
          <p:cNvSpPr/>
          <p:nvPr/>
        </p:nvSpPr>
        <p:spPr>
          <a:xfrm>
            <a:off x="6508990" y="3226378"/>
            <a:ext cx="1036298"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ngày ngưng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84"/>
          <p:cNvSpPr/>
          <p:nvPr/>
        </p:nvSpPr>
        <p:spPr>
          <a:xfrm>
            <a:off x="2785763" y="3228573"/>
            <a:ext cx="871093"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Download excel</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pic>
        <p:nvPicPr>
          <p:cNvPr id="86" name="그림 85"/>
          <p:cNvPicPr>
            <a:picLocks noChangeAspect="1"/>
          </p:cNvPicPr>
          <p:nvPr/>
        </p:nvPicPr>
        <p:blipFill>
          <a:blip r:embed="rId3" cstate="print"/>
          <a:stretch>
            <a:fillRect/>
          </a:stretch>
        </p:blipFill>
        <p:spPr>
          <a:xfrm>
            <a:off x="2823975" y="6295943"/>
            <a:ext cx="3000375" cy="301408"/>
          </a:xfrm>
          <a:prstGeom prst="rect">
            <a:avLst/>
          </a:prstGeom>
        </p:spPr>
      </p:pic>
      <p:sp>
        <p:nvSpPr>
          <p:cNvPr id="87" name="직사각형 86"/>
          <p:cNvSpPr/>
          <p:nvPr/>
        </p:nvSpPr>
        <p:spPr>
          <a:xfrm>
            <a:off x="2051503" y="2804216"/>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 sp</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88" name="TextBox 87"/>
          <p:cNvSpPr txBox="1"/>
          <p:nvPr/>
        </p:nvSpPr>
        <p:spPr>
          <a:xfrm>
            <a:off x="1191375" y="1313869"/>
            <a:ext cx="3619902" cy="215444"/>
          </a:xfrm>
          <a:prstGeom prst="rect">
            <a:avLst/>
          </a:prstGeom>
          <a:noFill/>
        </p:spPr>
        <p:txBody>
          <a:bodyPr wrap="none" rtlCol="0">
            <a:spAutoFit/>
          </a:bodyPr>
          <a:lstStyle/>
          <a:p>
            <a:r>
              <a:rPr lang="vi-VN" altLang="ko-KR" sz="800" smtClean="0">
                <a:latin typeface="Times New Roman" panose="02020603050405020304" pitchFamily="18" charset="0"/>
                <a:ea typeface="Nanum Gothic" panose="020D0604000000000000" pitchFamily="34" charset="-127"/>
                <a:cs typeface="Times New Roman" panose="02020603050405020304" pitchFamily="18" charset="0"/>
              </a:rPr>
              <a:t>Đây là danh sách sản phẩm được thu thập lúc 9:00 ngày 21/12. (Update mỗi 5 phút)</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88"/>
          <p:cNvSpPr/>
          <p:nvPr/>
        </p:nvSpPr>
        <p:spPr>
          <a:xfrm>
            <a:off x="4736976"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Update ngay</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0" name="직사각형 89"/>
          <p:cNvSpPr/>
          <p:nvPr/>
        </p:nvSpPr>
        <p:spPr>
          <a:xfrm>
            <a:off x="2041849" y="3224807"/>
            <a:ext cx="678903"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kết quả</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p>
        </p:txBody>
      </p:sp>
      <p:sp>
        <p:nvSpPr>
          <p:cNvPr id="64"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6"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69"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4" name="그룹 57"/>
            <p:cNvGrpSpPr/>
            <p:nvPr/>
          </p:nvGrpSpPr>
          <p:grpSpPr>
            <a:xfrm>
              <a:off x="2995760" y="665405"/>
              <a:ext cx="203617" cy="207881"/>
              <a:chOff x="2939843" y="5447120"/>
              <a:chExt cx="272722" cy="278432"/>
            </a:xfrm>
          </p:grpSpPr>
          <p:sp>
            <p:nvSpPr>
              <p:cNvPr id="71"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79"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91" name="직선 연결선 145"/>
              <p:cNvCxnSpPr>
                <a:stCxn id="7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2"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3"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4"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6" name="직사각형 112"/>
          <p:cNvSpPr/>
          <p:nvPr/>
        </p:nvSpPr>
        <p:spPr>
          <a:xfrm>
            <a:off x="128463" y="22868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매출</a:t>
            </a:r>
            <a:r>
              <a:rPr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정산관리</a:t>
            </a:r>
          </a:p>
        </p:txBody>
      </p:sp>
      <p:sp>
        <p:nvSpPr>
          <p:cNvPr id="97" name="직사각형 113"/>
          <p:cNvSpPr/>
          <p:nvPr/>
        </p:nvSpPr>
        <p:spPr>
          <a:xfrm>
            <a:off x="128462" y="26165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문의관리</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직사각형 126"/>
          <p:cNvSpPr/>
          <p:nvPr/>
        </p:nvSpPr>
        <p:spPr>
          <a:xfrm>
            <a:off x="128457" y="291855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카테고리 관리</a:t>
            </a:r>
          </a:p>
        </p:txBody>
      </p:sp>
      <p:sp>
        <p:nvSpPr>
          <p:cNvPr id="102" name="직사각형 34"/>
          <p:cNvSpPr/>
          <p:nvPr/>
        </p:nvSpPr>
        <p:spPr>
          <a:xfrm>
            <a:off x="128463" y="196201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직사각형 36"/>
          <p:cNvSpPr/>
          <p:nvPr/>
        </p:nvSpPr>
        <p:spPr>
          <a:xfrm>
            <a:off x="128462" y="26349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6" name="직사각형 38"/>
          <p:cNvSpPr/>
          <p:nvPr/>
        </p:nvSpPr>
        <p:spPr>
          <a:xfrm>
            <a:off x="128457" y="293697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7" name="직사각형 37"/>
          <p:cNvSpPr/>
          <p:nvPr/>
        </p:nvSpPr>
        <p:spPr>
          <a:xfrm>
            <a:off x="128461" y="363318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직사각형 39"/>
          <p:cNvSpPr/>
          <p:nvPr/>
        </p:nvSpPr>
        <p:spPr>
          <a:xfrm>
            <a:off x="128457" y="328099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5" name="직사각형 35"/>
          <p:cNvSpPr/>
          <p:nvPr/>
        </p:nvSpPr>
        <p:spPr>
          <a:xfrm>
            <a:off x="128463" y="229553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1" name="직사각형 77"/>
          <p:cNvSpPr/>
          <p:nvPr/>
        </p:nvSpPr>
        <p:spPr>
          <a:xfrm>
            <a:off x="1726055" y="4099407"/>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Sửa</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3" name="타원 122"/>
          <p:cNvSpPr/>
          <p:nvPr/>
        </p:nvSpPr>
        <p:spPr>
          <a:xfrm>
            <a:off x="5154351" y="309100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98" name="타원 125"/>
          <p:cNvSpPr/>
          <p:nvPr/>
        </p:nvSpPr>
        <p:spPr>
          <a:xfrm>
            <a:off x="6069470" y="308632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14</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100" name="타원 126"/>
          <p:cNvSpPr/>
          <p:nvPr/>
        </p:nvSpPr>
        <p:spPr>
          <a:xfrm>
            <a:off x="6919813" y="307001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15</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cxnSp>
        <p:nvCxnSpPr>
          <p:cNvPr id="101" name="꺾인 연결선[E] 91"/>
          <p:cNvCxnSpPr>
            <a:stCxn id="81" idx="2"/>
            <a:endCxn id="107" idx="0"/>
          </p:cNvCxnSpPr>
          <p:nvPr/>
        </p:nvCxnSpPr>
        <p:spPr>
          <a:xfrm rot="5400000">
            <a:off x="2708299" y="2047580"/>
            <a:ext cx="1428320" cy="4192958"/>
          </a:xfrm>
          <a:prstGeom prst="bentConnector3">
            <a:avLst>
              <a:gd name="adj1" fmla="val 3822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3" name="꺾인 연결선[E] 119"/>
          <p:cNvCxnSpPr>
            <a:stCxn id="82" idx="2"/>
            <a:endCxn id="110" idx="0"/>
          </p:cNvCxnSpPr>
          <p:nvPr/>
        </p:nvCxnSpPr>
        <p:spPr>
          <a:xfrm rot="5400000">
            <a:off x="4238209" y="2931107"/>
            <a:ext cx="1430329" cy="2427913"/>
          </a:xfrm>
          <a:prstGeom prst="bentConnector3">
            <a:avLst>
              <a:gd name="adj1" fmla="val 45397"/>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E] 120"/>
          <p:cNvCxnSpPr>
            <a:stCxn id="84" idx="2"/>
            <a:endCxn id="113" idx="0"/>
          </p:cNvCxnSpPr>
          <p:nvPr/>
        </p:nvCxnSpPr>
        <p:spPr>
          <a:xfrm rot="5400000">
            <a:off x="5861391" y="3689111"/>
            <a:ext cx="1424960" cy="906537"/>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7" name="직사각형 78"/>
          <p:cNvSpPr/>
          <p:nvPr/>
        </p:nvSpPr>
        <p:spPr>
          <a:xfrm>
            <a:off x="158378" y="4858219"/>
            <a:ext cx="2335203" cy="79141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 phẩm đã chọn sẽ ngưng bán trên kênh bán. </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Bạn có muốn tiếp tục không? </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직사각형 90"/>
          <p:cNvSpPr/>
          <p:nvPr/>
        </p:nvSpPr>
        <p:spPr>
          <a:xfrm>
            <a:off x="539935" y="5375801"/>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직사각형 92"/>
          <p:cNvSpPr/>
          <p:nvPr/>
        </p:nvSpPr>
        <p:spPr>
          <a:xfrm>
            <a:off x="1324597" y="5375801"/>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Cancel</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0" name="직사각형 96"/>
          <p:cNvSpPr/>
          <p:nvPr/>
        </p:nvSpPr>
        <p:spPr>
          <a:xfrm>
            <a:off x="2571814" y="4860228"/>
            <a:ext cx="2335203" cy="79141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 phẩm đã chọn sẽ được bán lại.</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Vui lòng kiểm tra kỹ thời gian bán. </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1" name="직사각형 97"/>
          <p:cNvSpPr/>
          <p:nvPr/>
        </p:nvSpPr>
        <p:spPr>
          <a:xfrm>
            <a:off x="2953371" y="5377810"/>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2" name="직사각형 104"/>
          <p:cNvSpPr/>
          <p:nvPr/>
        </p:nvSpPr>
        <p:spPr>
          <a:xfrm>
            <a:off x="3738033" y="5377810"/>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Cancel</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3" name="직사각형 105"/>
          <p:cNvSpPr/>
          <p:nvPr/>
        </p:nvSpPr>
        <p:spPr>
          <a:xfrm>
            <a:off x="4953000" y="4854859"/>
            <a:ext cx="2335203" cy="906511"/>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Vui lòng thiết lập ngày ngưng bán. </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Ngày ngưng bán</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4" name="직사각형 106"/>
          <p:cNvSpPr/>
          <p:nvPr/>
        </p:nvSpPr>
        <p:spPr>
          <a:xfrm>
            <a:off x="5334557" y="5472905"/>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5" name="직사각형 107"/>
          <p:cNvSpPr/>
          <p:nvPr/>
        </p:nvSpPr>
        <p:spPr>
          <a:xfrm>
            <a:off x="6119219" y="5472905"/>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Cancel</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직사각형 117"/>
          <p:cNvSpPr/>
          <p:nvPr/>
        </p:nvSpPr>
        <p:spPr>
          <a:xfrm>
            <a:off x="5881789" y="5202196"/>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latin typeface="Times New Roman" panose="02020603050405020304" pitchFamily="18" charset="0"/>
                <a:cs typeface="Times New Roman" panose="02020603050405020304" pitchFamily="18" charset="0"/>
              </a:rPr>
              <a:t>2020-01-01</a:t>
            </a:r>
            <a:endParaRPr lang="ko-KR" altLang="en-US" sz="900" dirty="0">
              <a:solidFill>
                <a:schemeClr val="tx1"/>
              </a:solidFill>
              <a:latin typeface="Times New Roman" panose="02020603050405020304" pitchFamily="18" charset="0"/>
              <a:cs typeface="Times New Roman" panose="02020603050405020304" pitchFamily="18" charset="0"/>
            </a:endParaRPr>
          </a:p>
        </p:txBody>
      </p:sp>
      <p:pic>
        <p:nvPicPr>
          <p:cNvPr id="117" name="Picture 2" descr="C:\Users\Junice\Dropbox\5. Abydos KISA 전자계약\아이콘백\calendar48.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70755" y="5229535"/>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125" name="직사각형 124"/>
          <p:cNvSpPr/>
          <p:nvPr/>
        </p:nvSpPr>
        <p:spPr>
          <a:xfrm>
            <a:off x="1367753" y="3827738"/>
            <a:ext cx="239567" cy="48896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latin typeface="Times New Roman" panose="02020603050405020304" pitchFamily="18" charset="0"/>
              <a:cs typeface="Times New Roman" panose="02020603050405020304" pitchFamily="18" charset="0"/>
            </a:endParaRPr>
          </a:p>
        </p:txBody>
      </p:sp>
      <p:sp>
        <p:nvSpPr>
          <p:cNvPr id="126" name="타원 123"/>
          <p:cNvSpPr/>
          <p:nvPr/>
        </p:nvSpPr>
        <p:spPr>
          <a:xfrm>
            <a:off x="1411643" y="423076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graphicFrame>
        <p:nvGraphicFramePr>
          <p:cNvPr id="127" name="표 68"/>
          <p:cNvGraphicFramePr>
            <a:graphicFrameLocks noGrp="1"/>
          </p:cNvGraphicFramePr>
          <p:nvPr/>
        </p:nvGraphicFramePr>
        <p:xfrm>
          <a:off x="7453089" y="836962"/>
          <a:ext cx="2357214" cy="260448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Sắp xếp theo mã sản phẩm đã đăng ở menu “Đăng sản phẩm”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Lưu tạm, trạng thái chờ duyệt k0 chọn đc</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Ngưng bán : Chỉ áp dụng cho sản phẩm chờ duyệt, sản phẩm đang bán. Có thể chọn nhiều sản phẩm cùng lúc để sửa.</a:t>
                      </a:r>
                      <a:endParaRPr lang="en-US" altLang="ko-KR" sz="800" b="1"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hiển thị thông báo xác nhận</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OK thì ngưng bán và chuyển trạng thái sản phẩm thành ngưng bán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Nếu có sản phẩm k0 thuộc trạng thái có thể setting thì hiển thị thông báo:</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Nội dung thông báo</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Chỉ áp dụng cho sản phẩm chờ duyệt, sản phẩm đang bán.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Mở bán lại : Chỉ áp dụng cho sản phẩm ngưng bán. Có thể chọn nhiều sản phẩm cùng lúc để sửa.</a:t>
                      </a:r>
                      <a:endParaRPr lang="en-US" altLang="ko-KR" sz="800" b="1"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hiển thị thông báo xác nhận</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OK thì mở bán lại và chuyển trạng thái sản phẩm thành đang bán.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28" name="표 16"/>
          <p:cNvGraphicFramePr>
            <a:graphicFrameLocks noGrp="1"/>
          </p:cNvGraphicFramePr>
          <p:nvPr/>
        </p:nvGraphicFramePr>
        <p:xfrm>
          <a:off x="7453089" y="4415999"/>
          <a:ext cx="2357214" cy="11193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1"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Sửa ngày ngưng bán : Có thể áp dụng cho mọi trạng thái. Có thể chọn nhiều sản phẩm cùng lúc để sửa.</a:t>
                      </a:r>
                      <a:endParaRPr lang="en-US" altLang="ko-KR" sz="800" b="1"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kumimoji="1" lang="en-US" altLang="ko-KR" sz="800" b="1" i="0" u="none" strike="noStrike" kern="1200" cap="none" spc="0" normalizeH="0" baseline="0" noProof="0" smtClean="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rPr>
                        <a:t>Áp dụng chung cho button 13,14,15</a:t>
                      </a:r>
                      <a:r>
                        <a:rPr kumimoji="1" lang="ko-KR" altLang="en-US" sz="800" b="1" i="0" u="none" strike="noStrike" kern="1200" cap="none" spc="0" normalizeH="0" baseline="0" noProof="0" smtClean="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rPr>
                        <a:t> </a:t>
                      </a:r>
                      <a:endParaRPr kumimoji="1" lang="en-US" altLang="ko-KR" sz="800" b="1" i="0" u="none" strike="noStrike" kern="1200" cap="none" spc="0" normalizeH="0" baseline="0" noProof="0" dirty="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1"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rPr>
                        <a:t>Khi k0 chọn sản phẩm nào mà bấm button thì hiển thị thông báo:</a:t>
                      </a:r>
                      <a:endParaRPr kumimoji="1"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kumimoji="1"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rPr>
                        <a:t>Nội dung thông báo</a:t>
                      </a:r>
                      <a:r>
                        <a:rPr kumimoji="1" lang="ko-KR" altLang="en-US" sz="800" b="0" i="0" u="none" strike="noStrike" kern="1200" cap="none" spc="0" normalizeH="0" baseline="0" noProof="0" smtClean="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rPr>
                        <a:t> </a:t>
                      </a:r>
                      <a:r>
                        <a:rPr kumimoji="1" lang="en-US" altLang="ko-KR" sz="800" b="0" i="0" u="none" strike="noStrike" kern="1200" cap="none" spc="0" normalizeH="0" baseline="0" noProof="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rPr>
                        <a:t>: </a:t>
                      </a:r>
                      <a:r>
                        <a:rPr kumimoji="1" lang="en-US" altLang="ko-KR" sz="800" b="0" i="0" u="none" strike="noStrike" kern="1200" cap="none" spc="0" normalizeH="0" baseline="0" noProof="0" smtClean="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rPr>
                        <a:t>Vui lòng chọn ít nhất 1 sản phẩm (OK)</a:t>
                      </a:r>
                      <a:endParaRPr kumimoji="1" lang="en-US" altLang="ko-KR" sz="800" b="0" i="0" u="none" strike="noStrike" kern="1200" cap="none" spc="0" normalizeH="0" baseline="0" noProof="0" dirty="0">
                        <a:ln>
                          <a:noFill/>
                        </a:ln>
                        <a:solidFill>
                          <a:prstClr val="black"/>
                        </a:solidFill>
                        <a:effectLst/>
                        <a:uLnTx/>
                        <a:uFillTx/>
                        <a:latin typeface="Times New Roman" panose="02020603050405020304" pitchFamily="18" charset="0"/>
                        <a:ea typeface="나눔고딕" panose="020D0604000000000000"/>
                        <a:cs typeface="Times New Roman" panose="02020603050405020304" pitchFamily="18" charset="0"/>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직사각형 66"/>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2" name="제목 1"/>
          <p:cNvSpPr>
            <a:spLocks noGrp="1"/>
          </p:cNvSpPr>
          <p:nvPr>
            <p:ph type="title"/>
          </p:nvPr>
        </p:nvSpPr>
        <p:spPr/>
        <p:txBody>
          <a:bodyPr/>
          <a:lstStyle/>
          <a:p>
            <a:r>
              <a:rPr lang="en-US" altLang="ko-KR" smtClean="0">
                <a:latin typeface="Times New Roman" panose="02020603050405020304" pitchFamily="18" charset="0"/>
                <a:ea typeface="Nanum Gothic" panose="020D0604000000000000" pitchFamily="34" charset="-127"/>
                <a:cs typeface="Times New Roman" panose="02020603050405020304" pitchFamily="18" charset="0"/>
              </a:rPr>
              <a:t>Sửa sản phẩm</a:t>
            </a:r>
            <a:endParaRPr lang="ko-KR" altLang="en-US" dirty="0">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98" name="표 97"/>
          <p:cNvGraphicFramePr>
            <a:graphicFrameLocks noGrp="1"/>
          </p:cNvGraphicFramePr>
          <p:nvPr/>
        </p:nvGraphicFramePr>
        <p:xfrm>
          <a:off x="1365895" y="1876390"/>
          <a:ext cx="5908610" cy="3230612"/>
        </p:xfrm>
        <a:graphic>
          <a:graphicData uri="http://schemas.openxmlformats.org/drawingml/2006/table">
            <a:tbl>
              <a:tblPr firstRow="1" bandRow="1">
                <a:tableStyleId>{5C22544A-7EE6-4342-B048-85BDC9FD1C3A}</a:tableStyleId>
              </a:tblPr>
              <a:tblGrid>
                <a:gridCol w="1138833">
                  <a:extLst>
                    <a:ext uri="{9D8B030D-6E8A-4147-A177-3AD203B41FA5}">
                      <a16:colId xmlns:a16="http://schemas.microsoft.com/office/drawing/2014/main" val="20000"/>
                    </a:ext>
                  </a:extLst>
                </a:gridCol>
                <a:gridCol w="4769777">
                  <a:extLst>
                    <a:ext uri="{9D8B030D-6E8A-4147-A177-3AD203B41FA5}">
                      <a16:colId xmlns:a16="http://schemas.microsoft.com/office/drawing/2014/main" val="20001"/>
                    </a:ext>
                  </a:extLst>
                </a:gridCol>
              </a:tblGrid>
              <a:tr h="288312">
                <a:tc gridSpan="2">
                  <a:txBody>
                    <a:bodyPr/>
                    <a:lstStyle/>
                    <a:p>
                      <a:pPr algn="l" latinLnBrk="1"/>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a:t>
                      </a:r>
                      <a:r>
                        <a:rPr lang="en-US" altLang="ko-KR" sz="10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tin sản phẩm</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hMerge="1">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60304">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Mã</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sản phẩm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123456</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0304">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Trạng</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thái sp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Đang</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bán</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7391">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loại</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391">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Phân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loại khu vực</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7391">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sản phẩm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2940050" indent="0"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0/70</a:t>
                      </a:r>
                      <a:r>
                        <a:rPr lang="ko-KR" altLang="en-US"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ký tự</a:t>
                      </a:r>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20127">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Gắn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thẻ sản phẩm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endParaRPr lang="ko-KR" altLang="en-US"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1739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Giá</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đại diện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5,000</a:t>
                      </a:r>
                      <a:r>
                        <a:rPr lang="en-US" altLang="ko-KR" sz="800" b="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vi-VN" altLang="ko-KR" sz="800" b="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Tự động setting giá của option đại diện được thiết lập ở option. </a:t>
                      </a: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17391">
                <a:tc>
                  <a:txBody>
                    <a:bodyPr/>
                    <a:lstStyle/>
                    <a:p>
                      <a:pPr algn="ctr" latinLnBrk="1"/>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Căn</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cứ giá chuẩn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Tên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căn cứ giá chuẩn    </a:t>
                      </a:r>
                      <a:r>
                        <a:rPr lang="vi-VN" altLang="ko-KR" sz="800" b="0"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Tự động setting giá xác định căn cứ giá chuẩn của option đại diện được thiết lập ở option. </a:t>
                      </a:r>
                      <a:endParaRPr lang="ko-KR" altLang="en-US" sz="800" b="0"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14610">
                <a:tc>
                  <a:txBody>
                    <a:bodyPr/>
                    <a:lstStyle/>
                    <a:p>
                      <a:pPr algn="ctr" latinLnBrk="1"/>
                      <a:r>
                        <a:rPr lang="ko-KR" altLang="en-US" sz="800" b="1" smtClean="0">
                          <a:solidFill>
                            <a:srgbClr val="C00000"/>
                          </a:solidFill>
                          <a:latin typeface="Times New Roman" panose="02020603050405020304" pitchFamily="18" charset="0"/>
                          <a:ea typeface="Nanum Gothic" panose="020D0604000000000000" pitchFamily="34" charset="-127"/>
                          <a:cs typeface="Times New Roman" panose="02020603050405020304" pitchFamily="18" charset="0"/>
                        </a:rPr>
                        <a:t>*</a:t>
                      </a: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Loại</a:t>
                      </a:r>
                      <a:r>
                        <a:rPr lang="en-US" altLang="ko-KR" sz="800" b="1"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hình bán</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marL="36000" marR="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latinLnBrk="1"/>
                      <a:r>
                        <a:rPr lang="ko-KR" altLang="en-US" sz="800" b="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phẩm voucher    </a:t>
                      </a:r>
                      <a:r>
                        <a:rPr lang="ko-KR" altLang="en-US"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800" b="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Sản</a:t>
                      </a:r>
                      <a:r>
                        <a:rPr lang="en-US" altLang="ko-KR" sz="800" b="0" baseline="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phẩm quy định ngày</a:t>
                      </a:r>
                      <a:endParaRPr lang="en-US" altLang="ko-KR" sz="800" b="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127" name="직사각형 126"/>
          <p:cNvSpPr/>
          <p:nvPr/>
        </p:nvSpPr>
        <p:spPr>
          <a:xfrm>
            <a:off x="2649244" y="3370842"/>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Vé công viên giải trí</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6" name="타원 85"/>
          <p:cNvSpPr/>
          <p:nvPr/>
        </p:nvSpPr>
        <p:spPr>
          <a:xfrm>
            <a:off x="2504728" y="2132856"/>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1</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88" name="타원 87"/>
          <p:cNvSpPr/>
          <p:nvPr/>
        </p:nvSpPr>
        <p:spPr>
          <a:xfrm>
            <a:off x="3008784" y="2420888"/>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3</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4" name="TextBox 3"/>
          <p:cNvSpPr txBox="1"/>
          <p:nvPr/>
        </p:nvSpPr>
        <p:spPr>
          <a:xfrm>
            <a:off x="10016836" y="2899064"/>
            <a:ext cx="184731" cy="246221"/>
          </a:xfrm>
          <a:prstGeom prst="rect">
            <a:avLst/>
          </a:prstGeom>
          <a:noFill/>
        </p:spPr>
        <p:txBody>
          <a:bodyPr wrap="none" rtlCol="0">
            <a:spAutoFit/>
          </a:bodyPr>
          <a:lstStyle/>
          <a:p>
            <a:endParaRPr kumimoji="1" lang="ko-KR" altLang="en-US" sz="1000" dirty="0">
              <a:latin typeface="Times New Roman" panose="02020603050405020304" pitchFamily="18" charset="0"/>
              <a:cs typeface="Times New Roman" panose="02020603050405020304" pitchFamily="18" charset="0"/>
            </a:endParaRPr>
          </a:p>
        </p:txBody>
      </p:sp>
      <p:sp>
        <p:nvSpPr>
          <p:cNvPr id="56" name="직사각형 22"/>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T-Bridge</a:t>
            </a:r>
            <a:endParaRPr lang="ko-KR" altLang="en-US" sz="12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9" name="직사각형 45"/>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pSp>
        <p:nvGrpSpPr>
          <p:cNvPr id="3" name="그룹 46"/>
          <p:cNvGrpSpPr/>
          <p:nvPr/>
        </p:nvGrpSpPr>
        <p:grpSpPr>
          <a:xfrm>
            <a:off x="1267854" y="665402"/>
            <a:ext cx="1931523" cy="207884"/>
            <a:chOff x="1267854" y="665402"/>
            <a:chExt cx="1931523" cy="207884"/>
          </a:xfrm>
        </p:grpSpPr>
        <p:sp>
          <p:nvSpPr>
            <p:cNvPr id="61" name="직사각형 56"/>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smtClean="0">
                  <a:solidFill>
                    <a:schemeClr val="tx1">
                      <a:lumMod val="50000"/>
                      <a:lumOff val="50000"/>
                    </a:schemeClr>
                  </a:solidFill>
                  <a:latin typeface="Times New Roman" panose="02020603050405020304" pitchFamily="18" charset="0"/>
                  <a:cs typeface="Times New Roman" panose="02020603050405020304" pitchFamily="18" charset="0"/>
                </a:rPr>
                <a:t>Tìm mã sản phẩm, tên sản phẩm</a:t>
              </a:r>
              <a:endParaRPr lang="ko-KR" altLang="en-US" sz="9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5" name="그룹 57"/>
            <p:cNvGrpSpPr/>
            <p:nvPr/>
          </p:nvGrpSpPr>
          <p:grpSpPr>
            <a:xfrm>
              <a:off x="2995760" y="665405"/>
              <a:ext cx="203617" cy="207881"/>
              <a:chOff x="2939843" y="5447120"/>
              <a:chExt cx="272722" cy="278432"/>
            </a:xfrm>
          </p:grpSpPr>
          <p:sp>
            <p:nvSpPr>
              <p:cNvPr id="78" name="직사각형 61"/>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sp>
            <p:nvSpPr>
              <p:cNvPr id="79" name="타원 6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Times New Roman" panose="02020603050405020304" pitchFamily="18" charset="0"/>
                  <a:cs typeface="Times New Roman" panose="02020603050405020304" pitchFamily="18" charset="0"/>
                </a:endParaRPr>
              </a:p>
            </p:txBody>
          </p:sp>
          <p:cxnSp>
            <p:nvCxnSpPr>
              <p:cNvPr id="80" name="직선 연결선 145"/>
              <p:cNvCxnSpPr>
                <a:stCxn id="7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1" name="직사각형 68"/>
          <p:cNvSpPr/>
          <p:nvPr/>
        </p:nvSpPr>
        <p:spPr>
          <a:xfrm>
            <a:off x="5585593" y="697958"/>
            <a:ext cx="925513" cy="18949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TK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2" name="직사각형 70"/>
          <p:cNvSpPr/>
          <p:nvPr/>
        </p:nvSpPr>
        <p:spPr>
          <a:xfrm>
            <a:off x="4448944" y="693276"/>
            <a:ext cx="982961" cy="215444"/>
          </a:xfrm>
          <a:prstGeom prst="rect">
            <a:avLst/>
          </a:prstGeom>
        </p:spPr>
        <p:txBody>
          <a:bodyPr wrap="none">
            <a:spAutoFit/>
          </a:bodyPr>
          <a:lstStyle/>
          <a:p>
            <a:pPr algn="r"/>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Xin chào, T-Bridge</a:t>
            </a:r>
            <a:endParaRPr lang="ko-KR" altLang="en-US" sz="800"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9" name="직사각형 71"/>
          <p:cNvSpPr/>
          <p:nvPr/>
        </p:nvSpPr>
        <p:spPr>
          <a:xfrm>
            <a:off x="6546896" y="697958"/>
            <a:ext cx="838897" cy="189495"/>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Đăng xuất</a:t>
            </a:r>
            <a:endParaRPr lang="ko-KR" altLang="en-US" sz="8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99" name="TextBox 98"/>
          <p:cNvSpPr txBox="1"/>
          <p:nvPr/>
        </p:nvSpPr>
        <p:spPr>
          <a:xfrm>
            <a:off x="1280592" y="1078062"/>
            <a:ext cx="1245854" cy="276999"/>
          </a:xfrm>
          <a:prstGeom prst="rect">
            <a:avLst/>
          </a:prstGeom>
          <a:noFill/>
        </p:spPr>
        <p:txBody>
          <a:bodyPr wrap="none" rtlCol="0">
            <a:spAutoFit/>
          </a:bodyPr>
          <a:lstStyle/>
          <a:p>
            <a:r>
              <a:rPr lang="en-US" altLang="ko-KR" sz="1200" b="1" smtClean="0">
                <a:latin typeface="Times New Roman" panose="02020603050405020304" pitchFamily="18" charset="0"/>
                <a:ea typeface="Nanum Gothic" panose="020D0604000000000000" pitchFamily="34" charset="-127"/>
                <a:cs typeface="Times New Roman" panose="02020603050405020304" pitchFamily="18" charset="0"/>
              </a:rPr>
              <a:t>Đăng sản phẩm</a:t>
            </a:r>
            <a:endParaRPr lang="ko-KR" altLang="en-US" sz="12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0" name="타원 152"/>
          <p:cNvSpPr/>
          <p:nvPr/>
        </p:nvSpPr>
        <p:spPr>
          <a:xfrm>
            <a:off x="1342677" y="1423658"/>
            <a:ext cx="288032" cy="270129"/>
          </a:xfrm>
          <a:prstGeom prst="ellipse">
            <a:avLst/>
          </a:prstGeom>
          <a:solidFill>
            <a:schemeClr val="accent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1</a:t>
            </a:r>
            <a:endParaRPr kumimoji="1" lang="ko-KR" altLang="en-US" sz="10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1" name="TextBox 100"/>
          <p:cNvSpPr txBox="1"/>
          <p:nvPr/>
        </p:nvSpPr>
        <p:spPr>
          <a:xfrm>
            <a:off x="1559272" y="1435612"/>
            <a:ext cx="1085554" cy="246221"/>
          </a:xfrm>
          <a:prstGeom prst="rect">
            <a:avLst/>
          </a:prstGeom>
          <a:noFill/>
        </p:spPr>
        <p:txBody>
          <a:bodyPr wrap="none" rtlCol="0">
            <a:spAutoFit/>
          </a:bodyPr>
          <a:lstStyle/>
          <a:p>
            <a:pPr algn="ctr"/>
            <a:r>
              <a:rPr kumimoji="1" lang="en-US" altLang="ko-KR" sz="1000" b="1" smtClean="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Thông tin sp/opt</a:t>
            </a:r>
            <a:endParaRPr kumimoji="1" lang="ko-KR" altLang="en-US" sz="1000" b="1" dirty="0">
              <a:solidFill>
                <a:schemeClr val="accent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2" name="타원 154"/>
          <p:cNvSpPr/>
          <p:nvPr/>
        </p:nvSpPr>
        <p:spPr>
          <a:xfrm>
            <a:off x="2600494"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2</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3" name="TextBox 102"/>
          <p:cNvSpPr txBox="1"/>
          <p:nvPr/>
        </p:nvSpPr>
        <p:spPr>
          <a:xfrm>
            <a:off x="2851620" y="1435612"/>
            <a:ext cx="862737"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Đk bán/mua</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4" name="타원 156"/>
          <p:cNvSpPr/>
          <p:nvPr/>
        </p:nvSpPr>
        <p:spPr>
          <a:xfrm>
            <a:off x="3890777"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3</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5" name="TextBox 104"/>
          <p:cNvSpPr txBox="1"/>
          <p:nvPr/>
        </p:nvSpPr>
        <p:spPr>
          <a:xfrm>
            <a:off x="4130538" y="1435612"/>
            <a:ext cx="1128835"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Đk hủy/hoàn tiền</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7" name="타원 47"/>
          <p:cNvSpPr/>
          <p:nvPr/>
        </p:nvSpPr>
        <p:spPr>
          <a:xfrm>
            <a:off x="5235326"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4</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8" name="TextBox 107"/>
          <p:cNvSpPr txBox="1"/>
          <p:nvPr/>
        </p:nvSpPr>
        <p:spPr>
          <a:xfrm>
            <a:off x="5457915" y="1435612"/>
            <a:ext cx="697627"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Hình ảnh</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9" name="타원 49"/>
          <p:cNvSpPr/>
          <p:nvPr/>
        </p:nvSpPr>
        <p:spPr>
          <a:xfrm>
            <a:off x="6132181" y="1423658"/>
            <a:ext cx="288032" cy="270129"/>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5</a:t>
            </a:r>
            <a:endParaRPr kumimoji="1"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0" name="TextBox 109"/>
          <p:cNvSpPr txBox="1"/>
          <p:nvPr/>
        </p:nvSpPr>
        <p:spPr>
          <a:xfrm>
            <a:off x="6341098" y="1435612"/>
            <a:ext cx="1186543" cy="246221"/>
          </a:xfrm>
          <a:prstGeom prst="rect">
            <a:avLst/>
          </a:prstGeom>
          <a:noFill/>
        </p:spPr>
        <p:txBody>
          <a:bodyPr wrap="none" rtlCol="0">
            <a:spAutoFit/>
          </a:bodyPr>
          <a:lstStyle/>
          <a:p>
            <a:r>
              <a:rPr kumimoji="1" lang="en-US" altLang="ko-KR" sz="1000" b="1" smtClean="0">
                <a:latin typeface="Times New Roman" panose="02020603050405020304" pitchFamily="18" charset="0"/>
                <a:ea typeface="Nanum Gothic" panose="020D0604000000000000" pitchFamily="34" charset="-127"/>
                <a:cs typeface="Times New Roman" panose="02020603050405020304" pitchFamily="18" charset="0"/>
              </a:rPr>
              <a:t>Thông tin sử dụng</a:t>
            </a:r>
            <a:endParaRPr kumimoji="1" lang="ko-KR" altLang="en-US" sz="1000" b="1" dirty="0">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4" name="직사각형 128"/>
          <p:cNvSpPr/>
          <p:nvPr/>
        </p:nvSpPr>
        <p:spPr>
          <a:xfrm>
            <a:off x="2645897" y="3765027"/>
            <a:ext cx="2891464"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ltLang="ko-KR" sz="800" smtClean="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rPr>
              <a:t>Nhập tối đa 10 thẻ, cách nhau bằng dấu phẩy (,)</a:t>
            </a:r>
            <a:endParaRPr lang="ko-KR" altLang="en-US" sz="800" dirty="0">
              <a:solidFill>
                <a:schemeClr val="bg1">
                  <a:lumMod val="75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5" name="직사각형 52"/>
          <p:cNvSpPr/>
          <p:nvPr/>
        </p:nvSpPr>
        <p:spPr>
          <a:xfrm>
            <a:off x="5596423" y="3765027"/>
            <a:ext cx="396132" cy="22536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Thêm</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6" name="직사각형 2"/>
          <p:cNvSpPr/>
          <p:nvPr/>
        </p:nvSpPr>
        <p:spPr>
          <a:xfrm>
            <a:off x="2596869" y="3990389"/>
            <a:ext cx="732893" cy="215444"/>
          </a:xfrm>
          <a:prstGeom prst="rect">
            <a:avLst/>
          </a:prstGeom>
        </p:spPr>
        <p:txBody>
          <a:bodyPr wrap="non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Vé biểu diễn </a:t>
            </a:r>
            <a:endParaRPr lang="ko-KR" altLang="en-US" sz="800" dirty="0">
              <a:latin typeface="Times New Roman" panose="02020603050405020304" pitchFamily="18" charset="0"/>
              <a:cs typeface="Times New Roman" panose="02020603050405020304" pitchFamily="18" charset="0"/>
            </a:endParaRPr>
          </a:p>
        </p:txBody>
      </p:sp>
      <p:sp>
        <p:nvSpPr>
          <p:cNvPr id="117" name="직사각형 82"/>
          <p:cNvSpPr/>
          <p:nvPr/>
        </p:nvSpPr>
        <p:spPr>
          <a:xfrm>
            <a:off x="3241537" y="4020611"/>
            <a:ext cx="132474" cy="154999"/>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8" name="직사각형 83"/>
          <p:cNvSpPr/>
          <p:nvPr/>
        </p:nvSpPr>
        <p:spPr>
          <a:xfrm>
            <a:off x="3416225" y="3990389"/>
            <a:ext cx="806631" cy="215444"/>
          </a:xfrm>
          <a:prstGeom prst="rect">
            <a:avLst/>
          </a:prstGeom>
        </p:spPr>
        <p:txBody>
          <a:bodyPr wrap="none">
            <a:spAutoFit/>
          </a:bodyPr>
          <a:lstStyle/>
          <a:p>
            <a:r>
              <a:rPr lang="en-US" altLang="ko-KR" sz="800" smtClean="0">
                <a:latin typeface="Times New Roman" panose="02020603050405020304" pitchFamily="18" charset="0"/>
                <a:ea typeface="Nanum Gothic" panose="020D0604000000000000" pitchFamily="34" charset="-127"/>
                <a:cs typeface="Times New Roman" panose="02020603050405020304" pitchFamily="18" charset="0"/>
              </a:rPr>
              <a:t>Les Misérables</a:t>
            </a:r>
            <a:endParaRPr lang="ko-KR" altLang="en-US" sz="800" dirty="0">
              <a:latin typeface="Times New Roman" panose="02020603050405020304" pitchFamily="18" charset="0"/>
              <a:cs typeface="Times New Roman" panose="02020603050405020304" pitchFamily="18" charset="0"/>
            </a:endParaRPr>
          </a:p>
        </p:txBody>
      </p:sp>
      <p:sp>
        <p:nvSpPr>
          <p:cNvPr id="119" name="직사각형 84"/>
          <p:cNvSpPr/>
          <p:nvPr/>
        </p:nvSpPr>
        <p:spPr>
          <a:xfrm>
            <a:off x="4171270" y="4020611"/>
            <a:ext cx="132474" cy="154999"/>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X</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0" name="직사각형 105"/>
          <p:cNvSpPr/>
          <p:nvPr/>
        </p:nvSpPr>
        <p:spPr>
          <a:xfrm>
            <a:off x="2657516" y="2744987"/>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Vé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1" name="직사각형 110"/>
          <p:cNvSpPr/>
          <p:nvPr/>
        </p:nvSpPr>
        <p:spPr>
          <a:xfrm>
            <a:off x="3634331" y="2740124"/>
            <a:ext cx="110881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Du lịch trong nước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2" name="직사각형 111"/>
          <p:cNvSpPr/>
          <p:nvPr/>
        </p:nvSpPr>
        <p:spPr>
          <a:xfrm>
            <a:off x="4785153" y="2735649"/>
            <a:ext cx="1038116"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Công viên chủ đề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4" name="직사각형 39"/>
          <p:cNvSpPr/>
          <p:nvPr/>
        </p:nvSpPr>
        <p:spPr>
          <a:xfrm>
            <a:off x="2657516" y="3070274"/>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Seoul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5" name="직사각형 40"/>
          <p:cNvSpPr/>
          <p:nvPr/>
        </p:nvSpPr>
        <p:spPr>
          <a:xfrm>
            <a:off x="3634331" y="3065411"/>
            <a:ext cx="936848"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Gangnam-gu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58" name="직사각형 111"/>
          <p:cNvSpPr/>
          <p:nvPr/>
        </p:nvSpPr>
        <p:spPr>
          <a:xfrm>
            <a:off x="4608658" y="3071733"/>
            <a:ext cx="1064422"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Samseong-dong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graphicFrame>
        <p:nvGraphicFramePr>
          <p:cNvPr id="55" name="표 53"/>
          <p:cNvGraphicFramePr>
            <a:graphicFrameLocks noGrp="1"/>
          </p:cNvGraphicFramePr>
          <p:nvPr/>
        </p:nvGraphicFramePr>
        <p:xfrm>
          <a:off x="7453089" y="836962"/>
          <a:ext cx="2357214" cy="37459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1</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mã sản phẩm đc sinh ra</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2</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thì hiện thông báo:</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OK thì sản phẩm đc sao chép và hiển thị thông báo:</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Nội dung thông báo</a:t>
                      </a:r>
                      <a:r>
                        <a:rPr lang="ko-KR" altLang="en-US"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 </a:t>
                      </a: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Đã sao chép xong. Di chuyển đến trang sản phẩm. [OK]</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93980" marR="0" lvl="0" indent="-9398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Click OK thì chuyển đến trang sản phẩm đc sao chép.</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3</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trạng thái bán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4</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Hiển thị giá của option đại diện</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5</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Đang thiết kế</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rPr>
                        <a:t>6</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Di chuyển đến danh sách</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smtClean="0">
                          <a:solidFill>
                            <a:srgbClr val="C00000"/>
                          </a:solidFill>
                          <a:latin typeface="Times New Roman" panose="02020603050405020304" pitchFamily="18" charset="0"/>
                          <a:ea typeface="Malgun Gothic" panose="020B0503020000020004" charset="-127"/>
                          <a:cs typeface="Times New Roman" panose="02020603050405020304" pitchFamily="18" charset="0"/>
                        </a:rPr>
                        <a:t>7</a:t>
                      </a:r>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Lưu thay đổi và di chuyển đến danh sách</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endParaRPr lang="ko-KR" altLang="en-US" sz="800" b="1" dirty="0">
                        <a:solidFill>
                          <a:srgbClr val="C00000"/>
                        </a:solidFill>
                        <a:latin typeface="Times New Roman" panose="02020603050405020304" pitchFamily="18" charset="0"/>
                        <a:ea typeface="Malgun Gothic" panose="020B0503020000020004" charset="-127"/>
                        <a:cs typeface="Times New Roman" panose="02020603050405020304"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en-US" altLang="ko-KR" sz="800" b="0" baseline="0" smtClean="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rPr>
                        <a:t>Chức năng ở những trang con còn lại giống với menu đăng sản phẩm</a:t>
                      </a:r>
                      <a:endParaRPr lang="en-US" altLang="ko-KR" sz="800" b="0" baseline="0" dirty="0">
                        <a:solidFill>
                          <a:schemeClr val="tx1"/>
                        </a:solidFill>
                        <a:latin typeface="Times New Roman" panose="02020603050405020304" pitchFamily="18" charset="0"/>
                        <a:ea typeface="Malgun Gothic" panose="020B0503020000020004" charset="-127"/>
                        <a:cs typeface="Times New Roman" panose="02020603050405020304" pitchFamily="18" charset="0"/>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7"/>
                  </a:ext>
                </a:extLst>
              </a:tr>
            </a:tbl>
          </a:graphicData>
        </a:graphic>
      </p:graphicFrame>
      <p:sp>
        <p:nvSpPr>
          <p:cNvPr id="60" name="직사각형 90"/>
          <p:cNvSpPr/>
          <p:nvPr/>
        </p:nvSpPr>
        <p:spPr>
          <a:xfrm>
            <a:off x="7486087" y="1262808"/>
            <a:ext cx="2335203" cy="97694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Bạn muốn sao chép sản phẩm hiện tại? </a:t>
            </a:r>
            <a:endParaRPr lang="en-US" altLang="ko-KR"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a:p>
            <a:pPr algn="ctr"/>
            <a:r>
              <a:rPr lang="en-US" altLang="ko-KR" sz="9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Nếu sao phép bạn phải nhập mới thời gian bán và hình ảnh sản phẩm. </a:t>
            </a:r>
            <a:endParaRPr lang="ko-KR" altLang="en-US" sz="9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2" name="직사각형 91"/>
          <p:cNvSpPr/>
          <p:nvPr/>
        </p:nvSpPr>
        <p:spPr>
          <a:xfrm>
            <a:off x="7867644" y="1962946"/>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OK</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3" name="직사각형 92"/>
          <p:cNvSpPr/>
          <p:nvPr/>
        </p:nvSpPr>
        <p:spPr>
          <a:xfrm>
            <a:off x="8652306" y="1962946"/>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bg1"/>
                </a:solidFill>
                <a:latin typeface="Times New Roman" panose="02020603050405020304" pitchFamily="18" charset="0"/>
                <a:ea typeface="Nanum Gothic" panose="020D0604000000000000" pitchFamily="34" charset="-127"/>
                <a:cs typeface="Times New Roman" panose="02020603050405020304" pitchFamily="18" charset="0"/>
              </a:rPr>
              <a:t>Cancel</a:t>
            </a:r>
            <a:endParaRPr lang="ko-KR" altLang="en-US" sz="800" b="1" dirty="0">
              <a:solidFill>
                <a:schemeClr val="bg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5" name="직사각형 52"/>
          <p:cNvSpPr/>
          <p:nvPr/>
        </p:nvSpPr>
        <p:spPr>
          <a:xfrm>
            <a:off x="3050873" y="2213321"/>
            <a:ext cx="756172" cy="15750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Sao chép sp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6" name="직사각형 111"/>
          <p:cNvSpPr/>
          <p:nvPr/>
        </p:nvSpPr>
        <p:spPr>
          <a:xfrm>
            <a:off x="5859100" y="2744353"/>
            <a:ext cx="1038116" cy="22536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Công viên chủ đề </a:t>
            </a:r>
            <a:r>
              <a:rPr lang="ko-KR" altLang="en-US" sz="800"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endParaRPr lang="ko-KR" altLang="en-US" sz="800"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7" name="타원 86"/>
          <p:cNvSpPr/>
          <p:nvPr/>
        </p:nvSpPr>
        <p:spPr>
          <a:xfrm>
            <a:off x="3728864" y="2132856"/>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2</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68" name="모서리가 둥근 직사각형 54"/>
          <p:cNvSpPr/>
          <p:nvPr/>
        </p:nvSpPr>
        <p:spPr>
          <a:xfrm>
            <a:off x="6799133" y="6533969"/>
            <a:ext cx="530132" cy="207399"/>
          </a:xfrm>
          <a:prstGeom prst="roundRect">
            <a:avLst/>
          </a:prstGeom>
          <a:solidFill>
            <a:schemeClr val="accent1">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Tiếp theo</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69" name="모서리가 둥근 직사각형 62"/>
          <p:cNvSpPr/>
          <p:nvPr/>
        </p:nvSpPr>
        <p:spPr>
          <a:xfrm>
            <a:off x="6198643" y="6533968"/>
            <a:ext cx="504056"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Sửa xong</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0" name="타원 89"/>
          <p:cNvSpPr/>
          <p:nvPr/>
        </p:nvSpPr>
        <p:spPr>
          <a:xfrm>
            <a:off x="6059261" y="645746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7</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71" name="모서리가 둥근 직사각형 94"/>
          <p:cNvSpPr/>
          <p:nvPr/>
        </p:nvSpPr>
        <p:spPr>
          <a:xfrm>
            <a:off x="1447396" y="6457461"/>
            <a:ext cx="625284" cy="207399"/>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US" altLang="ko-KR" sz="8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Danh sách sp</a:t>
            </a:r>
            <a:endParaRPr lang="ko-KR" altLang="en-US" sz="8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72" name="타원 95"/>
          <p:cNvSpPr/>
          <p:nvPr/>
        </p:nvSpPr>
        <p:spPr>
          <a:xfrm>
            <a:off x="1609321" y="634444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6</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73" name="타원 81"/>
          <p:cNvSpPr/>
          <p:nvPr/>
        </p:nvSpPr>
        <p:spPr>
          <a:xfrm>
            <a:off x="2403845" y="424889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4</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sp>
        <p:nvSpPr>
          <p:cNvPr id="74" name="타원 88"/>
          <p:cNvSpPr/>
          <p:nvPr/>
        </p:nvSpPr>
        <p:spPr>
          <a:xfrm>
            <a:off x="2398432" y="453355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Times New Roman" panose="02020603050405020304" pitchFamily="18" charset="0"/>
                <a:ea typeface="나눔고딕" pitchFamily="50" charset="-127"/>
                <a:cs typeface="Times New Roman" panose="02020603050405020304" pitchFamily="18" charset="0"/>
              </a:rPr>
              <a:t>5</a:t>
            </a:r>
            <a:endParaRPr lang="ko-KR" altLang="en-US" sz="800" b="1" dirty="0">
              <a:latin typeface="Times New Roman" panose="02020603050405020304" pitchFamily="18" charset="0"/>
              <a:ea typeface="나눔고딕" pitchFamily="50" charset="-127"/>
              <a:cs typeface="Times New Roman" panose="02020603050405020304" pitchFamily="18" charset="0"/>
            </a:endParaRPr>
          </a:p>
        </p:txBody>
      </p:sp>
      <p:cxnSp>
        <p:nvCxnSpPr>
          <p:cNvPr id="75" name="꺾인 연결선[E] 93"/>
          <p:cNvCxnSpPr>
            <a:stCxn id="65" idx="0"/>
            <a:endCxn id="60" idx="1"/>
          </p:cNvCxnSpPr>
          <p:nvPr/>
        </p:nvCxnSpPr>
        <p:spPr>
          <a:xfrm rot="5400000" flipH="1" flipV="1">
            <a:off x="5226504" y="-46262"/>
            <a:ext cx="462039" cy="4057128"/>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4"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Đăng sp</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85"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Dashboard</a:t>
            </a:r>
            <a:r>
              <a:rPr lang="ko-KR" altLang="en-US"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06" name="직사각형 38"/>
          <p:cNvSpPr/>
          <p:nvPr/>
        </p:nvSpPr>
        <p:spPr>
          <a:xfrm>
            <a:off x="128464" y="1612033"/>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Quản lý sp</a:t>
            </a:r>
            <a:r>
              <a:rPr lang="ko-KR" altLang="en-US" sz="1000" b="1" smtClean="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      </a:t>
            </a:r>
            <a:r>
              <a:rPr lang="en-US" altLang="ko-KR"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rPr>
              <a:t>&gt;</a:t>
            </a:r>
            <a:endParaRPr lang="ko-KR" altLang="en-US" sz="1000" b="1" dirty="0">
              <a:solidFill>
                <a:schemeClr val="tx2">
                  <a:lumMod val="60000"/>
                  <a:lumOff val="40000"/>
                </a:schemeClr>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1" name="직사각형 112"/>
          <p:cNvSpPr/>
          <p:nvPr/>
        </p:nvSpPr>
        <p:spPr>
          <a:xfrm>
            <a:off x="128463" y="22868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매출</a:t>
            </a:r>
            <a:r>
              <a:rPr lang="en-US" altLang="ko-KR"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a:t>
            </a: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정산관리</a:t>
            </a:r>
          </a:p>
        </p:txBody>
      </p:sp>
      <p:sp>
        <p:nvSpPr>
          <p:cNvPr id="112" name="직사각형 113"/>
          <p:cNvSpPr/>
          <p:nvPr/>
        </p:nvSpPr>
        <p:spPr>
          <a:xfrm>
            <a:off x="128462" y="26165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문의관리</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13" name="직사각형 126"/>
          <p:cNvSpPr/>
          <p:nvPr/>
        </p:nvSpPr>
        <p:spPr>
          <a:xfrm>
            <a:off x="128457" y="291855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카테고리 관리</a:t>
            </a:r>
          </a:p>
        </p:txBody>
      </p:sp>
      <p:sp>
        <p:nvSpPr>
          <p:cNvPr id="126" name="직사각형 34"/>
          <p:cNvSpPr/>
          <p:nvPr/>
        </p:nvSpPr>
        <p:spPr>
          <a:xfrm>
            <a:off x="128463" y="196201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Quản lý đh</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8" name="직사각형 36"/>
          <p:cNvSpPr/>
          <p:nvPr/>
        </p:nvSpPr>
        <p:spPr>
          <a:xfrm>
            <a:off x="128462" y="263493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hỏi đáp</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29" name="직사각형 38"/>
          <p:cNvSpPr/>
          <p:nvPr/>
        </p:nvSpPr>
        <p:spPr>
          <a:xfrm>
            <a:off x="128457" y="293697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phân loại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0" name="직사각형 37"/>
          <p:cNvSpPr/>
          <p:nvPr/>
        </p:nvSpPr>
        <p:spPr>
          <a:xfrm>
            <a:off x="128461" y="363318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Thông báo</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1" name="직사각형 39"/>
          <p:cNvSpPr/>
          <p:nvPr/>
        </p:nvSpPr>
        <p:spPr>
          <a:xfrm>
            <a:off x="128457" y="328099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gn="ctr">
              <a:lnSpc>
                <a:spcPct val="200000"/>
              </a:lnSpc>
            </a:pPr>
            <a:r>
              <a:rPr lang="en-US" altLang="ko-KR" sz="9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thành viên/quyền</a:t>
            </a:r>
            <a:endParaRPr lang="ko-KR" altLang="en-US" sz="9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
        <p:nvSpPr>
          <p:cNvPr id="132" name="직사각형 35"/>
          <p:cNvSpPr/>
          <p:nvPr/>
        </p:nvSpPr>
        <p:spPr>
          <a:xfrm>
            <a:off x="128463" y="229553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72000" bIns="72000" rtlCol="0" anchor="t"/>
          <a:lstStyle/>
          <a:p>
            <a:pPr>
              <a:lnSpc>
                <a:spcPct val="200000"/>
              </a:lnSpc>
            </a:pPr>
            <a:r>
              <a:rPr lang="en-US" altLang="ko-KR" sz="1000" b="1" smtClean="0">
                <a:solidFill>
                  <a:schemeClr val="tx1"/>
                </a:solidFill>
                <a:latin typeface="Times New Roman" panose="02020603050405020304" pitchFamily="18" charset="0"/>
                <a:ea typeface="Nanum Gothic" panose="020D0604000000000000" pitchFamily="34" charset="-127"/>
                <a:cs typeface="Times New Roman" panose="02020603050405020304" pitchFamily="18" charset="0"/>
              </a:rPr>
              <a:t>QL doanh thu  +</a:t>
            </a:r>
            <a:endParaRPr lang="ko-KR" altLang="en-US" sz="1000" b="1" dirty="0">
              <a:solidFill>
                <a:schemeClr val="tx1"/>
              </a:solidFill>
              <a:latin typeface="Times New Roman" panose="02020603050405020304" pitchFamily="18" charset="0"/>
              <a:ea typeface="Nanum Gothic" panose="020D0604000000000000" pitchFamily="34" charset="-127"/>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1947969" cy="461665"/>
          </a:xfrm>
          <a:prstGeom prst="rect">
            <a:avLst/>
          </a:prstGeom>
          <a:noFill/>
        </p:spPr>
        <p:txBody>
          <a:bodyPr wrap="none" rtlCol="0">
            <a:spAutoFit/>
          </a:bodyPr>
          <a:lstStyle/>
          <a:p>
            <a:r>
              <a:rPr lang="en-US" altLang="ko-KR" sz="2400" b="1" dirty="0">
                <a:solidFill>
                  <a:srgbClr val="4B4C58"/>
                </a:solidFill>
                <a:latin typeface="Nanum Gothic" panose="020D0604000000000000" pitchFamily="34" charset="-127"/>
                <a:ea typeface="Nanum Gothic" panose="020D0604000000000000" pitchFamily="34" charset="-127"/>
              </a:rPr>
              <a:t>[PC]</a:t>
            </a:r>
            <a:r>
              <a:rPr lang="ko-KR" altLang="en-US" sz="2400" b="1" dirty="0">
                <a:solidFill>
                  <a:srgbClr val="4B4C58"/>
                </a:solidFill>
                <a:latin typeface="Nanum Gothic" panose="020D0604000000000000" pitchFamily="34" charset="-127"/>
                <a:ea typeface="Nanum Gothic" panose="020D0604000000000000" pitchFamily="34" charset="-127"/>
              </a:rPr>
              <a:t>주문관리</a:t>
            </a:r>
            <a:endParaRPr lang="en-US" altLang="ko-KR" sz="2400" b="1" dirty="0">
              <a:solidFill>
                <a:srgbClr val="4B4C58"/>
              </a:solidFill>
              <a:latin typeface="Nanum Gothic" panose="020D0604000000000000" pitchFamily="34" charset="-127"/>
              <a:ea typeface="Nanum Gothic" panose="020D0604000000000000" pitchFamily="34" charset="-127"/>
            </a:endParaRPr>
          </a:p>
        </p:txBody>
      </p:sp>
      <p:sp>
        <p:nvSpPr>
          <p:cNvPr id="5" name="TextBox 4"/>
          <p:cNvSpPr txBox="1"/>
          <p:nvPr/>
        </p:nvSpPr>
        <p:spPr>
          <a:xfrm>
            <a:off x="374438" y="2670820"/>
            <a:ext cx="1901483" cy="276999"/>
          </a:xfrm>
          <a:prstGeom prst="rect">
            <a:avLst/>
          </a:prstGeom>
          <a:noFill/>
        </p:spPr>
        <p:txBody>
          <a:bodyPr wrap="none" rtlCol="0">
            <a:spAutoFit/>
          </a:bodyPr>
          <a:lstStyle/>
          <a:p>
            <a:r>
              <a:rPr lang="ko-KR" altLang="en-US" sz="1200" dirty="0" err="1">
                <a:solidFill>
                  <a:srgbClr val="E72F14"/>
                </a:solidFill>
                <a:latin typeface="Nanum Gothic" panose="020D0604000000000000" pitchFamily="34" charset="-127"/>
                <a:ea typeface="Nanum Gothic" panose="020D0604000000000000" pitchFamily="34" charset="-127"/>
              </a:rPr>
              <a:t>티켓통합</a:t>
            </a:r>
            <a:r>
              <a:rPr lang="ko-KR" altLang="en-US" sz="1200" dirty="0">
                <a:solidFill>
                  <a:srgbClr val="E72F14"/>
                </a:solidFill>
                <a:latin typeface="Nanum Gothic" panose="020D0604000000000000" pitchFamily="34" charset="-127"/>
                <a:ea typeface="Nanum Gothic" panose="020D0604000000000000" pitchFamily="34" charset="-127"/>
              </a:rPr>
              <a:t> 솔루션 티브리지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dirty="0">
                <a:latin typeface="Nanum Gothic" panose="020D0604000000000000" pitchFamily="34" charset="-127"/>
                <a:ea typeface="Nanum Gothic" panose="020D0604000000000000" pitchFamily="34" charset="-127"/>
              </a:rPr>
              <a:t> [</a:t>
            </a:r>
            <a:r>
              <a:rPr kumimoji="1" lang="ko-KR" altLang="en-US" dirty="0">
                <a:latin typeface="Nanum Gothic" panose="020D0604000000000000" pitchFamily="34" charset="-127"/>
                <a:ea typeface="Nanum Gothic" panose="020D0604000000000000" pitchFamily="34" charset="-127"/>
              </a:rPr>
              <a:t>정책</a:t>
            </a:r>
            <a:r>
              <a:rPr kumimoji="1" lang="en-US" altLang="ko-KR" dirty="0">
                <a:latin typeface="Nanum Gothic" panose="020D0604000000000000" pitchFamily="34" charset="-127"/>
                <a:ea typeface="Nanum Gothic" panose="020D0604000000000000" pitchFamily="34" charset="-127"/>
              </a:rPr>
              <a:t>] </a:t>
            </a:r>
            <a:r>
              <a:rPr kumimoji="1" lang="ko-KR" altLang="en-US" dirty="0" err="1">
                <a:latin typeface="Nanum Gothic" panose="020D0604000000000000" pitchFamily="34" charset="-127"/>
                <a:ea typeface="Nanum Gothic" panose="020D0604000000000000" pitchFamily="34" charset="-127"/>
              </a:rPr>
              <a:t>주문관리</a:t>
            </a:r>
            <a:r>
              <a:rPr kumimoji="1" lang="ko-KR" altLang="en-US" dirty="0">
                <a:latin typeface="Nanum Gothic" panose="020D0604000000000000" pitchFamily="34" charset="-127"/>
                <a:ea typeface="Nanum Gothic" panose="020D0604000000000000" pitchFamily="34" charset="-127"/>
              </a:rPr>
              <a:t> 기본정책</a:t>
            </a:r>
            <a:endParaRPr lang="ko-KR" altLang="en-US" dirty="0">
              <a:latin typeface="Nanum Gothic" panose="020D0604000000000000" pitchFamily="34" charset="-127"/>
              <a:ea typeface="Nanum Gothic" panose="020D0604000000000000" pitchFamily="34" charset="-127"/>
            </a:endParaRPr>
          </a:p>
        </p:txBody>
      </p:sp>
      <p:sp>
        <p:nvSpPr>
          <p:cNvPr id="8" name="TextBox 7"/>
          <p:cNvSpPr txBox="1"/>
          <p:nvPr/>
        </p:nvSpPr>
        <p:spPr>
          <a:xfrm>
            <a:off x="416496" y="980728"/>
            <a:ext cx="7134004" cy="1265731"/>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ko-KR" altLang="en-US" sz="1200" b="1" dirty="0" err="1">
                <a:latin typeface="Nanum Gothic" panose="020D0604000000000000" pitchFamily="34" charset="-127"/>
                <a:ea typeface="Nanum Gothic" panose="020D0604000000000000" pitchFamily="34" charset="-127"/>
              </a:rPr>
              <a:t>주문관리</a:t>
            </a:r>
            <a:endParaRPr kumimoji="1" lang="en-US" altLang="ko-KR" sz="1200" b="1" dirty="0">
              <a:latin typeface="Nanum Gothic" panose="020D0604000000000000" pitchFamily="34" charset="-127"/>
              <a:ea typeface="Nanum Gothic" panose="020D0604000000000000" pitchFamily="34" charset="-127"/>
            </a:endParaRPr>
          </a:p>
          <a:p>
            <a:pPr marL="182880">
              <a:lnSpc>
                <a:spcPct val="150000"/>
              </a:lnSpc>
            </a:pPr>
            <a:r>
              <a:rPr kumimoji="1" lang="en-US" altLang="ko-KR" sz="1000" dirty="0">
                <a:latin typeface="Nanum Gothic" panose="020D0604000000000000" pitchFamily="34" charset="-127"/>
                <a:ea typeface="Nanum Gothic" panose="020D0604000000000000" pitchFamily="34" charset="-127"/>
              </a:rPr>
              <a:t>1.</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API or </a:t>
            </a:r>
            <a:r>
              <a:rPr kumimoji="1" lang="ko-KR" altLang="en-US" sz="1000" dirty="0" err="1">
                <a:latin typeface="Nanum Gothic" panose="020D0604000000000000" pitchFamily="34" charset="-127"/>
                <a:ea typeface="Nanum Gothic" panose="020D0604000000000000" pitchFamily="34" charset="-127"/>
              </a:rPr>
              <a:t>크롤링으로</a:t>
            </a:r>
            <a:r>
              <a:rPr kumimoji="1" lang="ko-KR" altLang="en-US" sz="1000" dirty="0">
                <a:latin typeface="Nanum Gothic" panose="020D0604000000000000" pitchFamily="34" charset="-127"/>
                <a:ea typeface="Nanum Gothic" panose="020D0604000000000000" pitchFamily="34" charset="-127"/>
              </a:rPr>
              <a:t> 각 판매채널의 </a:t>
            </a:r>
            <a:r>
              <a:rPr kumimoji="1" lang="ko-KR" altLang="en-US" sz="1000" dirty="0" err="1">
                <a:latin typeface="Nanum Gothic" panose="020D0604000000000000" pitchFamily="34" charset="-127"/>
                <a:ea typeface="Nanum Gothic" panose="020D0604000000000000" pitchFamily="34" charset="-127"/>
              </a:rPr>
              <a:t>주문정보를</a:t>
            </a:r>
            <a:r>
              <a:rPr kumimoji="1" lang="ko-KR" altLang="en-US" sz="1000" dirty="0">
                <a:latin typeface="Nanum Gothic" panose="020D0604000000000000" pitchFamily="34" charset="-127"/>
                <a:ea typeface="Nanum Gothic" panose="020D0604000000000000" pitchFamily="34" charset="-127"/>
              </a:rPr>
              <a:t> 수집</a:t>
            </a:r>
          </a:p>
          <a:p>
            <a:pPr marL="182880">
              <a:lnSpc>
                <a:spcPct val="150000"/>
              </a:lnSpc>
            </a:pPr>
            <a:r>
              <a:rPr kumimoji="1" lang="en-US" altLang="ko-KR" sz="1000" dirty="0">
                <a:latin typeface="Nanum Gothic" panose="020D0604000000000000" pitchFamily="34" charset="-127"/>
                <a:ea typeface="Nanum Gothic" panose="020D0604000000000000" pitchFamily="34" charset="-127"/>
              </a:rPr>
              <a:t>2.</a:t>
            </a:r>
            <a:r>
              <a:rPr kumimoji="1" lang="ko-KR" altLang="en-US" sz="1000" dirty="0">
                <a:latin typeface="Nanum Gothic" panose="020D0604000000000000" pitchFamily="34" charset="-127"/>
                <a:ea typeface="Nanum Gothic" panose="020D0604000000000000" pitchFamily="34" charset="-127"/>
              </a:rPr>
              <a:t> 수집정보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티켓번호</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구매일시</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채널별</a:t>
            </a:r>
            <a:r>
              <a:rPr kumimoji="1" lang="ko-KR" altLang="en-US" sz="1000" dirty="0">
                <a:latin typeface="Nanum Gothic" panose="020D0604000000000000" pitchFamily="34" charset="-127"/>
                <a:ea typeface="Nanum Gothic" panose="020D0604000000000000" pitchFamily="34" charset="-127"/>
              </a:rPr>
              <a:t> 주문번호</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상품번호</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옵션번호</a:t>
            </a:r>
            <a:r>
              <a:rPr kumimoji="1" lang="ko-KR" altLang="en-US" sz="1000" dirty="0">
                <a:latin typeface="Nanum Gothic" panose="020D0604000000000000" pitchFamily="34" charset="-127"/>
                <a:ea typeface="Nanum Gothic" panose="020D0604000000000000" pitchFamily="34" charset="-127"/>
              </a:rPr>
              <a:t> 상품명</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옵션명</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구매자명</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연락처</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구매가격</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티켓상태</a:t>
            </a:r>
            <a:endParaRPr kumimoji="1" lang="ko-KR" altLang="en-US" sz="1000" dirty="0">
              <a:latin typeface="Nanum Gothic" panose="020D0604000000000000" pitchFamily="34" charset="-127"/>
              <a:ea typeface="Nanum Gothic" panose="020D0604000000000000" pitchFamily="34" charset="-127"/>
            </a:endParaRPr>
          </a:p>
          <a:p>
            <a:pPr marL="182880">
              <a:lnSpc>
                <a:spcPct val="150000"/>
              </a:lnSpc>
            </a:pPr>
            <a:r>
              <a:rPr kumimoji="1" lang="en-US" altLang="ko-KR" sz="1000" dirty="0">
                <a:latin typeface="Nanum Gothic" panose="020D0604000000000000" pitchFamily="34" charset="-127"/>
                <a:ea typeface="Nanum Gothic" panose="020D0604000000000000" pitchFamily="34" charset="-127"/>
              </a:rPr>
              <a:t>3.</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티켓상태의</a:t>
            </a:r>
            <a:r>
              <a:rPr kumimoji="1" lang="ko-KR" altLang="en-US" sz="1000" dirty="0">
                <a:latin typeface="Nanum Gothic" panose="020D0604000000000000" pitchFamily="34" charset="-127"/>
                <a:ea typeface="Nanum Gothic" panose="020D0604000000000000" pitchFamily="34" charset="-127"/>
              </a:rPr>
              <a:t> 경우 </a:t>
            </a:r>
            <a:r>
              <a:rPr kumimoji="1" lang="ko-KR" altLang="en-US" sz="1000" dirty="0" err="1">
                <a:latin typeface="Nanum Gothic" panose="020D0604000000000000" pitchFamily="34" charset="-127"/>
                <a:ea typeface="Nanum Gothic" panose="020D0604000000000000" pitchFamily="34" charset="-127"/>
              </a:rPr>
              <a:t>채널별</a:t>
            </a:r>
            <a:r>
              <a:rPr kumimoji="1" lang="ko-KR" altLang="en-US" sz="1000" dirty="0">
                <a:latin typeface="Nanum Gothic" panose="020D0604000000000000" pitchFamily="34" charset="-127"/>
                <a:ea typeface="Nanum Gothic" panose="020D0604000000000000" pitchFamily="34" charset="-127"/>
              </a:rPr>
              <a:t> 티켓상태명을 최종 </a:t>
            </a:r>
            <a:r>
              <a:rPr kumimoji="1" lang="ko-KR" altLang="en-US" sz="1000" dirty="0" err="1">
                <a:latin typeface="Nanum Gothic" panose="020D0604000000000000" pitchFamily="34" charset="-127"/>
                <a:ea typeface="Nanum Gothic" panose="020D0604000000000000" pitchFamily="34" charset="-127"/>
              </a:rPr>
              <a:t>티브리지의</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티켓상태</a:t>
            </a:r>
            <a:r>
              <a:rPr kumimoji="1" lang="ko-KR" altLang="en-US" sz="1000" dirty="0">
                <a:latin typeface="Nanum Gothic" panose="020D0604000000000000" pitchFamily="34" charset="-127"/>
                <a:ea typeface="Nanum Gothic" panose="020D0604000000000000" pitchFamily="34" charset="-127"/>
              </a:rPr>
              <a:t> 값으로 수동정의해서 표기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별도 관리 기능은 두지 않음</a:t>
            </a:r>
            <a:r>
              <a:rPr kumimoji="1" lang="en-US" altLang="ko-KR" sz="1000" dirty="0">
                <a:latin typeface="Nanum Gothic" panose="020D0604000000000000" pitchFamily="34" charset="-127"/>
                <a:ea typeface="Nanum Gothic" panose="020D0604000000000000" pitchFamily="34" charset="-127"/>
              </a:rPr>
              <a:t>)</a:t>
            </a:r>
          </a:p>
          <a:p>
            <a:pPr marL="182880">
              <a:lnSpc>
                <a:spcPct val="150000"/>
              </a:lnSpc>
            </a:pPr>
            <a:r>
              <a:rPr kumimoji="1" lang="en-US" altLang="ko-KR" sz="1000" dirty="0">
                <a:latin typeface="Nanum Gothic" panose="020D0604000000000000" pitchFamily="34" charset="-127"/>
                <a:ea typeface="Nanum Gothic" panose="020D0604000000000000" pitchFamily="34" charset="-127"/>
              </a:rPr>
              <a:t>4.</a:t>
            </a:r>
            <a:r>
              <a:rPr kumimoji="1" lang="ko-KR" altLang="en-US" sz="1000" dirty="0">
                <a:latin typeface="Nanum Gothic" panose="020D0604000000000000" pitchFamily="34" charset="-127"/>
                <a:ea typeface="Nanum Gothic" panose="020D0604000000000000" pitchFamily="34" charset="-127"/>
              </a:rPr>
              <a:t> 수집된 정보는 </a:t>
            </a:r>
            <a:r>
              <a:rPr kumimoji="1" lang="ko-KR" altLang="en-US" sz="1000" dirty="0" err="1">
                <a:latin typeface="Nanum Gothic" panose="020D0604000000000000" pitchFamily="34" charset="-127"/>
                <a:ea typeface="Nanum Gothic" panose="020D0604000000000000" pitchFamily="34" charset="-127"/>
              </a:rPr>
              <a:t>티켓번호</a:t>
            </a:r>
            <a:r>
              <a:rPr kumimoji="1" lang="ko-KR" altLang="en-US" sz="1000" dirty="0">
                <a:latin typeface="Nanum Gothic" panose="020D0604000000000000" pitchFamily="34" charset="-127"/>
                <a:ea typeface="Nanum Gothic" panose="020D0604000000000000" pitchFamily="34" charset="-127"/>
              </a:rPr>
              <a:t> 기준으로 관리 진행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err="1">
                <a:latin typeface="Nanum Gothic" panose="020D0604000000000000" pitchFamily="34" charset="-127"/>
                <a:ea typeface="Nanum Gothic" panose="020D0604000000000000" pitchFamily="34" charset="-127"/>
              </a:rPr>
              <a:t>주요관리</a:t>
            </a:r>
            <a:r>
              <a:rPr kumimoji="1" lang="ko-KR" altLang="en-US" sz="1000" dirty="0">
                <a:latin typeface="Nanum Gothic" panose="020D0604000000000000" pitchFamily="34" charset="-127"/>
                <a:ea typeface="Nanum Gothic" panose="020D0604000000000000" pitchFamily="34" charset="-127"/>
              </a:rPr>
              <a:t> 기능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사용처리</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환불처리</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복원처리</a:t>
            </a:r>
            <a:r>
              <a:rPr kumimoji="1" lang="en-US" altLang="ko-KR" sz="1000" dirty="0">
                <a:latin typeface="Nanum Gothic" panose="020D0604000000000000" pitchFamily="34" charset="-127"/>
                <a:ea typeface="Nanum Gothic" panose="020D0604000000000000" pitchFamily="34" charset="-127"/>
              </a:rPr>
              <a:t>)</a:t>
            </a:r>
          </a:p>
        </p:txBody>
      </p:sp>
      <p:graphicFrame>
        <p:nvGraphicFramePr>
          <p:cNvPr id="10" name="표 9"/>
          <p:cNvGraphicFramePr>
            <a:graphicFrameLocks noGrp="1"/>
          </p:cNvGraphicFramePr>
          <p:nvPr/>
        </p:nvGraphicFramePr>
        <p:xfrm>
          <a:off x="1010925" y="2420211"/>
          <a:ext cx="7075176" cy="1440160"/>
        </p:xfrm>
        <a:graphic>
          <a:graphicData uri="http://schemas.openxmlformats.org/drawingml/2006/table">
            <a:tbl>
              <a:tblPr firstRow="1" bandRow="1">
                <a:tableStyleId>{5C22544A-7EE6-4342-B048-85BDC9FD1C3A}</a:tableStyleId>
              </a:tblPr>
              <a:tblGrid>
                <a:gridCol w="3732841">
                  <a:extLst>
                    <a:ext uri="{9D8B030D-6E8A-4147-A177-3AD203B41FA5}">
                      <a16:colId xmlns:a16="http://schemas.microsoft.com/office/drawing/2014/main" val="20000"/>
                    </a:ext>
                  </a:extLst>
                </a:gridCol>
                <a:gridCol w="3342335">
                  <a:extLst>
                    <a:ext uri="{9D8B030D-6E8A-4147-A177-3AD203B41FA5}">
                      <a16:colId xmlns:a16="http://schemas.microsoft.com/office/drawing/2014/main" val="20001"/>
                    </a:ext>
                  </a:extLst>
                </a:gridCol>
              </a:tblGrid>
              <a:tr h="261134">
                <a:tc>
                  <a:txBody>
                    <a:bodyPr/>
                    <a:lstStyle/>
                    <a:p>
                      <a:pPr marL="0" marR="0" lvl="0" indent="0" algn="ctr" defTabSz="742950" rtl="0" eaLnBrk="1" fontAlgn="auto" latinLnBrk="1" hangingPunct="1">
                        <a:lnSpc>
                          <a:spcPct val="100000"/>
                        </a:lnSpc>
                        <a:spcBef>
                          <a:spcPts val="0"/>
                        </a:spcBef>
                        <a:spcAft>
                          <a:spcPts val="0"/>
                        </a:spcAft>
                        <a:buClrTx/>
                        <a:buSzTx/>
                        <a:buFontTx/>
                        <a:buNone/>
                        <a:defRPr/>
                      </a:pPr>
                      <a:r>
                        <a:rPr lang="ko-KR" altLang="en-US" sz="1000" b="0" u="none" dirty="0" err="1">
                          <a:solidFill>
                            <a:schemeClr val="bg1"/>
                          </a:solidFill>
                          <a:latin typeface="Nanum Gothic" panose="020D0604000000000000" pitchFamily="34" charset="-127"/>
                          <a:ea typeface="Nanum Gothic" panose="020D0604000000000000" pitchFamily="34" charset="-127"/>
                        </a:rPr>
                        <a:t>사용처리시</a:t>
                      </a:r>
                      <a:r>
                        <a:rPr lang="ko-KR" altLang="en-US" sz="1000" b="0" u="none" dirty="0">
                          <a:solidFill>
                            <a:schemeClr val="bg1"/>
                          </a:solidFill>
                          <a:latin typeface="Nanum Gothic" panose="020D0604000000000000" pitchFamily="34" charset="-127"/>
                          <a:ea typeface="Nanum Gothic" panose="020D0604000000000000" pitchFamily="34" charset="-127"/>
                        </a:rPr>
                        <a:t> </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defRPr/>
                      </a:pPr>
                      <a:r>
                        <a:rPr lang="ko-KR" altLang="en-US" sz="1000" b="0" u="none" dirty="0">
                          <a:solidFill>
                            <a:schemeClr val="bg1"/>
                          </a:solidFill>
                          <a:latin typeface="Nanum Gothic" panose="020D0604000000000000" pitchFamily="34" charset="-127"/>
                          <a:ea typeface="Nanum Gothic" panose="020D0604000000000000" pitchFamily="34" charset="-127"/>
                        </a:rPr>
                        <a:t>환불</a:t>
                      </a:r>
                      <a:r>
                        <a:rPr lang="en-US" altLang="ko-KR" sz="1000" b="0" u="none" dirty="0">
                          <a:solidFill>
                            <a:schemeClr val="bg1"/>
                          </a:solidFill>
                          <a:latin typeface="Nanum Gothic" panose="020D0604000000000000" pitchFamily="34" charset="-127"/>
                          <a:ea typeface="Nanum Gothic" panose="020D0604000000000000" pitchFamily="34" charset="-127"/>
                        </a:rPr>
                        <a:t>/</a:t>
                      </a:r>
                      <a:r>
                        <a:rPr lang="ko-KR" altLang="en-US" sz="1000" b="0" u="none" dirty="0" err="1">
                          <a:solidFill>
                            <a:schemeClr val="bg1"/>
                          </a:solidFill>
                          <a:latin typeface="Nanum Gothic" panose="020D0604000000000000" pitchFamily="34" charset="-127"/>
                          <a:ea typeface="Nanum Gothic" panose="020D0604000000000000" pitchFamily="34" charset="-127"/>
                        </a:rPr>
                        <a:t>취소처리시</a:t>
                      </a:r>
                      <a:endParaRPr lang="ko-KR" altLang="en-US" sz="1000" b="0" u="none" dirty="0">
                        <a:solidFill>
                          <a:schemeClr val="bg1"/>
                        </a:solidFill>
                        <a:latin typeface="Nanum Gothic" panose="020D0604000000000000" pitchFamily="34" charset="-127"/>
                        <a:ea typeface="Nanum Gothic" panose="020D0604000000000000" pitchFamily="34" charset="-127"/>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0000"/>
                  </a:ext>
                </a:extLst>
              </a:tr>
              <a:tr h="1179026">
                <a:tc>
                  <a:txBody>
                    <a:bodyPr/>
                    <a:lstStyle/>
                    <a:p>
                      <a:pPr marL="171450" marR="0" lvl="0" indent="-171450" algn="l" defTabSz="742950" rtl="0" eaLnBrk="1" fontAlgn="auto" latinLnBrk="1" hangingPunct="1">
                        <a:lnSpc>
                          <a:spcPct val="150000"/>
                        </a:lnSpc>
                        <a:spcBef>
                          <a:spcPts val="0"/>
                        </a:spcBef>
                        <a:spcAft>
                          <a:spcPts val="0"/>
                        </a:spcAft>
                        <a:buClrTx/>
                        <a:buSzTx/>
                        <a:buFont typeface="Arial" panose="020B0604020202020204" pitchFamily="34" charset="0"/>
                        <a:buChar char="•"/>
                        <a:defRPr/>
                      </a:pPr>
                      <a:r>
                        <a:rPr lang="ko-KR" altLang="en-US" sz="1000" b="0" u="none" dirty="0" err="1">
                          <a:solidFill>
                            <a:schemeClr val="tx1">
                              <a:lumMod val="75000"/>
                              <a:lumOff val="25000"/>
                            </a:schemeClr>
                          </a:solidFill>
                          <a:latin typeface="Nanum Gothic" panose="020D0604000000000000" pitchFamily="34" charset="-127"/>
                          <a:ea typeface="Nanum Gothic" panose="020D0604000000000000" pitchFamily="34" charset="-127"/>
                        </a:rPr>
                        <a:t>사용처리</a:t>
                      </a: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 정보를 </a:t>
                      </a:r>
                      <a:r>
                        <a:rPr lang="en-US" altLang="ko-KR" sz="1000" b="0" u="none" dirty="0" err="1">
                          <a:solidFill>
                            <a:schemeClr val="tx1">
                              <a:lumMod val="75000"/>
                              <a:lumOff val="25000"/>
                            </a:schemeClr>
                          </a:solidFill>
                          <a:latin typeface="Nanum Gothic" panose="020D0604000000000000" pitchFamily="34" charset="-127"/>
                          <a:ea typeface="Nanum Gothic" panose="020D0604000000000000" pitchFamily="34" charset="-127"/>
                        </a:rPr>
                        <a:t>api</a:t>
                      </a:r>
                      <a:r>
                        <a:rPr lang="en-US" altLang="ko-KR" sz="1000" b="0" u="none" dirty="0">
                          <a:solidFill>
                            <a:schemeClr val="tx1">
                              <a:lumMod val="75000"/>
                              <a:lumOff val="25000"/>
                            </a:schemeClr>
                          </a:solidFill>
                          <a:latin typeface="Nanum Gothic" panose="020D0604000000000000" pitchFamily="34" charset="-127"/>
                          <a:ea typeface="Nanum Gothic" panose="020D0604000000000000" pitchFamily="34" charset="-127"/>
                        </a:rPr>
                        <a:t>  or </a:t>
                      </a:r>
                      <a:r>
                        <a:rPr lang="ko-KR" altLang="en-US" sz="1000" b="0" u="none" dirty="0" err="1">
                          <a:solidFill>
                            <a:schemeClr val="tx1">
                              <a:lumMod val="75000"/>
                              <a:lumOff val="25000"/>
                            </a:schemeClr>
                          </a:solidFill>
                          <a:latin typeface="Nanum Gothic" panose="020D0604000000000000" pitchFamily="34" charset="-127"/>
                          <a:ea typeface="Nanum Gothic" panose="020D0604000000000000" pitchFamily="34" charset="-127"/>
                        </a:rPr>
                        <a:t>크롤링으로</a:t>
                      </a: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 </a:t>
                      </a:r>
                      <a:r>
                        <a:rPr lang="ko-KR" altLang="en-US" sz="1000" b="0" u="none" dirty="0" err="1">
                          <a:solidFill>
                            <a:schemeClr val="tx1">
                              <a:lumMod val="75000"/>
                              <a:lumOff val="25000"/>
                            </a:schemeClr>
                          </a:solidFill>
                          <a:latin typeface="Nanum Gothic" panose="020D0604000000000000" pitchFamily="34" charset="-127"/>
                          <a:ea typeface="Nanum Gothic" panose="020D0604000000000000" pitchFamily="34" charset="-127"/>
                        </a:rPr>
                        <a:t>판매채널에</a:t>
                      </a: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 전송 </a:t>
                      </a:r>
                      <a:endParaRPr lang="en-US" altLang="ko-KR" sz="1000" b="0" u="none" dirty="0">
                        <a:solidFill>
                          <a:schemeClr val="tx1">
                            <a:lumMod val="75000"/>
                            <a:lumOff val="25000"/>
                          </a:schemeClr>
                        </a:solidFill>
                        <a:latin typeface="Nanum Gothic" panose="020D0604000000000000" pitchFamily="34" charset="-127"/>
                        <a:ea typeface="Nanum Gothic" panose="020D0604000000000000" pitchFamily="34" charset="-127"/>
                      </a:endParaRPr>
                    </a:p>
                    <a:p>
                      <a:pPr marL="171450" marR="0" lvl="0" indent="-171450" algn="l" defTabSz="742950" rtl="0" eaLnBrk="1" fontAlgn="auto" latinLnBrk="1" hangingPunct="1">
                        <a:lnSpc>
                          <a:spcPct val="150000"/>
                        </a:lnSpc>
                        <a:spcBef>
                          <a:spcPts val="0"/>
                        </a:spcBef>
                        <a:spcAft>
                          <a:spcPts val="0"/>
                        </a:spcAft>
                        <a:buClrTx/>
                        <a:buSzTx/>
                        <a:buFont typeface="Arial" panose="020B0604020202020204" pitchFamily="34" charset="0"/>
                        <a:buChar char="•"/>
                        <a:defRPr/>
                      </a:pP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액션 </a:t>
                      </a:r>
                      <a:r>
                        <a:rPr lang="ko-KR" altLang="en-US" sz="1000" b="0" u="none" dirty="0" err="1">
                          <a:solidFill>
                            <a:schemeClr val="tx1">
                              <a:lumMod val="75000"/>
                              <a:lumOff val="25000"/>
                            </a:schemeClr>
                          </a:solidFill>
                          <a:latin typeface="Nanum Gothic" panose="020D0604000000000000" pitchFamily="34" charset="-127"/>
                          <a:ea typeface="Nanum Gothic" panose="020D0604000000000000" pitchFamily="34" charset="-127"/>
                        </a:rPr>
                        <a:t>실행시</a:t>
                      </a: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 수시로 진행</a:t>
                      </a:r>
                      <a:endParaRPr lang="en-US" altLang="ko-KR" sz="1000" b="0" u="none" dirty="0">
                        <a:solidFill>
                          <a:schemeClr val="tx1">
                            <a:lumMod val="75000"/>
                            <a:lumOff val="25000"/>
                          </a:schemeClr>
                        </a:solidFill>
                        <a:latin typeface="Nanum Gothic" panose="020D0604000000000000" pitchFamily="34" charset="-127"/>
                        <a:ea typeface="Nanum Gothic" panose="020D0604000000000000" pitchFamily="34" charset="-127"/>
                      </a:endParaRPr>
                    </a:p>
                    <a:p>
                      <a:pPr marL="171450" marR="0" lvl="0" indent="-171450" algn="l" defTabSz="742950" rtl="0" eaLnBrk="1" fontAlgn="auto" latinLnBrk="1" hangingPunct="1">
                        <a:lnSpc>
                          <a:spcPct val="150000"/>
                        </a:lnSpc>
                        <a:spcBef>
                          <a:spcPts val="0"/>
                        </a:spcBef>
                        <a:spcAft>
                          <a:spcPts val="0"/>
                        </a:spcAft>
                        <a:buClrTx/>
                        <a:buSzTx/>
                        <a:buFont typeface="Arial" panose="020B0604020202020204" pitchFamily="34" charset="0"/>
                        <a:buChar char="•"/>
                        <a:defRPr/>
                      </a:pPr>
                      <a:r>
                        <a:rPr lang="ko-KR" altLang="en-US" sz="1000" b="0" u="none" dirty="0" err="1">
                          <a:solidFill>
                            <a:schemeClr val="tx1">
                              <a:lumMod val="75000"/>
                              <a:lumOff val="25000"/>
                            </a:schemeClr>
                          </a:solidFill>
                          <a:latin typeface="Nanum Gothic" panose="020D0604000000000000" pitchFamily="34" charset="-127"/>
                          <a:ea typeface="Nanum Gothic" panose="020D0604000000000000" pitchFamily="34" charset="-127"/>
                        </a:rPr>
                        <a:t>사용처리는</a:t>
                      </a: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 티브리지에서 진행 </a:t>
                      </a:r>
                      <a:r>
                        <a:rPr lang="en-US" altLang="ko-KR" sz="1000" b="0" u="none"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판매채널쪽에서 진행하는 케이스는 거의 없음</a:t>
                      </a:r>
                      <a:endParaRPr lang="en-US" altLang="ko-KR" sz="1000" b="0" u="none" dirty="0">
                        <a:solidFill>
                          <a:schemeClr val="tx1">
                            <a:lumMod val="75000"/>
                            <a:lumOff val="25000"/>
                          </a:schemeClr>
                        </a:solidFill>
                        <a:latin typeface="Nanum Gothic" panose="020D0604000000000000" pitchFamily="34" charset="-127"/>
                        <a:ea typeface="Nanum Gothic" panose="020D0604000000000000" pitchFamily="34" charset="-127"/>
                      </a:endParaRPr>
                    </a:p>
                    <a:p>
                      <a:pPr marL="171450" marR="0" lvl="0" indent="-171450" algn="l" defTabSz="742950" rtl="0" eaLnBrk="1" fontAlgn="auto" latinLnBrk="1" hangingPunct="1">
                        <a:lnSpc>
                          <a:spcPct val="150000"/>
                        </a:lnSpc>
                        <a:spcBef>
                          <a:spcPts val="0"/>
                        </a:spcBef>
                        <a:spcAft>
                          <a:spcPts val="0"/>
                        </a:spcAft>
                        <a:buClrTx/>
                        <a:buSzTx/>
                        <a:buFont typeface="Arial" panose="020B0604020202020204" pitchFamily="34" charset="0"/>
                        <a:buChar char="•"/>
                        <a:defRPr/>
                      </a:pPr>
                      <a:r>
                        <a:rPr lang="ko-KR" altLang="en-US" sz="1000" b="0" u="none" dirty="0" err="1">
                          <a:solidFill>
                            <a:schemeClr val="tx1">
                              <a:lumMod val="75000"/>
                              <a:lumOff val="25000"/>
                            </a:schemeClr>
                          </a:solidFill>
                          <a:latin typeface="Nanum Gothic" panose="020D0604000000000000" pitchFamily="34" charset="-127"/>
                          <a:ea typeface="Nanum Gothic" panose="020D0604000000000000" pitchFamily="34" charset="-127"/>
                        </a:rPr>
                        <a:t>복원처리</a:t>
                      </a: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 동일방식으로 적용</a:t>
                      </a:r>
                      <a:endParaRPr lang="en-US" altLang="ko-KR" sz="10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742950" rtl="0" eaLnBrk="1" fontAlgn="auto" latinLnBrk="1" hangingPunct="1">
                        <a:lnSpc>
                          <a:spcPct val="150000"/>
                        </a:lnSpc>
                        <a:spcBef>
                          <a:spcPts val="0"/>
                        </a:spcBef>
                        <a:spcAft>
                          <a:spcPts val="0"/>
                        </a:spcAft>
                        <a:buClrTx/>
                        <a:buSzTx/>
                        <a:buFont typeface="Arial" panose="020B0604020202020204" pitchFamily="34" charset="0"/>
                        <a:buChar char="•"/>
                        <a:defRPr/>
                      </a:pPr>
                      <a:r>
                        <a:rPr lang="ko-KR" altLang="en-US" sz="1000" b="0" u="none" dirty="0">
                          <a:solidFill>
                            <a:schemeClr val="tx1">
                              <a:lumMod val="75000"/>
                              <a:lumOff val="25000"/>
                            </a:schemeClr>
                          </a:solidFill>
                          <a:latin typeface="Nanum Gothic" panose="020D0604000000000000" pitchFamily="34" charset="-127"/>
                          <a:ea typeface="Nanum Gothic" panose="020D0604000000000000" pitchFamily="34" charset="-127"/>
                        </a:rPr>
                        <a:t>모든 메뉴</a:t>
                      </a:r>
                      <a:r>
                        <a:rPr lang="ko-KR" altLang="en-US" sz="1000" b="0" u="none" baseline="0" dirty="0">
                          <a:solidFill>
                            <a:schemeClr val="tx1">
                              <a:lumMod val="75000"/>
                              <a:lumOff val="25000"/>
                            </a:schemeClr>
                          </a:solidFill>
                          <a:latin typeface="Nanum Gothic" panose="020D0604000000000000" pitchFamily="34" charset="-127"/>
                          <a:ea typeface="Nanum Gothic" panose="020D0604000000000000" pitchFamily="34" charset="-127"/>
                        </a:rPr>
                        <a:t> 접근 가능</a:t>
                      </a:r>
                      <a:endParaRPr lang="en-US" altLang="ko-KR" sz="1000" b="0" u="none" baseline="0" dirty="0">
                        <a:solidFill>
                          <a:schemeClr val="tx1">
                            <a:lumMod val="75000"/>
                            <a:lumOff val="25000"/>
                          </a:schemeClr>
                        </a:solidFill>
                        <a:latin typeface="Nanum Gothic" panose="020D0604000000000000" pitchFamily="34" charset="-127"/>
                        <a:ea typeface="Nanum Gothic" panose="020D0604000000000000" pitchFamily="34" charset="-127"/>
                      </a:endParaRPr>
                    </a:p>
                    <a:p>
                      <a:pPr marL="171450" marR="0" lvl="0" indent="-171450" algn="l" defTabSz="742950" rtl="0" eaLnBrk="1" fontAlgn="auto" latinLnBrk="1" hangingPunct="1">
                        <a:lnSpc>
                          <a:spcPct val="150000"/>
                        </a:lnSpc>
                        <a:spcBef>
                          <a:spcPts val="0"/>
                        </a:spcBef>
                        <a:spcAft>
                          <a:spcPts val="0"/>
                        </a:spcAft>
                        <a:buClrTx/>
                        <a:buSzTx/>
                        <a:buFont typeface="Arial" panose="020B0604020202020204" pitchFamily="34" charset="0"/>
                        <a:buChar char="•"/>
                        <a:defRPr/>
                      </a:pPr>
                      <a:r>
                        <a:rPr kumimoji="0" lang="en-US" altLang="ko-KR" sz="10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api</a:t>
                      </a:r>
                      <a:r>
                        <a:rPr kumimoji="0" lang="ko-KR" altLang="en-US" sz="10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rPr>
                        <a:t>  </a:t>
                      </a:r>
                      <a:r>
                        <a:rPr kumimoji="0" lang="en-US" altLang="ko-KR" sz="10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rPr>
                        <a:t>or </a:t>
                      </a:r>
                      <a:r>
                        <a:rPr kumimoji="0" lang="ko-KR" altLang="en-US" sz="10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크롤링으로</a:t>
                      </a:r>
                      <a:r>
                        <a:rPr kumimoji="0" lang="ko-KR" altLang="en-US" sz="10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rPr>
                        <a:t> 전송 </a:t>
                      </a:r>
                      <a:r>
                        <a:rPr kumimoji="0" lang="en-US" altLang="ko-KR" sz="10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rPr>
                        <a:t>(</a:t>
                      </a:r>
                      <a:r>
                        <a:rPr kumimoji="0" lang="ko-KR" altLang="en-US" sz="10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rPr>
                        <a:t>액션 </a:t>
                      </a:r>
                      <a:r>
                        <a:rPr kumimoji="0" lang="ko-KR" altLang="en-US" sz="10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실행시</a:t>
                      </a:r>
                      <a:r>
                        <a:rPr kumimoji="0" lang="ko-KR" altLang="en-US" sz="10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rPr>
                        <a:t> 수시로 진행</a:t>
                      </a:r>
                      <a:r>
                        <a:rPr kumimoji="0" lang="en-US" altLang="ko-KR" sz="10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rPr>
                        <a:t>)</a:t>
                      </a:r>
                      <a:endParaRPr lang="en-US" altLang="ko-KR" sz="10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4" name="TextBox 13"/>
          <p:cNvSpPr txBox="1"/>
          <p:nvPr/>
        </p:nvSpPr>
        <p:spPr>
          <a:xfrm>
            <a:off x="416496" y="4213011"/>
            <a:ext cx="4168449" cy="573234"/>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ko-KR" altLang="en-US" sz="1200" b="1" dirty="0">
                <a:latin typeface="Nanum Gothic" panose="020D0604000000000000" pitchFamily="34" charset="-127"/>
                <a:ea typeface="Nanum Gothic" panose="020D0604000000000000" pitchFamily="34" charset="-127"/>
              </a:rPr>
              <a:t>티켓 번호</a:t>
            </a:r>
            <a:endParaRPr kumimoji="1" lang="en-US" altLang="ko-KR" sz="1200" b="1" dirty="0">
              <a:latin typeface="Nanum Gothic" panose="020D0604000000000000" pitchFamily="34" charset="-127"/>
              <a:ea typeface="Nanum Gothic" panose="020D0604000000000000" pitchFamily="34" charset="-127"/>
            </a:endParaRPr>
          </a:p>
          <a:p>
            <a:pPr marL="182880">
              <a:lnSpc>
                <a:spcPct val="150000"/>
              </a:lnSpc>
            </a:pPr>
            <a:r>
              <a:rPr kumimoji="1" lang="en-US" altLang="ko-KR" sz="1000" dirty="0">
                <a:latin typeface="Nanum Gothic" panose="020D0604000000000000" pitchFamily="34" charset="-127"/>
                <a:ea typeface="Nanum Gothic" panose="020D0604000000000000" pitchFamily="34" charset="-127"/>
              </a:rPr>
              <a:t>1.</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주문생성시</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티브리지</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티켓번호</a:t>
            </a:r>
            <a:r>
              <a:rPr kumimoji="1" lang="ko-KR" altLang="en-US" sz="1000" dirty="0">
                <a:latin typeface="Nanum Gothic" panose="020D0604000000000000" pitchFamily="34" charset="-127"/>
                <a:ea typeface="Nanum Gothic" panose="020D0604000000000000" pitchFamily="34" charset="-127"/>
              </a:rPr>
              <a:t> 생성 후 </a:t>
            </a:r>
            <a:r>
              <a:rPr kumimoji="1" lang="ko-KR" altLang="en-US" sz="1000" dirty="0" err="1">
                <a:latin typeface="Nanum Gothic" panose="020D0604000000000000" pitchFamily="34" charset="-127"/>
                <a:ea typeface="Nanum Gothic" panose="020D0604000000000000" pitchFamily="34" charset="-127"/>
              </a:rPr>
              <a:t>채널사별</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티켓번호</a:t>
            </a:r>
            <a:r>
              <a:rPr kumimoji="1" lang="ko-KR" altLang="en-US" sz="1000" dirty="0">
                <a:latin typeface="Nanum Gothic" panose="020D0604000000000000" pitchFamily="34" charset="-127"/>
                <a:ea typeface="Nanum Gothic" panose="020D0604000000000000" pitchFamily="34" charset="-127"/>
              </a:rPr>
              <a:t> 각각 매핑</a:t>
            </a:r>
            <a:endParaRPr kumimoji="1" lang="en-US" altLang="ko-KR" sz="1000" dirty="0">
              <a:latin typeface="Nanum Gothic" panose="020D0604000000000000" pitchFamily="34" charset="-127"/>
              <a:ea typeface="Nanum Gothic" panose="020D0604000000000000" pitchFamily="34" charset="-127"/>
            </a:endParaRPr>
          </a:p>
        </p:txBody>
      </p:sp>
      <p:sp>
        <p:nvSpPr>
          <p:cNvPr id="16" name="TextBox 15"/>
          <p:cNvSpPr txBox="1"/>
          <p:nvPr/>
        </p:nvSpPr>
        <p:spPr>
          <a:xfrm>
            <a:off x="416496" y="5109435"/>
            <a:ext cx="5324214" cy="1034899"/>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ko-KR" altLang="en-US" sz="1200" b="1" dirty="0">
                <a:latin typeface="Nanum Gothic" panose="020D0604000000000000" pitchFamily="34" charset="-127"/>
                <a:ea typeface="Nanum Gothic" panose="020D0604000000000000" pitchFamily="34" charset="-127"/>
              </a:rPr>
              <a:t>유효기간 지난 티켓</a:t>
            </a:r>
            <a:endParaRPr kumimoji="1" lang="en-US" altLang="ko-KR" sz="1200" b="1"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rPr>
              <a:t>사용처리</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복원처리</a:t>
            </a:r>
            <a:r>
              <a:rPr kumimoji="1" lang="ko-KR" altLang="en-US" sz="1000" dirty="0">
                <a:latin typeface="Nanum Gothic" panose="020D0604000000000000" pitchFamily="34" charset="-127"/>
                <a:ea typeface="Nanum Gothic" panose="020D0604000000000000" pitchFamily="34" charset="-127"/>
              </a:rPr>
              <a:t> 진행 불가</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a:latin typeface="Nanum Gothic" panose="020D0604000000000000" pitchFamily="34" charset="-127"/>
                <a:ea typeface="Nanum Gothic" panose="020D0604000000000000" pitchFamily="34" charset="-127"/>
              </a:rPr>
              <a:t>유효기간 지난 티켓을 </a:t>
            </a:r>
            <a:r>
              <a:rPr kumimoji="1" lang="ko-KR" altLang="en-US" sz="1000" dirty="0" err="1">
                <a:latin typeface="Nanum Gothic" panose="020D0604000000000000" pitchFamily="34" charset="-127"/>
                <a:ea typeface="Nanum Gothic" panose="020D0604000000000000" pitchFamily="34" charset="-127"/>
              </a:rPr>
              <a:t>채널사에서</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70%</a:t>
            </a:r>
            <a:r>
              <a:rPr kumimoji="1" lang="ko-KR" altLang="en-US" sz="1000" dirty="0">
                <a:latin typeface="Nanum Gothic" panose="020D0604000000000000" pitchFamily="34" charset="-127"/>
                <a:ea typeface="Nanum Gothic" panose="020D0604000000000000" pitchFamily="34" charset="-127"/>
              </a:rPr>
              <a:t>환불</a:t>
            </a:r>
            <a:r>
              <a:rPr kumimoji="1" lang="en-US" altLang="ko-KR" sz="1000" dirty="0">
                <a:latin typeface="Nanum Gothic" panose="020D0604000000000000" pitchFamily="34" charset="-127"/>
                <a:ea typeface="Nanum Gothic" panose="020D0604000000000000" pitchFamily="34" charset="-127"/>
              </a:rPr>
              <a:t>or100%</a:t>
            </a:r>
            <a:r>
              <a:rPr kumimoji="1" lang="ko-KR" altLang="en-US" sz="1000" dirty="0" err="1">
                <a:latin typeface="Nanum Gothic" panose="020D0604000000000000" pitchFamily="34" charset="-127"/>
                <a:ea typeface="Nanum Gothic" panose="020D0604000000000000" pitchFamily="34" charset="-127"/>
              </a:rPr>
              <a:t>환불처리시</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err="1">
                <a:latin typeface="Nanum Gothic" panose="020D0604000000000000" pitchFamily="34" charset="-127"/>
                <a:ea typeface="Nanum Gothic" panose="020D0604000000000000" pitchFamily="34" charset="-127"/>
              </a:rPr>
              <a:t>환불완료</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로 상태 변경</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표 33"/>
          <p:cNvGraphicFramePr>
            <a:graphicFrameLocks noGrp="1"/>
          </p:cNvGraphicFramePr>
          <p:nvPr/>
        </p:nvGraphicFramePr>
        <p:xfrm>
          <a:off x="7058569" y="2918766"/>
          <a:ext cx="2427080" cy="3662210"/>
        </p:xfrm>
        <a:graphic>
          <a:graphicData uri="http://schemas.openxmlformats.org/drawingml/2006/table">
            <a:tbl>
              <a:tblPr firstRow="1" bandRow="1">
                <a:tableStyleId>{5C22544A-7EE6-4342-B048-85BDC9FD1C3A}</a:tableStyleId>
              </a:tblPr>
              <a:tblGrid>
                <a:gridCol w="1332341">
                  <a:extLst>
                    <a:ext uri="{9D8B030D-6E8A-4147-A177-3AD203B41FA5}">
                      <a16:colId xmlns:a16="http://schemas.microsoft.com/office/drawing/2014/main" val="20000"/>
                    </a:ext>
                  </a:extLst>
                </a:gridCol>
                <a:gridCol w="1094739">
                  <a:extLst>
                    <a:ext uri="{9D8B030D-6E8A-4147-A177-3AD203B41FA5}">
                      <a16:colId xmlns:a16="http://schemas.microsoft.com/office/drawing/2014/main" val="20001"/>
                    </a:ext>
                  </a:extLst>
                </a:gridCol>
              </a:tblGrid>
              <a:tr h="219209">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변경사항</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ko-KR" altLang="en-US" sz="1000" dirty="0" err="1">
                          <a:solidFill>
                            <a:schemeClr val="tx1"/>
                          </a:solidFill>
                          <a:latin typeface="Nanum Gothic" panose="020D0604000000000000" pitchFamily="34" charset="-127"/>
                          <a:ea typeface="Nanum Gothic" panose="020D0604000000000000" pitchFamily="34" charset="-127"/>
                        </a:rPr>
                        <a:t>티켓상태</a:t>
                      </a:r>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453140">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구매완료</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477550">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사용완료</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216024">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환불완료</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188208">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algn="ctr" latinLnBrk="1"/>
                      <a:r>
                        <a:rPr lang="ko-KR" altLang="en-US" sz="1000" b="1" dirty="0">
                          <a:solidFill>
                            <a:schemeClr val="tx1"/>
                          </a:solidFill>
                          <a:latin typeface="Nanum Gothic" panose="020D0604000000000000" pitchFamily="34" charset="-127"/>
                          <a:ea typeface="Nanum Gothic" panose="020D0604000000000000" pitchFamily="34" charset="-127"/>
                        </a:rPr>
                        <a:t>유효기간</a:t>
                      </a:r>
                      <a:r>
                        <a:rPr lang="en-US" altLang="ko-KR" sz="1000" b="1" dirty="0">
                          <a:solidFill>
                            <a:schemeClr val="tx1"/>
                          </a:solidFill>
                          <a:latin typeface="Nanum Gothic" panose="020D0604000000000000" pitchFamily="34" charset="-127"/>
                          <a:ea typeface="Nanum Gothic" panose="020D0604000000000000" pitchFamily="34" charset="-127"/>
                        </a:rPr>
                        <a:t> </a:t>
                      </a:r>
                      <a:r>
                        <a:rPr lang="ko-KR" altLang="en-US" sz="1000" b="1" dirty="0">
                          <a:solidFill>
                            <a:schemeClr val="tx1"/>
                          </a:solidFill>
                          <a:latin typeface="Nanum Gothic" panose="020D0604000000000000" pitchFamily="34" charset="-127"/>
                          <a:ea typeface="Nanum Gothic" panose="020D0604000000000000" pitchFamily="34" charset="-127"/>
                        </a:rPr>
                        <a:t>지남</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graphicFrame>
        <p:nvGraphicFramePr>
          <p:cNvPr id="64" name="표 63"/>
          <p:cNvGraphicFramePr>
            <a:graphicFrameLocks noGrp="1"/>
          </p:cNvGraphicFramePr>
          <p:nvPr/>
        </p:nvGraphicFramePr>
        <p:xfrm>
          <a:off x="704528" y="2927962"/>
          <a:ext cx="3255877" cy="3688440"/>
        </p:xfrm>
        <a:graphic>
          <a:graphicData uri="http://schemas.openxmlformats.org/drawingml/2006/table">
            <a:tbl>
              <a:tblPr firstRow="1" bandRow="1">
                <a:tableStyleId>{5C22544A-7EE6-4342-B048-85BDC9FD1C3A}</a:tableStyleId>
              </a:tblPr>
              <a:tblGrid>
                <a:gridCol w="1107572">
                  <a:extLst>
                    <a:ext uri="{9D8B030D-6E8A-4147-A177-3AD203B41FA5}">
                      <a16:colId xmlns:a16="http://schemas.microsoft.com/office/drawing/2014/main" val="20000"/>
                    </a:ext>
                  </a:extLst>
                </a:gridCol>
                <a:gridCol w="838670">
                  <a:extLst>
                    <a:ext uri="{9D8B030D-6E8A-4147-A177-3AD203B41FA5}">
                      <a16:colId xmlns:a16="http://schemas.microsoft.com/office/drawing/2014/main" val="20001"/>
                    </a:ext>
                  </a:extLst>
                </a:gridCol>
                <a:gridCol w="1309635">
                  <a:extLst>
                    <a:ext uri="{9D8B030D-6E8A-4147-A177-3AD203B41FA5}">
                      <a16:colId xmlns:a16="http://schemas.microsoft.com/office/drawing/2014/main" val="20002"/>
                    </a:ext>
                  </a:extLst>
                </a:gridCol>
              </a:tblGrid>
              <a:tr h="234332">
                <a:tc>
                  <a:txBody>
                    <a:bodyPr/>
                    <a:lstStyle/>
                    <a:p>
                      <a:pPr algn="ctr" latinLnBrk="1"/>
                      <a:r>
                        <a:rPr lang="ko-KR" altLang="en-US" sz="1000" dirty="0" err="1">
                          <a:solidFill>
                            <a:schemeClr val="tx1"/>
                          </a:solidFill>
                          <a:latin typeface="Nanum Gothic" panose="020D0604000000000000" pitchFamily="34" charset="-127"/>
                          <a:ea typeface="Nanum Gothic" panose="020D0604000000000000" pitchFamily="34" charset="-127"/>
                        </a:rPr>
                        <a:t>티켓상태</a:t>
                      </a:r>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변경사항</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액션</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475565">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구매완료</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1"/>
                  </a:ext>
                </a:extLst>
              </a:tr>
              <a:tr h="2445929">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사용완료</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2"/>
                  </a:ext>
                </a:extLst>
              </a:tr>
              <a:tr h="246305">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환불완료</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3"/>
                  </a:ext>
                </a:extLst>
              </a:tr>
              <a:tr h="276801">
                <a:tc>
                  <a:txBody>
                    <a:bodyPr/>
                    <a:lstStyle/>
                    <a:p>
                      <a:pPr algn="ctr" latinLnBrk="1"/>
                      <a:r>
                        <a:rPr lang="ko-KR" altLang="en-US" sz="1000" b="1" dirty="0">
                          <a:solidFill>
                            <a:schemeClr val="tx1"/>
                          </a:solidFill>
                          <a:latin typeface="Nanum Gothic" panose="020D0604000000000000" pitchFamily="34" charset="-127"/>
                          <a:ea typeface="Nanum Gothic" panose="020D0604000000000000" pitchFamily="34" charset="-127"/>
                        </a:rPr>
                        <a:t>유효기간지남</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lang="en-US" altLang="ko-KR" dirty="0"/>
              <a:t>[</a:t>
            </a:r>
            <a:r>
              <a:rPr lang="ko-KR" altLang="en-US" dirty="0"/>
              <a:t>정책</a:t>
            </a:r>
            <a:r>
              <a:rPr lang="en-US" altLang="ko-KR" dirty="0"/>
              <a:t>] </a:t>
            </a:r>
            <a:r>
              <a:rPr lang="ko-KR" altLang="en-US" dirty="0"/>
              <a:t>티켓 </a:t>
            </a:r>
            <a:r>
              <a:rPr lang="ko-KR" altLang="en-US" dirty="0" err="1"/>
              <a:t>상태변경</a:t>
            </a:r>
            <a:endParaRPr lang="ko-KR" altLang="en-US" dirty="0"/>
          </a:p>
        </p:txBody>
      </p:sp>
      <p:cxnSp>
        <p:nvCxnSpPr>
          <p:cNvPr id="239" name="직선 화살표 연결선 238"/>
          <p:cNvCxnSpPr>
            <a:stCxn id="55" idx="3"/>
            <a:endCxn id="57" idx="1"/>
          </p:cNvCxnSpPr>
          <p:nvPr/>
        </p:nvCxnSpPr>
        <p:spPr>
          <a:xfrm flipV="1">
            <a:off x="3822842" y="4241917"/>
            <a:ext cx="3445490" cy="16432"/>
          </a:xfrm>
          <a:prstGeom prst="straightConnector1">
            <a:avLst/>
          </a:prstGeom>
          <a:ln w="3175">
            <a:solidFill>
              <a:schemeClr val="tx2">
                <a:lumMod val="60000"/>
                <a:lumOff val="40000"/>
              </a:schemeClr>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7" name="TextBox 226"/>
          <p:cNvSpPr txBox="1"/>
          <p:nvPr/>
        </p:nvSpPr>
        <p:spPr>
          <a:xfrm>
            <a:off x="5355819" y="4118806"/>
            <a:ext cx="519800" cy="264963"/>
          </a:xfrm>
          <a:prstGeom prst="rect">
            <a:avLst/>
          </a:prstGeom>
          <a:solidFill>
            <a:schemeClr val="accent1">
              <a:lumMod val="20000"/>
              <a:lumOff val="80000"/>
            </a:schemeClr>
          </a:solidFill>
          <a:ln>
            <a:noFill/>
          </a:ln>
        </p:spPr>
        <p:txBody>
          <a:bodyPr wrap="square" rtlCol="0">
            <a:spAutoFit/>
          </a:bodyPr>
          <a:lstStyle/>
          <a:p>
            <a:pPr algn="ctr"/>
            <a:r>
              <a:rPr kumimoji="1" lang="en-US" altLang="ko-KR" sz="1100" b="1" dirty="0">
                <a:solidFill>
                  <a:srgbClr val="0070C0"/>
                </a:solidFill>
                <a:latin typeface="Nanum Gothic" panose="020D0604000000000000" pitchFamily="34" charset="-127"/>
                <a:ea typeface="Nanum Gothic" panose="020D0604000000000000" pitchFamily="34" charset="-127"/>
              </a:rPr>
              <a:t>API</a:t>
            </a:r>
            <a:endParaRPr kumimoji="1" lang="ko-KR" altLang="en-US" sz="1100" b="1" dirty="0">
              <a:solidFill>
                <a:srgbClr val="0070C0"/>
              </a:solidFill>
              <a:latin typeface="Nanum Gothic" panose="020D0604000000000000" pitchFamily="34" charset="-127"/>
              <a:ea typeface="Nanum Gothic" panose="020D0604000000000000" pitchFamily="34" charset="-127"/>
            </a:endParaRPr>
          </a:p>
        </p:txBody>
      </p:sp>
      <p:sp>
        <p:nvSpPr>
          <p:cNvPr id="271" name="TextBox 270"/>
          <p:cNvSpPr txBox="1"/>
          <p:nvPr/>
        </p:nvSpPr>
        <p:spPr>
          <a:xfrm>
            <a:off x="1784648" y="2592959"/>
            <a:ext cx="1725152" cy="276999"/>
          </a:xfrm>
          <a:prstGeom prst="rect">
            <a:avLst/>
          </a:prstGeom>
          <a:noFill/>
        </p:spPr>
        <p:txBody>
          <a:bodyPr wrap="none" rtlCol="0">
            <a:spAutoFit/>
          </a:bodyPr>
          <a:lstStyle/>
          <a:p>
            <a:r>
              <a:rPr kumimoji="1" lang="en-US" altLang="ko-KR" sz="1200" b="1" dirty="0">
                <a:latin typeface="Nanum Gothic" panose="020D0604000000000000" pitchFamily="34" charset="-127"/>
                <a:ea typeface="Nanum Gothic" panose="020D0604000000000000" pitchFamily="34" charset="-127"/>
              </a:rPr>
              <a:t>- </a:t>
            </a:r>
            <a:r>
              <a:rPr kumimoji="1" lang="ko-KR" altLang="en-US" sz="1200" b="1" dirty="0" err="1">
                <a:latin typeface="Nanum Gothic" panose="020D0604000000000000" pitchFamily="34" charset="-127"/>
                <a:ea typeface="Nanum Gothic" panose="020D0604000000000000" pitchFamily="34" charset="-127"/>
              </a:rPr>
              <a:t>티브리지</a:t>
            </a:r>
            <a:r>
              <a:rPr kumimoji="1" lang="ko-KR" altLang="en-US" sz="1200" b="1" dirty="0">
                <a:latin typeface="Nanum Gothic" panose="020D0604000000000000" pitchFamily="34" charset="-127"/>
                <a:ea typeface="Nanum Gothic" panose="020D0604000000000000" pitchFamily="34" charset="-127"/>
              </a:rPr>
              <a:t> </a:t>
            </a:r>
            <a:r>
              <a:rPr kumimoji="1" lang="ko-KR" altLang="en-US" sz="1200" b="1" dirty="0" err="1">
                <a:latin typeface="Nanum Gothic" panose="020D0604000000000000" pitchFamily="34" charset="-127"/>
                <a:ea typeface="Nanum Gothic" panose="020D0604000000000000" pitchFamily="34" charset="-127"/>
              </a:rPr>
              <a:t>셀러오피스</a:t>
            </a:r>
            <a:r>
              <a:rPr kumimoji="1" lang="ko-KR" altLang="en-US" sz="1200" b="1" dirty="0">
                <a:latin typeface="Nanum Gothic" panose="020D0604000000000000" pitchFamily="34" charset="-127"/>
                <a:ea typeface="Nanum Gothic" panose="020D0604000000000000" pitchFamily="34" charset="-127"/>
              </a:rPr>
              <a:t> </a:t>
            </a:r>
            <a:r>
              <a:rPr kumimoji="1" lang="en-US" altLang="ko-KR" sz="1200" b="1" dirty="0">
                <a:latin typeface="Nanum Gothic" panose="020D0604000000000000" pitchFamily="34" charset="-127"/>
                <a:ea typeface="Nanum Gothic" panose="020D0604000000000000" pitchFamily="34" charset="-127"/>
              </a:rPr>
              <a:t>-</a:t>
            </a:r>
            <a:endParaRPr kumimoji="1" lang="ko-KR" altLang="en-US" sz="1200" b="1" dirty="0">
              <a:latin typeface="Nanum Gothic" panose="020D0604000000000000" pitchFamily="34" charset="-127"/>
              <a:ea typeface="Nanum Gothic" panose="020D0604000000000000" pitchFamily="34" charset="-127"/>
            </a:endParaRPr>
          </a:p>
        </p:txBody>
      </p:sp>
      <p:sp>
        <p:nvSpPr>
          <p:cNvPr id="272" name="TextBox 271"/>
          <p:cNvSpPr txBox="1"/>
          <p:nvPr/>
        </p:nvSpPr>
        <p:spPr>
          <a:xfrm>
            <a:off x="7733656" y="2592959"/>
            <a:ext cx="816249" cy="276999"/>
          </a:xfrm>
          <a:prstGeom prst="rect">
            <a:avLst/>
          </a:prstGeom>
          <a:noFill/>
        </p:spPr>
        <p:txBody>
          <a:bodyPr wrap="none" rtlCol="0">
            <a:spAutoFit/>
          </a:bodyPr>
          <a:lstStyle/>
          <a:p>
            <a:r>
              <a:rPr kumimoji="1" lang="en-US" altLang="ko-KR" sz="1200" b="1" dirty="0">
                <a:latin typeface="Nanum Gothic" panose="020D0604000000000000" pitchFamily="34" charset="-127"/>
                <a:ea typeface="Nanum Gothic" panose="020D0604000000000000" pitchFamily="34" charset="-127"/>
              </a:rPr>
              <a:t>- </a:t>
            </a:r>
            <a:r>
              <a:rPr kumimoji="1" lang="ko-KR" altLang="en-US" sz="1200" b="1" dirty="0" err="1">
                <a:latin typeface="Nanum Gothic" panose="020D0604000000000000" pitchFamily="34" charset="-127"/>
                <a:ea typeface="Nanum Gothic" panose="020D0604000000000000" pitchFamily="34" charset="-127"/>
              </a:rPr>
              <a:t>채널사</a:t>
            </a:r>
            <a:r>
              <a:rPr kumimoji="1" lang="ko-KR" altLang="en-US" sz="1200" b="1" dirty="0">
                <a:latin typeface="Nanum Gothic" panose="020D0604000000000000" pitchFamily="34" charset="-127"/>
                <a:ea typeface="Nanum Gothic" panose="020D0604000000000000" pitchFamily="34" charset="-127"/>
              </a:rPr>
              <a:t> </a:t>
            </a:r>
            <a:r>
              <a:rPr kumimoji="1" lang="en-US" altLang="ko-KR" sz="1200" b="1" dirty="0">
                <a:latin typeface="Nanum Gothic" panose="020D0604000000000000" pitchFamily="34" charset="-127"/>
                <a:ea typeface="Nanum Gothic" panose="020D0604000000000000" pitchFamily="34" charset="-127"/>
              </a:rPr>
              <a:t>-</a:t>
            </a:r>
            <a:endParaRPr kumimoji="1" lang="ko-KR" altLang="en-US" sz="1200" b="1" dirty="0">
              <a:latin typeface="Nanum Gothic" panose="020D0604000000000000" pitchFamily="34" charset="-127"/>
              <a:ea typeface="Nanum Gothic" panose="020D0604000000000000" pitchFamily="34" charset="-127"/>
            </a:endParaRPr>
          </a:p>
        </p:txBody>
      </p:sp>
      <p:sp>
        <p:nvSpPr>
          <p:cNvPr id="39" name="다이아몬드 38"/>
          <p:cNvSpPr/>
          <p:nvPr/>
        </p:nvSpPr>
        <p:spPr>
          <a:xfrm>
            <a:off x="4411701" y="5390566"/>
            <a:ext cx="896419" cy="613574"/>
          </a:xfrm>
          <a:prstGeom prst="diamond">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ko-KR" altLang="en-US" sz="900" b="1" dirty="0" err="1">
                <a:solidFill>
                  <a:schemeClr val="tx1"/>
                </a:solidFill>
                <a:latin typeface="Nanum Gothic" panose="020D0604000000000000" pitchFamily="34" charset="-127"/>
                <a:ea typeface="Nanum Gothic" panose="020D0604000000000000" pitchFamily="34" charset="-127"/>
              </a:rPr>
              <a:t>티켓상태</a:t>
            </a:r>
            <a:endParaRPr kumimoji="1" lang="en-US" altLang="ko-KR" sz="900" b="1" dirty="0">
              <a:solidFill>
                <a:schemeClr val="tx1"/>
              </a:solidFill>
              <a:latin typeface="Nanum Gothic" panose="020D0604000000000000" pitchFamily="34" charset="-127"/>
              <a:ea typeface="Nanum Gothic" panose="020D0604000000000000" pitchFamily="34" charset="-127"/>
            </a:endParaRPr>
          </a:p>
          <a:p>
            <a:pPr algn="ctr"/>
            <a:r>
              <a:rPr kumimoji="1" lang="ko-KR" altLang="en-US" sz="900" b="1" dirty="0">
                <a:solidFill>
                  <a:schemeClr val="tx1"/>
                </a:solidFill>
                <a:latin typeface="Nanum Gothic" panose="020D0604000000000000" pitchFamily="34" charset="-127"/>
                <a:ea typeface="Nanum Gothic" panose="020D0604000000000000" pitchFamily="34" charset="-127"/>
              </a:rPr>
              <a:t>비교</a:t>
            </a:r>
            <a:endParaRPr kumimoji="1" lang="en-US" altLang="ko-KR" sz="900" b="1" dirty="0">
              <a:solidFill>
                <a:schemeClr val="tx1"/>
              </a:solidFill>
              <a:latin typeface="Nanum Gothic" panose="020D0604000000000000" pitchFamily="34" charset="-127"/>
              <a:ea typeface="Nanum Gothic" panose="020D0604000000000000" pitchFamily="34" charset="-127"/>
            </a:endParaRPr>
          </a:p>
        </p:txBody>
      </p:sp>
      <p:sp>
        <p:nvSpPr>
          <p:cNvPr id="41" name="TextBox 40"/>
          <p:cNvSpPr txBox="1"/>
          <p:nvPr/>
        </p:nvSpPr>
        <p:spPr>
          <a:xfrm>
            <a:off x="3203922" y="5706871"/>
            <a:ext cx="1237839" cy="338554"/>
          </a:xfrm>
          <a:prstGeom prst="rect">
            <a:avLst/>
          </a:prstGeom>
          <a:noFill/>
        </p:spPr>
        <p:txBody>
          <a:bodyPr wrap="none" rtlCol="0">
            <a:spAutoFit/>
          </a:bodyPr>
          <a:lstStyle/>
          <a:p>
            <a:pPr marL="98425" indent="-98425">
              <a:buFont typeface="Arial" panose="020B0604020202020204" pitchFamily="34" charset="0"/>
              <a:buChar char="•"/>
            </a:pPr>
            <a:r>
              <a:rPr kumimoji="1" lang="ko-KR" altLang="en-US" sz="800" b="1" i="1" dirty="0" err="1">
                <a:solidFill>
                  <a:srgbClr val="C00000"/>
                </a:solidFill>
                <a:latin typeface="Nanum Gothic" panose="020D0604000000000000" pitchFamily="34" charset="-127"/>
                <a:ea typeface="Nanum Gothic" panose="020D0604000000000000" pitchFamily="34" charset="-127"/>
              </a:rPr>
              <a:t>셀러오피스</a:t>
            </a:r>
            <a:r>
              <a:rPr kumimoji="1" lang="ko-KR" altLang="en-US" sz="800" b="1" i="1" dirty="0">
                <a:solidFill>
                  <a:srgbClr val="C00000"/>
                </a:solidFill>
                <a:latin typeface="Nanum Gothic" panose="020D0604000000000000" pitchFamily="34" charset="-127"/>
                <a:ea typeface="Nanum Gothic" panose="020D0604000000000000" pitchFamily="34" charset="-127"/>
              </a:rPr>
              <a:t> </a:t>
            </a:r>
            <a:r>
              <a:rPr kumimoji="1" lang="en-US" altLang="ko-KR" sz="800" b="1" i="1" dirty="0">
                <a:solidFill>
                  <a:srgbClr val="C00000"/>
                </a:solidFill>
                <a:latin typeface="Nanum Gothic" panose="020D0604000000000000" pitchFamily="34" charset="-127"/>
                <a:ea typeface="Nanum Gothic" panose="020D0604000000000000" pitchFamily="34" charset="-127"/>
              </a:rPr>
              <a:t>:</a:t>
            </a:r>
            <a:r>
              <a:rPr kumimoji="1" lang="ko-KR" altLang="en-US" sz="800" b="1" i="1" dirty="0">
                <a:solidFill>
                  <a:srgbClr val="C00000"/>
                </a:solidFill>
                <a:latin typeface="Nanum Gothic" panose="020D0604000000000000" pitchFamily="34" charset="-127"/>
                <a:ea typeface="Nanum Gothic" panose="020D0604000000000000" pitchFamily="34" charset="-127"/>
              </a:rPr>
              <a:t> 주문완료</a:t>
            </a:r>
            <a:endParaRPr kumimoji="1" lang="en-US" altLang="ko-KR" sz="800" b="1" i="1" dirty="0">
              <a:solidFill>
                <a:srgbClr val="C00000"/>
              </a:solidFill>
              <a:latin typeface="Nanum Gothic" panose="020D0604000000000000" pitchFamily="34" charset="-127"/>
              <a:ea typeface="Nanum Gothic" panose="020D0604000000000000" pitchFamily="34" charset="-127"/>
            </a:endParaRPr>
          </a:p>
          <a:p>
            <a:pPr marL="98425" indent="-98425">
              <a:buFont typeface="Arial" panose="020B0604020202020204" pitchFamily="34" charset="0"/>
              <a:buChar char="•"/>
            </a:pPr>
            <a:r>
              <a:rPr kumimoji="1" lang="ko-KR" altLang="en-US" sz="800" b="1" i="1" dirty="0" err="1">
                <a:solidFill>
                  <a:srgbClr val="C00000"/>
                </a:solidFill>
                <a:latin typeface="Nanum Gothic" panose="020D0604000000000000" pitchFamily="34" charset="-127"/>
                <a:ea typeface="Nanum Gothic" panose="020D0604000000000000" pitchFamily="34" charset="-127"/>
              </a:rPr>
              <a:t>채널사</a:t>
            </a:r>
            <a:r>
              <a:rPr kumimoji="1" lang="ko-KR" altLang="en-US" sz="800" b="1" i="1" dirty="0">
                <a:solidFill>
                  <a:srgbClr val="C00000"/>
                </a:solidFill>
                <a:latin typeface="Nanum Gothic" panose="020D0604000000000000" pitchFamily="34" charset="-127"/>
                <a:ea typeface="Nanum Gothic" panose="020D0604000000000000" pitchFamily="34" charset="-127"/>
              </a:rPr>
              <a:t> </a:t>
            </a:r>
            <a:r>
              <a:rPr kumimoji="1" lang="en-US" altLang="ko-KR" sz="800" b="1" i="1" dirty="0">
                <a:solidFill>
                  <a:srgbClr val="C00000"/>
                </a:solidFill>
                <a:latin typeface="Nanum Gothic" panose="020D0604000000000000" pitchFamily="34" charset="-127"/>
                <a:ea typeface="Nanum Gothic" panose="020D0604000000000000" pitchFamily="34" charset="-127"/>
              </a:rPr>
              <a:t>:</a:t>
            </a:r>
            <a:r>
              <a:rPr kumimoji="1" lang="ko-KR" altLang="en-US" sz="800" b="1" i="1" dirty="0">
                <a:solidFill>
                  <a:srgbClr val="C00000"/>
                </a:solidFill>
                <a:latin typeface="Nanum Gothic" panose="020D0604000000000000" pitchFamily="34" charset="-127"/>
                <a:ea typeface="Nanum Gothic" panose="020D0604000000000000" pitchFamily="34" charset="-127"/>
              </a:rPr>
              <a:t> 사용처리완료</a:t>
            </a:r>
            <a:endParaRPr kumimoji="1" lang="ko-KR" altLang="en-US" sz="800" i="1" dirty="0">
              <a:solidFill>
                <a:srgbClr val="C00000"/>
              </a:solidFill>
              <a:latin typeface="Nanum Gothic" panose="020D0604000000000000" pitchFamily="34" charset="-127"/>
              <a:ea typeface="Nanum Gothic" panose="020D0604000000000000" pitchFamily="34" charset="-127"/>
            </a:endParaRPr>
          </a:p>
        </p:txBody>
      </p:sp>
      <p:sp>
        <p:nvSpPr>
          <p:cNvPr id="55" name="TextBox 54"/>
          <p:cNvSpPr txBox="1"/>
          <p:nvPr/>
        </p:nvSpPr>
        <p:spPr>
          <a:xfrm>
            <a:off x="2957227" y="4135238"/>
            <a:ext cx="865615" cy="246221"/>
          </a:xfrm>
          <a:prstGeom prst="rect">
            <a:avLst/>
          </a:prstGeom>
          <a:noFill/>
          <a:ln>
            <a:solidFill>
              <a:schemeClr val="bg1">
                <a:lumMod val="50000"/>
              </a:schemeClr>
            </a:solidFill>
          </a:ln>
        </p:spPr>
        <p:txBody>
          <a:bodyPr wrap="square" lIns="0" rIns="0" rtlCol="0">
            <a:spAutoFit/>
          </a:bodyPr>
          <a:lstStyle/>
          <a:p>
            <a:pPr algn="ctr"/>
            <a:r>
              <a:rPr kumimoji="1" lang="ko-KR" altLang="en-US" sz="1000" dirty="0" err="1">
                <a:latin typeface="Nanum Gothic" panose="020D0604000000000000" pitchFamily="34" charset="-127"/>
                <a:ea typeface="Nanum Gothic" panose="020D0604000000000000" pitchFamily="34" charset="-127"/>
              </a:rPr>
              <a:t>사용처리</a:t>
            </a:r>
            <a:endParaRPr kumimoji="1" lang="ko-KR" altLang="en-US" sz="1000" dirty="0">
              <a:latin typeface="Nanum Gothic" panose="020D0604000000000000" pitchFamily="34" charset="-127"/>
              <a:ea typeface="Nanum Gothic" panose="020D0604000000000000" pitchFamily="34" charset="-127"/>
            </a:endParaRPr>
          </a:p>
        </p:txBody>
      </p:sp>
      <p:sp>
        <p:nvSpPr>
          <p:cNvPr id="57" name="TextBox 56"/>
          <p:cNvSpPr txBox="1"/>
          <p:nvPr/>
        </p:nvSpPr>
        <p:spPr>
          <a:xfrm>
            <a:off x="7268332" y="4118806"/>
            <a:ext cx="1034273" cy="246221"/>
          </a:xfrm>
          <a:prstGeom prst="rect">
            <a:avLst/>
          </a:prstGeom>
          <a:noFill/>
          <a:ln>
            <a:solidFill>
              <a:schemeClr val="bg1">
                <a:lumMod val="50000"/>
              </a:schemeClr>
            </a:solidFill>
          </a:ln>
        </p:spPr>
        <p:txBody>
          <a:bodyPr wrap="square" lIns="0" rIns="0" rtlCol="0">
            <a:spAutoFit/>
          </a:bodyPr>
          <a:lstStyle/>
          <a:p>
            <a:pPr algn="ctr"/>
            <a:r>
              <a:rPr kumimoji="1" lang="ko-KR" altLang="en-US" sz="1000" dirty="0" err="1">
                <a:latin typeface="Nanum Gothic" panose="020D0604000000000000" pitchFamily="34" charset="-127"/>
                <a:ea typeface="Nanum Gothic" panose="020D0604000000000000" pitchFamily="34" charset="-127"/>
              </a:rPr>
              <a:t>채널사</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상태변경</a:t>
            </a:r>
            <a:endParaRPr kumimoji="1" lang="en-US" altLang="ko-KR" sz="1000" dirty="0">
              <a:latin typeface="Nanum Gothic" panose="020D0604000000000000" pitchFamily="34" charset="-127"/>
              <a:ea typeface="Nanum Gothic" panose="020D0604000000000000" pitchFamily="34" charset="-127"/>
            </a:endParaRPr>
          </a:p>
        </p:txBody>
      </p:sp>
      <p:cxnSp>
        <p:nvCxnSpPr>
          <p:cNvPr id="61" name="직선 화살표 연결선 198"/>
          <p:cNvCxnSpPr>
            <a:endCxn id="39" idx="3"/>
          </p:cNvCxnSpPr>
          <p:nvPr/>
        </p:nvCxnSpPr>
        <p:spPr>
          <a:xfrm flipH="1">
            <a:off x="5308120" y="5697353"/>
            <a:ext cx="1765822" cy="0"/>
          </a:xfrm>
          <a:prstGeom prst="straightConnector1">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5658603" y="5577314"/>
            <a:ext cx="1201582" cy="261610"/>
          </a:xfrm>
          <a:prstGeom prst="rect">
            <a:avLst/>
          </a:prstGeom>
          <a:solidFill>
            <a:schemeClr val="accent2">
              <a:lumMod val="20000"/>
              <a:lumOff val="80000"/>
            </a:schemeClr>
          </a:solidFill>
          <a:ln>
            <a:noFill/>
          </a:ln>
        </p:spPr>
        <p:txBody>
          <a:bodyPr wrap="square" rtlCol="0">
            <a:spAutoFit/>
          </a:bodyPr>
          <a:lstStyle/>
          <a:p>
            <a:pPr algn="ctr"/>
            <a:r>
              <a:rPr kumimoji="1" lang="ko-KR" altLang="en-US" sz="1100" b="1" dirty="0" err="1">
                <a:solidFill>
                  <a:srgbClr val="C00000"/>
                </a:solidFill>
                <a:latin typeface="Nanum Gothic" panose="020D0604000000000000" pitchFamily="34" charset="-127"/>
                <a:ea typeface="Nanum Gothic" panose="020D0604000000000000" pitchFamily="34" charset="-127"/>
              </a:rPr>
              <a:t>티켓상태</a:t>
            </a:r>
            <a:r>
              <a:rPr kumimoji="1" lang="ko-KR" altLang="en-US" sz="1100" b="1" dirty="0">
                <a:solidFill>
                  <a:srgbClr val="C00000"/>
                </a:solidFill>
                <a:latin typeface="Nanum Gothic" panose="020D0604000000000000" pitchFamily="34" charset="-127"/>
                <a:ea typeface="Nanum Gothic" panose="020D0604000000000000" pitchFamily="34" charset="-127"/>
              </a:rPr>
              <a:t> </a:t>
            </a:r>
            <a:r>
              <a:rPr kumimoji="1" lang="ko-KR" altLang="en-US" sz="1100" b="1" dirty="0" err="1">
                <a:solidFill>
                  <a:srgbClr val="C00000"/>
                </a:solidFill>
                <a:latin typeface="Nanum Gothic" panose="020D0604000000000000" pitchFamily="34" charset="-127"/>
                <a:ea typeface="Nanum Gothic" panose="020D0604000000000000" pitchFamily="34" charset="-127"/>
              </a:rPr>
              <a:t>크롤링</a:t>
            </a:r>
            <a:endParaRPr kumimoji="1" lang="ko-KR" altLang="en-US" sz="1100" b="1" dirty="0">
              <a:solidFill>
                <a:srgbClr val="C00000"/>
              </a:solidFill>
              <a:latin typeface="Nanum Gothic" panose="020D0604000000000000" pitchFamily="34" charset="-127"/>
              <a:ea typeface="Nanum Gothic" panose="020D0604000000000000" pitchFamily="34" charset="-127"/>
            </a:endParaRPr>
          </a:p>
        </p:txBody>
      </p:sp>
      <p:sp>
        <p:nvSpPr>
          <p:cNvPr id="76" name="TextBox 75"/>
          <p:cNvSpPr txBox="1"/>
          <p:nvPr/>
        </p:nvSpPr>
        <p:spPr>
          <a:xfrm>
            <a:off x="4847517" y="4995020"/>
            <a:ext cx="1459054" cy="338554"/>
          </a:xfrm>
          <a:prstGeom prst="rect">
            <a:avLst/>
          </a:prstGeom>
          <a:noFill/>
        </p:spPr>
        <p:txBody>
          <a:bodyPr wrap="none" rtlCol="0">
            <a:spAutoFit/>
          </a:bodyPr>
          <a:lstStyle/>
          <a:p>
            <a:pPr marL="98425" indent="-98425">
              <a:buFont typeface="Arial" panose="020B0604020202020204" pitchFamily="34" charset="0"/>
              <a:buChar char="•"/>
            </a:pPr>
            <a:r>
              <a:rPr kumimoji="1" lang="ko-KR" altLang="en-US" sz="800" b="1" i="1" dirty="0" err="1">
                <a:solidFill>
                  <a:srgbClr val="C00000"/>
                </a:solidFill>
                <a:latin typeface="Nanum Gothic" panose="020D0604000000000000" pitchFamily="34" charset="-127"/>
                <a:ea typeface="Nanum Gothic" panose="020D0604000000000000" pitchFamily="34" charset="-127"/>
              </a:rPr>
              <a:t>셀러오피스</a:t>
            </a:r>
            <a:r>
              <a:rPr kumimoji="1" lang="ko-KR" altLang="en-US" sz="800" b="1" i="1" dirty="0">
                <a:solidFill>
                  <a:srgbClr val="C00000"/>
                </a:solidFill>
                <a:latin typeface="Nanum Gothic" panose="020D0604000000000000" pitchFamily="34" charset="-127"/>
                <a:ea typeface="Nanum Gothic" panose="020D0604000000000000" pitchFamily="34" charset="-127"/>
              </a:rPr>
              <a:t> </a:t>
            </a:r>
            <a:r>
              <a:rPr kumimoji="1" lang="en-US" altLang="ko-KR" sz="800" b="1" i="1" dirty="0">
                <a:solidFill>
                  <a:srgbClr val="C00000"/>
                </a:solidFill>
                <a:latin typeface="Nanum Gothic" panose="020D0604000000000000" pitchFamily="34" charset="-127"/>
                <a:ea typeface="Nanum Gothic" panose="020D0604000000000000" pitchFamily="34" charset="-127"/>
              </a:rPr>
              <a:t>:</a:t>
            </a:r>
            <a:r>
              <a:rPr kumimoji="1" lang="ko-KR" altLang="en-US" sz="800" b="1" i="1" dirty="0">
                <a:solidFill>
                  <a:srgbClr val="C00000"/>
                </a:solidFill>
                <a:latin typeface="Nanum Gothic" panose="020D0604000000000000" pitchFamily="34" charset="-127"/>
                <a:ea typeface="Nanum Gothic" panose="020D0604000000000000" pitchFamily="34" charset="-127"/>
              </a:rPr>
              <a:t> </a:t>
            </a:r>
            <a:r>
              <a:rPr kumimoji="1" lang="ko-KR" altLang="en-US" sz="800" b="1" i="1" dirty="0" err="1">
                <a:solidFill>
                  <a:srgbClr val="C00000"/>
                </a:solidFill>
                <a:latin typeface="Nanum Gothic" panose="020D0604000000000000" pitchFamily="34" charset="-127"/>
                <a:ea typeface="Nanum Gothic" panose="020D0604000000000000" pitchFamily="34" charset="-127"/>
              </a:rPr>
              <a:t>사용처리</a:t>
            </a:r>
            <a:r>
              <a:rPr kumimoji="1" lang="ko-KR" altLang="en-US" sz="800" b="1" i="1" dirty="0">
                <a:solidFill>
                  <a:srgbClr val="C00000"/>
                </a:solidFill>
                <a:latin typeface="Nanum Gothic" panose="020D0604000000000000" pitchFamily="34" charset="-127"/>
                <a:ea typeface="Nanum Gothic" panose="020D0604000000000000" pitchFamily="34" charset="-127"/>
              </a:rPr>
              <a:t> 완료</a:t>
            </a:r>
            <a:endParaRPr kumimoji="1" lang="en-US" altLang="ko-KR" sz="800" b="1" i="1" dirty="0">
              <a:solidFill>
                <a:srgbClr val="C00000"/>
              </a:solidFill>
              <a:latin typeface="Nanum Gothic" panose="020D0604000000000000" pitchFamily="34" charset="-127"/>
              <a:ea typeface="Nanum Gothic" panose="020D0604000000000000" pitchFamily="34" charset="-127"/>
            </a:endParaRPr>
          </a:p>
          <a:p>
            <a:pPr marL="98425" indent="-98425">
              <a:buFont typeface="Arial" panose="020B0604020202020204" pitchFamily="34" charset="0"/>
              <a:buChar char="•"/>
            </a:pPr>
            <a:r>
              <a:rPr kumimoji="1" lang="ko-KR" altLang="en-US" sz="800" b="1" i="1" dirty="0" err="1">
                <a:solidFill>
                  <a:srgbClr val="C00000"/>
                </a:solidFill>
                <a:latin typeface="Nanum Gothic" panose="020D0604000000000000" pitchFamily="34" charset="-127"/>
                <a:ea typeface="Nanum Gothic" panose="020D0604000000000000" pitchFamily="34" charset="-127"/>
              </a:rPr>
              <a:t>채널사</a:t>
            </a:r>
            <a:r>
              <a:rPr kumimoji="1" lang="ko-KR" altLang="en-US" sz="800" b="1" i="1" dirty="0">
                <a:solidFill>
                  <a:srgbClr val="C00000"/>
                </a:solidFill>
                <a:latin typeface="Nanum Gothic" panose="020D0604000000000000" pitchFamily="34" charset="-127"/>
                <a:ea typeface="Nanum Gothic" panose="020D0604000000000000" pitchFamily="34" charset="-127"/>
              </a:rPr>
              <a:t> </a:t>
            </a:r>
            <a:r>
              <a:rPr kumimoji="1" lang="en-US" altLang="ko-KR" sz="800" b="1" i="1" dirty="0">
                <a:solidFill>
                  <a:srgbClr val="C00000"/>
                </a:solidFill>
                <a:latin typeface="Nanum Gothic" panose="020D0604000000000000" pitchFamily="34" charset="-127"/>
                <a:ea typeface="Nanum Gothic" panose="020D0604000000000000" pitchFamily="34" charset="-127"/>
              </a:rPr>
              <a:t>:</a:t>
            </a:r>
            <a:r>
              <a:rPr kumimoji="1" lang="ko-KR" altLang="en-US" sz="800" b="1" i="1" dirty="0">
                <a:solidFill>
                  <a:srgbClr val="C00000"/>
                </a:solidFill>
                <a:latin typeface="Nanum Gothic" panose="020D0604000000000000" pitchFamily="34" charset="-127"/>
                <a:ea typeface="Nanum Gothic" panose="020D0604000000000000" pitchFamily="34" charset="-127"/>
              </a:rPr>
              <a:t> 주문완료</a:t>
            </a:r>
            <a:endParaRPr kumimoji="1" lang="ko-KR" altLang="en-US" sz="800" i="1" dirty="0">
              <a:solidFill>
                <a:srgbClr val="C00000"/>
              </a:solidFill>
              <a:latin typeface="Nanum Gothic" panose="020D0604000000000000" pitchFamily="34" charset="-127"/>
              <a:ea typeface="Nanum Gothic" panose="020D0604000000000000" pitchFamily="34" charset="-127"/>
            </a:endParaRPr>
          </a:p>
        </p:txBody>
      </p:sp>
      <p:sp>
        <p:nvSpPr>
          <p:cNvPr id="78" name="TextBox 77"/>
          <p:cNvSpPr txBox="1"/>
          <p:nvPr/>
        </p:nvSpPr>
        <p:spPr>
          <a:xfrm>
            <a:off x="1989579" y="4135238"/>
            <a:ext cx="795509" cy="246221"/>
          </a:xfrm>
          <a:prstGeom prst="rect">
            <a:avLst/>
          </a:prstGeom>
          <a:noFill/>
          <a:ln>
            <a:solidFill>
              <a:schemeClr val="bg1">
                <a:lumMod val="50000"/>
              </a:schemeClr>
            </a:solidFill>
          </a:ln>
        </p:spPr>
        <p:txBody>
          <a:bodyPr wrap="square" lIns="0" rIns="0" rtlCol="0">
            <a:spAutoFit/>
          </a:bodyPr>
          <a:lstStyle/>
          <a:p>
            <a:pPr algn="ctr"/>
            <a:r>
              <a:rPr kumimoji="1" lang="ko-KR" altLang="en-US" sz="1000" dirty="0" err="1">
                <a:latin typeface="Nanum Gothic" panose="020D0604000000000000" pitchFamily="34" charset="-127"/>
                <a:ea typeface="Nanum Gothic" panose="020D0604000000000000" pitchFamily="34" charset="-127"/>
              </a:rPr>
              <a:t>상태변경</a:t>
            </a:r>
            <a:endParaRPr kumimoji="1" lang="en-US" altLang="ko-KR" sz="1000" dirty="0">
              <a:latin typeface="Nanum Gothic" panose="020D0604000000000000" pitchFamily="34" charset="-127"/>
              <a:ea typeface="Nanum Gothic" panose="020D0604000000000000" pitchFamily="34" charset="-127"/>
            </a:endParaRPr>
          </a:p>
        </p:txBody>
      </p:sp>
      <p:cxnSp>
        <p:nvCxnSpPr>
          <p:cNvPr id="79" name="직선 화살표 연결선 198"/>
          <p:cNvCxnSpPr>
            <a:stCxn id="39" idx="1"/>
            <a:endCxn id="78" idx="2"/>
          </p:cNvCxnSpPr>
          <p:nvPr/>
        </p:nvCxnSpPr>
        <p:spPr>
          <a:xfrm rot="10800000">
            <a:off x="2387335" y="4381459"/>
            <a:ext cx="2024367" cy="1315894"/>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2974648" y="4720176"/>
            <a:ext cx="865615" cy="400110"/>
          </a:xfrm>
          <a:prstGeom prst="rect">
            <a:avLst/>
          </a:prstGeom>
          <a:noFill/>
          <a:ln>
            <a:solidFill>
              <a:schemeClr val="bg1">
                <a:lumMod val="50000"/>
              </a:schemeClr>
            </a:solidFill>
          </a:ln>
        </p:spPr>
        <p:txBody>
          <a:bodyPr wrap="square" lIns="0" rIns="0" rtlCol="0">
            <a:spAutoFit/>
          </a:bodyPr>
          <a:lstStyle/>
          <a:p>
            <a:pPr algn="ctr"/>
            <a:r>
              <a:rPr kumimoji="1" lang="ko-KR" altLang="en-US" sz="1000" dirty="0">
                <a:latin typeface="Nanum Gothic" panose="020D0604000000000000" pitchFamily="34" charset="-127"/>
                <a:ea typeface="Nanum Gothic" panose="020D0604000000000000" pitchFamily="34" charset="-127"/>
              </a:rPr>
              <a:t>마스터에게</a:t>
            </a:r>
            <a:endParaRPr kumimoji="1" lang="en-US" altLang="ko-KR" sz="1000" dirty="0">
              <a:latin typeface="Nanum Gothic" panose="020D0604000000000000" pitchFamily="34" charset="-127"/>
              <a:ea typeface="Nanum Gothic" panose="020D0604000000000000" pitchFamily="34" charset="-127"/>
            </a:endParaRPr>
          </a:p>
          <a:p>
            <a:pPr algn="ctr"/>
            <a:r>
              <a:rPr kumimoji="1" lang="ko-KR" altLang="en-US" sz="1000" dirty="0">
                <a:latin typeface="Nanum Gothic" panose="020D0604000000000000" pitchFamily="34" charset="-127"/>
                <a:ea typeface="Nanum Gothic" panose="020D0604000000000000" pitchFamily="34" charset="-127"/>
              </a:rPr>
              <a:t>알림메일발송</a:t>
            </a:r>
          </a:p>
        </p:txBody>
      </p:sp>
      <p:cxnSp>
        <p:nvCxnSpPr>
          <p:cNvPr id="88" name="직선 화살표 연결선 198"/>
          <p:cNvCxnSpPr>
            <a:stCxn id="39" idx="0"/>
            <a:endCxn id="87" idx="3"/>
          </p:cNvCxnSpPr>
          <p:nvPr/>
        </p:nvCxnSpPr>
        <p:spPr>
          <a:xfrm rot="16200000" flipV="1">
            <a:off x="4114920" y="4645575"/>
            <a:ext cx="470335" cy="1019648"/>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416496" y="600923"/>
            <a:ext cx="8243282" cy="1034579"/>
          </a:xfrm>
          <a:prstGeom prst="rect">
            <a:avLst/>
          </a:prstGeom>
          <a:noFill/>
        </p:spPr>
        <p:txBody>
          <a:bodyPr wrap="square" rtlCol="0">
            <a:spAutoFit/>
          </a:bodyPr>
          <a:lstStyle/>
          <a:p>
            <a:pPr marL="171450" indent="-171450">
              <a:lnSpc>
                <a:spcPct val="150000"/>
              </a:lnSpc>
              <a:buFont typeface="Wingdings" panose="05000000000000000000" pitchFamily="2" charset="2"/>
              <a:buChar char="v"/>
            </a:pPr>
            <a:r>
              <a:rPr kumimoji="1" lang="ko-KR" altLang="en-US" sz="1200" b="1" dirty="0" err="1">
                <a:latin typeface="Nanum Gothic" panose="020D0604000000000000" pitchFamily="34" charset="-127"/>
                <a:ea typeface="Nanum Gothic" panose="020D0604000000000000" pitchFamily="34" charset="-127"/>
              </a:rPr>
              <a:t>사용처리</a:t>
            </a:r>
            <a:endParaRPr kumimoji="1" lang="en-US" altLang="ko-KR" sz="1200" b="1"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a:latin typeface="Nanum Gothic" panose="020D0604000000000000" pitchFamily="34" charset="-127"/>
                <a:ea typeface="Nanum Gothic" panose="020D0604000000000000" pitchFamily="34" charset="-127"/>
              </a:rPr>
              <a:t>셀러오피스에서 </a:t>
            </a:r>
            <a:r>
              <a:rPr kumimoji="1" lang="ko-KR" altLang="en-US" sz="1000" dirty="0" err="1">
                <a:latin typeface="Nanum Gothic" panose="020D0604000000000000" pitchFamily="34" charset="-127"/>
                <a:ea typeface="Nanum Gothic" panose="020D0604000000000000" pitchFamily="34" charset="-127"/>
              </a:rPr>
              <a:t>사용처리</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진행시</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채널사와</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셀러오피스</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티켓상태에</a:t>
            </a:r>
            <a:r>
              <a:rPr kumimoji="1" lang="ko-KR" altLang="en-US" sz="1000" dirty="0">
                <a:latin typeface="Nanum Gothic" panose="020D0604000000000000" pitchFamily="34" charset="-127"/>
                <a:ea typeface="Nanum Gothic" panose="020D0604000000000000" pitchFamily="34" charset="-127"/>
              </a:rPr>
              <a:t> 따라 </a:t>
            </a:r>
            <a:r>
              <a:rPr kumimoji="1" lang="ko-KR" altLang="en-US" sz="1000" dirty="0" err="1">
                <a:latin typeface="Nanum Gothic" panose="020D0604000000000000" pitchFamily="34" charset="-127"/>
                <a:ea typeface="Nanum Gothic" panose="020D0604000000000000" pitchFamily="34" charset="-127"/>
              </a:rPr>
              <a:t>티켓상태</a:t>
            </a:r>
            <a:r>
              <a:rPr kumimoji="1" lang="ko-KR" altLang="en-US" sz="1000" dirty="0">
                <a:latin typeface="Nanum Gothic" panose="020D0604000000000000" pitchFamily="34" charset="-127"/>
                <a:ea typeface="Nanum Gothic" panose="020D0604000000000000" pitchFamily="34" charset="-127"/>
              </a:rPr>
              <a:t> 비교  후  최종 적용</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rPr>
              <a:t>셀러오피스</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주문완료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채널사</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사용처리완료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a:t>
            </a:r>
            <a:r>
              <a:rPr kumimoji="1" lang="ko-KR" altLang="en-US" sz="1000" dirty="0" err="1">
                <a:latin typeface="Nanum Gothic" panose="020D0604000000000000" pitchFamily="34" charset="-127"/>
                <a:ea typeface="Nanum Gothic" panose="020D0604000000000000" pitchFamily="34" charset="-127"/>
                <a:sym typeface="Wingdings" panose="05000000000000000000" pitchFamily="2" charset="2"/>
              </a:rPr>
              <a:t>셀러오피스</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값 업데이트</a:t>
            </a:r>
            <a:endPar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endParaRP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sym typeface="Wingdings" panose="05000000000000000000" pitchFamily="2" charset="2"/>
              </a:rPr>
              <a:t>셀러오피스</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사용처리완료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a:t>
            </a:r>
            <a:r>
              <a:rPr kumimoji="1" lang="ko-KR" altLang="en-US" sz="1000" dirty="0" err="1">
                <a:latin typeface="Nanum Gothic" panose="020D0604000000000000" pitchFamily="34" charset="-127"/>
                <a:ea typeface="Nanum Gothic" panose="020D0604000000000000" pitchFamily="34" charset="-127"/>
                <a:sym typeface="Wingdings" panose="05000000000000000000" pitchFamily="2" charset="2"/>
              </a:rPr>
              <a:t>채널사</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주문완료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알림으로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수신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마스터에게 알림 </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a:t>
            </a:r>
            <a:r>
              <a:rPr kumimoji="1" lang="ko-KR" altLang="en-US" sz="1000" dirty="0" err="1">
                <a:latin typeface="Nanum Gothic" panose="020D0604000000000000" pitchFamily="34" charset="-127"/>
                <a:ea typeface="Nanum Gothic" panose="020D0604000000000000" pitchFamily="34" charset="-127"/>
                <a:sym typeface="Wingdings" panose="05000000000000000000" pitchFamily="2" charset="2"/>
              </a:rPr>
              <a:t>채널사명</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err="1">
                <a:latin typeface="Nanum Gothic" panose="020D0604000000000000" pitchFamily="34" charset="-127"/>
                <a:ea typeface="Nanum Gothic" panose="020D0604000000000000" pitchFamily="34" charset="-127"/>
                <a:sym typeface="Wingdings" panose="05000000000000000000" pitchFamily="2" charset="2"/>
              </a:rPr>
              <a:t>티켓번호</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티켓구매자명</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r>
              <a:rPr kumimoji="1" lang="ko-KR" altLang="en-US" sz="1000" dirty="0">
                <a:latin typeface="Nanum Gothic" panose="020D0604000000000000" pitchFamily="34" charset="-127"/>
                <a:ea typeface="Nanum Gothic" panose="020D0604000000000000" pitchFamily="34" charset="-127"/>
                <a:sym typeface="Wingdings" panose="05000000000000000000" pitchFamily="2" charset="2"/>
              </a:rPr>
              <a:t> 티켓구매자연락처</a:t>
            </a:r>
            <a:r>
              <a:rPr kumimoji="1" lang="en-US" altLang="ko-KR" sz="1000" dirty="0">
                <a:latin typeface="Nanum Gothic" panose="020D0604000000000000" pitchFamily="34" charset="-127"/>
                <a:ea typeface="Nanum Gothic" panose="020D0604000000000000" pitchFamily="34" charset="-127"/>
                <a:sym typeface="Wingdings" panose="05000000000000000000" pitchFamily="2" charset="2"/>
              </a:rPr>
              <a:t>)</a:t>
            </a:r>
            <a:endParaRPr kumimoji="1" lang="ko-KR" altLang="en-US" sz="1000" dirty="0">
              <a:latin typeface="Nanum Gothic" panose="020D0604000000000000" pitchFamily="34" charset="-127"/>
              <a:ea typeface="Nanum Gothic" panose="020D0604000000000000" pitchFamily="34" charset="-127"/>
            </a:endParaRPr>
          </a:p>
        </p:txBody>
      </p:sp>
      <p:sp>
        <p:nvSpPr>
          <p:cNvPr id="99" name="TextBox 98"/>
          <p:cNvSpPr txBox="1"/>
          <p:nvPr/>
        </p:nvSpPr>
        <p:spPr>
          <a:xfrm>
            <a:off x="2957226" y="3765906"/>
            <a:ext cx="865615" cy="246221"/>
          </a:xfrm>
          <a:prstGeom prst="rect">
            <a:avLst/>
          </a:prstGeom>
          <a:noFill/>
          <a:ln>
            <a:solidFill>
              <a:schemeClr val="bg1">
                <a:lumMod val="50000"/>
              </a:schemeClr>
            </a:solidFill>
          </a:ln>
        </p:spPr>
        <p:txBody>
          <a:bodyPr wrap="square" lIns="0" rIns="0" rtlCol="0">
            <a:spAutoFit/>
          </a:bodyPr>
          <a:lstStyle/>
          <a:p>
            <a:pPr algn="ctr"/>
            <a:r>
              <a:rPr kumimoji="1" lang="ko-KR" altLang="en-US" sz="1000" dirty="0" err="1">
                <a:latin typeface="Nanum Gothic" panose="020D0604000000000000" pitchFamily="34" charset="-127"/>
                <a:ea typeface="Nanum Gothic" panose="020D0604000000000000" pitchFamily="34" charset="-127"/>
              </a:rPr>
              <a:t>복원처리</a:t>
            </a:r>
            <a:endParaRPr kumimoji="1" lang="ko-KR" altLang="en-US" sz="1000" dirty="0">
              <a:latin typeface="Nanum Gothic" panose="020D0604000000000000" pitchFamily="34" charset="-127"/>
              <a:ea typeface="Nanum Gothic" panose="020D0604000000000000" pitchFamily="34" charset="-127"/>
            </a:endParaRPr>
          </a:p>
        </p:txBody>
      </p:sp>
      <p:cxnSp>
        <p:nvCxnSpPr>
          <p:cNvPr id="100" name="직선 화살표 연결선 198"/>
          <p:cNvCxnSpPr>
            <a:stCxn id="99" idx="0"/>
            <a:endCxn id="103" idx="3"/>
          </p:cNvCxnSpPr>
          <p:nvPr/>
        </p:nvCxnSpPr>
        <p:spPr>
          <a:xfrm rot="16200000" flipV="1">
            <a:off x="2914818" y="3290690"/>
            <a:ext cx="345486" cy="604946"/>
          </a:xfrm>
          <a:prstGeom prst="bentConnector2">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1989579" y="3297309"/>
            <a:ext cx="795509" cy="246221"/>
          </a:xfrm>
          <a:prstGeom prst="rect">
            <a:avLst/>
          </a:prstGeom>
          <a:noFill/>
          <a:ln>
            <a:solidFill>
              <a:schemeClr val="bg1">
                <a:lumMod val="50000"/>
              </a:schemeClr>
            </a:solidFill>
          </a:ln>
        </p:spPr>
        <p:txBody>
          <a:bodyPr wrap="square" lIns="0" rIns="0" rtlCol="0">
            <a:spAutoFit/>
          </a:bodyPr>
          <a:lstStyle/>
          <a:p>
            <a:pPr algn="ctr"/>
            <a:r>
              <a:rPr kumimoji="1" lang="ko-KR" altLang="en-US" sz="1000" dirty="0" err="1">
                <a:latin typeface="Nanum Gothic" panose="020D0604000000000000" pitchFamily="34" charset="-127"/>
                <a:ea typeface="Nanum Gothic" panose="020D0604000000000000" pitchFamily="34" charset="-127"/>
              </a:rPr>
              <a:t>상태변경</a:t>
            </a:r>
            <a:endParaRPr kumimoji="1" lang="en-US" altLang="ko-KR" sz="1000" dirty="0">
              <a:latin typeface="Nanum Gothic" panose="020D0604000000000000" pitchFamily="34" charset="-127"/>
              <a:ea typeface="Nanum Gothic" panose="020D0604000000000000" pitchFamily="34" charset="-127"/>
            </a:endParaRPr>
          </a:p>
        </p:txBody>
      </p:sp>
      <p:sp>
        <p:nvSpPr>
          <p:cNvPr id="106" name="TextBox 105"/>
          <p:cNvSpPr txBox="1"/>
          <p:nvPr/>
        </p:nvSpPr>
        <p:spPr>
          <a:xfrm>
            <a:off x="416496" y="1680142"/>
            <a:ext cx="4865756" cy="804066"/>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ko-KR" altLang="en-US" sz="1200" b="1" dirty="0">
                <a:latin typeface="Nanum Gothic" panose="020D0604000000000000" pitchFamily="34" charset="-127"/>
                <a:ea typeface="Nanum Gothic" panose="020D0604000000000000" pitchFamily="34" charset="-127"/>
              </a:rPr>
              <a:t>티켓 복원</a:t>
            </a:r>
            <a:endParaRPr kumimoji="1" lang="en-US" altLang="ko-KR" sz="1200" b="1" dirty="0">
              <a:latin typeface="Nanum Gothic" panose="020D0604000000000000" pitchFamily="34" charset="-127"/>
              <a:ea typeface="Nanum Gothic" panose="020D0604000000000000" pitchFamily="34" charset="-127"/>
            </a:endParaRPr>
          </a:p>
          <a:p>
            <a:pPr marL="182880">
              <a:lnSpc>
                <a:spcPct val="150000"/>
              </a:lnSpc>
            </a:pPr>
            <a:r>
              <a:rPr kumimoji="1" lang="en-US" altLang="ko-KR" sz="1000" dirty="0">
                <a:latin typeface="Nanum Gothic" panose="020D0604000000000000" pitchFamily="34" charset="-127"/>
                <a:ea typeface="Nanum Gothic" panose="020D0604000000000000" pitchFamily="34" charset="-127"/>
              </a:rPr>
              <a:t>1.</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복원가능</a:t>
            </a:r>
            <a:r>
              <a:rPr kumimoji="1" lang="ko-KR" altLang="en-US" sz="1000" dirty="0">
                <a:latin typeface="Nanum Gothic" panose="020D0604000000000000" pitchFamily="34" charset="-127"/>
                <a:ea typeface="Nanum Gothic" panose="020D0604000000000000" pitchFamily="34" charset="-127"/>
              </a:rPr>
              <a:t> 티켓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티켓상태가</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사용완료인</a:t>
            </a:r>
            <a:r>
              <a:rPr kumimoji="1" lang="ko-KR" altLang="en-US" sz="1000" dirty="0">
                <a:latin typeface="Nanum Gothic" panose="020D0604000000000000" pitchFamily="34" charset="-127"/>
                <a:ea typeface="Nanum Gothic" panose="020D0604000000000000" pitchFamily="34" charset="-127"/>
              </a:rPr>
              <a:t> 경우만 복원 가능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복원 횟수 제한 없음</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a:t>
            </a:r>
            <a:endParaRPr kumimoji="1" lang="en-US" altLang="ko-KR" sz="1000" dirty="0">
              <a:latin typeface="Nanum Gothic" panose="020D0604000000000000" pitchFamily="34" charset="-127"/>
              <a:ea typeface="Nanum Gothic" panose="020D0604000000000000" pitchFamily="34" charset="-127"/>
            </a:endParaRPr>
          </a:p>
          <a:p>
            <a:pPr marL="182880">
              <a:lnSpc>
                <a:spcPct val="150000"/>
              </a:lnSpc>
            </a:pPr>
            <a:r>
              <a:rPr kumimoji="1" lang="en-US" altLang="ko-KR" sz="1000" dirty="0">
                <a:latin typeface="Nanum Gothic" panose="020D0604000000000000" pitchFamily="34" charset="-127"/>
                <a:ea typeface="Nanum Gothic" panose="020D0604000000000000" pitchFamily="34" charset="-127"/>
              </a:rPr>
              <a:t>2.</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복원완료</a:t>
            </a:r>
            <a:r>
              <a:rPr kumimoji="1" lang="ko-KR" altLang="en-US" sz="1000" dirty="0">
                <a:latin typeface="Nanum Gothic" panose="020D0604000000000000" pitchFamily="34" charset="-127"/>
                <a:ea typeface="Nanum Gothic" panose="020D0604000000000000" pitchFamily="34" charset="-127"/>
              </a:rPr>
              <a:t> 후 </a:t>
            </a:r>
            <a:r>
              <a:rPr kumimoji="1" lang="ko-KR" altLang="en-US" sz="1000" dirty="0" err="1">
                <a:latin typeface="Nanum Gothic" panose="020D0604000000000000" pitchFamily="34" charset="-127"/>
                <a:ea typeface="Nanum Gothic" panose="020D0604000000000000" pitchFamily="34" charset="-127"/>
              </a:rPr>
              <a:t>상태값</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구매완료로</a:t>
            </a:r>
            <a:r>
              <a:rPr kumimoji="1" lang="ko-KR" altLang="en-US" sz="1000" dirty="0">
                <a:latin typeface="Nanum Gothic" panose="020D0604000000000000" pitchFamily="34" charset="-127"/>
                <a:ea typeface="Nanum Gothic" panose="020D0604000000000000" pitchFamily="34" charset="-127"/>
              </a:rPr>
              <a:t> 변경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단</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 복원 여부는 </a:t>
            </a:r>
            <a:r>
              <a:rPr kumimoji="1" lang="en-US" altLang="ko-KR" sz="1000" dirty="0">
                <a:latin typeface="Nanum Gothic" panose="020D0604000000000000" pitchFamily="34" charset="-127"/>
                <a:ea typeface="Nanum Gothic" panose="020D0604000000000000" pitchFamily="34" charset="-127"/>
              </a:rPr>
              <a:t>YES </a:t>
            </a:r>
            <a:r>
              <a:rPr kumimoji="1" lang="ko-KR" altLang="en-US" sz="1000" dirty="0">
                <a:latin typeface="Nanum Gothic" panose="020D0604000000000000" pitchFamily="34" charset="-127"/>
                <a:ea typeface="Nanum Gothic" panose="020D0604000000000000" pitchFamily="34" charset="-127"/>
              </a:rPr>
              <a:t>로 체크</a:t>
            </a:r>
            <a:r>
              <a:rPr kumimoji="1" lang="en-US" altLang="ko-KR" sz="1000" dirty="0">
                <a:latin typeface="Nanum Gothic" panose="020D0604000000000000" pitchFamily="34" charset="-127"/>
                <a:ea typeface="Nanum Gothic" panose="020D0604000000000000" pitchFamily="34" charset="-127"/>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lang="ko-KR" altLang="en-US" dirty="0"/>
              <a:t>바코드 정책</a:t>
            </a:r>
          </a:p>
        </p:txBody>
      </p:sp>
      <p:sp>
        <p:nvSpPr>
          <p:cNvPr id="54" name="TextBox 53"/>
          <p:cNvSpPr txBox="1"/>
          <p:nvPr/>
        </p:nvSpPr>
        <p:spPr>
          <a:xfrm>
            <a:off x="945330" y="2379020"/>
            <a:ext cx="1008609" cy="276999"/>
          </a:xfrm>
          <a:prstGeom prst="rect">
            <a:avLst/>
          </a:prstGeom>
          <a:noFill/>
        </p:spPr>
        <p:txBody>
          <a:bodyPr wrap="none" rtlCol="0">
            <a:spAutoFit/>
          </a:bodyPr>
          <a:lstStyle/>
          <a:p>
            <a:r>
              <a:rPr lang="ko-KR" altLang="en-US" sz="1200" b="1" dirty="0"/>
              <a:t>바코드 정책</a:t>
            </a:r>
            <a:endParaRPr lang="en-US" altLang="ko-KR" sz="1200" dirty="0"/>
          </a:p>
        </p:txBody>
      </p:sp>
      <p:grpSp>
        <p:nvGrpSpPr>
          <p:cNvPr id="73" name="그룹 72"/>
          <p:cNvGrpSpPr/>
          <p:nvPr/>
        </p:nvGrpSpPr>
        <p:grpSpPr>
          <a:xfrm>
            <a:off x="1496616" y="2636912"/>
            <a:ext cx="6987876" cy="2046364"/>
            <a:chOff x="967782" y="3614884"/>
            <a:chExt cx="6987876" cy="2046364"/>
          </a:xfrm>
        </p:grpSpPr>
        <p:sp>
          <p:nvSpPr>
            <p:cNvPr id="5" name="직사각형 4"/>
            <p:cNvSpPr/>
            <p:nvPr/>
          </p:nvSpPr>
          <p:spPr>
            <a:xfrm>
              <a:off x="2555058" y="4138625"/>
              <a:ext cx="648072" cy="36004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ko-KR" altLang="en-US" sz="1050" b="1" dirty="0">
                  <a:solidFill>
                    <a:schemeClr val="tx1"/>
                  </a:solidFill>
                </a:rPr>
                <a:t>총판</a:t>
              </a:r>
            </a:p>
          </p:txBody>
        </p:sp>
        <p:sp>
          <p:nvSpPr>
            <p:cNvPr id="55" name="직사각형 54"/>
            <p:cNvSpPr/>
            <p:nvPr/>
          </p:nvSpPr>
          <p:spPr>
            <a:xfrm>
              <a:off x="992560" y="4138625"/>
              <a:ext cx="648072" cy="36004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ko-KR" altLang="en-US" sz="1050" b="1">
                  <a:solidFill>
                    <a:schemeClr val="tx1"/>
                  </a:solidFill>
                </a:rPr>
                <a:t>업체</a:t>
              </a:r>
            </a:p>
          </p:txBody>
        </p:sp>
        <p:sp>
          <p:nvSpPr>
            <p:cNvPr id="56" name="직사각형 55"/>
            <p:cNvSpPr/>
            <p:nvPr/>
          </p:nvSpPr>
          <p:spPr>
            <a:xfrm>
              <a:off x="5723410" y="4138625"/>
              <a:ext cx="648072" cy="36004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ko-KR" altLang="en-US" sz="1050" b="1" dirty="0">
                  <a:solidFill>
                    <a:schemeClr val="tx1"/>
                  </a:solidFill>
                </a:rPr>
                <a:t>티브리지</a:t>
              </a:r>
            </a:p>
          </p:txBody>
        </p:sp>
        <p:sp>
          <p:nvSpPr>
            <p:cNvPr id="57" name="직사각형 56"/>
            <p:cNvSpPr/>
            <p:nvPr/>
          </p:nvSpPr>
          <p:spPr>
            <a:xfrm>
              <a:off x="4139234" y="4138625"/>
              <a:ext cx="648072" cy="360040"/>
            </a:xfrm>
            <a:prstGeom prst="rect">
              <a:avLst/>
            </a:prstGeom>
            <a:solidFill>
              <a:schemeClr val="accent2">
                <a:lumMod val="40000"/>
                <a:lumOff val="6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ko-KR" altLang="en-US" sz="1050" b="1" dirty="0">
                  <a:solidFill>
                    <a:schemeClr val="tx1"/>
                  </a:solidFill>
                </a:rPr>
                <a:t>티</a:t>
              </a:r>
              <a:r>
                <a:rPr lang="en-US" altLang="ko-KR" sz="1050" b="1" dirty="0">
                  <a:solidFill>
                    <a:schemeClr val="tx1"/>
                  </a:solidFill>
                </a:rPr>
                <a:t>/</a:t>
              </a:r>
              <a:r>
                <a:rPr lang="ko-KR" altLang="en-US" sz="1050" b="1" dirty="0" err="1">
                  <a:solidFill>
                    <a:schemeClr val="tx1"/>
                  </a:solidFill>
                </a:rPr>
                <a:t>쿠</a:t>
              </a:r>
              <a:r>
                <a:rPr lang="en-US" altLang="ko-KR" sz="1050" b="1" dirty="0">
                  <a:solidFill>
                    <a:schemeClr val="tx1"/>
                  </a:solidFill>
                </a:rPr>
                <a:t>/</a:t>
              </a:r>
              <a:r>
                <a:rPr lang="ko-KR" altLang="en-US" sz="1050" b="1" dirty="0">
                  <a:solidFill>
                    <a:schemeClr val="tx1"/>
                  </a:solidFill>
                </a:rPr>
                <a:t>위</a:t>
              </a:r>
            </a:p>
          </p:txBody>
        </p:sp>
        <p:sp>
          <p:nvSpPr>
            <p:cNvPr id="59" name="직사각형 58"/>
            <p:cNvSpPr/>
            <p:nvPr/>
          </p:nvSpPr>
          <p:spPr>
            <a:xfrm>
              <a:off x="7307586" y="4138625"/>
              <a:ext cx="648072" cy="36004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ko-KR" altLang="en-US" sz="1050" b="1" dirty="0">
                  <a:solidFill>
                    <a:schemeClr val="tx1"/>
                  </a:solidFill>
                </a:rPr>
                <a:t>고객</a:t>
              </a:r>
            </a:p>
          </p:txBody>
        </p:sp>
        <p:sp>
          <p:nvSpPr>
            <p:cNvPr id="7" name="TextBox 6"/>
            <p:cNvSpPr txBox="1"/>
            <p:nvPr/>
          </p:nvSpPr>
          <p:spPr>
            <a:xfrm>
              <a:off x="967782" y="4581128"/>
              <a:ext cx="697627" cy="553998"/>
            </a:xfrm>
            <a:prstGeom prst="rect">
              <a:avLst/>
            </a:prstGeom>
            <a:noFill/>
          </p:spPr>
          <p:txBody>
            <a:bodyPr wrap="none" rtlCol="0">
              <a:spAutoFit/>
            </a:bodyPr>
            <a:lstStyle/>
            <a:p>
              <a:pPr algn="ctr"/>
              <a:r>
                <a:rPr lang="ko-KR" altLang="en-US" sz="1000" dirty="0" err="1"/>
                <a:t>난수생성</a:t>
              </a:r>
              <a:endParaRPr lang="en-US" altLang="ko-KR" sz="1000" dirty="0"/>
            </a:p>
            <a:p>
              <a:pPr algn="ctr"/>
              <a:r>
                <a:rPr lang="ko-KR" altLang="en-US" sz="1000" dirty="0" err="1"/>
                <a:t>핀번호</a:t>
              </a:r>
              <a:endParaRPr lang="en-US" altLang="ko-KR" sz="1000" dirty="0"/>
            </a:p>
            <a:p>
              <a:pPr algn="ctr"/>
              <a:r>
                <a:rPr lang="en-US" altLang="ko-KR" sz="1000" dirty="0"/>
                <a:t>(</a:t>
              </a:r>
              <a:r>
                <a:rPr lang="ko-KR" altLang="en-US" sz="1000" dirty="0"/>
                <a:t>숫자</a:t>
              </a:r>
              <a:r>
                <a:rPr lang="en-US" altLang="ko-KR" sz="1000" dirty="0"/>
                <a:t>)</a:t>
              </a:r>
              <a:endParaRPr lang="ko-KR" altLang="en-US" sz="1000" dirty="0"/>
            </a:p>
          </p:txBody>
        </p:sp>
        <p:sp>
          <p:nvSpPr>
            <p:cNvPr id="60" name="TextBox 59"/>
            <p:cNvSpPr txBox="1"/>
            <p:nvPr/>
          </p:nvSpPr>
          <p:spPr>
            <a:xfrm>
              <a:off x="2594400" y="4581128"/>
              <a:ext cx="569387" cy="400110"/>
            </a:xfrm>
            <a:prstGeom prst="rect">
              <a:avLst/>
            </a:prstGeom>
            <a:noFill/>
          </p:spPr>
          <p:txBody>
            <a:bodyPr wrap="none" rtlCol="0">
              <a:spAutoFit/>
            </a:bodyPr>
            <a:lstStyle/>
            <a:p>
              <a:pPr algn="ctr"/>
              <a:r>
                <a:rPr lang="ko-KR" altLang="en-US" sz="1000" dirty="0" err="1"/>
                <a:t>핀번호</a:t>
              </a:r>
              <a:endParaRPr lang="en-US" altLang="ko-KR" sz="1000" dirty="0"/>
            </a:p>
            <a:p>
              <a:pPr algn="ctr"/>
              <a:r>
                <a:rPr lang="en-US" altLang="ko-KR" sz="1000" dirty="0"/>
                <a:t>(</a:t>
              </a:r>
              <a:r>
                <a:rPr lang="ko-KR" altLang="en-US" sz="1000" dirty="0"/>
                <a:t>숫자</a:t>
              </a:r>
              <a:r>
                <a:rPr lang="en-US" altLang="ko-KR" sz="1000" dirty="0"/>
                <a:t>)</a:t>
              </a:r>
              <a:endParaRPr lang="ko-KR" altLang="en-US" sz="1000" dirty="0"/>
            </a:p>
          </p:txBody>
        </p:sp>
        <p:sp>
          <p:nvSpPr>
            <p:cNvPr id="61" name="TextBox 60"/>
            <p:cNvSpPr txBox="1"/>
            <p:nvPr/>
          </p:nvSpPr>
          <p:spPr>
            <a:xfrm>
              <a:off x="4114456" y="4581128"/>
              <a:ext cx="697627" cy="400110"/>
            </a:xfrm>
            <a:prstGeom prst="rect">
              <a:avLst/>
            </a:prstGeom>
            <a:noFill/>
          </p:spPr>
          <p:txBody>
            <a:bodyPr wrap="none" rtlCol="0">
              <a:spAutoFit/>
            </a:bodyPr>
            <a:lstStyle/>
            <a:p>
              <a:pPr algn="ctr"/>
              <a:r>
                <a:rPr lang="ko-KR" altLang="en-US" sz="1000" dirty="0"/>
                <a:t>티켓번호</a:t>
              </a:r>
              <a:endParaRPr lang="en-US" altLang="ko-KR" sz="1000" dirty="0"/>
            </a:p>
            <a:p>
              <a:pPr algn="ctr"/>
              <a:r>
                <a:rPr lang="en-US" altLang="ko-KR" sz="1000" dirty="0"/>
                <a:t>(</a:t>
              </a:r>
              <a:r>
                <a:rPr lang="ko-KR" altLang="en-US" sz="1000" dirty="0"/>
                <a:t>숫자</a:t>
              </a:r>
              <a:r>
                <a:rPr lang="en-US" altLang="ko-KR" sz="1000" dirty="0"/>
                <a:t>)</a:t>
              </a:r>
              <a:endParaRPr lang="ko-KR" altLang="en-US" sz="1000" dirty="0"/>
            </a:p>
          </p:txBody>
        </p:sp>
        <p:sp>
          <p:nvSpPr>
            <p:cNvPr id="62" name="TextBox 61"/>
            <p:cNvSpPr txBox="1"/>
            <p:nvPr/>
          </p:nvSpPr>
          <p:spPr>
            <a:xfrm>
              <a:off x="5698632" y="4581128"/>
              <a:ext cx="697627" cy="400110"/>
            </a:xfrm>
            <a:prstGeom prst="rect">
              <a:avLst/>
            </a:prstGeom>
            <a:noFill/>
          </p:spPr>
          <p:txBody>
            <a:bodyPr wrap="none" rtlCol="0">
              <a:spAutoFit/>
            </a:bodyPr>
            <a:lstStyle/>
            <a:p>
              <a:pPr algn="ctr"/>
              <a:r>
                <a:rPr lang="ko-KR" altLang="en-US" sz="1000" dirty="0"/>
                <a:t>티켓번호</a:t>
              </a:r>
              <a:endParaRPr lang="en-US" altLang="ko-KR" sz="1000" dirty="0"/>
            </a:p>
            <a:p>
              <a:pPr algn="ctr"/>
              <a:r>
                <a:rPr lang="en-US" altLang="ko-KR" sz="1000" dirty="0"/>
                <a:t>(</a:t>
              </a:r>
              <a:r>
                <a:rPr lang="ko-KR" altLang="en-US" sz="1000" dirty="0"/>
                <a:t>숫자</a:t>
              </a:r>
              <a:r>
                <a:rPr lang="en-US" altLang="ko-KR" sz="1000" dirty="0"/>
                <a:t>)</a:t>
              </a:r>
              <a:endParaRPr lang="ko-KR" altLang="en-US" sz="1000" dirty="0"/>
            </a:p>
          </p:txBody>
        </p:sp>
        <p:sp>
          <p:nvSpPr>
            <p:cNvPr id="63" name="TextBox 62"/>
            <p:cNvSpPr txBox="1"/>
            <p:nvPr/>
          </p:nvSpPr>
          <p:spPr>
            <a:xfrm>
              <a:off x="7318983" y="4581128"/>
              <a:ext cx="619080" cy="553998"/>
            </a:xfrm>
            <a:prstGeom prst="rect">
              <a:avLst/>
            </a:prstGeom>
            <a:noFill/>
          </p:spPr>
          <p:txBody>
            <a:bodyPr wrap="none" rtlCol="0">
              <a:spAutoFit/>
            </a:bodyPr>
            <a:lstStyle/>
            <a:p>
              <a:pPr algn="ctr"/>
              <a:r>
                <a:rPr lang="ko-KR" altLang="en-US" sz="1000" dirty="0"/>
                <a:t>바코드</a:t>
              </a:r>
              <a:endParaRPr lang="en-US" altLang="ko-KR" sz="1000" dirty="0"/>
            </a:p>
            <a:p>
              <a:pPr algn="ctr"/>
              <a:r>
                <a:rPr lang="en-US" altLang="ko-KR" sz="1000" dirty="0"/>
                <a:t>Or</a:t>
              </a:r>
            </a:p>
            <a:p>
              <a:pPr algn="ctr"/>
              <a:r>
                <a:rPr lang="en-US" altLang="ko-KR" sz="1000" dirty="0"/>
                <a:t>QR</a:t>
              </a:r>
              <a:r>
                <a:rPr lang="ko-KR" altLang="en-US" sz="1000" dirty="0"/>
                <a:t>코드</a:t>
              </a:r>
            </a:p>
          </p:txBody>
        </p:sp>
        <p:sp>
          <p:nvSpPr>
            <p:cNvPr id="11" name="오른쪽 화살표 10"/>
            <p:cNvSpPr/>
            <p:nvPr/>
          </p:nvSpPr>
          <p:spPr>
            <a:xfrm>
              <a:off x="1928664" y="4318645"/>
              <a:ext cx="432048" cy="406499"/>
            </a:xfrm>
            <a:prstGeom prst="rightArrow">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
          <p:nvSpPr>
            <p:cNvPr id="64" name="오른쪽 화살표 63"/>
            <p:cNvSpPr/>
            <p:nvPr/>
          </p:nvSpPr>
          <p:spPr>
            <a:xfrm>
              <a:off x="3436818" y="4318645"/>
              <a:ext cx="432048" cy="406499"/>
            </a:xfrm>
            <a:prstGeom prst="rightArrow">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
          <p:nvSpPr>
            <p:cNvPr id="65" name="오른쪽 화살표 64"/>
            <p:cNvSpPr/>
            <p:nvPr/>
          </p:nvSpPr>
          <p:spPr>
            <a:xfrm>
              <a:off x="5080362" y="4318645"/>
              <a:ext cx="432048" cy="406499"/>
            </a:xfrm>
            <a:prstGeom prst="rightArrow">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
          <p:nvSpPr>
            <p:cNvPr id="66" name="오른쪽 화살표 65"/>
            <p:cNvSpPr/>
            <p:nvPr/>
          </p:nvSpPr>
          <p:spPr>
            <a:xfrm>
              <a:off x="6641597" y="4318645"/>
              <a:ext cx="432048" cy="406499"/>
            </a:xfrm>
            <a:prstGeom prst="rightArrow">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
          <p:nvSpPr>
            <p:cNvPr id="12" name="TextBox 11"/>
            <p:cNvSpPr txBox="1"/>
            <p:nvPr/>
          </p:nvSpPr>
          <p:spPr>
            <a:xfrm>
              <a:off x="1931456" y="4725144"/>
              <a:ext cx="364202" cy="307777"/>
            </a:xfrm>
            <a:prstGeom prst="rect">
              <a:avLst/>
            </a:prstGeom>
            <a:noFill/>
          </p:spPr>
          <p:txBody>
            <a:bodyPr wrap="none" rtlCol="0">
              <a:spAutoFit/>
            </a:bodyPr>
            <a:lstStyle/>
            <a:p>
              <a:pPr algn="ctr"/>
              <a:r>
                <a:rPr lang="ko-KR" altLang="en-US" sz="700" dirty="0">
                  <a:solidFill>
                    <a:srgbClr val="FF0000"/>
                  </a:solidFill>
                </a:rPr>
                <a:t>수기</a:t>
              </a:r>
              <a:endParaRPr lang="en-US" altLang="ko-KR" sz="700" dirty="0">
                <a:solidFill>
                  <a:srgbClr val="FF0000"/>
                </a:solidFill>
              </a:endParaRPr>
            </a:p>
            <a:p>
              <a:pPr algn="ctr"/>
              <a:r>
                <a:rPr lang="ko-KR" altLang="en-US" sz="700" dirty="0">
                  <a:solidFill>
                    <a:srgbClr val="FF0000"/>
                  </a:solidFill>
                </a:rPr>
                <a:t>전달</a:t>
              </a:r>
            </a:p>
          </p:txBody>
        </p:sp>
        <p:sp>
          <p:nvSpPr>
            <p:cNvPr id="67" name="TextBox 66"/>
            <p:cNvSpPr txBox="1"/>
            <p:nvPr/>
          </p:nvSpPr>
          <p:spPr>
            <a:xfrm>
              <a:off x="3443503" y="4725144"/>
              <a:ext cx="364202" cy="307777"/>
            </a:xfrm>
            <a:prstGeom prst="rect">
              <a:avLst/>
            </a:prstGeom>
            <a:noFill/>
          </p:spPr>
          <p:txBody>
            <a:bodyPr wrap="none" rtlCol="0">
              <a:spAutoFit/>
            </a:bodyPr>
            <a:lstStyle/>
            <a:p>
              <a:pPr algn="ctr"/>
              <a:r>
                <a:rPr lang="ko-KR" altLang="en-US" sz="700" dirty="0">
                  <a:solidFill>
                    <a:srgbClr val="FF0000"/>
                  </a:solidFill>
                </a:rPr>
                <a:t>수기</a:t>
              </a:r>
              <a:endParaRPr lang="en-US" altLang="ko-KR" sz="700" dirty="0">
                <a:solidFill>
                  <a:srgbClr val="FF0000"/>
                </a:solidFill>
              </a:endParaRPr>
            </a:p>
            <a:p>
              <a:pPr algn="ctr"/>
              <a:r>
                <a:rPr lang="ko-KR" altLang="en-US" sz="700" dirty="0">
                  <a:solidFill>
                    <a:srgbClr val="FF0000"/>
                  </a:solidFill>
                </a:rPr>
                <a:t>전달</a:t>
              </a:r>
            </a:p>
          </p:txBody>
        </p:sp>
        <p:sp>
          <p:nvSpPr>
            <p:cNvPr id="68" name="TextBox 67"/>
            <p:cNvSpPr txBox="1"/>
            <p:nvPr/>
          </p:nvSpPr>
          <p:spPr>
            <a:xfrm>
              <a:off x="5114285" y="4725144"/>
              <a:ext cx="364202" cy="307777"/>
            </a:xfrm>
            <a:prstGeom prst="rect">
              <a:avLst/>
            </a:prstGeom>
            <a:noFill/>
          </p:spPr>
          <p:txBody>
            <a:bodyPr wrap="none" rtlCol="0">
              <a:spAutoFit/>
            </a:bodyPr>
            <a:lstStyle/>
            <a:p>
              <a:pPr algn="ctr"/>
              <a:r>
                <a:rPr lang="ko-KR" altLang="en-US" sz="700" dirty="0">
                  <a:solidFill>
                    <a:srgbClr val="FF0000"/>
                  </a:solidFill>
                </a:rPr>
                <a:t>주문</a:t>
              </a:r>
              <a:endParaRPr lang="en-US" altLang="ko-KR" sz="700" dirty="0">
                <a:solidFill>
                  <a:srgbClr val="FF0000"/>
                </a:solidFill>
              </a:endParaRPr>
            </a:p>
            <a:p>
              <a:pPr algn="ctr"/>
              <a:r>
                <a:rPr lang="ko-KR" altLang="en-US" sz="700" dirty="0">
                  <a:solidFill>
                    <a:srgbClr val="FF0000"/>
                  </a:solidFill>
                </a:rPr>
                <a:t>수집</a:t>
              </a:r>
            </a:p>
          </p:txBody>
        </p:sp>
        <p:sp>
          <p:nvSpPr>
            <p:cNvPr id="69" name="TextBox 68"/>
            <p:cNvSpPr txBox="1"/>
            <p:nvPr/>
          </p:nvSpPr>
          <p:spPr>
            <a:xfrm>
              <a:off x="6601561" y="4725144"/>
              <a:ext cx="453970" cy="307777"/>
            </a:xfrm>
            <a:prstGeom prst="rect">
              <a:avLst/>
            </a:prstGeom>
            <a:noFill/>
          </p:spPr>
          <p:txBody>
            <a:bodyPr wrap="none" rtlCol="0">
              <a:spAutoFit/>
            </a:bodyPr>
            <a:lstStyle/>
            <a:p>
              <a:pPr algn="ctr"/>
              <a:r>
                <a:rPr lang="ko-KR" altLang="en-US" sz="700" dirty="0" err="1">
                  <a:solidFill>
                    <a:srgbClr val="FF0000"/>
                  </a:solidFill>
                </a:rPr>
                <a:t>알림톡</a:t>
              </a:r>
              <a:endParaRPr lang="en-US" altLang="ko-KR" sz="700" dirty="0">
                <a:solidFill>
                  <a:srgbClr val="FF0000"/>
                </a:solidFill>
              </a:endParaRPr>
            </a:p>
            <a:p>
              <a:pPr algn="ctr"/>
              <a:r>
                <a:rPr lang="ko-KR" altLang="en-US" sz="700" dirty="0">
                  <a:solidFill>
                    <a:srgbClr val="FF0000"/>
                  </a:solidFill>
                </a:rPr>
                <a:t>발송</a:t>
              </a:r>
            </a:p>
          </p:txBody>
        </p:sp>
        <p:cxnSp>
          <p:nvCxnSpPr>
            <p:cNvPr id="14" name="꺾인 연결선 13"/>
            <p:cNvCxnSpPr>
              <a:stCxn id="63" idx="2"/>
              <a:endCxn id="7" idx="2"/>
            </p:cNvCxnSpPr>
            <p:nvPr/>
          </p:nvCxnSpPr>
          <p:spPr>
            <a:xfrm rot="5400000">
              <a:off x="4472560" y="1979163"/>
              <a:ext cx="12700" cy="6311927"/>
            </a:xfrm>
            <a:prstGeom prst="bentConnector3">
              <a:avLst>
                <a:gd name="adj1" fmla="val 1800000"/>
              </a:avLst>
            </a:prstGeom>
            <a:ln w="3175">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232920" y="5415027"/>
              <a:ext cx="588623" cy="246221"/>
            </a:xfrm>
            <a:prstGeom prst="rect">
              <a:avLst/>
            </a:prstGeom>
            <a:noFill/>
          </p:spPr>
          <p:txBody>
            <a:bodyPr wrap="none" rtlCol="0">
              <a:spAutoFit/>
            </a:bodyPr>
            <a:lstStyle/>
            <a:p>
              <a:r>
                <a:rPr lang="ko-KR" altLang="en-US" sz="1000" dirty="0"/>
                <a:t>입장</a:t>
              </a:r>
              <a:r>
                <a:rPr lang="en-US" altLang="ko-KR" sz="1000" dirty="0"/>
                <a:t>(1)</a:t>
              </a:r>
              <a:endParaRPr lang="ko-KR" altLang="en-US" sz="1000" dirty="0"/>
            </a:p>
          </p:txBody>
        </p:sp>
        <p:cxnSp>
          <p:nvCxnSpPr>
            <p:cNvPr id="17" name="꺾인 연결선 16"/>
            <p:cNvCxnSpPr>
              <a:stCxn id="55" idx="0"/>
              <a:endCxn id="56" idx="0"/>
            </p:cNvCxnSpPr>
            <p:nvPr/>
          </p:nvCxnSpPr>
          <p:spPr>
            <a:xfrm rot="5400000" flipH="1" flipV="1">
              <a:off x="3682021" y="1773200"/>
              <a:ext cx="12700" cy="4730850"/>
            </a:xfrm>
            <a:prstGeom prst="bentConnector3">
              <a:avLst>
                <a:gd name="adj1" fmla="val 1800000"/>
              </a:avLst>
            </a:prstGeom>
            <a:ln w="3175">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847925" y="3614884"/>
              <a:ext cx="1973617" cy="246221"/>
            </a:xfrm>
            <a:prstGeom prst="rect">
              <a:avLst/>
            </a:prstGeom>
            <a:noFill/>
          </p:spPr>
          <p:txBody>
            <a:bodyPr wrap="none" rtlCol="0">
              <a:spAutoFit/>
            </a:bodyPr>
            <a:lstStyle/>
            <a:p>
              <a:r>
                <a:rPr lang="ko-KR" altLang="en-US" sz="1000" dirty="0" err="1"/>
                <a:t>입장알림</a:t>
              </a:r>
              <a:r>
                <a:rPr lang="en-US" altLang="ko-KR" sz="1000" dirty="0"/>
                <a:t>/</a:t>
              </a:r>
              <a:r>
                <a:rPr lang="ko-KR" altLang="en-US" sz="1000" dirty="0"/>
                <a:t>사용처리</a:t>
              </a:r>
              <a:r>
                <a:rPr lang="en-US" altLang="ko-KR" sz="1000" dirty="0"/>
                <a:t>/</a:t>
              </a:r>
              <a:r>
                <a:rPr lang="ko-KR" altLang="en-US" sz="1000" dirty="0"/>
                <a:t>연동기반</a:t>
              </a:r>
              <a:r>
                <a:rPr lang="en-US" altLang="ko-KR" sz="1000" dirty="0"/>
                <a:t>(2)</a:t>
              </a:r>
              <a:endParaRPr lang="ko-KR" altLang="en-US" sz="1000" dirty="0"/>
            </a:p>
          </p:txBody>
        </p:sp>
        <p:cxnSp>
          <p:nvCxnSpPr>
            <p:cNvPr id="71" name="직선 화살표 연결선 70"/>
            <p:cNvCxnSpPr/>
            <p:nvPr/>
          </p:nvCxnSpPr>
          <p:spPr>
            <a:xfrm flipH="1">
              <a:off x="4787306" y="4221088"/>
              <a:ext cx="936104" cy="0"/>
            </a:xfrm>
            <a:prstGeom prst="straightConnector1">
              <a:avLst/>
            </a:prstGeom>
            <a:ln w="3175">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4920283" y="4009163"/>
              <a:ext cx="845103" cy="246221"/>
            </a:xfrm>
            <a:prstGeom prst="rect">
              <a:avLst/>
            </a:prstGeom>
            <a:noFill/>
          </p:spPr>
          <p:txBody>
            <a:bodyPr wrap="none" rtlCol="0">
              <a:spAutoFit/>
            </a:bodyPr>
            <a:lstStyle/>
            <a:p>
              <a:r>
                <a:rPr lang="ko-KR" altLang="en-US" sz="1000" dirty="0"/>
                <a:t>사용처리</a:t>
              </a:r>
              <a:r>
                <a:rPr lang="en-US" altLang="ko-KR" sz="1000" dirty="0"/>
                <a:t>(3)</a:t>
              </a:r>
              <a:endParaRPr lang="ko-KR" altLang="en-US" sz="1000" dirty="0"/>
            </a:p>
          </p:txBody>
        </p:sp>
      </p:grpSp>
      <p:sp>
        <p:nvSpPr>
          <p:cNvPr id="3" name="직사각형 2"/>
          <p:cNvSpPr/>
          <p:nvPr/>
        </p:nvSpPr>
        <p:spPr>
          <a:xfrm>
            <a:off x="7329264" y="332656"/>
            <a:ext cx="1800200" cy="504056"/>
          </a:xfrm>
          <a:prstGeom prst="rect">
            <a:avLst/>
          </a:prstGeom>
          <a:solidFill>
            <a:schemeClr val="tx2">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ko-KR" altLang="en-US" i="1" dirty="0" err="1">
                <a:solidFill>
                  <a:schemeClr val="bg1"/>
                </a:solidFill>
                <a:latin typeface="Nanum Gothic" panose="020D0604000000000000" pitchFamily="34" charset="-127"/>
                <a:ea typeface="Nanum Gothic" panose="020D0604000000000000" pitchFamily="34" charset="-127"/>
              </a:rPr>
              <a:t>정리필요</a:t>
            </a:r>
            <a:endParaRPr kumimoji="1" lang="ko-KR" altLang="en-US" i="1" dirty="0">
              <a:solidFill>
                <a:schemeClr val="bg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주문관리</a:t>
            </a: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41" name="직사각형 40"/>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a:solidFill>
                  <a:schemeClr val="tx1"/>
                </a:solidFill>
                <a:latin typeface="Nanum Gothic" panose="020D0604000000000000" pitchFamily="34" charset="-127"/>
                <a:ea typeface="Nanum Gothic" panose="020D0604000000000000" pitchFamily="34" charset="-127"/>
              </a:rPr>
              <a:t>정산관리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graphicFrame>
        <p:nvGraphicFramePr>
          <p:cNvPr id="44" name="표 43"/>
          <p:cNvGraphicFramePr>
            <a:graphicFrameLocks noGrp="1"/>
          </p:cNvGraphicFramePr>
          <p:nvPr/>
        </p:nvGraphicFramePr>
        <p:xfrm>
          <a:off x="1280592" y="1634820"/>
          <a:ext cx="6048672" cy="1432635"/>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1879833">
                  <a:extLst>
                    <a:ext uri="{9D8B030D-6E8A-4147-A177-3AD203B41FA5}">
                      <a16:colId xmlns:a16="http://schemas.microsoft.com/office/drawing/2014/main" val="20003"/>
                    </a:ext>
                  </a:extLst>
                </a:gridCol>
                <a:gridCol w="640447">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구매일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892175"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rowSpan="5">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판매채널</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err="1">
                          <a:latin typeface="Nanum Gothic" panose="020D0604000000000000" pitchFamily="34" charset="-127"/>
                          <a:ea typeface="Nanum Gothic" panose="020D0604000000000000" pitchFamily="34" charset="-127"/>
                        </a:rPr>
                        <a:t>티켓복원</a:t>
                      </a:r>
                      <a:endParaRPr lang="ko-KR" altLang="en-US" sz="800" b="1" dirty="0">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r>
                        <a:rPr lang="ko-KR" altLang="en-US" sz="800" b="0" dirty="0">
                          <a:solidFill>
                            <a:schemeClr val="tx1"/>
                          </a:solidFill>
                          <a:latin typeface="Nanum Gothic" panose="020D0604000000000000" pitchFamily="34" charset="-127"/>
                          <a:ea typeface="Nanum Gothic" panose="020D0604000000000000" pitchFamily="34" charset="-127"/>
                        </a:rPr>
                        <a:t>◻︎ 복원된 티켓만 보기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0002"/>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티켓상태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r>
                        <a:rPr lang="ko-KR" altLang="en-US" sz="800" b="0" dirty="0">
                          <a:solidFill>
                            <a:schemeClr val="tx1"/>
                          </a:solidFill>
                          <a:latin typeface="Nanum Gothic" panose="020D0604000000000000" pitchFamily="34" charset="-127"/>
                          <a:ea typeface="Nanum Gothic" panose="020D0604000000000000" pitchFamily="34" charset="-127"/>
                        </a:rPr>
                        <a:t>◻︎</a:t>
                      </a:r>
                      <a:r>
                        <a:rPr lang="ko-KR" altLang="en-US" sz="800" b="0" dirty="0" err="1">
                          <a:solidFill>
                            <a:schemeClr val="tx1"/>
                          </a:solidFill>
                          <a:latin typeface="Nanum Gothic" panose="020D0604000000000000" pitchFamily="34" charset="-127"/>
                          <a:ea typeface="Nanum Gothic" panose="020D0604000000000000" pitchFamily="34" charset="-127"/>
                        </a:rPr>
                        <a:t>구매완료</a:t>
                      </a:r>
                      <a:r>
                        <a:rPr lang="ko-KR" altLang="en-US" sz="800" b="0" dirty="0">
                          <a:solidFill>
                            <a:schemeClr val="tx1"/>
                          </a:solidFill>
                          <a:latin typeface="Nanum Gothic" panose="020D0604000000000000" pitchFamily="34" charset="-127"/>
                          <a:ea typeface="Nanum Gothic" panose="020D0604000000000000" pitchFamily="34" charset="-127"/>
                        </a:rPr>
                        <a:t>      ◻︎</a:t>
                      </a:r>
                      <a:r>
                        <a:rPr lang="ko-KR" altLang="en-US" sz="800" b="0" u="none" dirty="0" err="1">
                          <a:solidFill>
                            <a:schemeClr val="tx1">
                              <a:lumMod val="75000"/>
                              <a:lumOff val="25000"/>
                            </a:schemeClr>
                          </a:solidFill>
                          <a:latin typeface="Nanum Gothic" panose="020D0604000000000000" pitchFamily="34" charset="-127"/>
                          <a:ea typeface="Nanum Gothic" panose="020D0604000000000000" pitchFamily="34" charset="-127"/>
                        </a:rPr>
                        <a:t>사용완료</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r>
                        <a:rPr lang="ko-KR" altLang="en-US" sz="800" b="0" dirty="0">
                          <a:solidFill>
                            <a:schemeClr val="tx1"/>
                          </a:solidFill>
                          <a:latin typeface="Nanum Gothic" panose="020D0604000000000000" pitchFamily="34" charset="-127"/>
                          <a:ea typeface="Nanum Gothic" panose="020D0604000000000000" pitchFamily="34" charset="-127"/>
                        </a:rPr>
                        <a:t>◻︎</a:t>
                      </a:r>
                      <a:r>
                        <a:rPr lang="ko-KR" altLang="en-US" sz="800" b="0" dirty="0" err="1">
                          <a:solidFill>
                            <a:schemeClr val="tx1"/>
                          </a:solidFill>
                          <a:latin typeface="Nanum Gothic" panose="020D0604000000000000" pitchFamily="34" charset="-127"/>
                          <a:ea typeface="Nanum Gothic" panose="020D0604000000000000" pitchFamily="34" charset="-127"/>
                        </a:rPr>
                        <a:t>환불완료</a:t>
                      </a:r>
                      <a:r>
                        <a:rPr lang="ko-KR" altLang="en-US" sz="800" b="0" dirty="0">
                          <a:solidFill>
                            <a:schemeClr val="tx1"/>
                          </a:solidFill>
                          <a:latin typeface="Nanum Gothic" panose="020D0604000000000000" pitchFamily="34" charset="-127"/>
                          <a:ea typeface="Nanum Gothic" panose="020D0604000000000000" pitchFamily="34" charset="-127"/>
                        </a:rPr>
                        <a:t>      ◻︎유효기간지남</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45" name="직사각형 44"/>
          <p:cNvSpPr/>
          <p:nvPr/>
        </p:nvSpPr>
        <p:spPr>
          <a:xfrm>
            <a:off x="2058755" y="194612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46" name="직사각형 45"/>
          <p:cNvSpPr/>
          <p:nvPr/>
        </p:nvSpPr>
        <p:spPr>
          <a:xfrm>
            <a:off x="2069170" y="2248016"/>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쿠팡</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지마켓</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티몬</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75" name="직사각형 74"/>
          <p:cNvSpPr/>
          <p:nvPr/>
        </p:nvSpPr>
        <p:spPr>
          <a:xfrm>
            <a:off x="6749307" y="2063858"/>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76" name="직사각형 75"/>
          <p:cNvSpPr/>
          <p:nvPr/>
        </p:nvSpPr>
        <p:spPr>
          <a:xfrm>
            <a:off x="6747628" y="2483176"/>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pic>
        <p:nvPicPr>
          <p:cNvPr id="86" name="그림 85"/>
          <p:cNvPicPr>
            <a:picLocks noChangeAspect="1"/>
          </p:cNvPicPr>
          <p:nvPr/>
        </p:nvPicPr>
        <p:blipFill>
          <a:blip r:embed="rId2" cstate="print"/>
          <a:stretch>
            <a:fillRect/>
          </a:stretch>
        </p:blipFill>
        <p:spPr>
          <a:xfrm>
            <a:off x="2823975" y="6365826"/>
            <a:ext cx="3000375" cy="301408"/>
          </a:xfrm>
          <a:prstGeom prst="rect">
            <a:avLst/>
          </a:prstGeom>
        </p:spPr>
      </p:pic>
      <p:sp>
        <p:nvSpPr>
          <p:cNvPr id="104" name="직사각형 103"/>
          <p:cNvSpPr/>
          <p:nvPr/>
        </p:nvSpPr>
        <p:spPr>
          <a:xfrm>
            <a:off x="2990949" y="2837517"/>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05" name="직사각형 104"/>
          <p:cNvSpPr/>
          <p:nvPr/>
        </p:nvSpPr>
        <p:spPr>
          <a:xfrm>
            <a:off x="2051503" y="2837517"/>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상품명          ▽</a:t>
            </a:r>
          </a:p>
        </p:txBody>
      </p:sp>
      <p:sp>
        <p:nvSpPr>
          <p:cNvPr id="106" name="TextBox 105"/>
          <p:cNvSpPr txBox="1"/>
          <p:nvPr/>
        </p:nvSpPr>
        <p:spPr>
          <a:xfrm>
            <a:off x="1191375" y="1085116"/>
            <a:ext cx="761747"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주문관리</a:t>
            </a:r>
          </a:p>
        </p:txBody>
      </p:sp>
      <p:graphicFrame>
        <p:nvGraphicFramePr>
          <p:cNvPr id="110" name="표 109"/>
          <p:cNvGraphicFramePr>
            <a:graphicFrameLocks noGrp="1"/>
          </p:cNvGraphicFramePr>
          <p:nvPr/>
        </p:nvGraphicFramePr>
        <p:xfrm>
          <a:off x="1287844" y="3559514"/>
          <a:ext cx="8201660" cy="1933225"/>
        </p:xfrm>
        <a:graphic>
          <a:graphicData uri="http://schemas.openxmlformats.org/drawingml/2006/table">
            <a:tbl>
              <a:tblPr/>
              <a:tblGrid>
                <a:gridCol w="203557">
                  <a:extLst>
                    <a:ext uri="{9D8B030D-6E8A-4147-A177-3AD203B41FA5}">
                      <a16:colId xmlns:a16="http://schemas.microsoft.com/office/drawing/2014/main" val="20000"/>
                    </a:ext>
                  </a:extLst>
                </a:gridCol>
                <a:gridCol w="576729">
                  <a:extLst>
                    <a:ext uri="{9D8B030D-6E8A-4147-A177-3AD203B41FA5}">
                      <a16:colId xmlns:a16="http://schemas.microsoft.com/office/drawing/2014/main" val="20001"/>
                    </a:ext>
                  </a:extLst>
                </a:gridCol>
                <a:gridCol w="572725">
                  <a:extLst>
                    <a:ext uri="{9D8B030D-6E8A-4147-A177-3AD203B41FA5}">
                      <a16:colId xmlns:a16="http://schemas.microsoft.com/office/drawing/2014/main" val="20002"/>
                    </a:ext>
                  </a:extLst>
                </a:gridCol>
                <a:gridCol w="429544">
                  <a:extLst>
                    <a:ext uri="{9D8B030D-6E8A-4147-A177-3AD203B41FA5}">
                      <a16:colId xmlns:a16="http://schemas.microsoft.com/office/drawing/2014/main" val="20003"/>
                    </a:ext>
                  </a:extLst>
                </a:gridCol>
                <a:gridCol w="357953">
                  <a:extLst>
                    <a:ext uri="{9D8B030D-6E8A-4147-A177-3AD203B41FA5}">
                      <a16:colId xmlns:a16="http://schemas.microsoft.com/office/drawing/2014/main" val="20004"/>
                    </a:ext>
                  </a:extLst>
                </a:gridCol>
                <a:gridCol w="572725">
                  <a:extLst>
                    <a:ext uri="{9D8B030D-6E8A-4147-A177-3AD203B41FA5}">
                      <a16:colId xmlns:a16="http://schemas.microsoft.com/office/drawing/2014/main" val="20005"/>
                    </a:ext>
                  </a:extLst>
                </a:gridCol>
                <a:gridCol w="572725">
                  <a:extLst>
                    <a:ext uri="{9D8B030D-6E8A-4147-A177-3AD203B41FA5}">
                      <a16:colId xmlns:a16="http://schemas.microsoft.com/office/drawing/2014/main" val="20006"/>
                    </a:ext>
                  </a:extLst>
                </a:gridCol>
                <a:gridCol w="644316">
                  <a:extLst>
                    <a:ext uri="{9D8B030D-6E8A-4147-A177-3AD203B41FA5}">
                      <a16:colId xmlns:a16="http://schemas.microsoft.com/office/drawing/2014/main" val="20007"/>
                    </a:ext>
                  </a:extLst>
                </a:gridCol>
                <a:gridCol w="429544">
                  <a:extLst>
                    <a:ext uri="{9D8B030D-6E8A-4147-A177-3AD203B41FA5}">
                      <a16:colId xmlns:a16="http://schemas.microsoft.com/office/drawing/2014/main" val="20008"/>
                    </a:ext>
                  </a:extLst>
                </a:gridCol>
                <a:gridCol w="519424">
                  <a:extLst>
                    <a:ext uri="{9D8B030D-6E8A-4147-A177-3AD203B41FA5}">
                      <a16:colId xmlns:a16="http://schemas.microsoft.com/office/drawing/2014/main" val="20009"/>
                    </a:ext>
                  </a:extLst>
                </a:gridCol>
                <a:gridCol w="688655">
                  <a:extLst>
                    <a:ext uri="{9D8B030D-6E8A-4147-A177-3AD203B41FA5}">
                      <a16:colId xmlns:a16="http://schemas.microsoft.com/office/drawing/2014/main" val="20010"/>
                    </a:ext>
                  </a:extLst>
                </a:gridCol>
                <a:gridCol w="774737">
                  <a:extLst>
                    <a:ext uri="{9D8B030D-6E8A-4147-A177-3AD203B41FA5}">
                      <a16:colId xmlns:a16="http://schemas.microsoft.com/office/drawing/2014/main" val="20011"/>
                    </a:ext>
                  </a:extLst>
                </a:gridCol>
                <a:gridCol w="344328">
                  <a:extLst>
                    <a:ext uri="{9D8B030D-6E8A-4147-A177-3AD203B41FA5}">
                      <a16:colId xmlns:a16="http://schemas.microsoft.com/office/drawing/2014/main" val="20012"/>
                    </a:ext>
                  </a:extLst>
                </a:gridCol>
                <a:gridCol w="476479">
                  <a:extLst>
                    <a:ext uri="{9D8B030D-6E8A-4147-A177-3AD203B41FA5}">
                      <a16:colId xmlns:a16="http://schemas.microsoft.com/office/drawing/2014/main" val="20013"/>
                    </a:ext>
                  </a:extLst>
                </a:gridCol>
                <a:gridCol w="610481">
                  <a:extLst>
                    <a:ext uri="{9D8B030D-6E8A-4147-A177-3AD203B41FA5}">
                      <a16:colId xmlns:a16="http://schemas.microsoft.com/office/drawing/2014/main" val="20014"/>
                    </a:ext>
                  </a:extLst>
                </a:gridCol>
                <a:gridCol w="427738">
                  <a:extLst>
                    <a:ext uri="{9D8B030D-6E8A-4147-A177-3AD203B41FA5}">
                      <a16:colId xmlns:a16="http://schemas.microsoft.com/office/drawing/2014/main" val="20015"/>
                    </a:ext>
                  </a:extLst>
                </a:gridCol>
              </a:tblGrid>
              <a:tr h="165962">
                <a:tc>
                  <a:txBody>
                    <a:bodyPr/>
                    <a:lstStyle/>
                    <a:p>
                      <a:pPr marL="0" marR="0" indent="0" algn="ctr" defTabSz="914400" rtl="0" eaLnBrk="1" fontAlgn="ctr" latinLnBrk="1" hangingPunct="1">
                        <a:lnSpc>
                          <a:spcPct val="100000"/>
                        </a:lnSpc>
                        <a:spcBef>
                          <a:spcPts val="0"/>
                        </a:spcBef>
                        <a:spcAft>
                          <a:spcPts val="0"/>
                        </a:spcAft>
                        <a:buClrTx/>
                        <a:buSzTx/>
                        <a:buFontTx/>
                        <a:buNone/>
                        <a:defRPr/>
                      </a:pP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티켓상태</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복원여부</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채널명</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티브리지</a:t>
                      </a:r>
                      <a:endParaRPr lang="en-US" altLang="ko-KR" sz="700" b="1" i="0" u="none" strike="noStrike" dirty="0">
                        <a:solidFill>
                          <a:schemeClr val="bg1"/>
                        </a:solidFill>
                        <a:effectLst/>
                        <a:latin typeface="Nanum Gothic" panose="020D0604000000000000" pitchFamily="34" charset="-127"/>
                        <a:ea typeface="Nanum Gothic" panose="020D0604000000000000" pitchFamily="34" charset="-127"/>
                      </a:endParaRPr>
                    </a:p>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티켓번호</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00000"/>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채널사</a:t>
                      </a:r>
                      <a:endParaRPr lang="en-US" altLang="ko-KR" sz="700" b="1" i="0" u="none" strike="noStrike" dirty="0">
                        <a:solidFill>
                          <a:schemeClr val="bg1"/>
                        </a:solidFill>
                        <a:effectLst/>
                        <a:latin typeface="Nanum Gothic" panose="020D0604000000000000" pitchFamily="34" charset="-127"/>
                        <a:ea typeface="Nanum Gothic" panose="020D0604000000000000" pitchFamily="34" charset="-127"/>
                      </a:endParaRPr>
                    </a:p>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티켓번호</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구매일시</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채널</a:t>
                      </a:r>
                      <a:endParaRPr lang="en-US" altLang="ko-KR" sz="700" b="1" i="0" u="none" strike="noStrike" dirty="0">
                        <a:solidFill>
                          <a:schemeClr val="bg1"/>
                        </a:solidFill>
                        <a:effectLst/>
                        <a:latin typeface="Nanum Gothic" panose="020D0604000000000000" pitchFamily="34" charset="-127"/>
                        <a:ea typeface="Nanum Gothic" panose="020D0604000000000000" pitchFamily="34" charset="-127"/>
                      </a:endParaRPr>
                    </a:p>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주문번호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상품번호</a:t>
                      </a:r>
                      <a:r>
                        <a:rPr lang="en-US" altLang="ko-KR" sz="700" b="1" i="0" u="none" strike="noStrike" dirty="0">
                          <a:solidFill>
                            <a:schemeClr val="bg1"/>
                          </a:solidFill>
                          <a:effectLst/>
                          <a:latin typeface="Nanum Gothic" panose="020D0604000000000000" pitchFamily="34" charset="-127"/>
                          <a:ea typeface="Nanum Gothic" panose="020D0604000000000000" pitchFamily="34" charset="-127"/>
                        </a:rPr>
                        <a:t>/</a:t>
                      </a:r>
                    </a:p>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채널딜번호</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옵션번호</a:t>
                      </a:r>
                      <a:r>
                        <a:rPr lang="en-US" altLang="ko-KR" sz="700" b="1" i="0" u="none" strike="noStrike" dirty="0">
                          <a:solidFill>
                            <a:schemeClr val="bg1"/>
                          </a:solidFill>
                          <a:effectLst/>
                          <a:latin typeface="Nanum Gothic" panose="020D0604000000000000" pitchFamily="34" charset="-127"/>
                          <a:ea typeface="Nanum Gothic" panose="020D0604000000000000" pitchFamily="34" charset="-127"/>
                        </a:rPr>
                        <a:t>/</a:t>
                      </a:r>
                    </a:p>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채널옵션번호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상품명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옵션명</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구매자명</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연락처</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구매가격</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188241">
                <a:tc>
                  <a:txBody>
                    <a:bodyPr/>
                    <a:lstStyle/>
                    <a:p>
                      <a:pPr algn="ctr" fontAlgn="ctr"/>
                      <a:r>
                        <a:rPr lang="ko-KR" altLang="en-US" sz="700" b="0"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T1111-11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당일권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sng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T2222-22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P0909_222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T_2222</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T3333-33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당일권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8241">
                <a:tc>
                  <a:txBody>
                    <a:bodyPr/>
                    <a:lstStyle/>
                    <a:p>
                      <a:pPr algn="ctr" fontAlgn="ctr"/>
                      <a:r>
                        <a:rPr lang="ko-KR" altLang="en-US" sz="700" b="0"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T4444-44</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T_2222</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사용완료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쿠팡</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T5555-55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P0222_333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TM_001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2221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T_3333</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(cp_T_2211)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롯데월드</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환불완료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티몬</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T5555-55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P0222_333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TM_001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2221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T_3333</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(cp_T_2211)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롯데월드</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유효기간 지남</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티몬</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T6666-66</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P0222_333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TM_001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2221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T_3333</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(cp_T_2211)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롯데월드</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0007"/>
                  </a:ext>
                </a:extLst>
              </a:tr>
              <a:tr h="188241">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12" name="TextBox 111"/>
          <p:cNvSpPr txBox="1"/>
          <p:nvPr/>
        </p:nvSpPr>
        <p:spPr>
          <a:xfrm>
            <a:off x="1199203" y="3255818"/>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113" name="직사각형 112"/>
          <p:cNvSpPr/>
          <p:nvPr/>
        </p:nvSpPr>
        <p:spPr>
          <a:xfrm>
            <a:off x="6027068" y="3265312"/>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사용처리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14" name="직사각형 113"/>
          <p:cNvSpPr/>
          <p:nvPr/>
        </p:nvSpPr>
        <p:spPr>
          <a:xfrm>
            <a:off x="6675459" y="3265312"/>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복원처리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17" name="직사각형 116"/>
          <p:cNvSpPr/>
          <p:nvPr/>
        </p:nvSpPr>
        <p:spPr>
          <a:xfrm>
            <a:off x="2251108" y="3263975"/>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18" name="직사각형 117"/>
          <p:cNvSpPr/>
          <p:nvPr/>
        </p:nvSpPr>
        <p:spPr>
          <a:xfrm>
            <a:off x="1651210" y="3260209"/>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119" name="TextBox 118"/>
          <p:cNvSpPr txBox="1"/>
          <p:nvPr/>
        </p:nvSpPr>
        <p:spPr>
          <a:xfrm>
            <a:off x="1191375" y="1313869"/>
            <a:ext cx="3562194" cy="215444"/>
          </a:xfrm>
          <a:prstGeom prst="rect">
            <a:avLst/>
          </a:prstGeom>
          <a:noFill/>
        </p:spPr>
        <p:txBody>
          <a:bodyPr wrap="none" rtlCol="0">
            <a:spAutoFit/>
          </a:bodyPr>
          <a:lstStyle/>
          <a:p>
            <a:r>
              <a:rPr lang="en-US" altLang="ko-KR" sz="800" dirty="0">
                <a:latin typeface="Nanum Gothic" panose="020D0604000000000000" pitchFamily="34" charset="-127"/>
                <a:ea typeface="Nanum Gothic" panose="020D0604000000000000" pitchFamily="34" charset="-127"/>
              </a:rPr>
              <a:t>12</a:t>
            </a:r>
            <a:r>
              <a:rPr lang="ko-KR" altLang="en-US" sz="800" dirty="0">
                <a:latin typeface="Nanum Gothic" panose="020D0604000000000000" pitchFamily="34" charset="-127"/>
                <a:ea typeface="Nanum Gothic" panose="020D0604000000000000" pitchFamily="34" charset="-127"/>
              </a:rPr>
              <a:t>월</a:t>
            </a:r>
            <a:r>
              <a:rPr lang="en-US" altLang="ko-KR" sz="800" dirty="0">
                <a:latin typeface="Nanum Gothic" panose="020D0604000000000000" pitchFamily="34" charset="-127"/>
                <a:ea typeface="Nanum Gothic" panose="020D0604000000000000" pitchFamily="34" charset="-127"/>
              </a:rPr>
              <a:t>21</a:t>
            </a:r>
            <a:r>
              <a:rPr lang="ko-KR" altLang="en-US" sz="800" dirty="0">
                <a:latin typeface="Nanum Gothic" panose="020D0604000000000000" pitchFamily="34" charset="-127"/>
                <a:ea typeface="Nanum Gothic" panose="020D0604000000000000" pitchFamily="34" charset="-127"/>
              </a:rPr>
              <a:t>일 </a:t>
            </a:r>
            <a:r>
              <a:rPr lang="en-US" altLang="ko-KR" sz="800" dirty="0">
                <a:latin typeface="Nanum Gothic" panose="020D0604000000000000" pitchFamily="34" charset="-127"/>
                <a:ea typeface="Nanum Gothic" panose="020D0604000000000000" pitchFamily="34" charset="-127"/>
              </a:rPr>
              <a:t>09</a:t>
            </a:r>
            <a:r>
              <a:rPr lang="ko-KR" altLang="en-US" sz="800" dirty="0">
                <a:latin typeface="Nanum Gothic" panose="020D0604000000000000" pitchFamily="34" charset="-127"/>
                <a:ea typeface="Nanum Gothic" panose="020D0604000000000000" pitchFamily="34" charset="-127"/>
              </a:rPr>
              <a:t>시</a:t>
            </a:r>
            <a:r>
              <a:rPr lang="en-US" altLang="ko-KR" sz="800" dirty="0">
                <a:latin typeface="Nanum Gothic" panose="020D0604000000000000" pitchFamily="34" charset="-127"/>
                <a:ea typeface="Nanum Gothic" panose="020D0604000000000000" pitchFamily="34" charset="-127"/>
              </a:rPr>
              <a:t>00</a:t>
            </a:r>
            <a:r>
              <a:rPr lang="ko-KR" altLang="en-US" sz="800" dirty="0">
                <a:latin typeface="Nanum Gothic" panose="020D0604000000000000" pitchFamily="34" charset="-127"/>
                <a:ea typeface="Nanum Gothic" panose="020D0604000000000000" pitchFamily="34" charset="-127"/>
              </a:rPr>
              <a:t>분 기준으로 수집된 </a:t>
            </a:r>
            <a:r>
              <a:rPr lang="ko-KR" altLang="en-US" sz="800" dirty="0" err="1">
                <a:latin typeface="Nanum Gothic" panose="020D0604000000000000" pitchFamily="34" charset="-127"/>
                <a:ea typeface="Nanum Gothic" panose="020D0604000000000000" pitchFamily="34" charset="-127"/>
              </a:rPr>
              <a:t>상품목록입니다</a:t>
            </a:r>
            <a:r>
              <a:rPr lang="en-US" altLang="ko-KR" sz="800" dirty="0">
                <a:latin typeface="Nanum Gothic" panose="020D0604000000000000" pitchFamily="34" charset="-127"/>
                <a:ea typeface="Nanum Gothic" panose="020D0604000000000000" pitchFamily="34" charset="-127"/>
              </a:rPr>
              <a:t>.(5</a:t>
            </a:r>
            <a:r>
              <a:rPr lang="ko-KR" altLang="en-US" sz="800" dirty="0">
                <a:latin typeface="Nanum Gothic" panose="020D0604000000000000" pitchFamily="34" charset="-127"/>
                <a:ea typeface="Nanum Gothic" panose="020D0604000000000000" pitchFamily="34" charset="-127"/>
              </a:rPr>
              <a:t>분 단위 업데이트</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120" name="직사각형 119"/>
          <p:cNvSpPr/>
          <p:nvPr/>
        </p:nvSpPr>
        <p:spPr>
          <a:xfrm>
            <a:off x="4615071"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강제업데이트</a:t>
            </a:r>
          </a:p>
        </p:txBody>
      </p:sp>
      <p:sp>
        <p:nvSpPr>
          <p:cNvPr id="56" name="직사각형 55"/>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9" name="직사각형 68"/>
          <p:cNvSpPr/>
          <p:nvPr/>
        </p:nvSpPr>
        <p:spPr>
          <a:xfrm>
            <a:off x="128461" y="36152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0" name="직사각형 69"/>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a:t>
            </a:r>
          </a:p>
        </p:txBody>
      </p:sp>
      <p:sp>
        <p:nvSpPr>
          <p:cNvPr id="71" name="직사각형 70"/>
          <p:cNvSpPr/>
          <p:nvPr/>
        </p:nvSpPr>
        <p:spPr>
          <a:xfrm>
            <a:off x="128457" y="328285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7" name="직사각형 66"/>
          <p:cNvSpPr/>
          <p:nvPr/>
        </p:nvSpPr>
        <p:spPr>
          <a:xfrm>
            <a:off x="1554647" y="3807880"/>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4" name="직사각형 73"/>
          <p:cNvSpPr/>
          <p:nvPr/>
        </p:nvSpPr>
        <p:spPr>
          <a:xfrm>
            <a:off x="1551084" y="4040897"/>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551084" y="4260343"/>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8" name="직사각형 77"/>
          <p:cNvSpPr/>
          <p:nvPr/>
        </p:nvSpPr>
        <p:spPr>
          <a:xfrm>
            <a:off x="1551084" y="4471801"/>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9" name="직사각형 78"/>
          <p:cNvSpPr/>
          <p:nvPr/>
        </p:nvSpPr>
        <p:spPr>
          <a:xfrm>
            <a:off x="1550492" y="4702199"/>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복원처리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83" name="직사각형 82"/>
          <p:cNvSpPr/>
          <p:nvPr/>
        </p:nvSpPr>
        <p:spPr>
          <a:xfrm>
            <a:off x="2051503"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84"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0469"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85" name="직사각형 84"/>
          <p:cNvSpPr/>
          <p:nvPr/>
        </p:nvSpPr>
        <p:spPr>
          <a:xfrm>
            <a:off x="3057124"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93"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6071" y="1684685"/>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57" name="직사각형 56"/>
          <p:cNvSpPr/>
          <p:nvPr/>
        </p:nvSpPr>
        <p:spPr>
          <a:xfrm>
            <a:off x="3971390"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58" name="직사각형 57"/>
          <p:cNvSpPr/>
          <p:nvPr/>
        </p:nvSpPr>
        <p:spPr>
          <a:xfrm>
            <a:off x="4432145"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59" name="직사각형 58"/>
          <p:cNvSpPr/>
          <p:nvPr/>
        </p:nvSpPr>
        <p:spPr>
          <a:xfrm>
            <a:off x="4894612"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3</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61" name="직사각형 60"/>
          <p:cNvSpPr/>
          <p:nvPr/>
        </p:nvSpPr>
        <p:spPr>
          <a:xfrm>
            <a:off x="8584151" y="2261755"/>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상품명          ▽</a:t>
            </a:r>
          </a:p>
        </p:txBody>
      </p:sp>
      <p:sp>
        <p:nvSpPr>
          <p:cNvPr id="62" name="직사각형 61"/>
          <p:cNvSpPr/>
          <p:nvPr/>
        </p:nvSpPr>
        <p:spPr>
          <a:xfrm>
            <a:off x="8596311" y="2477227"/>
            <a:ext cx="878021" cy="101977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상품명  </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옵션명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구매자명</a:t>
            </a:r>
            <a:r>
              <a:rPr lang="ko-KR" altLang="en-US" sz="800" dirty="0">
                <a:solidFill>
                  <a:schemeClr val="tx1"/>
                </a:solidFill>
                <a:latin typeface="Nanum Gothic" panose="020D0604000000000000" pitchFamily="34" charset="-127"/>
                <a:ea typeface="Nanum Gothic" panose="020D0604000000000000" pitchFamily="34" charset="-127"/>
              </a:rPr>
              <a:t>        </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채널주문번호</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상품번호</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채널딜번호</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옵션번호</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채널옵션번호</a:t>
            </a:r>
          </a:p>
        </p:txBody>
      </p:sp>
      <p:graphicFrame>
        <p:nvGraphicFramePr>
          <p:cNvPr id="65" name="표 64"/>
          <p:cNvGraphicFramePr>
            <a:graphicFrameLocks noGrp="1"/>
          </p:cNvGraphicFramePr>
          <p:nvPr/>
        </p:nvGraphicFramePr>
        <p:xfrm>
          <a:off x="7453089" y="836962"/>
          <a:ext cx="2357214" cy="17011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채널사별</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주문된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티켓번호</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기준으로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리스팅</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최근 구매일 기준으로 나열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기간조회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당일이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판매채널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상품관리쪽과 동일기능으로 적용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디폴트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상품상태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전체가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체크시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복원여부가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Y</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인 티켓만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티켓상태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다중 선택 가능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디폴트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 선택</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4</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번호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일치검색</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명칭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포함검색</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pic>
        <p:nvPicPr>
          <p:cNvPr id="66" name="그림 65"/>
          <p:cNvPicPr>
            <a:picLocks noChangeAspect="1"/>
          </p:cNvPicPr>
          <p:nvPr/>
        </p:nvPicPr>
        <p:blipFill>
          <a:blip r:embed="rId4" cstate="print"/>
          <a:stretch>
            <a:fillRect/>
          </a:stretch>
        </p:blipFill>
        <p:spPr>
          <a:xfrm>
            <a:off x="2010496" y="2563955"/>
            <a:ext cx="203832" cy="108710"/>
          </a:xfrm>
          <a:prstGeom prst="rect">
            <a:avLst/>
          </a:prstGeom>
        </p:spPr>
      </p:pic>
      <p:pic>
        <p:nvPicPr>
          <p:cNvPr id="68" name="그림 67"/>
          <p:cNvPicPr>
            <a:picLocks noChangeAspect="1"/>
          </p:cNvPicPr>
          <p:nvPr/>
        </p:nvPicPr>
        <p:blipFill>
          <a:blip r:embed="rId4" cstate="print"/>
          <a:stretch>
            <a:fillRect/>
          </a:stretch>
        </p:blipFill>
        <p:spPr>
          <a:xfrm>
            <a:off x="2620143" y="2554136"/>
            <a:ext cx="203832" cy="108710"/>
          </a:xfrm>
          <a:prstGeom prst="rect">
            <a:avLst/>
          </a:prstGeom>
        </p:spPr>
      </p:pic>
      <p:pic>
        <p:nvPicPr>
          <p:cNvPr id="72" name="그림 71"/>
          <p:cNvPicPr>
            <a:picLocks noChangeAspect="1"/>
          </p:cNvPicPr>
          <p:nvPr/>
        </p:nvPicPr>
        <p:blipFill>
          <a:blip r:embed="rId4" cstate="print"/>
          <a:stretch>
            <a:fillRect/>
          </a:stretch>
        </p:blipFill>
        <p:spPr>
          <a:xfrm>
            <a:off x="3260759" y="2557017"/>
            <a:ext cx="203832" cy="108710"/>
          </a:xfrm>
          <a:prstGeom prst="rect">
            <a:avLst/>
          </a:prstGeom>
        </p:spPr>
      </p:pic>
      <p:pic>
        <p:nvPicPr>
          <p:cNvPr id="73" name="그림 72"/>
          <p:cNvPicPr>
            <a:picLocks noChangeAspect="1"/>
          </p:cNvPicPr>
          <p:nvPr/>
        </p:nvPicPr>
        <p:blipFill>
          <a:blip r:embed="rId4" cstate="print"/>
          <a:stretch>
            <a:fillRect/>
          </a:stretch>
        </p:blipFill>
        <p:spPr>
          <a:xfrm>
            <a:off x="3870406" y="2547198"/>
            <a:ext cx="203832" cy="108710"/>
          </a:xfrm>
          <a:prstGeom prst="rect">
            <a:avLst/>
          </a:prstGeom>
        </p:spPr>
      </p:pic>
      <p:pic>
        <p:nvPicPr>
          <p:cNvPr id="80" name="그림 79"/>
          <p:cNvPicPr>
            <a:picLocks noChangeAspect="1"/>
          </p:cNvPicPr>
          <p:nvPr/>
        </p:nvPicPr>
        <p:blipFill>
          <a:blip r:embed="rId5" cstate="print"/>
          <a:stretch>
            <a:fillRect/>
          </a:stretch>
        </p:blipFill>
        <p:spPr>
          <a:xfrm rot="10800000" flipV="1">
            <a:off x="3913856" y="5729256"/>
            <a:ext cx="5726913" cy="95748"/>
          </a:xfrm>
          <a:prstGeom prst="rect">
            <a:avLst/>
          </a:prstGeom>
        </p:spPr>
      </p:pic>
      <p:pic>
        <p:nvPicPr>
          <p:cNvPr id="81" name="그림 80"/>
          <p:cNvPicPr>
            <a:picLocks noChangeAspect="1"/>
          </p:cNvPicPr>
          <p:nvPr/>
        </p:nvPicPr>
        <p:blipFill>
          <a:blip r:embed="rId6" cstate="print"/>
          <a:stretch>
            <a:fillRect/>
          </a:stretch>
        </p:blipFill>
        <p:spPr>
          <a:xfrm>
            <a:off x="9532256" y="3807880"/>
            <a:ext cx="108516" cy="1838001"/>
          </a:xfrm>
          <a:prstGeom prst="rect">
            <a:avLst/>
          </a:prstGeom>
        </p:spPr>
      </p:pic>
      <p:cxnSp>
        <p:nvCxnSpPr>
          <p:cNvPr id="82" name="직선 연결선[R] 81"/>
          <p:cNvCxnSpPr/>
          <p:nvPr/>
        </p:nvCxnSpPr>
        <p:spPr>
          <a:xfrm>
            <a:off x="3970828" y="3701360"/>
            <a:ext cx="2" cy="1934318"/>
          </a:xfrm>
          <a:prstGeom prst="line">
            <a:avLst/>
          </a:prstGeom>
          <a:ln w="3175">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1884896" y="5586317"/>
            <a:ext cx="2028962" cy="338554"/>
          </a:xfrm>
          <a:prstGeom prst="rect">
            <a:avLst/>
          </a:prstGeom>
          <a:noFill/>
        </p:spPr>
        <p:txBody>
          <a:bodyPr wrap="square" rtlCol="0">
            <a:spAutoFit/>
          </a:bodyPr>
          <a:lstStyle/>
          <a:p>
            <a:r>
              <a:rPr lang="ko-KR" altLang="en-US" sz="800" b="1" i="1" dirty="0" err="1">
                <a:solidFill>
                  <a:srgbClr val="C00000"/>
                </a:solidFill>
                <a:latin typeface="Nanum Gothic" panose="020D0604000000000000" pitchFamily="34" charset="-127"/>
                <a:ea typeface="Nanum Gothic" panose="020D0604000000000000" pitchFamily="34" charset="-127"/>
              </a:rPr>
              <a:t>티브리지</a:t>
            </a:r>
            <a:r>
              <a:rPr lang="ko-KR" altLang="en-US" sz="800" b="1" i="1" dirty="0">
                <a:solidFill>
                  <a:srgbClr val="C00000"/>
                </a:solidFill>
                <a:latin typeface="Nanum Gothic" panose="020D0604000000000000" pitchFamily="34" charset="-127"/>
                <a:ea typeface="Nanum Gothic" panose="020D0604000000000000" pitchFamily="34" charset="-127"/>
              </a:rPr>
              <a:t> </a:t>
            </a:r>
            <a:r>
              <a:rPr lang="ko-KR" altLang="en-US" sz="800" b="1" i="1" dirty="0" err="1">
                <a:solidFill>
                  <a:srgbClr val="C00000"/>
                </a:solidFill>
                <a:latin typeface="Nanum Gothic" panose="020D0604000000000000" pitchFamily="34" charset="-127"/>
                <a:ea typeface="Nanum Gothic" panose="020D0604000000000000" pitchFamily="34" charset="-127"/>
              </a:rPr>
              <a:t>티켓번호</a:t>
            </a:r>
            <a:r>
              <a:rPr lang="ko-KR" altLang="en-US" sz="800" b="1" i="1" dirty="0">
                <a:solidFill>
                  <a:srgbClr val="C00000"/>
                </a:solidFill>
                <a:latin typeface="Nanum Gothic" panose="020D0604000000000000" pitchFamily="34" charset="-127"/>
                <a:ea typeface="Nanum Gothic" panose="020D0604000000000000" pitchFamily="34" charset="-127"/>
              </a:rPr>
              <a:t> 까지 </a:t>
            </a:r>
            <a:r>
              <a:rPr lang="ko-KR" altLang="en-US" sz="800" b="1" i="1" dirty="0" err="1">
                <a:solidFill>
                  <a:srgbClr val="C00000"/>
                </a:solidFill>
                <a:latin typeface="Nanum Gothic" panose="020D0604000000000000" pitchFamily="34" charset="-127"/>
                <a:ea typeface="Nanum Gothic" panose="020D0604000000000000" pitchFamily="34" charset="-127"/>
              </a:rPr>
              <a:t>가로스크롤</a:t>
            </a:r>
            <a:r>
              <a:rPr lang="ko-KR" altLang="en-US" sz="800" b="1" i="1" dirty="0">
                <a:solidFill>
                  <a:srgbClr val="C00000"/>
                </a:solidFill>
                <a:latin typeface="Nanum Gothic" panose="020D0604000000000000" pitchFamily="34" charset="-127"/>
                <a:ea typeface="Nanum Gothic" panose="020D0604000000000000" pitchFamily="34" charset="-127"/>
              </a:rPr>
              <a:t> 없이 고정</a:t>
            </a:r>
          </a:p>
        </p:txBody>
      </p:sp>
      <p:sp>
        <p:nvSpPr>
          <p:cNvPr id="88" name="타원 87"/>
          <p:cNvSpPr/>
          <p:nvPr/>
        </p:nvSpPr>
        <p:spPr>
          <a:xfrm>
            <a:off x="1156983" y="189471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나눔고딕" pitchFamily="50" charset="-127"/>
                <a:ea typeface="나눔고딕" pitchFamily="50" charset="-127"/>
              </a:rPr>
              <a:t>1</a:t>
            </a:r>
            <a:endParaRPr lang="ko-KR" altLang="en-US" sz="800" b="1" dirty="0">
              <a:latin typeface="나눔고딕" pitchFamily="50" charset="-127"/>
              <a:ea typeface="나눔고딕" pitchFamily="50" charset="-127"/>
            </a:endParaRPr>
          </a:p>
        </p:txBody>
      </p:sp>
      <p:sp>
        <p:nvSpPr>
          <p:cNvPr id="4" name="왼쪽 대괄호[L] 3"/>
          <p:cNvSpPr/>
          <p:nvPr/>
        </p:nvSpPr>
        <p:spPr>
          <a:xfrm>
            <a:off x="1303790" y="1812367"/>
            <a:ext cx="116843" cy="608162"/>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95" name="타원 94"/>
          <p:cNvSpPr/>
          <p:nvPr/>
        </p:nvSpPr>
        <p:spPr>
          <a:xfrm>
            <a:off x="4779128" y="215085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나눔고딕" pitchFamily="50" charset="-127"/>
                <a:ea typeface="나눔고딕" pitchFamily="50" charset="-127"/>
              </a:rPr>
              <a:t>2</a:t>
            </a:r>
            <a:endParaRPr lang="ko-KR" altLang="en-US" sz="800" b="1" dirty="0">
              <a:latin typeface="나눔고딕" pitchFamily="50" charset="-127"/>
              <a:ea typeface="나눔고딕" pitchFamily="50" charset="-127"/>
            </a:endParaRPr>
          </a:p>
        </p:txBody>
      </p:sp>
      <p:sp>
        <p:nvSpPr>
          <p:cNvPr id="96" name="타원 95"/>
          <p:cNvSpPr/>
          <p:nvPr/>
        </p:nvSpPr>
        <p:spPr>
          <a:xfrm>
            <a:off x="1234776" y="256395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나눔고딕" pitchFamily="50" charset="-127"/>
                <a:ea typeface="나눔고딕" pitchFamily="50" charset="-127"/>
              </a:rPr>
              <a:t>3</a:t>
            </a:r>
            <a:endParaRPr lang="ko-KR" altLang="en-US" sz="800" b="1" dirty="0">
              <a:latin typeface="나눔고딕" pitchFamily="50" charset="-127"/>
              <a:ea typeface="나눔고딕" pitchFamily="50" charset="-127"/>
            </a:endParaRPr>
          </a:p>
        </p:txBody>
      </p:sp>
      <p:sp>
        <p:nvSpPr>
          <p:cNvPr id="97" name="타원 96"/>
          <p:cNvSpPr/>
          <p:nvPr/>
        </p:nvSpPr>
        <p:spPr>
          <a:xfrm>
            <a:off x="1899975" y="294246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나눔고딕" pitchFamily="50" charset="-127"/>
                <a:ea typeface="나눔고딕" pitchFamily="50" charset="-127"/>
              </a:rPr>
              <a:t>4</a:t>
            </a:r>
            <a:endParaRPr lang="ko-KR" altLang="en-US" sz="800" b="1" dirty="0">
              <a:latin typeface="나눔고딕" pitchFamily="50" charset="-127"/>
              <a:ea typeface="나눔고딕" pitchFamily="50" charset="-127"/>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주문관리</a:t>
            </a: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41" name="직사각형 40"/>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a:solidFill>
                  <a:schemeClr val="tx1"/>
                </a:solidFill>
                <a:latin typeface="Nanum Gothic" panose="020D0604000000000000" pitchFamily="34" charset="-127"/>
                <a:ea typeface="Nanum Gothic" panose="020D0604000000000000" pitchFamily="34" charset="-127"/>
              </a:rPr>
              <a:t>정산관리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graphicFrame>
        <p:nvGraphicFramePr>
          <p:cNvPr id="44" name="표 43"/>
          <p:cNvGraphicFramePr>
            <a:graphicFrameLocks noGrp="1"/>
          </p:cNvGraphicFramePr>
          <p:nvPr/>
        </p:nvGraphicFramePr>
        <p:xfrm>
          <a:off x="1280592" y="1634820"/>
          <a:ext cx="6048672" cy="1432635"/>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1879833">
                  <a:extLst>
                    <a:ext uri="{9D8B030D-6E8A-4147-A177-3AD203B41FA5}">
                      <a16:colId xmlns:a16="http://schemas.microsoft.com/office/drawing/2014/main" val="20003"/>
                    </a:ext>
                  </a:extLst>
                </a:gridCol>
                <a:gridCol w="640447">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구매일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892175"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rowSpan="5">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판매채널</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err="1">
                          <a:latin typeface="Nanum Gothic" panose="020D0604000000000000" pitchFamily="34" charset="-127"/>
                          <a:ea typeface="Nanum Gothic" panose="020D0604000000000000" pitchFamily="34" charset="-127"/>
                        </a:rPr>
                        <a:t>티켓복원</a:t>
                      </a:r>
                      <a:endParaRPr lang="ko-KR" altLang="en-US" sz="800" b="1" dirty="0">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r>
                        <a:rPr lang="ko-KR" altLang="en-US" sz="800" b="0" dirty="0">
                          <a:solidFill>
                            <a:schemeClr val="tx1"/>
                          </a:solidFill>
                          <a:latin typeface="Nanum Gothic" panose="020D0604000000000000" pitchFamily="34" charset="-127"/>
                          <a:ea typeface="Nanum Gothic" panose="020D0604000000000000" pitchFamily="34" charset="-127"/>
                        </a:rPr>
                        <a:t>◻︎ 복원된 티켓만 보기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0002"/>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티켓상태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r>
                        <a:rPr lang="ko-KR" altLang="en-US" sz="800" b="0" dirty="0">
                          <a:solidFill>
                            <a:schemeClr val="tx1"/>
                          </a:solidFill>
                          <a:latin typeface="Nanum Gothic" panose="020D0604000000000000" pitchFamily="34" charset="-127"/>
                          <a:ea typeface="Nanum Gothic" panose="020D0604000000000000" pitchFamily="34" charset="-127"/>
                        </a:rPr>
                        <a:t>◻︎</a:t>
                      </a:r>
                      <a:r>
                        <a:rPr lang="ko-KR" altLang="en-US" sz="800" b="0" dirty="0" err="1">
                          <a:solidFill>
                            <a:schemeClr val="tx1"/>
                          </a:solidFill>
                          <a:latin typeface="Nanum Gothic" panose="020D0604000000000000" pitchFamily="34" charset="-127"/>
                          <a:ea typeface="Nanum Gothic" panose="020D0604000000000000" pitchFamily="34" charset="-127"/>
                        </a:rPr>
                        <a:t>구매완료</a:t>
                      </a:r>
                      <a:r>
                        <a:rPr lang="ko-KR" altLang="en-US" sz="800" b="0" dirty="0">
                          <a:solidFill>
                            <a:schemeClr val="tx1"/>
                          </a:solidFill>
                          <a:latin typeface="Nanum Gothic" panose="020D0604000000000000" pitchFamily="34" charset="-127"/>
                          <a:ea typeface="Nanum Gothic" panose="020D0604000000000000" pitchFamily="34" charset="-127"/>
                        </a:rPr>
                        <a:t>      ◻︎</a:t>
                      </a:r>
                      <a:r>
                        <a:rPr lang="ko-KR" altLang="en-US" sz="800" b="0" u="none" dirty="0" err="1">
                          <a:solidFill>
                            <a:schemeClr val="tx1">
                              <a:lumMod val="75000"/>
                              <a:lumOff val="25000"/>
                            </a:schemeClr>
                          </a:solidFill>
                          <a:latin typeface="Nanum Gothic" panose="020D0604000000000000" pitchFamily="34" charset="-127"/>
                          <a:ea typeface="Nanum Gothic" panose="020D0604000000000000" pitchFamily="34" charset="-127"/>
                        </a:rPr>
                        <a:t>사용완료</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r>
                        <a:rPr lang="ko-KR" altLang="en-US" sz="800" b="0" dirty="0">
                          <a:solidFill>
                            <a:schemeClr val="tx1"/>
                          </a:solidFill>
                          <a:latin typeface="Nanum Gothic" panose="020D0604000000000000" pitchFamily="34" charset="-127"/>
                          <a:ea typeface="Nanum Gothic" panose="020D0604000000000000" pitchFamily="34" charset="-127"/>
                        </a:rPr>
                        <a:t>◻︎</a:t>
                      </a:r>
                      <a:r>
                        <a:rPr lang="ko-KR" altLang="en-US" sz="800" b="0" dirty="0" err="1">
                          <a:solidFill>
                            <a:schemeClr val="tx1"/>
                          </a:solidFill>
                          <a:latin typeface="Nanum Gothic" panose="020D0604000000000000" pitchFamily="34" charset="-127"/>
                          <a:ea typeface="Nanum Gothic" panose="020D0604000000000000" pitchFamily="34" charset="-127"/>
                        </a:rPr>
                        <a:t>환불완료</a:t>
                      </a:r>
                      <a:r>
                        <a:rPr lang="ko-KR" altLang="en-US" sz="800" b="0" dirty="0">
                          <a:solidFill>
                            <a:schemeClr val="tx1"/>
                          </a:solidFill>
                          <a:latin typeface="Nanum Gothic" panose="020D0604000000000000" pitchFamily="34" charset="-127"/>
                          <a:ea typeface="Nanum Gothic" panose="020D0604000000000000" pitchFamily="34" charset="-127"/>
                        </a:rPr>
                        <a:t>      ◻︎유효기간지남</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45" name="직사각형 44"/>
          <p:cNvSpPr/>
          <p:nvPr/>
        </p:nvSpPr>
        <p:spPr>
          <a:xfrm>
            <a:off x="2058755" y="194612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46" name="직사각형 45"/>
          <p:cNvSpPr/>
          <p:nvPr/>
        </p:nvSpPr>
        <p:spPr>
          <a:xfrm>
            <a:off x="2069170" y="2248016"/>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쿠팡</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지마켓</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티몬</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75" name="직사각형 74"/>
          <p:cNvSpPr/>
          <p:nvPr/>
        </p:nvSpPr>
        <p:spPr>
          <a:xfrm>
            <a:off x="6749307" y="2063858"/>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76" name="직사각형 75"/>
          <p:cNvSpPr/>
          <p:nvPr/>
        </p:nvSpPr>
        <p:spPr>
          <a:xfrm>
            <a:off x="6747628" y="2483176"/>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pic>
        <p:nvPicPr>
          <p:cNvPr id="86" name="그림 85"/>
          <p:cNvPicPr>
            <a:picLocks noChangeAspect="1"/>
          </p:cNvPicPr>
          <p:nvPr/>
        </p:nvPicPr>
        <p:blipFill>
          <a:blip r:embed="rId2" cstate="print"/>
          <a:stretch>
            <a:fillRect/>
          </a:stretch>
        </p:blipFill>
        <p:spPr>
          <a:xfrm>
            <a:off x="2823975" y="6365826"/>
            <a:ext cx="3000375" cy="301408"/>
          </a:xfrm>
          <a:prstGeom prst="rect">
            <a:avLst/>
          </a:prstGeom>
        </p:spPr>
      </p:pic>
      <p:sp>
        <p:nvSpPr>
          <p:cNvPr id="104" name="직사각형 103"/>
          <p:cNvSpPr/>
          <p:nvPr/>
        </p:nvSpPr>
        <p:spPr>
          <a:xfrm>
            <a:off x="2990949" y="2837517"/>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05" name="직사각형 104"/>
          <p:cNvSpPr/>
          <p:nvPr/>
        </p:nvSpPr>
        <p:spPr>
          <a:xfrm>
            <a:off x="2051503" y="2837517"/>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상품명          ▽</a:t>
            </a:r>
          </a:p>
        </p:txBody>
      </p:sp>
      <p:sp>
        <p:nvSpPr>
          <p:cNvPr id="106" name="TextBox 105"/>
          <p:cNvSpPr txBox="1"/>
          <p:nvPr/>
        </p:nvSpPr>
        <p:spPr>
          <a:xfrm>
            <a:off x="1191375" y="1085116"/>
            <a:ext cx="761747"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주문관리</a:t>
            </a:r>
          </a:p>
        </p:txBody>
      </p:sp>
      <p:graphicFrame>
        <p:nvGraphicFramePr>
          <p:cNvPr id="110" name="표 109"/>
          <p:cNvGraphicFramePr>
            <a:graphicFrameLocks noGrp="1"/>
          </p:cNvGraphicFramePr>
          <p:nvPr/>
        </p:nvGraphicFramePr>
        <p:xfrm>
          <a:off x="1287844" y="3559514"/>
          <a:ext cx="8201660" cy="1933225"/>
        </p:xfrm>
        <a:graphic>
          <a:graphicData uri="http://schemas.openxmlformats.org/drawingml/2006/table">
            <a:tbl>
              <a:tblPr/>
              <a:tblGrid>
                <a:gridCol w="203557">
                  <a:extLst>
                    <a:ext uri="{9D8B030D-6E8A-4147-A177-3AD203B41FA5}">
                      <a16:colId xmlns:a16="http://schemas.microsoft.com/office/drawing/2014/main" val="20000"/>
                    </a:ext>
                  </a:extLst>
                </a:gridCol>
                <a:gridCol w="576729">
                  <a:extLst>
                    <a:ext uri="{9D8B030D-6E8A-4147-A177-3AD203B41FA5}">
                      <a16:colId xmlns:a16="http://schemas.microsoft.com/office/drawing/2014/main" val="20001"/>
                    </a:ext>
                  </a:extLst>
                </a:gridCol>
                <a:gridCol w="572725">
                  <a:extLst>
                    <a:ext uri="{9D8B030D-6E8A-4147-A177-3AD203B41FA5}">
                      <a16:colId xmlns:a16="http://schemas.microsoft.com/office/drawing/2014/main" val="20002"/>
                    </a:ext>
                  </a:extLst>
                </a:gridCol>
                <a:gridCol w="429544">
                  <a:extLst>
                    <a:ext uri="{9D8B030D-6E8A-4147-A177-3AD203B41FA5}">
                      <a16:colId xmlns:a16="http://schemas.microsoft.com/office/drawing/2014/main" val="20003"/>
                    </a:ext>
                  </a:extLst>
                </a:gridCol>
                <a:gridCol w="357953">
                  <a:extLst>
                    <a:ext uri="{9D8B030D-6E8A-4147-A177-3AD203B41FA5}">
                      <a16:colId xmlns:a16="http://schemas.microsoft.com/office/drawing/2014/main" val="20004"/>
                    </a:ext>
                  </a:extLst>
                </a:gridCol>
                <a:gridCol w="572725">
                  <a:extLst>
                    <a:ext uri="{9D8B030D-6E8A-4147-A177-3AD203B41FA5}">
                      <a16:colId xmlns:a16="http://schemas.microsoft.com/office/drawing/2014/main" val="20005"/>
                    </a:ext>
                  </a:extLst>
                </a:gridCol>
                <a:gridCol w="572725">
                  <a:extLst>
                    <a:ext uri="{9D8B030D-6E8A-4147-A177-3AD203B41FA5}">
                      <a16:colId xmlns:a16="http://schemas.microsoft.com/office/drawing/2014/main" val="20006"/>
                    </a:ext>
                  </a:extLst>
                </a:gridCol>
                <a:gridCol w="644316">
                  <a:extLst>
                    <a:ext uri="{9D8B030D-6E8A-4147-A177-3AD203B41FA5}">
                      <a16:colId xmlns:a16="http://schemas.microsoft.com/office/drawing/2014/main" val="20007"/>
                    </a:ext>
                  </a:extLst>
                </a:gridCol>
                <a:gridCol w="429544">
                  <a:extLst>
                    <a:ext uri="{9D8B030D-6E8A-4147-A177-3AD203B41FA5}">
                      <a16:colId xmlns:a16="http://schemas.microsoft.com/office/drawing/2014/main" val="20008"/>
                    </a:ext>
                  </a:extLst>
                </a:gridCol>
                <a:gridCol w="519424">
                  <a:extLst>
                    <a:ext uri="{9D8B030D-6E8A-4147-A177-3AD203B41FA5}">
                      <a16:colId xmlns:a16="http://schemas.microsoft.com/office/drawing/2014/main" val="20009"/>
                    </a:ext>
                  </a:extLst>
                </a:gridCol>
                <a:gridCol w="688655">
                  <a:extLst>
                    <a:ext uri="{9D8B030D-6E8A-4147-A177-3AD203B41FA5}">
                      <a16:colId xmlns:a16="http://schemas.microsoft.com/office/drawing/2014/main" val="20010"/>
                    </a:ext>
                  </a:extLst>
                </a:gridCol>
                <a:gridCol w="774737">
                  <a:extLst>
                    <a:ext uri="{9D8B030D-6E8A-4147-A177-3AD203B41FA5}">
                      <a16:colId xmlns:a16="http://schemas.microsoft.com/office/drawing/2014/main" val="20011"/>
                    </a:ext>
                  </a:extLst>
                </a:gridCol>
                <a:gridCol w="344328">
                  <a:extLst>
                    <a:ext uri="{9D8B030D-6E8A-4147-A177-3AD203B41FA5}">
                      <a16:colId xmlns:a16="http://schemas.microsoft.com/office/drawing/2014/main" val="20012"/>
                    </a:ext>
                  </a:extLst>
                </a:gridCol>
                <a:gridCol w="476479">
                  <a:extLst>
                    <a:ext uri="{9D8B030D-6E8A-4147-A177-3AD203B41FA5}">
                      <a16:colId xmlns:a16="http://schemas.microsoft.com/office/drawing/2014/main" val="20013"/>
                    </a:ext>
                  </a:extLst>
                </a:gridCol>
                <a:gridCol w="610481">
                  <a:extLst>
                    <a:ext uri="{9D8B030D-6E8A-4147-A177-3AD203B41FA5}">
                      <a16:colId xmlns:a16="http://schemas.microsoft.com/office/drawing/2014/main" val="20014"/>
                    </a:ext>
                  </a:extLst>
                </a:gridCol>
                <a:gridCol w="427738">
                  <a:extLst>
                    <a:ext uri="{9D8B030D-6E8A-4147-A177-3AD203B41FA5}">
                      <a16:colId xmlns:a16="http://schemas.microsoft.com/office/drawing/2014/main" val="20015"/>
                    </a:ext>
                  </a:extLst>
                </a:gridCol>
              </a:tblGrid>
              <a:tr h="165962">
                <a:tc>
                  <a:txBody>
                    <a:bodyPr/>
                    <a:lstStyle/>
                    <a:p>
                      <a:pPr marL="0" marR="0" indent="0" algn="ctr" defTabSz="914400" rtl="0" eaLnBrk="1" fontAlgn="ctr" latinLnBrk="1" hangingPunct="1">
                        <a:lnSpc>
                          <a:spcPct val="100000"/>
                        </a:lnSpc>
                        <a:spcBef>
                          <a:spcPts val="0"/>
                        </a:spcBef>
                        <a:spcAft>
                          <a:spcPts val="0"/>
                        </a:spcAft>
                        <a:buClrTx/>
                        <a:buSzTx/>
                        <a:buFontTx/>
                        <a:buNone/>
                        <a:defRPr/>
                      </a:pP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티켓상태</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복원여부</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채널명</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티브리지</a:t>
                      </a:r>
                      <a:endParaRPr lang="en-US" altLang="ko-KR" sz="700" b="1" i="0" u="none" strike="noStrike" dirty="0">
                        <a:solidFill>
                          <a:schemeClr val="bg1"/>
                        </a:solidFill>
                        <a:effectLst/>
                        <a:latin typeface="Nanum Gothic" panose="020D0604000000000000" pitchFamily="34" charset="-127"/>
                        <a:ea typeface="Nanum Gothic" panose="020D0604000000000000" pitchFamily="34" charset="-127"/>
                      </a:endParaRPr>
                    </a:p>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티켓번호</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00000"/>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채널사</a:t>
                      </a:r>
                      <a:endParaRPr lang="en-US" altLang="ko-KR" sz="700" b="1" i="0" u="none" strike="noStrike" dirty="0">
                        <a:solidFill>
                          <a:schemeClr val="bg1"/>
                        </a:solidFill>
                        <a:effectLst/>
                        <a:latin typeface="Nanum Gothic" panose="020D0604000000000000" pitchFamily="34" charset="-127"/>
                        <a:ea typeface="Nanum Gothic" panose="020D0604000000000000" pitchFamily="34" charset="-127"/>
                      </a:endParaRPr>
                    </a:p>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티켓번호</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구매일시</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채널</a:t>
                      </a:r>
                      <a:endParaRPr lang="en-US" altLang="ko-KR" sz="700" b="1" i="0" u="none" strike="noStrike" dirty="0">
                        <a:solidFill>
                          <a:schemeClr val="bg1"/>
                        </a:solidFill>
                        <a:effectLst/>
                        <a:latin typeface="Nanum Gothic" panose="020D0604000000000000" pitchFamily="34" charset="-127"/>
                        <a:ea typeface="Nanum Gothic" panose="020D0604000000000000" pitchFamily="34" charset="-127"/>
                      </a:endParaRPr>
                    </a:p>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주문번호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상품번호</a:t>
                      </a:r>
                      <a:r>
                        <a:rPr lang="en-US" altLang="ko-KR" sz="700" b="1" i="0" u="none" strike="noStrike" dirty="0">
                          <a:solidFill>
                            <a:schemeClr val="bg1"/>
                          </a:solidFill>
                          <a:effectLst/>
                          <a:latin typeface="Nanum Gothic" panose="020D0604000000000000" pitchFamily="34" charset="-127"/>
                          <a:ea typeface="Nanum Gothic" panose="020D0604000000000000" pitchFamily="34" charset="-127"/>
                        </a:rPr>
                        <a:t>/</a:t>
                      </a:r>
                    </a:p>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채널딜번호</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옵션번호</a:t>
                      </a:r>
                      <a:r>
                        <a:rPr lang="en-US" altLang="ko-KR" sz="700" b="1" i="0" u="none" strike="noStrike" dirty="0">
                          <a:solidFill>
                            <a:schemeClr val="bg1"/>
                          </a:solidFill>
                          <a:effectLst/>
                          <a:latin typeface="Nanum Gothic" panose="020D0604000000000000" pitchFamily="34" charset="-127"/>
                          <a:ea typeface="Nanum Gothic" panose="020D0604000000000000" pitchFamily="34" charset="-127"/>
                        </a:rPr>
                        <a:t>/</a:t>
                      </a:r>
                    </a:p>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채널옵션번호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상품명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옵션명</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err="1">
                          <a:solidFill>
                            <a:schemeClr val="bg1"/>
                          </a:solidFill>
                          <a:effectLst/>
                          <a:latin typeface="Nanum Gothic" panose="020D0604000000000000" pitchFamily="34" charset="-127"/>
                          <a:ea typeface="Nanum Gothic" panose="020D0604000000000000" pitchFamily="34" charset="-127"/>
                        </a:rPr>
                        <a:t>구매자명</a:t>
                      </a:r>
                      <a:endParaRPr lang="ko-KR" altLang="en-US" sz="7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연락처</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700" b="1" i="0" u="none" strike="noStrike" dirty="0">
                          <a:solidFill>
                            <a:schemeClr val="bg1"/>
                          </a:solidFill>
                          <a:effectLst/>
                          <a:latin typeface="Nanum Gothic" panose="020D0604000000000000" pitchFamily="34" charset="-127"/>
                          <a:ea typeface="Nanum Gothic" panose="020D0604000000000000" pitchFamily="34" charset="-127"/>
                        </a:rPr>
                        <a:t>구매가격</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188241">
                <a:tc>
                  <a:txBody>
                    <a:bodyPr/>
                    <a:lstStyle/>
                    <a:p>
                      <a:pPr algn="ctr" fontAlgn="ctr"/>
                      <a:r>
                        <a:rPr lang="ko-KR" altLang="en-US" sz="700" b="0"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T1111-11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당일권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sng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T2222-22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P0909_222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T_2222</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T3333-33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당일권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8241">
                <a:tc>
                  <a:txBody>
                    <a:bodyPr/>
                    <a:lstStyle/>
                    <a:p>
                      <a:pPr algn="ctr" fontAlgn="ctr"/>
                      <a:r>
                        <a:rPr lang="ko-KR" altLang="en-US" sz="700" b="0"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구매완료</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700" b="0" i="0" u="none" strike="noStrike" kern="1200" cap="none" spc="0" normalizeH="0" baseline="0" noProof="0" dirty="0" err="1">
                          <a:ln>
                            <a:noFill/>
                          </a:ln>
                          <a:solidFill>
                            <a:srgbClr val="000000"/>
                          </a:solidFill>
                          <a:effectLst/>
                          <a:uLnTx/>
                          <a:uFillTx/>
                          <a:latin typeface="Nanum Gothic" panose="020D0604000000000000" pitchFamily="34" charset="-127"/>
                          <a:ea typeface="Nanum Gothic" panose="020D0604000000000000" pitchFamily="34" charset="-127"/>
                          <a:cs typeface="+mn-cs"/>
                        </a:rPr>
                        <a:t>지마켓</a:t>
                      </a:r>
                      <a:endParaRPr kumimoji="0" lang="ko-KR" altLang="en-US" sz="700" b="0" i="0" u="none" strike="noStrike" kern="1200" cap="none" spc="0" normalizeH="0" baseline="0" noProof="0" dirty="0">
                        <a:ln>
                          <a:noFill/>
                        </a:ln>
                        <a:solidFill>
                          <a:srgbClr val="000000"/>
                        </a:solidFill>
                        <a:effectLst/>
                        <a:uLnTx/>
                        <a:uFillTx/>
                        <a:latin typeface="Nanum Gothic" panose="020D0604000000000000" pitchFamily="34" charset="-127"/>
                        <a:ea typeface="Nanum Gothic" panose="020D0604000000000000" pitchFamily="34" charset="-127"/>
                        <a:cs typeface="+mn-cs"/>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T4444-44</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P0909_333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1111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T_2222</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에버랜드입장권</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사용완료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쿠팡</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T5555-55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P0222_333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TM_001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2221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T_3333</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(cp_T_2211)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롯데월드</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환불완료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티몬</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T5555-55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P0222_333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TM_001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2221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T_3333</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(cp_T_2211)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롯데월드</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88241">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strike="noStrike" dirty="0">
                          <a:solidFill>
                            <a:schemeClr val="tx1"/>
                          </a:solidFill>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유효기간 지남</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티몬</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T6666-66</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P0222_333</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2020-02-01</a:t>
                      </a: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TM_001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2221</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(cp122)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T_3333</a:t>
                      </a:r>
                    </a:p>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(cp_T_2211)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sng" strike="noStrike" dirty="0">
                          <a:solidFill>
                            <a:srgbClr val="0070C0"/>
                          </a:solidFill>
                          <a:effectLst/>
                          <a:latin typeface="Nanum Gothic" panose="020D0604000000000000" pitchFamily="34" charset="-127"/>
                          <a:ea typeface="Nanum Gothic" panose="020D0604000000000000" pitchFamily="34" charset="-127"/>
                        </a:rPr>
                        <a:t>롯데월드</a:t>
                      </a:r>
                      <a:endParaRPr lang="en-US" altLang="ko-KR" sz="700" b="0" i="0" u="sng" strike="noStrike" dirty="0">
                        <a:solidFill>
                          <a:srgbClr val="0070C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주말권</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ko-KR" altLang="en-US" sz="7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tc>
                  <a:txBody>
                    <a:bodyPr/>
                    <a:lstStyle/>
                    <a:p>
                      <a:pPr algn="ctr" fontAlgn="ct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20,000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0007"/>
                  </a:ext>
                </a:extLst>
              </a:tr>
              <a:tr h="188241">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12" name="TextBox 111"/>
          <p:cNvSpPr txBox="1"/>
          <p:nvPr/>
        </p:nvSpPr>
        <p:spPr>
          <a:xfrm>
            <a:off x="1199203" y="3255818"/>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113" name="직사각형 112"/>
          <p:cNvSpPr/>
          <p:nvPr/>
        </p:nvSpPr>
        <p:spPr>
          <a:xfrm>
            <a:off x="6027068" y="3265312"/>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사용처리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14" name="직사각형 113"/>
          <p:cNvSpPr/>
          <p:nvPr/>
        </p:nvSpPr>
        <p:spPr>
          <a:xfrm>
            <a:off x="6675459" y="3265312"/>
            <a:ext cx="606406"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복원처리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17" name="직사각형 116"/>
          <p:cNvSpPr/>
          <p:nvPr/>
        </p:nvSpPr>
        <p:spPr>
          <a:xfrm>
            <a:off x="2251108" y="3263975"/>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18" name="직사각형 117"/>
          <p:cNvSpPr/>
          <p:nvPr/>
        </p:nvSpPr>
        <p:spPr>
          <a:xfrm>
            <a:off x="1651210" y="3260209"/>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119" name="TextBox 118"/>
          <p:cNvSpPr txBox="1"/>
          <p:nvPr/>
        </p:nvSpPr>
        <p:spPr>
          <a:xfrm>
            <a:off x="1191375" y="1313869"/>
            <a:ext cx="3562194" cy="215444"/>
          </a:xfrm>
          <a:prstGeom prst="rect">
            <a:avLst/>
          </a:prstGeom>
          <a:noFill/>
        </p:spPr>
        <p:txBody>
          <a:bodyPr wrap="none" rtlCol="0">
            <a:spAutoFit/>
          </a:bodyPr>
          <a:lstStyle/>
          <a:p>
            <a:r>
              <a:rPr lang="en-US" altLang="ko-KR" sz="800" dirty="0">
                <a:latin typeface="Nanum Gothic" panose="020D0604000000000000" pitchFamily="34" charset="-127"/>
                <a:ea typeface="Nanum Gothic" panose="020D0604000000000000" pitchFamily="34" charset="-127"/>
              </a:rPr>
              <a:t>12</a:t>
            </a:r>
            <a:r>
              <a:rPr lang="ko-KR" altLang="en-US" sz="800" dirty="0">
                <a:latin typeface="Nanum Gothic" panose="020D0604000000000000" pitchFamily="34" charset="-127"/>
                <a:ea typeface="Nanum Gothic" panose="020D0604000000000000" pitchFamily="34" charset="-127"/>
              </a:rPr>
              <a:t>월</a:t>
            </a:r>
            <a:r>
              <a:rPr lang="en-US" altLang="ko-KR" sz="800" dirty="0">
                <a:latin typeface="Nanum Gothic" panose="020D0604000000000000" pitchFamily="34" charset="-127"/>
                <a:ea typeface="Nanum Gothic" panose="020D0604000000000000" pitchFamily="34" charset="-127"/>
              </a:rPr>
              <a:t>21</a:t>
            </a:r>
            <a:r>
              <a:rPr lang="ko-KR" altLang="en-US" sz="800" dirty="0">
                <a:latin typeface="Nanum Gothic" panose="020D0604000000000000" pitchFamily="34" charset="-127"/>
                <a:ea typeface="Nanum Gothic" panose="020D0604000000000000" pitchFamily="34" charset="-127"/>
              </a:rPr>
              <a:t>일 </a:t>
            </a:r>
            <a:r>
              <a:rPr lang="en-US" altLang="ko-KR" sz="800" dirty="0">
                <a:latin typeface="Nanum Gothic" panose="020D0604000000000000" pitchFamily="34" charset="-127"/>
                <a:ea typeface="Nanum Gothic" panose="020D0604000000000000" pitchFamily="34" charset="-127"/>
              </a:rPr>
              <a:t>09</a:t>
            </a:r>
            <a:r>
              <a:rPr lang="ko-KR" altLang="en-US" sz="800" dirty="0">
                <a:latin typeface="Nanum Gothic" panose="020D0604000000000000" pitchFamily="34" charset="-127"/>
                <a:ea typeface="Nanum Gothic" panose="020D0604000000000000" pitchFamily="34" charset="-127"/>
              </a:rPr>
              <a:t>시</a:t>
            </a:r>
            <a:r>
              <a:rPr lang="en-US" altLang="ko-KR" sz="800" dirty="0">
                <a:latin typeface="Nanum Gothic" panose="020D0604000000000000" pitchFamily="34" charset="-127"/>
                <a:ea typeface="Nanum Gothic" panose="020D0604000000000000" pitchFamily="34" charset="-127"/>
              </a:rPr>
              <a:t>00</a:t>
            </a:r>
            <a:r>
              <a:rPr lang="ko-KR" altLang="en-US" sz="800" dirty="0">
                <a:latin typeface="Nanum Gothic" panose="020D0604000000000000" pitchFamily="34" charset="-127"/>
                <a:ea typeface="Nanum Gothic" panose="020D0604000000000000" pitchFamily="34" charset="-127"/>
              </a:rPr>
              <a:t>분 기준으로 수집된 </a:t>
            </a:r>
            <a:r>
              <a:rPr lang="ko-KR" altLang="en-US" sz="800" dirty="0" err="1">
                <a:latin typeface="Nanum Gothic" panose="020D0604000000000000" pitchFamily="34" charset="-127"/>
                <a:ea typeface="Nanum Gothic" panose="020D0604000000000000" pitchFamily="34" charset="-127"/>
              </a:rPr>
              <a:t>상품목록입니다</a:t>
            </a:r>
            <a:r>
              <a:rPr lang="en-US" altLang="ko-KR" sz="800" dirty="0">
                <a:latin typeface="Nanum Gothic" panose="020D0604000000000000" pitchFamily="34" charset="-127"/>
                <a:ea typeface="Nanum Gothic" panose="020D0604000000000000" pitchFamily="34" charset="-127"/>
              </a:rPr>
              <a:t>.(5</a:t>
            </a:r>
            <a:r>
              <a:rPr lang="ko-KR" altLang="en-US" sz="800" dirty="0">
                <a:latin typeface="Nanum Gothic" panose="020D0604000000000000" pitchFamily="34" charset="-127"/>
                <a:ea typeface="Nanum Gothic" panose="020D0604000000000000" pitchFamily="34" charset="-127"/>
              </a:rPr>
              <a:t>분 단위 업데이트</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120" name="직사각형 119"/>
          <p:cNvSpPr/>
          <p:nvPr/>
        </p:nvSpPr>
        <p:spPr>
          <a:xfrm>
            <a:off x="4615071"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강제업데이트</a:t>
            </a:r>
          </a:p>
        </p:txBody>
      </p:sp>
      <p:sp>
        <p:nvSpPr>
          <p:cNvPr id="56" name="직사각형 55"/>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9" name="직사각형 68"/>
          <p:cNvSpPr/>
          <p:nvPr/>
        </p:nvSpPr>
        <p:spPr>
          <a:xfrm>
            <a:off x="128461" y="361520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0" name="직사각형 69"/>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a:t>
            </a:r>
          </a:p>
        </p:txBody>
      </p:sp>
      <p:sp>
        <p:nvSpPr>
          <p:cNvPr id="71" name="직사각형 70"/>
          <p:cNvSpPr/>
          <p:nvPr/>
        </p:nvSpPr>
        <p:spPr>
          <a:xfrm>
            <a:off x="128457" y="328285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7" name="직사각형 66"/>
          <p:cNvSpPr/>
          <p:nvPr/>
        </p:nvSpPr>
        <p:spPr>
          <a:xfrm>
            <a:off x="1554647" y="3807880"/>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4" name="직사각형 73"/>
          <p:cNvSpPr/>
          <p:nvPr/>
        </p:nvSpPr>
        <p:spPr>
          <a:xfrm>
            <a:off x="1551084" y="4040897"/>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551084" y="4260343"/>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8" name="직사각형 77"/>
          <p:cNvSpPr/>
          <p:nvPr/>
        </p:nvSpPr>
        <p:spPr>
          <a:xfrm>
            <a:off x="1551084" y="4471801"/>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사용처리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79" name="직사각형 78"/>
          <p:cNvSpPr/>
          <p:nvPr/>
        </p:nvSpPr>
        <p:spPr>
          <a:xfrm>
            <a:off x="1550492" y="4702199"/>
            <a:ext cx="460004" cy="152464"/>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dirty="0" err="1">
                <a:solidFill>
                  <a:schemeClr val="tx1"/>
                </a:solidFill>
                <a:latin typeface="Nanum Gothic" panose="020D0604000000000000" pitchFamily="34" charset="-127"/>
                <a:ea typeface="Nanum Gothic" panose="020D0604000000000000" pitchFamily="34" charset="-127"/>
              </a:rPr>
              <a:t>복원처리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83" name="직사각형 82"/>
          <p:cNvSpPr/>
          <p:nvPr/>
        </p:nvSpPr>
        <p:spPr>
          <a:xfrm>
            <a:off x="2051503"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84"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0469"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85" name="직사각형 84"/>
          <p:cNvSpPr/>
          <p:nvPr/>
        </p:nvSpPr>
        <p:spPr>
          <a:xfrm>
            <a:off x="3057124"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93"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6071" y="1684685"/>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57" name="직사각형 56"/>
          <p:cNvSpPr/>
          <p:nvPr/>
        </p:nvSpPr>
        <p:spPr>
          <a:xfrm>
            <a:off x="3971390"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58" name="직사각형 57"/>
          <p:cNvSpPr/>
          <p:nvPr/>
        </p:nvSpPr>
        <p:spPr>
          <a:xfrm>
            <a:off x="4432145"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59" name="직사각형 58"/>
          <p:cNvSpPr/>
          <p:nvPr/>
        </p:nvSpPr>
        <p:spPr>
          <a:xfrm>
            <a:off x="4894612"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3</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graphicFrame>
        <p:nvGraphicFramePr>
          <p:cNvPr id="65" name="표 64"/>
          <p:cNvGraphicFramePr>
            <a:graphicFrameLocks noGrp="1"/>
          </p:cNvGraphicFramePr>
          <p:nvPr/>
        </p:nvGraphicFramePr>
        <p:xfrm>
          <a:off x="7453089" y="836962"/>
          <a:ext cx="2357214" cy="228864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채널사별</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주문된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티켓번호</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기준으로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리스팅</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최근 구매일 기준으로 나열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5</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검색결과 전체 엑셀 다운로드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6</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구매완료상태시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사용처리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버튼으로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사용완료상태시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복원처리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버튼으로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각각의 버튼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노출시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컨펌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얼럿</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사용처리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얼럿문구</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복원처리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얼럿문구</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pic>
        <p:nvPicPr>
          <p:cNvPr id="66" name="그림 65"/>
          <p:cNvPicPr>
            <a:picLocks noChangeAspect="1"/>
          </p:cNvPicPr>
          <p:nvPr/>
        </p:nvPicPr>
        <p:blipFill>
          <a:blip r:embed="rId4" cstate="print"/>
          <a:stretch>
            <a:fillRect/>
          </a:stretch>
        </p:blipFill>
        <p:spPr>
          <a:xfrm>
            <a:off x="2010496" y="2563955"/>
            <a:ext cx="203832" cy="108710"/>
          </a:xfrm>
          <a:prstGeom prst="rect">
            <a:avLst/>
          </a:prstGeom>
        </p:spPr>
      </p:pic>
      <p:pic>
        <p:nvPicPr>
          <p:cNvPr id="68" name="그림 67"/>
          <p:cNvPicPr>
            <a:picLocks noChangeAspect="1"/>
          </p:cNvPicPr>
          <p:nvPr/>
        </p:nvPicPr>
        <p:blipFill>
          <a:blip r:embed="rId4" cstate="print"/>
          <a:stretch>
            <a:fillRect/>
          </a:stretch>
        </p:blipFill>
        <p:spPr>
          <a:xfrm>
            <a:off x="2620143" y="2554136"/>
            <a:ext cx="203832" cy="108710"/>
          </a:xfrm>
          <a:prstGeom prst="rect">
            <a:avLst/>
          </a:prstGeom>
        </p:spPr>
      </p:pic>
      <p:pic>
        <p:nvPicPr>
          <p:cNvPr id="72" name="그림 71"/>
          <p:cNvPicPr>
            <a:picLocks noChangeAspect="1"/>
          </p:cNvPicPr>
          <p:nvPr/>
        </p:nvPicPr>
        <p:blipFill>
          <a:blip r:embed="rId4" cstate="print"/>
          <a:stretch>
            <a:fillRect/>
          </a:stretch>
        </p:blipFill>
        <p:spPr>
          <a:xfrm>
            <a:off x="3260759" y="2557017"/>
            <a:ext cx="203832" cy="108710"/>
          </a:xfrm>
          <a:prstGeom prst="rect">
            <a:avLst/>
          </a:prstGeom>
        </p:spPr>
      </p:pic>
      <p:pic>
        <p:nvPicPr>
          <p:cNvPr id="73" name="그림 72"/>
          <p:cNvPicPr>
            <a:picLocks noChangeAspect="1"/>
          </p:cNvPicPr>
          <p:nvPr/>
        </p:nvPicPr>
        <p:blipFill>
          <a:blip r:embed="rId4" cstate="print"/>
          <a:stretch>
            <a:fillRect/>
          </a:stretch>
        </p:blipFill>
        <p:spPr>
          <a:xfrm>
            <a:off x="3870406" y="2547198"/>
            <a:ext cx="203832" cy="108710"/>
          </a:xfrm>
          <a:prstGeom prst="rect">
            <a:avLst/>
          </a:prstGeom>
        </p:spPr>
      </p:pic>
      <p:sp>
        <p:nvSpPr>
          <p:cNvPr id="60" name="직사각형 59"/>
          <p:cNvSpPr/>
          <p:nvPr/>
        </p:nvSpPr>
        <p:spPr>
          <a:xfrm>
            <a:off x="7742315" y="2029616"/>
            <a:ext cx="2041322" cy="51758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r>
              <a:rPr lang="ko-KR" altLang="en-US" sz="800" dirty="0">
                <a:solidFill>
                  <a:schemeClr val="tx1"/>
                </a:solidFill>
                <a:latin typeface="Nanum Gothic" panose="020D0604000000000000" pitchFamily="34" charset="-127"/>
                <a:ea typeface="Nanum Gothic" panose="020D0604000000000000" pitchFamily="34" charset="-127"/>
              </a:rPr>
              <a:t>선택한 상품을 </a:t>
            </a:r>
            <a:r>
              <a:rPr lang="ko-KR" altLang="en-US" sz="800" dirty="0" err="1">
                <a:solidFill>
                  <a:schemeClr val="tx1"/>
                </a:solidFill>
                <a:latin typeface="Nanum Gothic" panose="020D0604000000000000" pitchFamily="34" charset="-127"/>
                <a:ea typeface="Nanum Gothic" panose="020D0604000000000000" pitchFamily="34" charset="-127"/>
              </a:rPr>
              <a:t>사용처리로</a:t>
            </a:r>
            <a:r>
              <a:rPr lang="ko-KR" altLang="en-US" sz="800" dirty="0">
                <a:solidFill>
                  <a:schemeClr val="tx1"/>
                </a:solidFill>
                <a:latin typeface="Nanum Gothic" panose="020D0604000000000000" pitchFamily="34" charset="-127"/>
                <a:ea typeface="Nanum Gothic" panose="020D0604000000000000" pitchFamily="34" charset="-127"/>
              </a:rPr>
              <a:t> 변경합니다</a:t>
            </a:r>
            <a:r>
              <a:rPr lang="en-US" altLang="ko-KR" sz="800" dirty="0">
                <a:solidFill>
                  <a:schemeClr val="tx1"/>
                </a:solidFill>
                <a:latin typeface="Nanum Gothic" panose="020D0604000000000000" pitchFamily="34" charset="-127"/>
                <a:ea typeface="Nanum Gothic" panose="020D0604000000000000" pitchFamily="34" charset="-127"/>
              </a:rPr>
              <a:t>.</a:t>
            </a:r>
          </a:p>
          <a:p>
            <a:pPr algn="ctr"/>
            <a:r>
              <a:rPr lang="ko-KR" altLang="en-US" sz="800" dirty="0">
                <a:solidFill>
                  <a:schemeClr val="tx1"/>
                </a:solidFill>
                <a:latin typeface="Nanum Gothic" panose="020D0604000000000000" pitchFamily="34" charset="-127"/>
                <a:ea typeface="Nanum Gothic" panose="020D0604000000000000" pitchFamily="34" charset="-127"/>
              </a:rPr>
              <a:t>계속하시겠습니까</a:t>
            </a:r>
            <a:r>
              <a:rPr lang="en-US" altLang="ko-KR" sz="800" dirty="0">
                <a:solidFill>
                  <a:schemeClr val="tx1"/>
                </a:solidFill>
                <a:latin typeface="Nanum Gothic" panose="020D0604000000000000" pitchFamily="34" charset="-127"/>
                <a:ea typeface="Nanum Gothic" panose="020D0604000000000000" pitchFamily="34" charset="-127"/>
              </a:rPr>
              <a:t>?</a:t>
            </a:r>
          </a:p>
          <a:p>
            <a:pPr algn="ctr"/>
            <a:endParaRPr lang="en-US" altLang="ko-KR" sz="800" dirty="0">
              <a:solidFill>
                <a:schemeClr val="tx1"/>
              </a:solidFill>
              <a:latin typeface="Nanum Gothic" panose="020D0604000000000000" pitchFamily="34" charset="-127"/>
              <a:ea typeface="Nanum Gothic" panose="020D0604000000000000" pitchFamily="34" charset="-127"/>
            </a:endParaRPr>
          </a:p>
          <a:p>
            <a:pPr algn="ctr"/>
            <a:endParaRPr lang="en-US" altLang="ko-KR" sz="800" dirty="0">
              <a:solidFill>
                <a:schemeClr val="tx1"/>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8061868" y="2334270"/>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확인</a:t>
            </a:r>
          </a:p>
        </p:txBody>
      </p:sp>
      <p:sp>
        <p:nvSpPr>
          <p:cNvPr id="64" name="직사각형 63"/>
          <p:cNvSpPr/>
          <p:nvPr/>
        </p:nvSpPr>
        <p:spPr>
          <a:xfrm>
            <a:off x="8786992" y="2325256"/>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취소</a:t>
            </a:r>
          </a:p>
        </p:txBody>
      </p:sp>
      <p:sp>
        <p:nvSpPr>
          <p:cNvPr id="80" name="직사각형 79"/>
          <p:cNvSpPr/>
          <p:nvPr/>
        </p:nvSpPr>
        <p:spPr>
          <a:xfrm>
            <a:off x="7716707" y="2746393"/>
            <a:ext cx="2041322" cy="51758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r>
              <a:rPr lang="ko-KR" altLang="en-US" sz="800" dirty="0">
                <a:solidFill>
                  <a:schemeClr val="tx1"/>
                </a:solidFill>
                <a:latin typeface="Nanum Gothic" panose="020D0604000000000000" pitchFamily="34" charset="-127"/>
                <a:ea typeface="Nanum Gothic" panose="020D0604000000000000" pitchFamily="34" charset="-127"/>
              </a:rPr>
              <a:t>선택한 상품을 복원합니다</a:t>
            </a:r>
            <a:r>
              <a:rPr lang="en-US" altLang="ko-KR" sz="800" dirty="0">
                <a:solidFill>
                  <a:schemeClr val="tx1"/>
                </a:solidFill>
                <a:latin typeface="Nanum Gothic" panose="020D0604000000000000" pitchFamily="34" charset="-127"/>
                <a:ea typeface="Nanum Gothic" panose="020D0604000000000000" pitchFamily="34" charset="-127"/>
              </a:rPr>
              <a:t>.</a:t>
            </a:r>
          </a:p>
          <a:p>
            <a:pPr algn="ctr"/>
            <a:r>
              <a:rPr lang="ko-KR" altLang="en-US" sz="800" dirty="0">
                <a:solidFill>
                  <a:schemeClr val="tx1"/>
                </a:solidFill>
                <a:latin typeface="Nanum Gothic" panose="020D0604000000000000" pitchFamily="34" charset="-127"/>
                <a:ea typeface="Nanum Gothic" panose="020D0604000000000000" pitchFamily="34" charset="-127"/>
              </a:rPr>
              <a:t>계속하시겠습니까</a:t>
            </a:r>
            <a:r>
              <a:rPr lang="en-US" altLang="ko-KR" sz="800" dirty="0">
                <a:solidFill>
                  <a:schemeClr val="tx1"/>
                </a:solidFill>
                <a:latin typeface="Nanum Gothic" panose="020D0604000000000000" pitchFamily="34" charset="-127"/>
                <a:ea typeface="Nanum Gothic" panose="020D0604000000000000" pitchFamily="34" charset="-127"/>
              </a:rPr>
              <a:t>?</a:t>
            </a:r>
          </a:p>
          <a:p>
            <a:pPr algn="ctr"/>
            <a:endParaRPr lang="en-US" altLang="ko-KR" sz="800" dirty="0">
              <a:solidFill>
                <a:schemeClr val="tx1"/>
              </a:solidFill>
              <a:latin typeface="Nanum Gothic" panose="020D0604000000000000" pitchFamily="34" charset="-127"/>
              <a:ea typeface="Nanum Gothic" panose="020D0604000000000000" pitchFamily="34" charset="-127"/>
            </a:endParaRPr>
          </a:p>
          <a:p>
            <a:pPr algn="ctr"/>
            <a:endParaRPr lang="en-US" altLang="ko-KR" sz="800" dirty="0">
              <a:solidFill>
                <a:schemeClr val="tx1"/>
              </a:solidFill>
              <a:latin typeface="Nanum Gothic" panose="020D0604000000000000" pitchFamily="34" charset="-127"/>
              <a:ea typeface="Nanum Gothic" panose="020D0604000000000000" pitchFamily="34" charset="-127"/>
            </a:endParaRPr>
          </a:p>
        </p:txBody>
      </p:sp>
      <p:sp>
        <p:nvSpPr>
          <p:cNvPr id="81" name="직사각형 80"/>
          <p:cNvSpPr/>
          <p:nvPr/>
        </p:nvSpPr>
        <p:spPr>
          <a:xfrm>
            <a:off x="8036260" y="3051047"/>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확인</a:t>
            </a:r>
          </a:p>
        </p:txBody>
      </p:sp>
      <p:sp>
        <p:nvSpPr>
          <p:cNvPr id="82" name="직사각형 81"/>
          <p:cNvSpPr/>
          <p:nvPr/>
        </p:nvSpPr>
        <p:spPr>
          <a:xfrm>
            <a:off x="8761384" y="304203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취소</a:t>
            </a:r>
          </a:p>
        </p:txBody>
      </p:sp>
      <p:graphicFrame>
        <p:nvGraphicFramePr>
          <p:cNvPr id="3" name="표 2"/>
          <p:cNvGraphicFramePr>
            <a:graphicFrameLocks noGrp="1"/>
          </p:cNvGraphicFramePr>
          <p:nvPr/>
        </p:nvGraphicFramePr>
        <p:xfrm>
          <a:off x="7453089" y="5597281"/>
          <a:ext cx="2357214" cy="1939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7</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해당 채널의 상품상세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새창</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7" name="타원 86"/>
          <p:cNvSpPr/>
          <p:nvPr/>
        </p:nvSpPr>
        <p:spPr>
          <a:xfrm>
            <a:off x="2536248" y="315943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나눔고딕" pitchFamily="50" charset="-127"/>
                <a:ea typeface="나눔고딕" pitchFamily="50" charset="-127"/>
              </a:rPr>
              <a:t>5</a:t>
            </a:r>
            <a:endParaRPr lang="ko-KR" altLang="en-US" sz="800" b="1" dirty="0">
              <a:latin typeface="나눔고딕" pitchFamily="50" charset="-127"/>
              <a:ea typeface="나눔고딕" pitchFamily="50" charset="-127"/>
            </a:endParaRPr>
          </a:p>
        </p:txBody>
      </p:sp>
      <p:sp>
        <p:nvSpPr>
          <p:cNvPr id="88" name="타원 87"/>
          <p:cNvSpPr/>
          <p:nvPr/>
        </p:nvSpPr>
        <p:spPr>
          <a:xfrm>
            <a:off x="1651210" y="358295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나눔고딕" pitchFamily="50" charset="-127"/>
                <a:ea typeface="나눔고딕" pitchFamily="50" charset="-127"/>
              </a:rPr>
              <a:t>6</a:t>
            </a:r>
            <a:endParaRPr lang="ko-KR" altLang="en-US" sz="800" b="1" dirty="0">
              <a:latin typeface="나눔고딕" pitchFamily="50" charset="-127"/>
              <a:ea typeface="나눔고딕" pitchFamily="50" charset="-127"/>
            </a:endParaRPr>
          </a:p>
        </p:txBody>
      </p:sp>
      <p:sp>
        <p:nvSpPr>
          <p:cNvPr id="89" name="타원 88"/>
          <p:cNvSpPr/>
          <p:nvPr/>
        </p:nvSpPr>
        <p:spPr>
          <a:xfrm>
            <a:off x="6830080" y="463051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latin typeface="나눔고딕" pitchFamily="50" charset="-127"/>
                <a:ea typeface="나눔고딕" pitchFamily="50" charset="-127"/>
              </a:rPr>
              <a:t>7</a:t>
            </a:r>
            <a:endParaRPr lang="ko-KR" altLang="en-US" sz="800" b="1" dirty="0">
              <a:latin typeface="나눔고딕" pitchFamily="50" charset="-127"/>
              <a:ea typeface="나눔고딕" pitchFamily="50" charset="-127"/>
            </a:endParaRPr>
          </a:p>
        </p:txBody>
      </p:sp>
      <p:sp>
        <p:nvSpPr>
          <p:cNvPr id="90" name="직사각형 89"/>
          <p:cNvSpPr/>
          <p:nvPr/>
        </p:nvSpPr>
        <p:spPr>
          <a:xfrm>
            <a:off x="6890488" y="4654622"/>
            <a:ext cx="722597" cy="200041"/>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2640466" cy="461665"/>
          </a:xfrm>
          <a:prstGeom prst="rect">
            <a:avLst/>
          </a:prstGeom>
          <a:noFill/>
        </p:spPr>
        <p:txBody>
          <a:bodyPr wrap="none" rtlCol="0">
            <a:spAutoFit/>
          </a:bodyPr>
          <a:lstStyle/>
          <a:p>
            <a:r>
              <a:rPr lang="en-US" altLang="ko-KR" sz="2400" b="1" dirty="0">
                <a:solidFill>
                  <a:srgbClr val="4B4C58"/>
                </a:solidFill>
                <a:latin typeface="Nanum Gothic" panose="020D0604000000000000" pitchFamily="34" charset="-127"/>
                <a:ea typeface="Nanum Gothic" panose="020D0604000000000000" pitchFamily="34" charset="-127"/>
              </a:rPr>
              <a:t>[PC]</a:t>
            </a:r>
            <a:r>
              <a:rPr lang="ko-KR" altLang="en-US" sz="2400" b="1" dirty="0">
                <a:solidFill>
                  <a:srgbClr val="4B4C58"/>
                </a:solidFill>
                <a:latin typeface="Nanum Gothic" panose="020D0604000000000000" pitchFamily="34" charset="-127"/>
                <a:ea typeface="Nanum Gothic" panose="020D0604000000000000" pitchFamily="34" charset="-127"/>
              </a:rPr>
              <a:t>매출</a:t>
            </a:r>
            <a:r>
              <a:rPr lang="en-US" altLang="ko-KR" sz="2400" b="1" dirty="0">
                <a:solidFill>
                  <a:srgbClr val="4B4C58"/>
                </a:solidFill>
                <a:latin typeface="Nanum Gothic" panose="020D0604000000000000" pitchFamily="34" charset="-127"/>
                <a:ea typeface="Nanum Gothic" panose="020D0604000000000000" pitchFamily="34" charset="-127"/>
              </a:rPr>
              <a:t>/</a:t>
            </a:r>
            <a:r>
              <a:rPr lang="ko-KR" altLang="en-US" sz="2400" b="1" dirty="0" err="1">
                <a:solidFill>
                  <a:srgbClr val="4B4C58"/>
                </a:solidFill>
                <a:latin typeface="Nanum Gothic" panose="020D0604000000000000" pitchFamily="34" charset="-127"/>
                <a:ea typeface="Nanum Gothic" panose="020D0604000000000000" pitchFamily="34" charset="-127"/>
              </a:rPr>
              <a:t>정산관리</a:t>
            </a:r>
            <a:endParaRPr lang="en-US" altLang="ko-KR" sz="2400" b="1" dirty="0">
              <a:solidFill>
                <a:srgbClr val="4B4C58"/>
              </a:solidFill>
              <a:latin typeface="Nanum Gothic" panose="020D0604000000000000" pitchFamily="34" charset="-127"/>
              <a:ea typeface="Nanum Gothic" panose="020D0604000000000000" pitchFamily="34" charset="-127"/>
            </a:endParaRPr>
          </a:p>
        </p:txBody>
      </p:sp>
      <p:sp>
        <p:nvSpPr>
          <p:cNvPr id="5" name="TextBox 4"/>
          <p:cNvSpPr txBox="1"/>
          <p:nvPr/>
        </p:nvSpPr>
        <p:spPr>
          <a:xfrm>
            <a:off x="374438" y="2670820"/>
            <a:ext cx="1901483" cy="276999"/>
          </a:xfrm>
          <a:prstGeom prst="rect">
            <a:avLst/>
          </a:prstGeom>
          <a:noFill/>
        </p:spPr>
        <p:txBody>
          <a:bodyPr wrap="none" rtlCol="0">
            <a:spAutoFit/>
          </a:bodyPr>
          <a:lstStyle/>
          <a:p>
            <a:r>
              <a:rPr lang="ko-KR" altLang="en-US" sz="1200" dirty="0" err="1">
                <a:solidFill>
                  <a:srgbClr val="E72F14"/>
                </a:solidFill>
                <a:latin typeface="Nanum Gothic" panose="020D0604000000000000" pitchFamily="34" charset="-127"/>
                <a:ea typeface="Nanum Gothic" panose="020D0604000000000000" pitchFamily="34" charset="-127"/>
              </a:rPr>
              <a:t>티켓통합</a:t>
            </a:r>
            <a:r>
              <a:rPr lang="ko-KR" altLang="en-US" sz="1200" dirty="0">
                <a:solidFill>
                  <a:srgbClr val="E72F14"/>
                </a:solidFill>
                <a:latin typeface="Nanum Gothic" panose="020D0604000000000000" pitchFamily="34" charset="-127"/>
                <a:ea typeface="Nanum Gothic" panose="020D0604000000000000" pitchFamily="34" charset="-127"/>
              </a:rPr>
              <a:t> 솔루션 티브리지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a:t>
            </a:r>
            <a:r>
              <a:rPr kumimoji="1" lang="ko-KR" altLang="en-US" dirty="0"/>
              <a:t>정책</a:t>
            </a:r>
            <a:r>
              <a:rPr kumimoji="1" lang="en-US" altLang="ko-KR" dirty="0"/>
              <a:t>]</a:t>
            </a:r>
            <a:r>
              <a:rPr kumimoji="1" lang="ko-KR" altLang="en-US" dirty="0"/>
              <a:t> </a:t>
            </a:r>
            <a:r>
              <a:rPr kumimoji="1" lang="ko-KR" altLang="en-US" dirty="0" err="1"/>
              <a:t>매출관리</a:t>
            </a:r>
            <a:endParaRPr kumimoji="1" lang="ko-KR" altLang="en-US" dirty="0"/>
          </a:p>
        </p:txBody>
      </p:sp>
      <p:sp>
        <p:nvSpPr>
          <p:cNvPr id="5" name="TextBox 4"/>
          <p:cNvSpPr txBox="1"/>
          <p:nvPr/>
        </p:nvSpPr>
        <p:spPr>
          <a:xfrm>
            <a:off x="416496" y="1916832"/>
            <a:ext cx="8712968" cy="3112390"/>
          </a:xfrm>
          <a:prstGeom prst="rect">
            <a:avLst/>
          </a:prstGeom>
          <a:noFill/>
        </p:spPr>
        <p:txBody>
          <a:bodyPr wrap="square" rtlCol="0">
            <a:spAutoFit/>
          </a:bodyPr>
          <a:lstStyle/>
          <a:p>
            <a:pPr marL="171450" indent="-171450">
              <a:lnSpc>
                <a:spcPct val="150000"/>
              </a:lnSpc>
              <a:buFont typeface="Wingdings" panose="05000000000000000000" pitchFamily="2" charset="2"/>
              <a:buChar char="v"/>
            </a:pPr>
            <a:r>
              <a:rPr kumimoji="1" lang="ko-KR" altLang="en-US" sz="1200" b="1" dirty="0" err="1">
                <a:latin typeface="Nanum Gothic" panose="020D0604000000000000" pitchFamily="34" charset="-127"/>
                <a:ea typeface="Nanum Gothic" panose="020D0604000000000000" pitchFamily="34" charset="-127"/>
              </a:rPr>
              <a:t>매출관리</a:t>
            </a:r>
            <a:endParaRPr kumimoji="1" lang="en-US" altLang="ko-KR" sz="1200" b="1" dirty="0">
              <a:latin typeface="Nanum Gothic" panose="020D0604000000000000" pitchFamily="34" charset="-127"/>
              <a:ea typeface="Nanum Gothic" panose="020D0604000000000000" pitchFamily="34" charset="-127"/>
            </a:endParaRPr>
          </a:p>
          <a:p>
            <a:pPr marL="354330" indent="-171450">
              <a:lnSpc>
                <a:spcPct val="150000"/>
              </a:lnSpc>
              <a:buFont typeface="Arial" panose="020B0604020202020204" pitchFamily="34" charset="0"/>
              <a:buChar char="•"/>
            </a:pPr>
            <a:r>
              <a:rPr kumimoji="1" lang="ko-KR" altLang="en-US" sz="1000" dirty="0" err="1">
                <a:latin typeface="Nanum Gothic" panose="020D0604000000000000" pitchFamily="34" charset="-127"/>
                <a:ea typeface="Nanum Gothic" panose="020D0604000000000000" pitchFamily="34" charset="-127"/>
              </a:rPr>
              <a:t>주문관리</a:t>
            </a:r>
            <a:r>
              <a:rPr kumimoji="1" lang="ko-KR" altLang="en-US" sz="1000" dirty="0">
                <a:latin typeface="Nanum Gothic" panose="020D0604000000000000" pitchFamily="34" charset="-127"/>
                <a:ea typeface="Nanum Gothic" panose="020D0604000000000000" pitchFamily="34" charset="-127"/>
              </a:rPr>
              <a:t> 통해 수집 된 판매</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사용처리</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환불 데이터 각각 적재하여 하기 기준의 데이터 기반</a:t>
            </a:r>
            <a:endParaRPr kumimoji="1" lang="en-US" altLang="ko-KR" sz="1000" dirty="0">
              <a:latin typeface="Nanum Gothic" panose="020D0604000000000000" pitchFamily="34" charset="-127"/>
              <a:ea typeface="Nanum Gothic" panose="020D0604000000000000" pitchFamily="34" charset="-127"/>
            </a:endParaRPr>
          </a:p>
          <a:p>
            <a:pPr marL="354330" indent="-171450">
              <a:lnSpc>
                <a:spcPct val="150000"/>
              </a:lnSpc>
              <a:buFont typeface="Arial" panose="020B0604020202020204" pitchFamily="34" charset="0"/>
              <a:buChar char="•"/>
            </a:pPr>
            <a:r>
              <a:rPr kumimoji="1" lang="ko-KR" altLang="en-US" sz="1000" dirty="0">
                <a:latin typeface="Nanum Gothic" panose="020D0604000000000000" pitchFamily="34" charset="-127"/>
                <a:ea typeface="Nanum Gothic" panose="020D0604000000000000" pitchFamily="34" charset="-127"/>
              </a:rPr>
              <a:t>기간별</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err="1">
                <a:latin typeface="Nanum Gothic" panose="020D0604000000000000" pitchFamily="34" charset="-127"/>
                <a:ea typeface="Nanum Gothic" panose="020D0604000000000000" pitchFamily="34" charset="-127"/>
              </a:rPr>
              <a:t>채널별</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시설사별</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상품별</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err="1">
                <a:latin typeface="Nanum Gothic" panose="020D0604000000000000" pitchFamily="34" charset="-127"/>
                <a:ea typeface="Nanum Gothic" panose="020D0604000000000000" pitchFamily="34" charset="-127"/>
              </a:rPr>
              <a:t>옵션별로</a:t>
            </a:r>
            <a:r>
              <a:rPr kumimoji="1" lang="ko-KR" altLang="en-US" sz="1000" dirty="0">
                <a:latin typeface="Nanum Gothic" panose="020D0604000000000000" pitchFamily="34" charset="-127"/>
                <a:ea typeface="Nanum Gothic" panose="020D0604000000000000" pitchFamily="34" charset="-127"/>
              </a:rPr>
              <a:t> 하기 데이터를 조합해서 조회 가능해야 함</a:t>
            </a:r>
            <a:r>
              <a:rPr kumimoji="1" lang="en-US" altLang="ko-KR" sz="1000" dirty="0">
                <a:latin typeface="Nanum Gothic" panose="020D0604000000000000" pitchFamily="34" charset="-127"/>
                <a:ea typeface="Nanum Gothic" panose="020D0604000000000000" pitchFamily="34" charset="-127"/>
              </a:rPr>
              <a:t>.</a:t>
            </a: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p:txBody>
      </p:sp>
      <p:graphicFrame>
        <p:nvGraphicFramePr>
          <p:cNvPr id="8" name="표 7"/>
          <p:cNvGraphicFramePr>
            <a:graphicFrameLocks noGrp="1"/>
          </p:cNvGraphicFramePr>
          <p:nvPr/>
        </p:nvGraphicFramePr>
        <p:xfrm>
          <a:off x="920552" y="2852936"/>
          <a:ext cx="3672408" cy="1993649"/>
        </p:xfrm>
        <a:graphic>
          <a:graphicData uri="http://schemas.openxmlformats.org/drawingml/2006/table">
            <a:tbl>
              <a:tblPr/>
              <a:tblGrid>
                <a:gridCol w="936104">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tblGrid>
              <a:tr h="189409">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구분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주문수량</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225530">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주문수량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구매완료된</a:t>
                      </a:r>
                      <a:r>
                        <a:rPr lang="ko-KR" altLang="en-US" sz="800" b="0" i="0" u="none" strike="noStrike" dirty="0">
                          <a:solidFill>
                            <a:srgbClr val="000000"/>
                          </a:solidFill>
                          <a:effectLst/>
                          <a:latin typeface="Malgun Gothic" panose="020B0503020000020004" charset="-127"/>
                          <a:ea typeface="Malgun Gothic" panose="020B0503020000020004" charset="-127"/>
                        </a:rPr>
                        <a:t> 티켓 수량 </a:t>
                      </a:r>
                      <a:r>
                        <a:rPr lang="en-US" altLang="ko-KR" sz="800" b="0" i="0" u="none" strike="noStrike" dirty="0">
                          <a:solidFill>
                            <a:srgbClr val="000000"/>
                          </a:solidFill>
                          <a:effectLst/>
                          <a:latin typeface="Malgun Gothic" panose="020B0503020000020004" charset="-127"/>
                          <a:ea typeface="Malgun Gothic" panose="020B0503020000020004" charset="-127"/>
                        </a:rPr>
                        <a:t>+</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ko-KR" altLang="en-US" sz="800" b="0" i="0" u="none" strike="noStrike" dirty="0" err="1">
                          <a:solidFill>
                            <a:srgbClr val="000000"/>
                          </a:solidFill>
                          <a:effectLst/>
                          <a:latin typeface="Malgun Gothic" panose="020B0503020000020004" charset="-127"/>
                          <a:ea typeface="Malgun Gothic" panose="020B0503020000020004" charset="-127"/>
                        </a:rPr>
                        <a:t>사용완료된</a:t>
                      </a:r>
                      <a:r>
                        <a:rPr lang="ko-KR" altLang="en-US" sz="800" b="0" i="0" u="none" strike="noStrike" dirty="0">
                          <a:solidFill>
                            <a:srgbClr val="000000"/>
                          </a:solidFill>
                          <a:effectLst/>
                          <a:latin typeface="Malgun Gothic" panose="020B0503020000020004" charset="-127"/>
                          <a:ea typeface="Malgun Gothic" panose="020B0503020000020004" charset="-127"/>
                        </a:rPr>
                        <a:t> 티켓 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25530">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주문금액</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구매완료</a:t>
                      </a:r>
                      <a:r>
                        <a:rPr lang="en-US" altLang="ko-KR" sz="800" b="0" i="0" u="none" strike="noStrike" dirty="0">
                          <a:solidFill>
                            <a:srgbClr val="000000"/>
                          </a:solidFill>
                          <a:effectLst/>
                          <a:latin typeface="Malgun Gothic" panose="020B0503020000020004" charset="-127"/>
                          <a:ea typeface="Malgun Gothic" panose="020B0503020000020004" charset="-127"/>
                        </a:rPr>
                        <a:t>/</a:t>
                      </a:r>
                      <a:r>
                        <a:rPr lang="ko-KR" altLang="en-US" sz="800" b="0" i="0" u="none" strike="noStrike" dirty="0" err="1">
                          <a:solidFill>
                            <a:srgbClr val="000000"/>
                          </a:solidFill>
                          <a:effectLst/>
                          <a:latin typeface="Malgun Gothic" panose="020B0503020000020004" charset="-127"/>
                          <a:ea typeface="Malgun Gothic" panose="020B0503020000020004" charset="-127"/>
                        </a:rPr>
                        <a:t>사용완료된</a:t>
                      </a:r>
                      <a:r>
                        <a:rPr lang="ko-KR" altLang="en-US" sz="800" b="0" i="0" u="none" strike="noStrike" dirty="0">
                          <a:solidFill>
                            <a:srgbClr val="000000"/>
                          </a:solidFill>
                          <a:effectLst/>
                          <a:latin typeface="Malgun Gothic" panose="020B0503020000020004" charset="-127"/>
                          <a:ea typeface="Malgun Gothic" panose="020B0503020000020004" charset="-127"/>
                        </a:rPr>
                        <a:t> 티켓의 판매가 * </a:t>
                      </a:r>
                      <a:r>
                        <a:rPr lang="ko-KR" altLang="en-US" sz="800" b="0" i="0" u="none" strike="noStrike" dirty="0" err="1">
                          <a:solidFill>
                            <a:srgbClr val="000000"/>
                          </a:solidFill>
                          <a:effectLst/>
                          <a:latin typeface="Malgun Gothic" panose="020B0503020000020004" charset="-127"/>
                          <a:ea typeface="Malgun Gothic" panose="020B0503020000020004" charset="-127"/>
                        </a:rPr>
                        <a:t>주문수량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25530">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취소수량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환불완료된</a:t>
                      </a:r>
                      <a:r>
                        <a:rPr lang="ko-KR" altLang="en-US" sz="800" b="0" i="0" u="none" strike="noStrike" dirty="0">
                          <a:solidFill>
                            <a:srgbClr val="000000"/>
                          </a:solidFill>
                          <a:effectLst/>
                          <a:latin typeface="Malgun Gothic" panose="020B0503020000020004" charset="-127"/>
                          <a:ea typeface="Malgun Gothic" panose="020B0503020000020004" charset="-127"/>
                        </a:rPr>
                        <a:t> 티켓 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25530">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취소금액</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환불완료된</a:t>
                      </a:r>
                      <a:r>
                        <a:rPr lang="ko-KR" altLang="en-US" sz="800" b="0" i="0" u="none" strike="noStrike" dirty="0">
                          <a:solidFill>
                            <a:srgbClr val="000000"/>
                          </a:solidFill>
                          <a:effectLst/>
                          <a:latin typeface="Malgun Gothic" panose="020B0503020000020004" charset="-127"/>
                          <a:ea typeface="Malgun Gothic" panose="020B0503020000020004" charset="-127"/>
                        </a:rPr>
                        <a:t> 티켓의 판매가 * </a:t>
                      </a:r>
                      <a:r>
                        <a:rPr lang="ko-KR" altLang="en-US" sz="800" b="0" i="0" u="none" strike="noStrike" dirty="0" err="1">
                          <a:solidFill>
                            <a:srgbClr val="000000"/>
                          </a:solidFill>
                          <a:effectLst/>
                          <a:latin typeface="Malgun Gothic" panose="020B0503020000020004" charset="-127"/>
                          <a:ea typeface="Malgun Gothic" panose="020B0503020000020004" charset="-127"/>
                        </a:rPr>
                        <a:t>취소수량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25530">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실판매수량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주문수량</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 </a:t>
                      </a:r>
                      <a:r>
                        <a:rPr lang="ko-KR" altLang="en-US" sz="800" b="0" i="0" u="none" strike="noStrike" dirty="0" err="1">
                          <a:solidFill>
                            <a:srgbClr val="000000"/>
                          </a:solidFill>
                          <a:effectLst/>
                          <a:latin typeface="Malgun Gothic" panose="020B0503020000020004" charset="-127"/>
                          <a:ea typeface="Malgun Gothic" panose="020B0503020000020004" charset="-127"/>
                        </a:rPr>
                        <a:t>취소수량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25530">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실판매금액</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800" b="0" i="0" u="none" strike="noStrike" dirty="0" err="1">
                          <a:solidFill>
                            <a:srgbClr val="000000"/>
                          </a:solidFill>
                          <a:effectLst/>
                          <a:latin typeface="Malgun Gothic" panose="020B0503020000020004" charset="-127"/>
                          <a:ea typeface="Malgun Gothic" panose="020B0503020000020004" charset="-127"/>
                        </a:rPr>
                        <a:t>주문금액</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 </a:t>
                      </a:r>
                      <a:r>
                        <a:rPr lang="ko-KR" altLang="en-US" sz="800" b="0" i="0" u="none" strike="noStrike" dirty="0" err="1">
                          <a:solidFill>
                            <a:srgbClr val="000000"/>
                          </a:solidFill>
                          <a:effectLst/>
                          <a:latin typeface="Malgun Gothic" panose="020B0503020000020004" charset="-127"/>
                          <a:ea typeface="Malgun Gothic" panose="020B0503020000020004" charset="-127"/>
                        </a:rPr>
                        <a:t>취소금액</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25530">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사용처리수량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사용처리된</a:t>
                      </a:r>
                      <a:r>
                        <a:rPr lang="ko-KR" altLang="en-US" sz="800" b="0" i="0" u="none" strike="noStrike" dirty="0">
                          <a:solidFill>
                            <a:srgbClr val="000000"/>
                          </a:solidFill>
                          <a:effectLst/>
                          <a:latin typeface="Malgun Gothic" panose="020B0503020000020004" charset="-127"/>
                          <a:ea typeface="Malgun Gothic" panose="020B0503020000020004" charset="-127"/>
                        </a:rPr>
                        <a:t> 티켓 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25530">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사용처리금액</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사용처리</a:t>
                      </a:r>
                      <a:r>
                        <a:rPr lang="ko-KR" altLang="en-US" sz="800" b="0" i="0" u="none" strike="noStrike" dirty="0">
                          <a:solidFill>
                            <a:srgbClr val="000000"/>
                          </a:solidFill>
                          <a:effectLst/>
                          <a:latin typeface="Malgun Gothic" panose="020B0503020000020004" charset="-127"/>
                          <a:ea typeface="Malgun Gothic" panose="020B0503020000020004" charset="-127"/>
                        </a:rPr>
                        <a:t> 완료된 티켓의 판매가 * 사용처리수량</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정산관리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매출내역</a:t>
            </a:r>
            <a:endParaRPr lang="ko-KR" altLang="en-US" dirty="0">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106" name="TextBox 105"/>
          <p:cNvSpPr txBox="1"/>
          <p:nvPr/>
        </p:nvSpPr>
        <p:spPr>
          <a:xfrm>
            <a:off x="1191375" y="1085116"/>
            <a:ext cx="761747"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매출내역</a:t>
            </a:r>
            <a:endParaRPr lang="ko-KR" altLang="en-US" sz="1200" b="1" dirty="0">
              <a:latin typeface="Nanum Gothic" panose="020D0604000000000000" pitchFamily="34" charset="-127"/>
              <a:ea typeface="Nanum Gothic" panose="020D0604000000000000" pitchFamily="34" charset="-127"/>
            </a:endParaRPr>
          </a:p>
        </p:txBody>
      </p:sp>
      <p:sp>
        <p:nvSpPr>
          <p:cNvPr id="119" name="TextBox 118"/>
          <p:cNvSpPr txBox="1"/>
          <p:nvPr/>
        </p:nvSpPr>
        <p:spPr>
          <a:xfrm>
            <a:off x="1191375" y="1313869"/>
            <a:ext cx="3429144" cy="215444"/>
          </a:xfrm>
          <a:prstGeom prst="rect">
            <a:avLst/>
          </a:prstGeom>
          <a:noFill/>
        </p:spPr>
        <p:txBody>
          <a:bodyPr wrap="none" rtlCol="0">
            <a:spAutoFit/>
          </a:bodyPr>
          <a:lstStyle/>
          <a:p>
            <a:r>
              <a:rPr lang="en-US" altLang="ko-KR" sz="800" dirty="0">
                <a:latin typeface="Nanum Gothic" panose="020D0604000000000000" pitchFamily="34" charset="-127"/>
                <a:ea typeface="Nanum Gothic" panose="020D0604000000000000" pitchFamily="34" charset="-127"/>
              </a:rPr>
              <a:t>12</a:t>
            </a:r>
            <a:r>
              <a:rPr lang="ko-KR" altLang="en-US" sz="800" dirty="0">
                <a:latin typeface="Nanum Gothic" panose="020D0604000000000000" pitchFamily="34" charset="-127"/>
                <a:ea typeface="Nanum Gothic" panose="020D0604000000000000" pitchFamily="34" charset="-127"/>
              </a:rPr>
              <a:t>월</a:t>
            </a:r>
            <a:r>
              <a:rPr lang="en-US" altLang="ko-KR" sz="800" dirty="0">
                <a:latin typeface="Nanum Gothic" panose="020D0604000000000000" pitchFamily="34" charset="-127"/>
                <a:ea typeface="Nanum Gothic" panose="020D0604000000000000" pitchFamily="34" charset="-127"/>
              </a:rPr>
              <a:t>21</a:t>
            </a:r>
            <a:r>
              <a:rPr lang="ko-KR" altLang="en-US" sz="800" dirty="0">
                <a:latin typeface="Nanum Gothic" panose="020D0604000000000000" pitchFamily="34" charset="-127"/>
                <a:ea typeface="Nanum Gothic" panose="020D0604000000000000" pitchFamily="34" charset="-127"/>
              </a:rPr>
              <a:t>일 </a:t>
            </a:r>
            <a:r>
              <a:rPr lang="en-US" altLang="ko-KR" sz="800" dirty="0">
                <a:latin typeface="Nanum Gothic" panose="020D0604000000000000" pitchFamily="34" charset="-127"/>
                <a:ea typeface="Nanum Gothic" panose="020D0604000000000000" pitchFamily="34" charset="-127"/>
              </a:rPr>
              <a:t>09</a:t>
            </a:r>
            <a:r>
              <a:rPr lang="ko-KR" altLang="en-US" sz="800" dirty="0">
                <a:latin typeface="Nanum Gothic" panose="020D0604000000000000" pitchFamily="34" charset="-127"/>
                <a:ea typeface="Nanum Gothic" panose="020D0604000000000000" pitchFamily="34" charset="-127"/>
              </a:rPr>
              <a:t>시</a:t>
            </a:r>
            <a:r>
              <a:rPr lang="en-US" altLang="ko-KR" sz="800" dirty="0">
                <a:latin typeface="Nanum Gothic" panose="020D0604000000000000" pitchFamily="34" charset="-127"/>
                <a:ea typeface="Nanum Gothic" panose="020D0604000000000000" pitchFamily="34" charset="-127"/>
              </a:rPr>
              <a:t>00</a:t>
            </a:r>
            <a:r>
              <a:rPr lang="ko-KR" altLang="en-US" sz="800" dirty="0">
                <a:latin typeface="Nanum Gothic" panose="020D0604000000000000" pitchFamily="34" charset="-127"/>
                <a:ea typeface="Nanum Gothic" panose="020D0604000000000000" pitchFamily="34" charset="-127"/>
              </a:rPr>
              <a:t>분 기준으로 수집된 </a:t>
            </a:r>
            <a:r>
              <a:rPr lang="ko-KR" altLang="en-US" sz="800" dirty="0" err="1">
                <a:latin typeface="Nanum Gothic" panose="020D0604000000000000" pitchFamily="34" charset="-127"/>
                <a:ea typeface="Nanum Gothic" panose="020D0604000000000000" pitchFamily="34" charset="-127"/>
              </a:rPr>
              <a:t>매출내역입니다</a:t>
            </a:r>
            <a:r>
              <a:rPr lang="en-US" altLang="ko-KR" sz="800" dirty="0">
                <a:latin typeface="Nanum Gothic" panose="020D0604000000000000" pitchFamily="34" charset="-127"/>
                <a:ea typeface="Nanum Gothic" panose="020D0604000000000000" pitchFamily="34" charset="-127"/>
              </a:rPr>
              <a:t>.(5</a:t>
            </a:r>
            <a:r>
              <a:rPr lang="ko-KR" altLang="en-US" sz="800" dirty="0">
                <a:latin typeface="Nanum Gothic" panose="020D0604000000000000" pitchFamily="34" charset="-127"/>
                <a:ea typeface="Nanum Gothic" panose="020D0604000000000000" pitchFamily="34" charset="-127"/>
              </a:rPr>
              <a:t>분 단위 업데이트</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120" name="직사각형 119"/>
          <p:cNvSpPr/>
          <p:nvPr/>
        </p:nvSpPr>
        <p:spPr>
          <a:xfrm>
            <a:off x="4615071"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강제업데이트</a:t>
            </a:r>
          </a:p>
        </p:txBody>
      </p:sp>
      <p:graphicFrame>
        <p:nvGraphicFramePr>
          <p:cNvPr id="26" name="표 25"/>
          <p:cNvGraphicFramePr>
            <a:graphicFrameLocks noGrp="1"/>
          </p:cNvGraphicFramePr>
          <p:nvPr/>
        </p:nvGraphicFramePr>
        <p:xfrm>
          <a:off x="1327417" y="3689615"/>
          <a:ext cx="5944787" cy="341938"/>
        </p:xfrm>
        <a:graphic>
          <a:graphicData uri="http://schemas.openxmlformats.org/drawingml/2006/table">
            <a:tbl>
              <a:tblPr/>
              <a:tblGrid>
                <a:gridCol w="1601847">
                  <a:extLst>
                    <a:ext uri="{9D8B030D-6E8A-4147-A177-3AD203B41FA5}">
                      <a16:colId xmlns:a16="http://schemas.microsoft.com/office/drawing/2014/main" val="20000"/>
                    </a:ext>
                  </a:extLst>
                </a:gridCol>
                <a:gridCol w="1601847">
                  <a:extLst>
                    <a:ext uri="{9D8B030D-6E8A-4147-A177-3AD203B41FA5}">
                      <a16:colId xmlns:a16="http://schemas.microsoft.com/office/drawing/2014/main" val="20001"/>
                    </a:ext>
                  </a:extLst>
                </a:gridCol>
                <a:gridCol w="1139246">
                  <a:extLst>
                    <a:ext uri="{9D8B030D-6E8A-4147-A177-3AD203B41FA5}">
                      <a16:colId xmlns:a16="http://schemas.microsoft.com/office/drawing/2014/main" val="20002"/>
                    </a:ext>
                  </a:extLst>
                </a:gridCol>
                <a:gridCol w="1601847">
                  <a:extLst>
                    <a:ext uri="{9D8B030D-6E8A-4147-A177-3AD203B41FA5}">
                      <a16:colId xmlns:a16="http://schemas.microsoft.com/office/drawing/2014/main" val="20003"/>
                    </a:ext>
                  </a:extLst>
                </a:gridCol>
              </a:tblGrid>
              <a:tr h="170969">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실판매수량</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실판매금액</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사용처리수량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사용처리금액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170969">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ko-KR" sz="800" b="1" i="0" u="none" strike="noStrike" dirty="0">
                          <a:solidFill>
                            <a:srgbClr val="000000"/>
                          </a:solidFill>
                          <a:effectLst/>
                          <a:latin typeface="Malgun Gothic" panose="020B0503020000020004" charset="-127"/>
                          <a:ea typeface="Malgun Gothic" panose="020B0503020000020004" charset="-127"/>
                        </a:rPr>
                        <a:t>10</a:t>
                      </a:r>
                      <a:endParaRPr lang="ko-KR" altLang="en-US" sz="800" b="1"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ko-KR" sz="800" b="1" i="0" u="none" strike="noStrike" dirty="0">
                          <a:solidFill>
                            <a:srgbClr val="000000"/>
                          </a:solidFill>
                          <a:effectLst/>
                          <a:latin typeface="Malgun Gothic" panose="020B0503020000020004" charset="-127"/>
                          <a:ea typeface="Malgun Gothic" panose="020B0503020000020004" charset="-127"/>
                        </a:rPr>
                        <a:t>100,000</a:t>
                      </a:r>
                      <a:endParaRPr lang="ko-KR" altLang="en-US" sz="800" b="1"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53" name="표 52"/>
          <p:cNvGraphicFramePr>
            <a:graphicFrameLocks noGrp="1"/>
          </p:cNvGraphicFramePr>
          <p:nvPr/>
        </p:nvGraphicFramePr>
        <p:xfrm>
          <a:off x="1280592" y="1634820"/>
          <a:ext cx="6048672" cy="1146108"/>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2095857">
                  <a:extLst>
                    <a:ext uri="{9D8B030D-6E8A-4147-A177-3AD203B41FA5}">
                      <a16:colId xmlns:a16="http://schemas.microsoft.com/office/drawing/2014/main" val="20003"/>
                    </a:ext>
                  </a:extLst>
                </a:gridCol>
                <a:gridCol w="640447">
                  <a:extLst>
                    <a:ext uri="{9D8B030D-6E8A-4147-A177-3AD203B41FA5}">
                      <a16:colId xmlns:a16="http://schemas.microsoft.com/office/drawing/2014/main" val="20004"/>
                    </a:ext>
                  </a:extLst>
                </a:gridCol>
              </a:tblGrid>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기간조회</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33450"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a:solidFill>
                            <a:schemeClr val="tx1"/>
                          </a:solidFill>
                          <a:latin typeface="Nanum Gothic" panose="020D0604000000000000" pitchFamily="34" charset="-127"/>
                          <a:ea typeface="Nanum Gothic" panose="020D0604000000000000" pitchFamily="34" charset="-127"/>
                        </a:rPr>
                        <a:t>판매채널</a:t>
                      </a:r>
                      <a:endParaRPr lang="ko-KR" altLang="en-US" dirty="0">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상품상태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임시저장</a:t>
                      </a:r>
                      <a:r>
                        <a:rPr lang="ko-KR" altLang="en-US" sz="800" b="0" dirty="0">
                          <a:solidFill>
                            <a:schemeClr val="tx1"/>
                          </a:solidFill>
                          <a:latin typeface="Nanum Gothic" panose="020D0604000000000000" pitchFamily="34" charset="-127"/>
                          <a:ea typeface="Nanum Gothic" panose="020D0604000000000000" pitchFamily="34" charset="-127"/>
                        </a:rPr>
                        <a:t>     ○</a:t>
                      </a:r>
                      <a:r>
                        <a:rPr lang="ko-KR" altLang="en-US" sz="800" b="0" dirty="0" err="1">
                          <a:solidFill>
                            <a:schemeClr val="tx1"/>
                          </a:solidFill>
                          <a:latin typeface="Nanum Gothic" panose="020D0604000000000000" pitchFamily="34" charset="-127"/>
                          <a:ea typeface="Nanum Gothic" panose="020D0604000000000000" pitchFamily="34" charset="-127"/>
                        </a:rPr>
                        <a:t>승인대기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판매중</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r>
                        <a:rPr lang="ko-KR" altLang="en-US" sz="800" b="0" dirty="0">
                          <a:solidFill>
                            <a:schemeClr val="tx1"/>
                          </a:solidFill>
                          <a:latin typeface="Nanum Gothic" panose="020D0604000000000000" pitchFamily="34" charset="-127"/>
                          <a:ea typeface="Nanum Gothic" panose="020D0604000000000000" pitchFamily="34" charset="-127"/>
                        </a:rPr>
                        <a:t>○ 판매중지      ○ 판매완료</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527">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상품선택</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1"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err="1">
                          <a:solidFill>
                            <a:schemeClr val="tx1"/>
                          </a:solidFill>
                          <a:latin typeface="Nanum Gothic" panose="020D0604000000000000" pitchFamily="34" charset="-127"/>
                          <a:ea typeface="Nanum Gothic" panose="020D0604000000000000" pitchFamily="34" charset="-127"/>
                        </a:rPr>
                        <a:t>실판매수량</a:t>
                      </a:r>
                      <a:endParaRPr lang="ko-KR" altLang="en-US" sz="800" b="1"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895350" indent="0" latinLnBrk="1"/>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54" name="직사각형 53"/>
          <p:cNvSpPr/>
          <p:nvPr/>
        </p:nvSpPr>
        <p:spPr>
          <a:xfrm>
            <a:off x="2058755" y="194612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55" name="직사각형 54"/>
          <p:cNvSpPr/>
          <p:nvPr/>
        </p:nvSpPr>
        <p:spPr>
          <a:xfrm>
            <a:off x="4668342" y="1946121"/>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쿠팡</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위메프</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티몬</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63" name="직사각형 62"/>
          <p:cNvSpPr/>
          <p:nvPr/>
        </p:nvSpPr>
        <p:spPr>
          <a:xfrm>
            <a:off x="6749307" y="1928021"/>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64" name="직사각형 63"/>
          <p:cNvSpPr/>
          <p:nvPr/>
        </p:nvSpPr>
        <p:spPr>
          <a:xfrm>
            <a:off x="6747628" y="2347339"/>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69" name="직사각형 68"/>
          <p:cNvSpPr/>
          <p:nvPr/>
        </p:nvSpPr>
        <p:spPr>
          <a:xfrm>
            <a:off x="2058755" y="2527342"/>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상품전체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66" name="직사각형 65"/>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67" name="직사각형 6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71" name="직사각형 70"/>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72" name="직사각형 71"/>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3" name="직사각형 72"/>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74" name="직사각형 73"/>
          <p:cNvSpPr/>
          <p:nvPr/>
        </p:nvSpPr>
        <p:spPr>
          <a:xfrm>
            <a:off x="128462" y="36745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5" name="직사각형 74"/>
          <p:cNvSpPr/>
          <p:nvPr/>
        </p:nvSpPr>
        <p:spPr>
          <a:xfrm>
            <a:off x="128461" y="469274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6" name="직사각형 75"/>
          <p:cNvSpPr/>
          <p:nvPr/>
        </p:nvSpPr>
        <p:spPr>
          <a:xfrm>
            <a:off x="128457" y="402142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28457" y="436039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49" name="직사각형 48"/>
          <p:cNvSpPr/>
          <p:nvPr/>
        </p:nvSpPr>
        <p:spPr>
          <a:xfrm>
            <a:off x="131262" y="3330200"/>
            <a:ext cx="1008115"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정산현황</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50" name="직사각형 49"/>
          <p:cNvSpPr/>
          <p:nvPr/>
        </p:nvSpPr>
        <p:spPr>
          <a:xfrm>
            <a:off x="128461" y="2650638"/>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매출내역</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78" name="직사각형 77"/>
          <p:cNvSpPr/>
          <p:nvPr/>
        </p:nvSpPr>
        <p:spPr>
          <a:xfrm>
            <a:off x="2051503"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79"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0469"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80" name="직사각형 79"/>
          <p:cNvSpPr/>
          <p:nvPr/>
        </p:nvSpPr>
        <p:spPr>
          <a:xfrm>
            <a:off x="3057124"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81"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6090"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82" name="직사각형 81"/>
          <p:cNvSpPr/>
          <p:nvPr/>
        </p:nvSpPr>
        <p:spPr>
          <a:xfrm>
            <a:off x="4668342" y="2541112"/>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endParaRPr lang="ko-KR" altLang="en-US" sz="900" dirty="0">
              <a:solidFill>
                <a:schemeClr val="tx1"/>
              </a:solidFill>
            </a:endParaRPr>
          </a:p>
        </p:txBody>
      </p:sp>
      <p:sp>
        <p:nvSpPr>
          <p:cNvPr id="83" name="직사각형 82"/>
          <p:cNvSpPr/>
          <p:nvPr/>
        </p:nvSpPr>
        <p:spPr>
          <a:xfrm>
            <a:off x="5620533" y="2540532"/>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endParaRPr lang="ko-KR" altLang="en-US" sz="900" dirty="0">
              <a:solidFill>
                <a:schemeClr val="tx1"/>
              </a:solidFill>
            </a:endParaRPr>
          </a:p>
        </p:txBody>
      </p:sp>
      <p:sp>
        <p:nvSpPr>
          <p:cNvPr id="93" name="직사각형 92"/>
          <p:cNvSpPr/>
          <p:nvPr/>
        </p:nvSpPr>
        <p:spPr>
          <a:xfrm>
            <a:off x="128456" y="3005391"/>
            <a:ext cx="1008115"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94" name="TextBox 93"/>
          <p:cNvSpPr txBox="1"/>
          <p:nvPr/>
        </p:nvSpPr>
        <p:spPr>
          <a:xfrm>
            <a:off x="1229278" y="3429465"/>
            <a:ext cx="1459877"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총합</a:t>
            </a:r>
          </a:p>
        </p:txBody>
      </p:sp>
      <p:graphicFrame>
        <p:nvGraphicFramePr>
          <p:cNvPr id="96" name="표 95"/>
          <p:cNvGraphicFramePr>
            <a:graphicFrameLocks noGrp="1"/>
          </p:cNvGraphicFramePr>
          <p:nvPr/>
        </p:nvGraphicFramePr>
        <p:xfrm>
          <a:off x="1300807" y="4680116"/>
          <a:ext cx="6735070" cy="1203811"/>
        </p:xfrm>
        <a:graphic>
          <a:graphicData uri="http://schemas.openxmlformats.org/drawingml/2006/table">
            <a:tbl>
              <a:tblPr/>
              <a:tblGrid>
                <a:gridCol w="236147">
                  <a:extLst>
                    <a:ext uri="{9D8B030D-6E8A-4147-A177-3AD203B41FA5}">
                      <a16:colId xmlns:a16="http://schemas.microsoft.com/office/drawing/2014/main" val="20000"/>
                    </a:ext>
                  </a:extLst>
                </a:gridCol>
                <a:gridCol w="472290">
                  <a:extLst>
                    <a:ext uri="{9D8B030D-6E8A-4147-A177-3AD203B41FA5}">
                      <a16:colId xmlns:a16="http://schemas.microsoft.com/office/drawing/2014/main" val="20001"/>
                    </a:ext>
                  </a:extLst>
                </a:gridCol>
                <a:gridCol w="565062">
                  <a:extLst>
                    <a:ext uri="{9D8B030D-6E8A-4147-A177-3AD203B41FA5}">
                      <a16:colId xmlns:a16="http://schemas.microsoft.com/office/drawing/2014/main" val="20002"/>
                    </a:ext>
                  </a:extLst>
                </a:gridCol>
                <a:gridCol w="1023296">
                  <a:extLst>
                    <a:ext uri="{9D8B030D-6E8A-4147-A177-3AD203B41FA5}">
                      <a16:colId xmlns:a16="http://schemas.microsoft.com/office/drawing/2014/main" val="20003"/>
                    </a:ext>
                  </a:extLst>
                </a:gridCol>
                <a:gridCol w="562251">
                  <a:extLst>
                    <a:ext uri="{9D8B030D-6E8A-4147-A177-3AD203B41FA5}">
                      <a16:colId xmlns:a16="http://schemas.microsoft.com/office/drawing/2014/main" val="20004"/>
                    </a:ext>
                  </a:extLst>
                </a:gridCol>
                <a:gridCol w="562251">
                  <a:extLst>
                    <a:ext uri="{9D8B030D-6E8A-4147-A177-3AD203B41FA5}">
                      <a16:colId xmlns:a16="http://schemas.microsoft.com/office/drawing/2014/main" val="20005"/>
                    </a:ext>
                  </a:extLst>
                </a:gridCol>
                <a:gridCol w="562251">
                  <a:extLst>
                    <a:ext uri="{9D8B030D-6E8A-4147-A177-3AD203B41FA5}">
                      <a16:colId xmlns:a16="http://schemas.microsoft.com/office/drawing/2014/main" val="20006"/>
                    </a:ext>
                  </a:extLst>
                </a:gridCol>
                <a:gridCol w="652210">
                  <a:extLst>
                    <a:ext uri="{9D8B030D-6E8A-4147-A177-3AD203B41FA5}">
                      <a16:colId xmlns:a16="http://schemas.microsoft.com/office/drawing/2014/main" val="20007"/>
                    </a:ext>
                  </a:extLst>
                </a:gridCol>
                <a:gridCol w="652210">
                  <a:extLst>
                    <a:ext uri="{9D8B030D-6E8A-4147-A177-3AD203B41FA5}">
                      <a16:colId xmlns:a16="http://schemas.microsoft.com/office/drawing/2014/main" val="20008"/>
                    </a:ext>
                  </a:extLst>
                </a:gridCol>
                <a:gridCol w="655014">
                  <a:extLst>
                    <a:ext uri="{9D8B030D-6E8A-4147-A177-3AD203B41FA5}">
                      <a16:colId xmlns:a16="http://schemas.microsoft.com/office/drawing/2014/main" val="20009"/>
                    </a:ext>
                  </a:extLst>
                </a:gridCol>
                <a:gridCol w="792088">
                  <a:extLst>
                    <a:ext uri="{9D8B030D-6E8A-4147-A177-3AD203B41FA5}">
                      <a16:colId xmlns:a16="http://schemas.microsoft.com/office/drawing/2014/main" val="20010"/>
                    </a:ext>
                  </a:extLst>
                </a:gridCol>
              </a:tblGrid>
              <a:tr h="223256">
                <a:tc>
                  <a:txBody>
                    <a:bodyPr/>
                    <a:lstStyle/>
                    <a:p>
                      <a:pPr algn="ctr" fontAlgn="ctr"/>
                      <a:r>
                        <a:rPr lang="en-US" sz="800" b="1" i="0" u="none" strike="noStrike" dirty="0">
                          <a:solidFill>
                            <a:schemeClr val="bg1"/>
                          </a:solidFill>
                          <a:effectLst/>
                          <a:latin typeface="Malgun Gothic" panose="020B0503020000020004" charset="-127"/>
                          <a:ea typeface="Malgun Gothic" panose="020B0503020000020004" charset="-127"/>
                        </a:rPr>
                        <a:t>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채널명</a:t>
                      </a:r>
                      <a:r>
                        <a:rPr lang="ko-KR" altLang="en-US" sz="800" b="1" i="0" u="none" strike="noStrike" dirty="0">
                          <a:solidFill>
                            <a:schemeClr val="bg1"/>
                          </a:solidFill>
                          <a:effectLst/>
                          <a:latin typeface="Malgun Gothic" panose="020B0503020000020004" charset="-127"/>
                          <a:ea typeface="Malgun Gothic" panose="020B0503020000020004" charset="-127"/>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시설사명</a:t>
                      </a:r>
                      <a:r>
                        <a:rPr lang="ko-KR" altLang="en-US" sz="800" b="1" i="0" u="none" strike="noStrike" dirty="0">
                          <a:solidFill>
                            <a:schemeClr val="bg1"/>
                          </a:solidFill>
                          <a:effectLst/>
                          <a:latin typeface="Malgun Gothic" panose="020B0503020000020004" charset="-127"/>
                          <a:ea typeface="Malgun Gothic" panose="020B0503020000020004" charset="-127"/>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상품명</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상태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판매시작일</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판매종료일</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실판매수량</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실판매금액</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사용처리수량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사용처리금액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196111">
                <a:tc>
                  <a:txBody>
                    <a:bodyPr/>
                    <a:lstStyle/>
                    <a:p>
                      <a:pPr algn="ctr" fontAlgn="ctr"/>
                      <a:r>
                        <a:rPr lang="en-US" altLang="ko-KR" sz="800" b="0" i="0" u="none" strike="noStrike" dirty="0">
                          <a:solidFill>
                            <a:srgbClr val="000000"/>
                          </a:solidFill>
                          <a:effectLst/>
                          <a:latin typeface="Malgun Gothic" panose="020B0503020000020004" charset="-127"/>
                          <a:ea typeface="Malgun Gothic" panose="020B0503020000020004" charset="-127"/>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쿠팡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에버랜드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판매중</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2020-01-05</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2020-01-30</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쿠팡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가나렌터카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판매종료</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700" b="0" i="0" u="none" strike="noStrike" dirty="0">
                          <a:solidFill>
                            <a:srgbClr val="000000"/>
                          </a:solidFill>
                          <a:effectLst/>
                          <a:latin typeface="Nanum Gothic" panose="020D0604000000000000" pitchFamily="34" charset="-127"/>
                          <a:ea typeface="Nanum Gothic" panose="020D0604000000000000" pitchFamily="34" charset="-127"/>
                        </a:rPr>
                        <a:t>2020-01-05</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700" b="0" i="0" u="none" strike="noStrike" dirty="0" err="1">
                          <a:solidFill>
                            <a:srgbClr val="000000"/>
                          </a:solidFill>
                          <a:effectLst/>
                          <a:latin typeface="Nanum Gothic" panose="020D0604000000000000" pitchFamily="34" charset="-127"/>
                          <a:ea typeface="Nanum Gothic" panose="020D0604000000000000" pitchFamily="34" charset="-127"/>
                        </a:rPr>
                        <a:t>상시판매</a:t>
                      </a:r>
                      <a:endParaRPr lang="ko-KR" altLang="en-US" sz="7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40,000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티몬</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에버랜드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놀이공원 이용권</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티몬</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가나렌터카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60,000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네이버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에버랜드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pic>
        <p:nvPicPr>
          <p:cNvPr id="97" name="그림 96"/>
          <p:cNvPicPr>
            <a:picLocks noChangeAspect="1"/>
          </p:cNvPicPr>
          <p:nvPr/>
        </p:nvPicPr>
        <p:blipFill>
          <a:blip r:embed="rId4" cstate="print"/>
          <a:stretch>
            <a:fillRect/>
          </a:stretch>
        </p:blipFill>
        <p:spPr>
          <a:xfrm>
            <a:off x="2689155" y="6344768"/>
            <a:ext cx="3000375" cy="301408"/>
          </a:xfrm>
          <a:prstGeom prst="rect">
            <a:avLst/>
          </a:prstGeom>
        </p:spPr>
      </p:pic>
      <p:graphicFrame>
        <p:nvGraphicFramePr>
          <p:cNvPr id="61" name="표 60"/>
          <p:cNvGraphicFramePr>
            <a:graphicFrameLocks noGrp="1"/>
          </p:cNvGraphicFramePr>
          <p:nvPr/>
        </p:nvGraphicFramePr>
        <p:xfrm>
          <a:off x="7453089" y="846669"/>
          <a:ext cx="2357214" cy="37459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전체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매출데이터</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확인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로그인한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시설사의</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매출데이터만 확인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등록한 상품의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채널별</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매출정보 업데이트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기간조회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당일이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판매채널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상품관리쪽과 동일기능으로 적용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디폴트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상품상태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전체가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상품명 가나다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&gt; </a:t>
                      </a:r>
                      <a:r>
                        <a:rPr lang="en-US" altLang="ko-KR"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abc</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&gt;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숫자 순으로 나열되고 다중 선택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모두선택시</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상품전체</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상품명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다중선택시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상품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N</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개 로 표기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4</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레인지 검색</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최소</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최대</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최소 입력 없고 최대만 입력한 경우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최대이하</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전체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반대도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동일방식</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아무것도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입력안된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경우 전체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5</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검색 조건내 총합 표기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판매수량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상세 정보 레이어로 표기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6</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검색결과 전체 엑셀파일 다운로드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형태는 화면에서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본것과</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동일</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7</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검색 조건 결과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판매시작일</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최신순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채널명</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시설사명</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가나다순 재 정렬</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실판매수량</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실판매금액</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숫자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높은순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나열 재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낮은순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85" name="직사각형 84"/>
          <p:cNvSpPr/>
          <p:nvPr/>
        </p:nvSpPr>
        <p:spPr>
          <a:xfrm>
            <a:off x="2058755" y="2746161"/>
            <a:ext cx="1424607" cy="74410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모두선택</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ㅡㅡㅡㅡㅡㅡㅡㅡㅡㅡㅡ</a:t>
            </a:r>
            <a:endParaRPr lang="en-US" altLang="ko-KR" sz="800" dirty="0">
              <a:solidFill>
                <a:schemeClr val="tx1"/>
              </a:solidFill>
              <a:latin typeface="Nanum Gothic" panose="020D0604000000000000" pitchFamily="34" charset="-127"/>
              <a:ea typeface="Nanum Gothic" panose="020D0604000000000000" pitchFamily="34" charset="-127"/>
            </a:endParaRPr>
          </a:p>
          <a:p>
            <a:pPr marL="139700"/>
            <a:r>
              <a:rPr lang="ko-KR" altLang="en-US" sz="800" dirty="0">
                <a:solidFill>
                  <a:schemeClr val="tx1"/>
                </a:solidFill>
                <a:latin typeface="Nanum Gothic" panose="020D0604000000000000" pitchFamily="34" charset="-127"/>
                <a:ea typeface="Nanum Gothic" panose="020D0604000000000000" pitchFamily="34" charset="-127"/>
              </a:rPr>
              <a:t>상품명 </a:t>
            </a:r>
            <a:r>
              <a:rPr lang="en-US" altLang="ko-KR" sz="800" dirty="0">
                <a:solidFill>
                  <a:schemeClr val="tx1"/>
                </a:solidFill>
                <a:latin typeface="Nanum Gothic" panose="020D0604000000000000" pitchFamily="34" charset="-127"/>
                <a:ea typeface="Nanum Gothic" panose="020D0604000000000000" pitchFamily="34" charset="-127"/>
              </a:rPr>
              <a:t>1</a:t>
            </a:r>
          </a:p>
          <a:p>
            <a:pPr marL="139700"/>
            <a:r>
              <a:rPr lang="ko-KR" altLang="en-US" sz="800" dirty="0">
                <a:solidFill>
                  <a:schemeClr val="tx1"/>
                </a:solidFill>
                <a:latin typeface="Nanum Gothic" panose="020D0604000000000000" pitchFamily="34" charset="-127"/>
                <a:ea typeface="Nanum Gothic" panose="020D0604000000000000" pitchFamily="34" charset="-127"/>
              </a:rPr>
              <a:t>상품명 </a:t>
            </a:r>
            <a:r>
              <a:rPr lang="en-US" altLang="ko-KR" sz="800" dirty="0">
                <a:solidFill>
                  <a:schemeClr val="tx1"/>
                </a:solidFill>
                <a:latin typeface="Nanum Gothic" panose="020D0604000000000000" pitchFamily="34" charset="-127"/>
                <a:ea typeface="Nanum Gothic" panose="020D0604000000000000" pitchFamily="34" charset="-127"/>
              </a:rPr>
              <a:t>2</a:t>
            </a:r>
          </a:p>
          <a:p>
            <a:pPr marL="139700"/>
            <a:r>
              <a:rPr lang="ko-KR" altLang="en-US" sz="800" dirty="0">
                <a:solidFill>
                  <a:schemeClr val="tx1"/>
                </a:solidFill>
                <a:latin typeface="Nanum Gothic" panose="020D0604000000000000" pitchFamily="34" charset="-127"/>
                <a:ea typeface="Nanum Gothic" panose="020D0604000000000000" pitchFamily="34" charset="-127"/>
              </a:rPr>
              <a:t>상품명 </a:t>
            </a:r>
            <a:r>
              <a:rPr lang="en-US" altLang="ko-KR" sz="800" dirty="0">
                <a:solidFill>
                  <a:schemeClr val="tx1"/>
                </a:solidFill>
                <a:latin typeface="Nanum Gothic" panose="020D0604000000000000" pitchFamily="34" charset="-127"/>
                <a:ea typeface="Nanum Gothic" panose="020D0604000000000000" pitchFamily="34" charset="-127"/>
              </a:rPr>
              <a:t>3</a:t>
            </a:r>
            <a:endParaRPr lang="ko-KR" altLang="en-US" sz="800" dirty="0">
              <a:solidFill>
                <a:schemeClr val="tx1"/>
              </a:solidFill>
              <a:latin typeface="Nanum Gothic" panose="020D0604000000000000" pitchFamily="34" charset="-127"/>
              <a:ea typeface="Nanum Gothic" panose="020D0604000000000000" pitchFamily="34" charset="-127"/>
            </a:endParaRPr>
          </a:p>
        </p:txBody>
      </p:sp>
      <p:pic>
        <p:nvPicPr>
          <p:cNvPr id="87" name="그림 86"/>
          <p:cNvPicPr>
            <a:picLocks noChangeAspect="1"/>
          </p:cNvPicPr>
          <p:nvPr/>
        </p:nvPicPr>
        <p:blipFill>
          <a:blip r:embed="rId5" cstate="print"/>
          <a:stretch>
            <a:fillRect/>
          </a:stretch>
        </p:blipFill>
        <p:spPr>
          <a:xfrm>
            <a:off x="2072680" y="3026884"/>
            <a:ext cx="203832" cy="108710"/>
          </a:xfrm>
          <a:prstGeom prst="rect">
            <a:avLst/>
          </a:prstGeom>
        </p:spPr>
      </p:pic>
      <p:pic>
        <p:nvPicPr>
          <p:cNvPr id="103" name="그림 102"/>
          <p:cNvPicPr>
            <a:picLocks noChangeAspect="1"/>
          </p:cNvPicPr>
          <p:nvPr/>
        </p:nvPicPr>
        <p:blipFill>
          <a:blip r:embed="rId5" cstate="print"/>
          <a:stretch>
            <a:fillRect/>
          </a:stretch>
        </p:blipFill>
        <p:spPr>
          <a:xfrm>
            <a:off x="2072680" y="3186662"/>
            <a:ext cx="203832" cy="108710"/>
          </a:xfrm>
          <a:prstGeom prst="rect">
            <a:avLst/>
          </a:prstGeom>
        </p:spPr>
      </p:pic>
      <p:pic>
        <p:nvPicPr>
          <p:cNvPr id="104" name="그림 103"/>
          <p:cNvPicPr>
            <a:picLocks noChangeAspect="1"/>
          </p:cNvPicPr>
          <p:nvPr/>
        </p:nvPicPr>
        <p:blipFill>
          <a:blip r:embed="rId5" cstate="print"/>
          <a:stretch>
            <a:fillRect/>
          </a:stretch>
        </p:blipFill>
        <p:spPr>
          <a:xfrm>
            <a:off x="2092389" y="3339890"/>
            <a:ext cx="203832" cy="108710"/>
          </a:xfrm>
          <a:prstGeom prst="rect">
            <a:avLst/>
          </a:prstGeom>
        </p:spPr>
      </p:pic>
      <p:sp>
        <p:nvSpPr>
          <p:cNvPr id="105" name="TextBox 104"/>
          <p:cNvSpPr txBox="1"/>
          <p:nvPr/>
        </p:nvSpPr>
        <p:spPr>
          <a:xfrm>
            <a:off x="1240521" y="4447552"/>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107" name="직사각형 106"/>
          <p:cNvSpPr/>
          <p:nvPr/>
        </p:nvSpPr>
        <p:spPr>
          <a:xfrm>
            <a:off x="2292426" y="4455709"/>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08" name="직사각형 107"/>
          <p:cNvSpPr/>
          <p:nvPr/>
        </p:nvSpPr>
        <p:spPr>
          <a:xfrm>
            <a:off x="1692528" y="4451943"/>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118" name="왼쪽 대괄호[L] 117"/>
          <p:cNvSpPr/>
          <p:nvPr/>
        </p:nvSpPr>
        <p:spPr>
          <a:xfrm>
            <a:off x="1235310" y="1675371"/>
            <a:ext cx="82151" cy="680995"/>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121" name="타원 120"/>
          <p:cNvSpPr/>
          <p:nvPr/>
        </p:nvSpPr>
        <p:spPr>
          <a:xfrm>
            <a:off x="5224622" y="120432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pic>
        <p:nvPicPr>
          <p:cNvPr id="122" name="그림 121"/>
          <p:cNvPicPr>
            <a:picLocks noChangeAspect="1"/>
          </p:cNvPicPr>
          <p:nvPr/>
        </p:nvPicPr>
        <p:blipFill>
          <a:blip r:embed="rId6" cstate="print"/>
          <a:stretch>
            <a:fillRect/>
          </a:stretch>
        </p:blipFill>
        <p:spPr>
          <a:xfrm rot="10800000" flipV="1">
            <a:off x="3595186" y="6139271"/>
            <a:ext cx="4549207" cy="133729"/>
          </a:xfrm>
          <a:prstGeom prst="rect">
            <a:avLst/>
          </a:prstGeom>
        </p:spPr>
      </p:pic>
      <p:pic>
        <p:nvPicPr>
          <p:cNvPr id="123" name="그림 122"/>
          <p:cNvPicPr>
            <a:picLocks noChangeAspect="1"/>
          </p:cNvPicPr>
          <p:nvPr/>
        </p:nvPicPr>
        <p:blipFill>
          <a:blip r:embed="rId7" cstate="print"/>
          <a:stretch>
            <a:fillRect/>
          </a:stretch>
        </p:blipFill>
        <p:spPr>
          <a:xfrm>
            <a:off x="8035878" y="4866289"/>
            <a:ext cx="108516" cy="1227588"/>
          </a:xfrm>
          <a:prstGeom prst="rect">
            <a:avLst/>
          </a:prstGeom>
        </p:spPr>
      </p:pic>
      <p:cxnSp>
        <p:nvCxnSpPr>
          <p:cNvPr id="124" name="직선 연결선[R] 123"/>
          <p:cNvCxnSpPr/>
          <p:nvPr/>
        </p:nvCxnSpPr>
        <p:spPr>
          <a:xfrm>
            <a:off x="3595187" y="4366214"/>
            <a:ext cx="2" cy="1934318"/>
          </a:xfrm>
          <a:prstGeom prst="line">
            <a:avLst/>
          </a:prstGeom>
          <a:ln w="3175">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1206187" y="6093876"/>
            <a:ext cx="2028962" cy="215444"/>
          </a:xfrm>
          <a:prstGeom prst="rect">
            <a:avLst/>
          </a:prstGeom>
          <a:noFill/>
        </p:spPr>
        <p:txBody>
          <a:bodyPr wrap="square" rtlCol="0">
            <a:spAutoFit/>
          </a:bodyPr>
          <a:lstStyle/>
          <a:p>
            <a:r>
              <a:rPr lang="ko-KR" altLang="en-US" sz="800" b="1" i="1" dirty="0">
                <a:solidFill>
                  <a:srgbClr val="C00000"/>
                </a:solidFill>
                <a:latin typeface="Nanum Gothic" panose="020D0604000000000000" pitchFamily="34" charset="-127"/>
                <a:ea typeface="Nanum Gothic" panose="020D0604000000000000" pitchFamily="34" charset="-127"/>
              </a:rPr>
              <a:t>상품명까지 </a:t>
            </a:r>
            <a:r>
              <a:rPr lang="ko-KR" altLang="en-US" sz="800" b="1" i="1" dirty="0" err="1">
                <a:solidFill>
                  <a:srgbClr val="C00000"/>
                </a:solidFill>
                <a:latin typeface="Nanum Gothic" panose="020D0604000000000000" pitchFamily="34" charset="-127"/>
                <a:ea typeface="Nanum Gothic" panose="020D0604000000000000" pitchFamily="34" charset="-127"/>
              </a:rPr>
              <a:t>가로스크롤</a:t>
            </a:r>
            <a:r>
              <a:rPr lang="ko-KR" altLang="en-US" sz="800" b="1" i="1" dirty="0">
                <a:solidFill>
                  <a:srgbClr val="C00000"/>
                </a:solidFill>
                <a:latin typeface="Nanum Gothic" panose="020D0604000000000000" pitchFamily="34" charset="-127"/>
                <a:ea typeface="Nanum Gothic" panose="020D0604000000000000" pitchFamily="34" charset="-127"/>
              </a:rPr>
              <a:t> 없이 고정</a:t>
            </a:r>
          </a:p>
        </p:txBody>
      </p:sp>
      <p:sp>
        <p:nvSpPr>
          <p:cNvPr id="130" name="타원 129"/>
          <p:cNvSpPr/>
          <p:nvPr/>
        </p:nvSpPr>
        <p:spPr>
          <a:xfrm>
            <a:off x="1123075" y="171534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132" name="타원 131"/>
          <p:cNvSpPr/>
          <p:nvPr/>
        </p:nvSpPr>
        <p:spPr>
          <a:xfrm>
            <a:off x="1188911" y="254569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
        <p:nvSpPr>
          <p:cNvPr id="133" name="타원 132"/>
          <p:cNvSpPr/>
          <p:nvPr/>
        </p:nvSpPr>
        <p:spPr>
          <a:xfrm>
            <a:off x="4473922" y="254569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4</a:t>
            </a:r>
            <a:endParaRPr lang="ko-KR" altLang="en-US" sz="900" b="1" dirty="0">
              <a:latin typeface="나눔고딕" pitchFamily="50" charset="-127"/>
              <a:ea typeface="나눔고딕" pitchFamily="50" charset="-127"/>
            </a:endParaRPr>
          </a:p>
        </p:txBody>
      </p:sp>
      <p:sp>
        <p:nvSpPr>
          <p:cNvPr id="134" name="왼쪽 대괄호[L] 133"/>
          <p:cNvSpPr/>
          <p:nvPr/>
        </p:nvSpPr>
        <p:spPr>
          <a:xfrm>
            <a:off x="1267854" y="3637783"/>
            <a:ext cx="157872" cy="423126"/>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135" name="타원 134"/>
          <p:cNvSpPr/>
          <p:nvPr/>
        </p:nvSpPr>
        <p:spPr>
          <a:xfrm>
            <a:off x="1155619" y="367775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5</a:t>
            </a:r>
            <a:endParaRPr lang="ko-KR" altLang="en-US" sz="900" b="1" dirty="0">
              <a:latin typeface="나눔고딕" pitchFamily="50" charset="-127"/>
              <a:ea typeface="나눔고딕" pitchFamily="50" charset="-127"/>
            </a:endParaRPr>
          </a:p>
        </p:txBody>
      </p:sp>
      <p:sp>
        <p:nvSpPr>
          <p:cNvPr id="136" name="타원 135"/>
          <p:cNvSpPr/>
          <p:nvPr/>
        </p:nvSpPr>
        <p:spPr>
          <a:xfrm>
            <a:off x="2808857" y="435744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6</a:t>
            </a:r>
            <a:endParaRPr lang="ko-KR" altLang="en-US" sz="900" b="1" dirty="0">
              <a:latin typeface="나눔고딕" pitchFamily="50" charset="-127"/>
              <a:ea typeface="나눔고딕" pitchFamily="50" charset="-127"/>
            </a:endParaRPr>
          </a:p>
        </p:txBody>
      </p:sp>
      <p:sp>
        <p:nvSpPr>
          <p:cNvPr id="137" name="왼쪽 대괄호[L] 136"/>
          <p:cNvSpPr/>
          <p:nvPr/>
        </p:nvSpPr>
        <p:spPr>
          <a:xfrm>
            <a:off x="1218655" y="4982449"/>
            <a:ext cx="45719" cy="1542895"/>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138" name="타원 137"/>
          <p:cNvSpPr/>
          <p:nvPr/>
        </p:nvSpPr>
        <p:spPr>
          <a:xfrm>
            <a:off x="1106420" y="502242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7</a:t>
            </a:r>
            <a:endParaRPr lang="ko-KR" altLang="en-US" sz="900" b="1" dirty="0">
              <a:latin typeface="나눔고딕" pitchFamily="50" charset="-127"/>
              <a:ea typeface="나눔고딕" pitchFamily="50" charset="-127"/>
            </a:endParaRPr>
          </a:p>
        </p:txBody>
      </p:sp>
      <p:sp>
        <p:nvSpPr>
          <p:cNvPr id="139" name="직사각형 138"/>
          <p:cNvSpPr/>
          <p:nvPr/>
        </p:nvSpPr>
        <p:spPr>
          <a:xfrm>
            <a:off x="3959403" y="1675279"/>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당일</a:t>
            </a:r>
          </a:p>
        </p:txBody>
      </p:sp>
      <p:sp>
        <p:nvSpPr>
          <p:cNvPr id="140" name="직사각형 139"/>
          <p:cNvSpPr/>
          <p:nvPr/>
        </p:nvSpPr>
        <p:spPr>
          <a:xfrm>
            <a:off x="4420158" y="1675279"/>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141" name="직사각형 140"/>
          <p:cNvSpPr/>
          <p:nvPr/>
        </p:nvSpPr>
        <p:spPr>
          <a:xfrm>
            <a:off x="4882625" y="1675279"/>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정산관리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매출내역</a:t>
            </a:r>
            <a:endParaRPr lang="ko-KR" altLang="en-US" dirty="0">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106" name="TextBox 105"/>
          <p:cNvSpPr txBox="1"/>
          <p:nvPr/>
        </p:nvSpPr>
        <p:spPr>
          <a:xfrm>
            <a:off x="1191375" y="1085116"/>
            <a:ext cx="761747"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매출내역</a:t>
            </a:r>
            <a:endParaRPr lang="ko-KR" altLang="en-US" sz="1200" b="1" dirty="0">
              <a:latin typeface="Nanum Gothic" panose="020D0604000000000000" pitchFamily="34" charset="-127"/>
              <a:ea typeface="Nanum Gothic" panose="020D0604000000000000" pitchFamily="34" charset="-127"/>
            </a:endParaRPr>
          </a:p>
        </p:txBody>
      </p:sp>
      <p:sp>
        <p:nvSpPr>
          <p:cNvPr id="119" name="TextBox 118"/>
          <p:cNvSpPr txBox="1"/>
          <p:nvPr/>
        </p:nvSpPr>
        <p:spPr>
          <a:xfrm>
            <a:off x="1191375" y="1313869"/>
            <a:ext cx="3429144" cy="215444"/>
          </a:xfrm>
          <a:prstGeom prst="rect">
            <a:avLst/>
          </a:prstGeom>
          <a:noFill/>
        </p:spPr>
        <p:txBody>
          <a:bodyPr wrap="none" rtlCol="0">
            <a:spAutoFit/>
          </a:bodyPr>
          <a:lstStyle/>
          <a:p>
            <a:r>
              <a:rPr lang="en-US" altLang="ko-KR" sz="800" dirty="0">
                <a:latin typeface="Nanum Gothic" panose="020D0604000000000000" pitchFamily="34" charset="-127"/>
                <a:ea typeface="Nanum Gothic" panose="020D0604000000000000" pitchFamily="34" charset="-127"/>
              </a:rPr>
              <a:t>12</a:t>
            </a:r>
            <a:r>
              <a:rPr lang="ko-KR" altLang="en-US" sz="800" dirty="0">
                <a:latin typeface="Nanum Gothic" panose="020D0604000000000000" pitchFamily="34" charset="-127"/>
                <a:ea typeface="Nanum Gothic" panose="020D0604000000000000" pitchFamily="34" charset="-127"/>
              </a:rPr>
              <a:t>월</a:t>
            </a:r>
            <a:r>
              <a:rPr lang="en-US" altLang="ko-KR" sz="800" dirty="0">
                <a:latin typeface="Nanum Gothic" panose="020D0604000000000000" pitchFamily="34" charset="-127"/>
                <a:ea typeface="Nanum Gothic" panose="020D0604000000000000" pitchFamily="34" charset="-127"/>
              </a:rPr>
              <a:t>21</a:t>
            </a:r>
            <a:r>
              <a:rPr lang="ko-KR" altLang="en-US" sz="800" dirty="0">
                <a:latin typeface="Nanum Gothic" panose="020D0604000000000000" pitchFamily="34" charset="-127"/>
                <a:ea typeface="Nanum Gothic" panose="020D0604000000000000" pitchFamily="34" charset="-127"/>
              </a:rPr>
              <a:t>일 </a:t>
            </a:r>
            <a:r>
              <a:rPr lang="en-US" altLang="ko-KR" sz="800" dirty="0">
                <a:latin typeface="Nanum Gothic" panose="020D0604000000000000" pitchFamily="34" charset="-127"/>
                <a:ea typeface="Nanum Gothic" panose="020D0604000000000000" pitchFamily="34" charset="-127"/>
              </a:rPr>
              <a:t>09</a:t>
            </a:r>
            <a:r>
              <a:rPr lang="ko-KR" altLang="en-US" sz="800" dirty="0">
                <a:latin typeface="Nanum Gothic" panose="020D0604000000000000" pitchFamily="34" charset="-127"/>
                <a:ea typeface="Nanum Gothic" panose="020D0604000000000000" pitchFamily="34" charset="-127"/>
              </a:rPr>
              <a:t>시</a:t>
            </a:r>
            <a:r>
              <a:rPr lang="en-US" altLang="ko-KR" sz="800" dirty="0">
                <a:latin typeface="Nanum Gothic" panose="020D0604000000000000" pitchFamily="34" charset="-127"/>
                <a:ea typeface="Nanum Gothic" panose="020D0604000000000000" pitchFamily="34" charset="-127"/>
              </a:rPr>
              <a:t>00</a:t>
            </a:r>
            <a:r>
              <a:rPr lang="ko-KR" altLang="en-US" sz="800" dirty="0">
                <a:latin typeface="Nanum Gothic" panose="020D0604000000000000" pitchFamily="34" charset="-127"/>
                <a:ea typeface="Nanum Gothic" panose="020D0604000000000000" pitchFamily="34" charset="-127"/>
              </a:rPr>
              <a:t>분 기준으로 수집된 </a:t>
            </a:r>
            <a:r>
              <a:rPr lang="ko-KR" altLang="en-US" sz="800" dirty="0" err="1">
                <a:latin typeface="Nanum Gothic" panose="020D0604000000000000" pitchFamily="34" charset="-127"/>
                <a:ea typeface="Nanum Gothic" panose="020D0604000000000000" pitchFamily="34" charset="-127"/>
              </a:rPr>
              <a:t>매출내역입니다</a:t>
            </a:r>
            <a:r>
              <a:rPr lang="en-US" altLang="ko-KR" sz="800" dirty="0">
                <a:latin typeface="Nanum Gothic" panose="020D0604000000000000" pitchFamily="34" charset="-127"/>
                <a:ea typeface="Nanum Gothic" panose="020D0604000000000000" pitchFamily="34" charset="-127"/>
              </a:rPr>
              <a:t>.(5</a:t>
            </a:r>
            <a:r>
              <a:rPr lang="ko-KR" altLang="en-US" sz="800" dirty="0">
                <a:latin typeface="Nanum Gothic" panose="020D0604000000000000" pitchFamily="34" charset="-127"/>
                <a:ea typeface="Nanum Gothic" panose="020D0604000000000000" pitchFamily="34" charset="-127"/>
              </a:rPr>
              <a:t>분 단위 업데이트</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120" name="직사각형 119"/>
          <p:cNvSpPr/>
          <p:nvPr/>
        </p:nvSpPr>
        <p:spPr>
          <a:xfrm>
            <a:off x="4615071"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강제업데이트</a:t>
            </a:r>
          </a:p>
        </p:txBody>
      </p:sp>
      <p:graphicFrame>
        <p:nvGraphicFramePr>
          <p:cNvPr id="26" name="표 25"/>
          <p:cNvGraphicFramePr>
            <a:graphicFrameLocks noGrp="1"/>
          </p:cNvGraphicFramePr>
          <p:nvPr/>
        </p:nvGraphicFramePr>
        <p:xfrm>
          <a:off x="1327417" y="3155299"/>
          <a:ext cx="5944787" cy="341938"/>
        </p:xfrm>
        <a:graphic>
          <a:graphicData uri="http://schemas.openxmlformats.org/drawingml/2006/table">
            <a:tbl>
              <a:tblPr/>
              <a:tblGrid>
                <a:gridCol w="1601847">
                  <a:extLst>
                    <a:ext uri="{9D8B030D-6E8A-4147-A177-3AD203B41FA5}">
                      <a16:colId xmlns:a16="http://schemas.microsoft.com/office/drawing/2014/main" val="20000"/>
                    </a:ext>
                  </a:extLst>
                </a:gridCol>
                <a:gridCol w="1601847">
                  <a:extLst>
                    <a:ext uri="{9D8B030D-6E8A-4147-A177-3AD203B41FA5}">
                      <a16:colId xmlns:a16="http://schemas.microsoft.com/office/drawing/2014/main" val="20001"/>
                    </a:ext>
                  </a:extLst>
                </a:gridCol>
                <a:gridCol w="1139246">
                  <a:extLst>
                    <a:ext uri="{9D8B030D-6E8A-4147-A177-3AD203B41FA5}">
                      <a16:colId xmlns:a16="http://schemas.microsoft.com/office/drawing/2014/main" val="20002"/>
                    </a:ext>
                  </a:extLst>
                </a:gridCol>
                <a:gridCol w="1601847">
                  <a:extLst>
                    <a:ext uri="{9D8B030D-6E8A-4147-A177-3AD203B41FA5}">
                      <a16:colId xmlns:a16="http://schemas.microsoft.com/office/drawing/2014/main" val="20003"/>
                    </a:ext>
                  </a:extLst>
                </a:gridCol>
              </a:tblGrid>
              <a:tr h="170969">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실판매수량</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실판매금액</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사용처리수량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사용처리금액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170969">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ko-KR" altLang="en-US" sz="800" b="1"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ko-KR" altLang="en-US" sz="800" b="1"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66" name="직사각형 65"/>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7" name="직사각형 6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71" name="직사각형 70"/>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72" name="직사각형 71"/>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3" name="직사각형 72"/>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74" name="직사각형 73"/>
          <p:cNvSpPr/>
          <p:nvPr/>
        </p:nvSpPr>
        <p:spPr>
          <a:xfrm>
            <a:off x="128462" y="36745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5" name="직사각형 74"/>
          <p:cNvSpPr/>
          <p:nvPr/>
        </p:nvSpPr>
        <p:spPr>
          <a:xfrm>
            <a:off x="128461" y="469274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6" name="직사각형 75"/>
          <p:cNvSpPr/>
          <p:nvPr/>
        </p:nvSpPr>
        <p:spPr>
          <a:xfrm>
            <a:off x="128457" y="402142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28457" y="436039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49" name="직사각형 48"/>
          <p:cNvSpPr/>
          <p:nvPr/>
        </p:nvSpPr>
        <p:spPr>
          <a:xfrm>
            <a:off x="131262" y="3330200"/>
            <a:ext cx="1008115"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정산현황</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50" name="직사각형 49"/>
          <p:cNvSpPr/>
          <p:nvPr/>
        </p:nvSpPr>
        <p:spPr>
          <a:xfrm>
            <a:off x="128461" y="2650638"/>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매출내역</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93" name="직사각형 92"/>
          <p:cNvSpPr/>
          <p:nvPr/>
        </p:nvSpPr>
        <p:spPr>
          <a:xfrm>
            <a:off x="128456" y="3005391"/>
            <a:ext cx="1008115"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94" name="TextBox 93"/>
          <p:cNvSpPr txBox="1"/>
          <p:nvPr/>
        </p:nvSpPr>
        <p:spPr>
          <a:xfrm>
            <a:off x="1229278" y="2895149"/>
            <a:ext cx="1459877"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총합</a:t>
            </a:r>
          </a:p>
        </p:txBody>
      </p:sp>
      <p:sp>
        <p:nvSpPr>
          <p:cNvPr id="95" name="TextBox 94"/>
          <p:cNvSpPr txBox="1"/>
          <p:nvPr/>
        </p:nvSpPr>
        <p:spPr>
          <a:xfrm>
            <a:off x="1220250" y="3740040"/>
            <a:ext cx="1459877"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상세 </a:t>
            </a:r>
            <a:r>
              <a:rPr lang="ko-KR" altLang="en-US" sz="800" b="1" dirty="0" err="1">
                <a:latin typeface="Nanum Gothic" panose="020D0604000000000000" pitchFamily="34" charset="-127"/>
                <a:ea typeface="Nanum Gothic" panose="020D0604000000000000" pitchFamily="34" charset="-127"/>
              </a:rPr>
              <a:t>매출목록</a:t>
            </a:r>
            <a:r>
              <a:rPr lang="ko-KR" altLang="en-US" sz="800" b="1" dirty="0">
                <a:latin typeface="Nanum Gothic" panose="020D0604000000000000" pitchFamily="34" charset="-127"/>
                <a:ea typeface="Nanum Gothic" panose="020D0604000000000000" pitchFamily="34" charset="-127"/>
              </a:rPr>
              <a:t>  </a:t>
            </a:r>
            <a:r>
              <a:rPr lang="en-US" altLang="ko-KR" sz="800" b="1" dirty="0">
                <a:latin typeface="Nanum Gothic" panose="020D0604000000000000" pitchFamily="34" charset="-127"/>
                <a:ea typeface="Nanum Gothic" panose="020D0604000000000000" pitchFamily="34" charset="-127"/>
              </a:rPr>
              <a:t>N</a:t>
            </a:r>
            <a:r>
              <a:rPr lang="ko-KR" altLang="en-US" sz="800" b="1" dirty="0">
                <a:latin typeface="Nanum Gothic" panose="020D0604000000000000" pitchFamily="34" charset="-127"/>
                <a:ea typeface="Nanum Gothic" panose="020D0604000000000000" pitchFamily="34" charset="-127"/>
              </a:rPr>
              <a:t>건</a:t>
            </a:r>
          </a:p>
        </p:txBody>
      </p:sp>
      <p:graphicFrame>
        <p:nvGraphicFramePr>
          <p:cNvPr id="96" name="표 95"/>
          <p:cNvGraphicFramePr>
            <a:graphicFrameLocks noGrp="1"/>
          </p:cNvGraphicFramePr>
          <p:nvPr/>
        </p:nvGraphicFramePr>
        <p:xfrm>
          <a:off x="1300807" y="3983179"/>
          <a:ext cx="6735070" cy="1308795"/>
        </p:xfrm>
        <a:graphic>
          <a:graphicData uri="http://schemas.openxmlformats.org/drawingml/2006/table">
            <a:tbl>
              <a:tblPr/>
              <a:tblGrid>
                <a:gridCol w="236147">
                  <a:extLst>
                    <a:ext uri="{9D8B030D-6E8A-4147-A177-3AD203B41FA5}">
                      <a16:colId xmlns:a16="http://schemas.microsoft.com/office/drawing/2014/main" val="20000"/>
                    </a:ext>
                  </a:extLst>
                </a:gridCol>
                <a:gridCol w="472290">
                  <a:extLst>
                    <a:ext uri="{9D8B030D-6E8A-4147-A177-3AD203B41FA5}">
                      <a16:colId xmlns:a16="http://schemas.microsoft.com/office/drawing/2014/main" val="20001"/>
                    </a:ext>
                  </a:extLst>
                </a:gridCol>
                <a:gridCol w="565062">
                  <a:extLst>
                    <a:ext uri="{9D8B030D-6E8A-4147-A177-3AD203B41FA5}">
                      <a16:colId xmlns:a16="http://schemas.microsoft.com/office/drawing/2014/main" val="20002"/>
                    </a:ext>
                  </a:extLst>
                </a:gridCol>
                <a:gridCol w="1023296">
                  <a:extLst>
                    <a:ext uri="{9D8B030D-6E8A-4147-A177-3AD203B41FA5}">
                      <a16:colId xmlns:a16="http://schemas.microsoft.com/office/drawing/2014/main" val="20003"/>
                    </a:ext>
                  </a:extLst>
                </a:gridCol>
                <a:gridCol w="562251">
                  <a:extLst>
                    <a:ext uri="{9D8B030D-6E8A-4147-A177-3AD203B41FA5}">
                      <a16:colId xmlns:a16="http://schemas.microsoft.com/office/drawing/2014/main" val="20004"/>
                    </a:ext>
                  </a:extLst>
                </a:gridCol>
                <a:gridCol w="562251">
                  <a:extLst>
                    <a:ext uri="{9D8B030D-6E8A-4147-A177-3AD203B41FA5}">
                      <a16:colId xmlns:a16="http://schemas.microsoft.com/office/drawing/2014/main" val="20005"/>
                    </a:ext>
                  </a:extLst>
                </a:gridCol>
                <a:gridCol w="562251">
                  <a:extLst>
                    <a:ext uri="{9D8B030D-6E8A-4147-A177-3AD203B41FA5}">
                      <a16:colId xmlns:a16="http://schemas.microsoft.com/office/drawing/2014/main" val="20006"/>
                    </a:ext>
                  </a:extLst>
                </a:gridCol>
                <a:gridCol w="652210">
                  <a:extLst>
                    <a:ext uri="{9D8B030D-6E8A-4147-A177-3AD203B41FA5}">
                      <a16:colId xmlns:a16="http://schemas.microsoft.com/office/drawing/2014/main" val="20007"/>
                    </a:ext>
                  </a:extLst>
                </a:gridCol>
                <a:gridCol w="652210">
                  <a:extLst>
                    <a:ext uri="{9D8B030D-6E8A-4147-A177-3AD203B41FA5}">
                      <a16:colId xmlns:a16="http://schemas.microsoft.com/office/drawing/2014/main" val="20008"/>
                    </a:ext>
                  </a:extLst>
                </a:gridCol>
                <a:gridCol w="655014">
                  <a:extLst>
                    <a:ext uri="{9D8B030D-6E8A-4147-A177-3AD203B41FA5}">
                      <a16:colId xmlns:a16="http://schemas.microsoft.com/office/drawing/2014/main" val="20009"/>
                    </a:ext>
                  </a:extLst>
                </a:gridCol>
                <a:gridCol w="792088">
                  <a:extLst>
                    <a:ext uri="{9D8B030D-6E8A-4147-A177-3AD203B41FA5}">
                      <a16:colId xmlns:a16="http://schemas.microsoft.com/office/drawing/2014/main" val="20010"/>
                    </a:ext>
                  </a:extLst>
                </a:gridCol>
              </a:tblGrid>
              <a:tr h="223256">
                <a:tc>
                  <a:txBody>
                    <a:bodyPr/>
                    <a:lstStyle/>
                    <a:p>
                      <a:pPr algn="ctr" fontAlgn="ctr"/>
                      <a:r>
                        <a:rPr lang="en-US" sz="800" b="1" i="0" u="none" strike="noStrike" dirty="0">
                          <a:solidFill>
                            <a:schemeClr val="bg1"/>
                          </a:solidFill>
                          <a:effectLst/>
                          <a:latin typeface="Malgun Gothic" panose="020B0503020000020004" charset="-127"/>
                          <a:ea typeface="Malgun Gothic" panose="020B0503020000020004" charset="-127"/>
                        </a:rPr>
                        <a:t>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채널명</a:t>
                      </a:r>
                      <a:r>
                        <a:rPr lang="ko-KR" altLang="en-US" sz="800" b="1" i="0" u="none" strike="noStrike" dirty="0">
                          <a:solidFill>
                            <a:schemeClr val="bg1"/>
                          </a:solidFill>
                          <a:effectLst/>
                          <a:latin typeface="Malgun Gothic" panose="020B0503020000020004" charset="-127"/>
                          <a:ea typeface="Malgun Gothic" panose="020B0503020000020004" charset="-127"/>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시설사명</a:t>
                      </a:r>
                      <a:r>
                        <a:rPr lang="ko-KR" altLang="en-US" sz="800" b="1" i="0" u="none" strike="noStrike" dirty="0">
                          <a:solidFill>
                            <a:schemeClr val="bg1"/>
                          </a:solidFill>
                          <a:effectLst/>
                          <a:latin typeface="Malgun Gothic" panose="020B0503020000020004" charset="-127"/>
                          <a:ea typeface="Malgun Gothic" panose="020B0503020000020004" charset="-127"/>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상품명</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상태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판매시작일</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판매종료일</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실판매수량</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Malgun Gothic" panose="020B0503020000020004" charset="-127"/>
                          <a:ea typeface="Malgun Gothic" panose="020B0503020000020004" charset="-127"/>
                        </a:rPr>
                        <a:t>실판매금액</a:t>
                      </a:r>
                      <a:r>
                        <a:rPr lang="ko-KR" altLang="en-US" sz="800" b="1" i="0" u="none" strike="noStrike" dirty="0">
                          <a:solidFill>
                            <a:schemeClr val="bg1"/>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사용처리수량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Malgun Gothic" panose="020B0503020000020004" charset="-127"/>
                          <a:ea typeface="Malgun Gothic" panose="020B0503020000020004" charset="-127"/>
                        </a:rPr>
                        <a:t>사용처리금액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196111">
                <a:tc>
                  <a:txBody>
                    <a:bodyPr/>
                    <a:lstStyle/>
                    <a:p>
                      <a:pPr algn="ctr" fontAlgn="ctr"/>
                      <a:r>
                        <a:rPr lang="en-US" altLang="ko-KR" sz="800" b="0" i="0" u="none" strike="noStrike" dirty="0">
                          <a:solidFill>
                            <a:srgbClr val="000000"/>
                          </a:solidFill>
                          <a:effectLst/>
                          <a:latin typeface="Malgun Gothic" panose="020B0503020000020004" charset="-127"/>
                          <a:ea typeface="Malgun Gothic" panose="020B0503020000020004" charset="-127"/>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쿠팡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에버랜드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판매중</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2020-01-05</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2020-01-30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쿠팡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가나렌터카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err="1">
                          <a:solidFill>
                            <a:srgbClr val="000000"/>
                          </a:solidFill>
                          <a:effectLst/>
                          <a:latin typeface="Malgun Gothic" panose="020B0503020000020004" charset="-127"/>
                          <a:ea typeface="Malgun Gothic" panose="020B0503020000020004" charset="-127"/>
                        </a:rPr>
                        <a:t>판매종료</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2020-01-05</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상시판매</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40,000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티몬</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에버랜드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티몬</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가나렌터카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60,000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96111">
                <a:tc>
                  <a:txBody>
                    <a:bodyPr/>
                    <a:lstStyle/>
                    <a:p>
                      <a:pPr algn="ctr" fontAlgn="ctr"/>
                      <a:r>
                        <a:rPr lang="en-US" altLang="ko-KR" sz="800" b="0" i="0" u="none" strike="noStrike">
                          <a:solidFill>
                            <a:srgbClr val="000000"/>
                          </a:solidFill>
                          <a:effectLst/>
                          <a:latin typeface="Malgun Gothic" panose="020B0503020000020004" charset="-127"/>
                          <a:ea typeface="Malgun Gothic" panose="020B0503020000020004" charset="-127"/>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네이버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에버랜드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1" i="0" u="sng" strike="noStrike" dirty="0">
                          <a:solidFill>
                            <a:schemeClr val="tx2">
                              <a:lumMod val="60000"/>
                              <a:lumOff val="40000"/>
                            </a:schemeClr>
                          </a:solidFill>
                          <a:effectLst/>
                          <a:latin typeface="Malgun Gothic" panose="020B0503020000020004" charset="-127"/>
                          <a:ea typeface="Malgun Gothic" panose="020B0503020000020004" charset="-127"/>
                        </a:rPr>
                        <a:t>어쩌고저쩌고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800" b="1" i="0" u="sng" strike="noStrike" dirty="0">
                          <a:solidFill>
                            <a:schemeClr val="tx2">
                              <a:lumMod val="60000"/>
                              <a:lumOff val="40000"/>
                            </a:schemeClr>
                          </a:solidFill>
                          <a:effectLst/>
                          <a:latin typeface="Malgun Gothic" panose="020B0503020000020004" charset="-127"/>
                          <a:ea typeface="Malgun Gothic" panose="020B0503020000020004" charset="-127"/>
                        </a:rPr>
                        <a:t>80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01" name="직사각형 100"/>
          <p:cNvSpPr/>
          <p:nvPr/>
        </p:nvSpPr>
        <p:spPr>
          <a:xfrm>
            <a:off x="2659216" y="4520923"/>
            <a:ext cx="824146" cy="13467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cxnSp>
        <p:nvCxnSpPr>
          <p:cNvPr id="102" name="꺾인 연결선[E] 101"/>
          <p:cNvCxnSpPr>
            <a:stCxn id="101" idx="1"/>
            <a:endCxn id="61" idx="1"/>
          </p:cNvCxnSpPr>
          <p:nvPr/>
        </p:nvCxnSpPr>
        <p:spPr>
          <a:xfrm rot="10800000" flipV="1">
            <a:off x="2205048" y="4588262"/>
            <a:ext cx="454169" cy="1251412"/>
          </a:xfrm>
          <a:prstGeom prst="bentConnector3">
            <a:avLst>
              <a:gd name="adj1" fmla="val 150334"/>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1" name="직사각형 60"/>
          <p:cNvSpPr/>
          <p:nvPr/>
        </p:nvSpPr>
        <p:spPr>
          <a:xfrm>
            <a:off x="2205047" y="5157735"/>
            <a:ext cx="6835652" cy="136387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100" b="1" dirty="0">
                <a:solidFill>
                  <a:schemeClr val="tx1"/>
                </a:solidFill>
                <a:latin typeface="Nanum Gothic" panose="020D0604000000000000" pitchFamily="34" charset="-127"/>
                <a:ea typeface="Nanum Gothic" panose="020D0604000000000000" pitchFamily="34" charset="-127"/>
              </a:rPr>
              <a:t>‘</a:t>
            </a:r>
            <a:r>
              <a:rPr lang="ko-KR" altLang="en-US" sz="1100" b="1" dirty="0">
                <a:solidFill>
                  <a:schemeClr val="tx1"/>
                </a:solidFill>
                <a:latin typeface="Nanum Gothic" panose="020D0604000000000000" pitchFamily="34" charset="-127"/>
                <a:ea typeface="Nanum Gothic" panose="020D0604000000000000" pitchFamily="34" charset="-127"/>
              </a:rPr>
              <a:t>어쩌고저쩌고</a:t>
            </a:r>
            <a:r>
              <a:rPr lang="en-US" altLang="ko-KR" sz="1100" b="1" dirty="0">
                <a:solidFill>
                  <a:schemeClr val="tx1"/>
                </a:solidFill>
                <a:latin typeface="Nanum Gothic" panose="020D0604000000000000" pitchFamily="34" charset="-127"/>
                <a:ea typeface="Nanum Gothic" panose="020D0604000000000000" pitchFamily="34" charset="-127"/>
              </a:rPr>
              <a:t>’</a:t>
            </a:r>
            <a:r>
              <a:rPr lang="ko-KR" altLang="en-US" sz="1100" b="1" dirty="0">
                <a:solidFill>
                  <a:schemeClr val="tx1"/>
                </a:solidFill>
                <a:latin typeface="Nanum Gothic" panose="020D0604000000000000" pitchFamily="34" charset="-127"/>
                <a:ea typeface="Nanum Gothic" panose="020D0604000000000000" pitchFamily="34" charset="-127"/>
              </a:rPr>
              <a:t> </a:t>
            </a:r>
            <a:r>
              <a:rPr lang="ko-KR" altLang="en-US" sz="1100" b="1" dirty="0" err="1">
                <a:solidFill>
                  <a:schemeClr val="tx1"/>
                </a:solidFill>
                <a:latin typeface="Nanum Gothic" panose="020D0604000000000000" pitchFamily="34" charset="-127"/>
                <a:ea typeface="Nanum Gothic" panose="020D0604000000000000" pitchFamily="34" charset="-127"/>
              </a:rPr>
              <a:t>상세옵션별</a:t>
            </a:r>
            <a:r>
              <a:rPr lang="ko-KR" altLang="en-US" sz="1100" b="1" dirty="0">
                <a:solidFill>
                  <a:schemeClr val="tx1"/>
                </a:solidFill>
                <a:latin typeface="Nanum Gothic" panose="020D0604000000000000" pitchFamily="34" charset="-127"/>
                <a:ea typeface="Nanum Gothic" panose="020D0604000000000000" pitchFamily="34" charset="-127"/>
              </a:rPr>
              <a:t> 매출</a:t>
            </a:r>
            <a:endParaRPr lang="en-US" altLang="ko-KR" sz="800" dirty="0">
              <a:solidFill>
                <a:srgbClr val="000000"/>
              </a:solidFill>
              <a:latin typeface="Nanum Gothic" panose="020D0604000000000000" pitchFamily="34" charset="-127"/>
              <a:ea typeface="Nanum Gothic" panose="020D0604000000000000" pitchFamily="34" charset="-127"/>
            </a:endParaRPr>
          </a:p>
          <a:p>
            <a:endParaRPr lang="en-US" altLang="ko-KR" sz="800" dirty="0">
              <a:solidFill>
                <a:srgbClr val="000000"/>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62" name="TextBox 61"/>
          <p:cNvSpPr txBox="1"/>
          <p:nvPr/>
        </p:nvSpPr>
        <p:spPr>
          <a:xfrm>
            <a:off x="8736365" y="5189552"/>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70" name="표 69"/>
          <p:cNvGraphicFramePr>
            <a:graphicFrameLocks noGrp="1"/>
          </p:cNvGraphicFramePr>
          <p:nvPr/>
        </p:nvGraphicFramePr>
        <p:xfrm>
          <a:off x="2370364" y="5660863"/>
          <a:ext cx="6438900" cy="824865"/>
        </p:xfrm>
        <a:graphic>
          <a:graphicData uri="http://schemas.openxmlformats.org/drawingml/2006/table">
            <a:tbl>
              <a:tblPr/>
              <a:tblGrid>
                <a:gridCol w="1155130">
                  <a:extLst>
                    <a:ext uri="{9D8B030D-6E8A-4147-A177-3AD203B41FA5}">
                      <a16:colId xmlns:a16="http://schemas.microsoft.com/office/drawing/2014/main" val="20000"/>
                    </a:ext>
                  </a:extLst>
                </a:gridCol>
                <a:gridCol w="634687">
                  <a:extLst>
                    <a:ext uri="{9D8B030D-6E8A-4147-A177-3AD203B41FA5}">
                      <a16:colId xmlns:a16="http://schemas.microsoft.com/office/drawing/2014/main" val="20001"/>
                    </a:ext>
                  </a:extLst>
                </a:gridCol>
                <a:gridCol w="647381">
                  <a:extLst>
                    <a:ext uri="{9D8B030D-6E8A-4147-A177-3AD203B41FA5}">
                      <a16:colId xmlns:a16="http://schemas.microsoft.com/office/drawing/2014/main" val="20002"/>
                    </a:ext>
                  </a:extLst>
                </a:gridCol>
                <a:gridCol w="634687">
                  <a:extLst>
                    <a:ext uri="{9D8B030D-6E8A-4147-A177-3AD203B41FA5}">
                      <a16:colId xmlns:a16="http://schemas.microsoft.com/office/drawing/2014/main" val="20003"/>
                    </a:ext>
                  </a:extLst>
                </a:gridCol>
                <a:gridCol w="634687">
                  <a:extLst>
                    <a:ext uri="{9D8B030D-6E8A-4147-A177-3AD203B41FA5}">
                      <a16:colId xmlns:a16="http://schemas.microsoft.com/office/drawing/2014/main" val="20004"/>
                    </a:ext>
                  </a:extLst>
                </a:gridCol>
                <a:gridCol w="736237">
                  <a:extLst>
                    <a:ext uri="{9D8B030D-6E8A-4147-A177-3AD203B41FA5}">
                      <a16:colId xmlns:a16="http://schemas.microsoft.com/office/drawing/2014/main" val="20005"/>
                    </a:ext>
                  </a:extLst>
                </a:gridCol>
                <a:gridCol w="736237">
                  <a:extLst>
                    <a:ext uri="{9D8B030D-6E8A-4147-A177-3AD203B41FA5}">
                      <a16:colId xmlns:a16="http://schemas.microsoft.com/office/drawing/2014/main" val="20006"/>
                    </a:ext>
                  </a:extLst>
                </a:gridCol>
                <a:gridCol w="523617">
                  <a:extLst>
                    <a:ext uri="{9D8B030D-6E8A-4147-A177-3AD203B41FA5}">
                      <a16:colId xmlns:a16="http://schemas.microsoft.com/office/drawing/2014/main" val="20007"/>
                    </a:ext>
                  </a:extLst>
                </a:gridCol>
                <a:gridCol w="736237">
                  <a:extLst>
                    <a:ext uri="{9D8B030D-6E8A-4147-A177-3AD203B41FA5}">
                      <a16:colId xmlns:a16="http://schemas.microsoft.com/office/drawing/2014/main" val="20008"/>
                    </a:ext>
                  </a:extLst>
                </a:gridCol>
              </a:tblGrid>
              <a:tr h="0">
                <a:tc>
                  <a:txBody>
                    <a:bodyPr/>
                    <a:lstStyle/>
                    <a:p>
                      <a:pPr algn="ctr" fontAlgn="ctr"/>
                      <a:r>
                        <a:rPr lang="ko-KR" altLang="en-US" sz="800" b="1" i="0" u="none" strike="noStrike">
                          <a:solidFill>
                            <a:srgbClr val="000000"/>
                          </a:solidFill>
                          <a:effectLst/>
                          <a:latin typeface="Malgun Gothic" panose="020B0503020000020004" charset="-127"/>
                          <a:ea typeface="Malgun Gothic" panose="020B0503020000020004" charset="-127"/>
                        </a:rPr>
                        <a:t>옵션명</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주문수량</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주문금액</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a:solidFill>
                            <a:srgbClr val="000000"/>
                          </a:solidFill>
                          <a:effectLst/>
                          <a:latin typeface="Malgun Gothic" panose="020B0503020000020004" charset="-127"/>
                          <a:ea typeface="Malgun Gothic" panose="020B0503020000020004" charset="-127"/>
                        </a:rPr>
                        <a:t> 취소수량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a:solidFill>
                            <a:srgbClr val="000000"/>
                          </a:solidFill>
                          <a:effectLst/>
                          <a:latin typeface="Malgun Gothic" panose="020B0503020000020004" charset="-127"/>
                          <a:ea typeface="Malgun Gothic" panose="020B0503020000020004" charset="-127"/>
                        </a:rPr>
                        <a:t> 취소금액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err="1">
                          <a:solidFill>
                            <a:srgbClr val="000000"/>
                          </a:solidFill>
                          <a:effectLst/>
                          <a:latin typeface="Malgun Gothic" panose="020B0503020000020004" charset="-127"/>
                          <a:ea typeface="Malgun Gothic" panose="020B0503020000020004" charset="-127"/>
                        </a:rPr>
                        <a:t>실판매수량</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err="1">
                          <a:solidFill>
                            <a:srgbClr val="000000"/>
                          </a:solidFill>
                          <a:effectLst/>
                          <a:latin typeface="Malgun Gothic" panose="020B0503020000020004" charset="-127"/>
                          <a:ea typeface="Malgun Gothic" panose="020B0503020000020004" charset="-127"/>
                        </a:rPr>
                        <a:t>실판매금액</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사용처리수량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사용처리금액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42875">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종일권</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2,000,000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200,000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90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2875">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반일권</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2,000,000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200,000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800" b="0" i="0" u="none" strike="noStrike" kern="1200" cap="none" spc="0" normalizeH="0" baseline="0" noProof="0">
                          <a:ln>
                            <a:noFill/>
                          </a:ln>
                          <a:solidFill>
                            <a:srgbClr val="000000"/>
                          </a:solidFill>
                          <a:effectLst/>
                          <a:uLnTx/>
                          <a:uFillTx/>
                          <a:latin typeface="Malgun Gothic" panose="020B0503020000020004" charset="-127"/>
                          <a:ea typeface="Malgun Gothic" panose="020B0503020000020004" charset="-127"/>
                          <a:cs typeface="+mn-cs"/>
                        </a:rPr>
                        <a:t>              </a:t>
                      </a:r>
                      <a:r>
                        <a:rPr kumimoji="0" lang="en-US" altLang="ko-KR" sz="800" b="0" i="0" u="none" strike="noStrike" kern="1200" cap="none" spc="0" normalizeH="0" baseline="0" noProof="0">
                          <a:ln>
                            <a:noFill/>
                          </a:ln>
                          <a:solidFill>
                            <a:srgbClr val="000000"/>
                          </a:solidFill>
                          <a:effectLst/>
                          <a:uLnTx/>
                          <a:uFillTx/>
                          <a:latin typeface="Malgun Gothic" panose="020B0503020000020004" charset="-127"/>
                          <a:ea typeface="Malgun Gothic" panose="020B0503020000020004" charset="-127"/>
                          <a:cs typeface="+mn-cs"/>
                        </a:rPr>
                        <a:t>90 </a:t>
                      </a:r>
                      <a:endParaRPr kumimoji="0" lang="en-US" altLang="ko-KR" sz="800" b="0" i="0" u="none" strike="noStrike" kern="1200" cap="none" spc="0" normalizeH="0" baseline="0" noProof="0" dirty="0">
                        <a:ln>
                          <a:noFill/>
                        </a:ln>
                        <a:solidFill>
                          <a:srgbClr val="000000"/>
                        </a:solidFill>
                        <a:effectLst/>
                        <a:uLnTx/>
                        <a:uFillTx/>
                        <a:latin typeface="Malgun Gothic" panose="020B0503020000020004" charset="-127"/>
                        <a:ea typeface="Malgun Gothic" panose="020B0503020000020004"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2875">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어린이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2,000,000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200,000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800" b="0" i="0" u="none" strike="noStrike" kern="1200" cap="none" spc="0" normalizeH="0" baseline="0" noProof="0">
                          <a:ln>
                            <a:noFill/>
                          </a:ln>
                          <a:solidFill>
                            <a:srgbClr val="000000"/>
                          </a:solidFill>
                          <a:effectLst/>
                          <a:uLnTx/>
                          <a:uFillTx/>
                          <a:latin typeface="Malgun Gothic" panose="020B0503020000020004" charset="-127"/>
                          <a:ea typeface="Malgun Gothic" panose="020B0503020000020004" charset="-127"/>
                          <a:cs typeface="+mn-cs"/>
                        </a:rPr>
                        <a:t>              </a:t>
                      </a:r>
                      <a:r>
                        <a:rPr kumimoji="0" lang="en-US" altLang="ko-KR" sz="800" b="0" i="0" u="none" strike="noStrike" kern="1200" cap="none" spc="0" normalizeH="0" baseline="0" noProof="0">
                          <a:ln>
                            <a:noFill/>
                          </a:ln>
                          <a:solidFill>
                            <a:srgbClr val="000000"/>
                          </a:solidFill>
                          <a:effectLst/>
                          <a:uLnTx/>
                          <a:uFillTx/>
                          <a:latin typeface="Malgun Gothic" panose="020B0503020000020004" charset="-127"/>
                          <a:ea typeface="Malgun Gothic" panose="020B0503020000020004" charset="-127"/>
                          <a:cs typeface="+mn-cs"/>
                        </a:rPr>
                        <a:t>90 </a:t>
                      </a:r>
                      <a:endParaRPr kumimoji="0" lang="en-US" altLang="ko-KR" sz="800" b="0" i="0" u="none" strike="noStrike" kern="1200" cap="none" spc="0" normalizeH="0" baseline="0" noProof="0" dirty="0">
                        <a:ln>
                          <a:noFill/>
                        </a:ln>
                        <a:solidFill>
                          <a:srgbClr val="000000"/>
                        </a:solidFill>
                        <a:effectLst/>
                        <a:uLnTx/>
                        <a:uFillTx/>
                        <a:latin typeface="Malgun Gothic" panose="020B0503020000020004" charset="-127"/>
                        <a:ea typeface="Malgun Gothic" panose="020B0503020000020004"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2875">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노약자</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2,000,000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a:solidFill>
                            <a:srgbClr val="000000"/>
                          </a:solidFill>
                          <a:effectLst/>
                          <a:latin typeface="Malgun Gothic" panose="020B0503020000020004" charset="-127"/>
                          <a:ea typeface="Malgun Gothic" panose="020B0503020000020004" charset="-127"/>
                        </a:rPr>
                        <a:t>    </a:t>
                      </a:r>
                      <a:r>
                        <a:rPr lang="en-US" altLang="ko-KR" sz="800" b="0" i="0" u="none" strike="noStrike">
                          <a:solidFill>
                            <a:srgbClr val="000000"/>
                          </a:solidFill>
                          <a:effectLst/>
                          <a:latin typeface="Malgun Gothic" panose="020B0503020000020004" charset="-127"/>
                          <a:ea typeface="Malgun Gothic" panose="020B0503020000020004" charset="-127"/>
                        </a:rPr>
                        <a:t>200,000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ko-KR" altLang="en-US" sz="800" b="0" i="0" u="none" strike="noStrike" kern="1200" cap="none" spc="0" normalizeH="0" baseline="0" noProof="0" dirty="0">
                          <a:ln>
                            <a:noFill/>
                          </a:ln>
                          <a:solidFill>
                            <a:srgbClr val="000000"/>
                          </a:solidFill>
                          <a:effectLst/>
                          <a:uLnTx/>
                          <a:uFillTx/>
                          <a:latin typeface="Malgun Gothic" panose="020B0503020000020004" charset="-127"/>
                          <a:ea typeface="Malgun Gothic" panose="020B0503020000020004" charset="-127"/>
                          <a:cs typeface="+mn-cs"/>
                        </a:rPr>
                        <a:t>              </a:t>
                      </a:r>
                      <a:r>
                        <a:rPr kumimoji="0" lang="en-US" altLang="ko-KR" sz="800" b="0" i="0" u="none" strike="noStrike" kern="1200" cap="none" spc="0" normalizeH="0" baseline="0" noProof="0" dirty="0">
                          <a:ln>
                            <a:noFill/>
                          </a:ln>
                          <a:solidFill>
                            <a:srgbClr val="000000"/>
                          </a:solidFill>
                          <a:effectLst/>
                          <a:uLnTx/>
                          <a:uFillTx/>
                          <a:latin typeface="Malgun Gothic" panose="020B0503020000020004" charset="-127"/>
                          <a:ea typeface="Malgun Gothic" panose="020B0503020000020004" charset="-127"/>
                          <a:cs typeface="+mn-cs"/>
                        </a:rPr>
                        <a:t>90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1,600,000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4" name="TextBox 83"/>
          <p:cNvSpPr txBox="1"/>
          <p:nvPr/>
        </p:nvSpPr>
        <p:spPr>
          <a:xfrm>
            <a:off x="2215029" y="5352212"/>
            <a:ext cx="2712602"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실판매수량은 </a:t>
            </a:r>
            <a:r>
              <a:rPr lang="en-US" altLang="ko-KR" sz="800" dirty="0">
                <a:latin typeface="Nanum Gothic" panose="020D0604000000000000" pitchFamily="34" charset="-127"/>
                <a:ea typeface="Nanum Gothic" panose="020D0604000000000000" pitchFamily="34" charset="-127"/>
              </a:rPr>
              <a:t>“</a:t>
            </a:r>
            <a:r>
              <a:rPr lang="ko-KR" altLang="en-US" sz="800" dirty="0" err="1">
                <a:latin typeface="Nanum Gothic" panose="020D0604000000000000" pitchFamily="34" charset="-127"/>
                <a:ea typeface="Nanum Gothic" panose="020D0604000000000000" pitchFamily="34" charset="-127"/>
              </a:rPr>
              <a:t>주문수량</a:t>
            </a:r>
            <a:r>
              <a:rPr lang="ko-KR" altLang="en-US" sz="800" dirty="0">
                <a:latin typeface="Nanum Gothic" panose="020D0604000000000000" pitchFamily="34" charset="-127"/>
                <a:ea typeface="Nanum Gothic" panose="020D0604000000000000" pitchFamily="34" charset="-127"/>
              </a:rPr>
              <a:t> </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a:t>
            </a:r>
            <a:r>
              <a:rPr lang="ko-KR" altLang="en-US" sz="800" dirty="0" err="1">
                <a:latin typeface="Nanum Gothic" panose="020D0604000000000000" pitchFamily="34" charset="-127"/>
                <a:ea typeface="Nanum Gothic" panose="020D0604000000000000" pitchFamily="34" charset="-127"/>
              </a:rPr>
              <a:t>취소수량</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a:t>
            </a:r>
            <a:r>
              <a:rPr lang="ko-KR" altLang="en-US" sz="800" dirty="0" err="1">
                <a:latin typeface="Nanum Gothic" panose="020D0604000000000000" pitchFamily="34" charset="-127"/>
                <a:ea typeface="Nanum Gothic" panose="020D0604000000000000" pitchFamily="34" charset="-127"/>
              </a:rPr>
              <a:t>으로</a:t>
            </a:r>
            <a:r>
              <a:rPr lang="ko-KR" altLang="en-US" sz="800" dirty="0">
                <a:latin typeface="Nanum Gothic" panose="020D0604000000000000" pitchFamily="34" charset="-127"/>
                <a:ea typeface="Nanum Gothic" panose="020D0604000000000000" pitchFamily="34" charset="-127"/>
              </a:rPr>
              <a:t> 계산 되어집니다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56" name="표 55"/>
          <p:cNvGraphicFramePr>
            <a:graphicFrameLocks noGrp="1"/>
          </p:cNvGraphicFramePr>
          <p:nvPr/>
        </p:nvGraphicFramePr>
        <p:xfrm>
          <a:off x="1280592" y="1634820"/>
          <a:ext cx="6048672" cy="1146108"/>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2095857">
                  <a:extLst>
                    <a:ext uri="{9D8B030D-6E8A-4147-A177-3AD203B41FA5}">
                      <a16:colId xmlns:a16="http://schemas.microsoft.com/office/drawing/2014/main" val="20003"/>
                    </a:ext>
                  </a:extLst>
                </a:gridCol>
                <a:gridCol w="640447">
                  <a:extLst>
                    <a:ext uri="{9D8B030D-6E8A-4147-A177-3AD203B41FA5}">
                      <a16:colId xmlns:a16="http://schemas.microsoft.com/office/drawing/2014/main" val="20004"/>
                    </a:ext>
                  </a:extLst>
                </a:gridCol>
              </a:tblGrid>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기간조회</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33450"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a:solidFill>
                            <a:schemeClr val="tx1"/>
                          </a:solidFill>
                          <a:latin typeface="Nanum Gothic" panose="020D0604000000000000" pitchFamily="34" charset="-127"/>
                          <a:ea typeface="Nanum Gothic" panose="020D0604000000000000" pitchFamily="34" charset="-127"/>
                        </a:rPr>
                        <a:t>판매채널</a:t>
                      </a:r>
                      <a:endParaRPr lang="ko-KR" altLang="en-US" dirty="0">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상품상태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임시저장</a:t>
                      </a:r>
                      <a:r>
                        <a:rPr lang="ko-KR" altLang="en-US" sz="800" b="0" dirty="0">
                          <a:solidFill>
                            <a:schemeClr val="tx1"/>
                          </a:solidFill>
                          <a:latin typeface="Nanum Gothic" panose="020D0604000000000000" pitchFamily="34" charset="-127"/>
                          <a:ea typeface="Nanum Gothic" panose="020D0604000000000000" pitchFamily="34" charset="-127"/>
                        </a:rPr>
                        <a:t>     ○</a:t>
                      </a:r>
                      <a:r>
                        <a:rPr lang="ko-KR" altLang="en-US" sz="800" b="0" dirty="0" err="1">
                          <a:solidFill>
                            <a:schemeClr val="tx1"/>
                          </a:solidFill>
                          <a:latin typeface="Nanum Gothic" panose="020D0604000000000000" pitchFamily="34" charset="-127"/>
                          <a:ea typeface="Nanum Gothic" panose="020D0604000000000000" pitchFamily="34" charset="-127"/>
                        </a:rPr>
                        <a:t>승인대기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판매중</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r>
                        <a:rPr lang="ko-KR" altLang="en-US" sz="800" b="0" dirty="0">
                          <a:solidFill>
                            <a:schemeClr val="tx1"/>
                          </a:solidFill>
                          <a:latin typeface="Nanum Gothic" panose="020D0604000000000000" pitchFamily="34" charset="-127"/>
                          <a:ea typeface="Nanum Gothic" panose="020D0604000000000000" pitchFamily="34" charset="-127"/>
                        </a:rPr>
                        <a:t>○ 판매중지      ○ 판매완료</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527">
                <a:tc>
                  <a:txBody>
                    <a:bodyPr/>
                    <a:lstStyle/>
                    <a:p>
                      <a:pPr marL="0" marR="0" lvl="0" indent="0" algn="ctr" defTabSz="914400" rtl="0" eaLnBrk="1" fontAlgn="auto" latinLnBrk="1" hangingPunct="1">
                        <a:lnSpc>
                          <a:spcPct val="100000"/>
                        </a:lnSpc>
                        <a:spcBef>
                          <a:spcPts val="0"/>
                        </a:spcBef>
                        <a:spcAft>
                          <a:spcPts val="0"/>
                        </a:spcAft>
                        <a:buClrTx/>
                        <a:buSzTx/>
                        <a:buFontTx/>
                        <a:buNone/>
                        <a:defRPr/>
                      </a:pPr>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상품선택</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1"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err="1">
                          <a:solidFill>
                            <a:schemeClr val="tx1"/>
                          </a:solidFill>
                          <a:latin typeface="Nanum Gothic" panose="020D0604000000000000" pitchFamily="34" charset="-127"/>
                          <a:ea typeface="Nanum Gothic" panose="020D0604000000000000" pitchFamily="34" charset="-127"/>
                        </a:rPr>
                        <a:t>실판매수량</a:t>
                      </a:r>
                      <a:endParaRPr lang="ko-KR" altLang="en-US" sz="800" b="1"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895350" indent="0" latinLnBrk="1"/>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57" name="직사각형 56"/>
          <p:cNvSpPr/>
          <p:nvPr/>
        </p:nvSpPr>
        <p:spPr>
          <a:xfrm>
            <a:off x="2058755" y="194612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58" name="직사각형 57"/>
          <p:cNvSpPr/>
          <p:nvPr/>
        </p:nvSpPr>
        <p:spPr>
          <a:xfrm>
            <a:off x="4668342" y="1946121"/>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쿠팡</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위메프</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티몬</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59" name="직사각형 58"/>
          <p:cNvSpPr/>
          <p:nvPr/>
        </p:nvSpPr>
        <p:spPr>
          <a:xfrm>
            <a:off x="6749307" y="1928021"/>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60" name="직사각형 59"/>
          <p:cNvSpPr/>
          <p:nvPr/>
        </p:nvSpPr>
        <p:spPr>
          <a:xfrm>
            <a:off x="6747628" y="2347339"/>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85" name="직사각형 84"/>
          <p:cNvSpPr/>
          <p:nvPr/>
        </p:nvSpPr>
        <p:spPr>
          <a:xfrm>
            <a:off x="2058755" y="2527342"/>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상품전체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86" name="직사각형 85"/>
          <p:cNvSpPr/>
          <p:nvPr/>
        </p:nvSpPr>
        <p:spPr>
          <a:xfrm>
            <a:off x="2051503"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87"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0469"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88" name="직사각형 87"/>
          <p:cNvSpPr/>
          <p:nvPr/>
        </p:nvSpPr>
        <p:spPr>
          <a:xfrm>
            <a:off x="3057124"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89"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6090"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90" name="직사각형 89"/>
          <p:cNvSpPr/>
          <p:nvPr/>
        </p:nvSpPr>
        <p:spPr>
          <a:xfrm>
            <a:off x="4668342" y="2541112"/>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endParaRPr lang="ko-KR" altLang="en-US" sz="900" dirty="0">
              <a:solidFill>
                <a:schemeClr val="tx1"/>
              </a:solidFill>
            </a:endParaRPr>
          </a:p>
        </p:txBody>
      </p:sp>
      <p:sp>
        <p:nvSpPr>
          <p:cNvPr id="91" name="직사각형 90"/>
          <p:cNvSpPr/>
          <p:nvPr/>
        </p:nvSpPr>
        <p:spPr>
          <a:xfrm>
            <a:off x="5620533" y="2540532"/>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endParaRPr lang="ko-KR" altLang="en-US" sz="900" dirty="0">
              <a:solidFill>
                <a:schemeClr val="tx1"/>
              </a:solidFill>
            </a:endParaRPr>
          </a:p>
        </p:txBody>
      </p:sp>
      <p:sp>
        <p:nvSpPr>
          <p:cNvPr id="92" name="직사각형 91"/>
          <p:cNvSpPr/>
          <p:nvPr/>
        </p:nvSpPr>
        <p:spPr>
          <a:xfrm>
            <a:off x="4016896"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97" name="직사각형 96"/>
          <p:cNvSpPr/>
          <p:nvPr/>
        </p:nvSpPr>
        <p:spPr>
          <a:xfrm>
            <a:off x="4477651"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98" name="직사각형 97"/>
          <p:cNvSpPr/>
          <p:nvPr/>
        </p:nvSpPr>
        <p:spPr>
          <a:xfrm>
            <a:off x="4940118"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3</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99" name="직사각형 98"/>
          <p:cNvSpPr/>
          <p:nvPr/>
        </p:nvSpPr>
        <p:spPr>
          <a:xfrm>
            <a:off x="1890042" y="3340383"/>
            <a:ext cx="480322" cy="15253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
        <p:nvSpPr>
          <p:cNvPr id="100" name="직사각형 99"/>
          <p:cNvSpPr/>
          <p:nvPr/>
        </p:nvSpPr>
        <p:spPr>
          <a:xfrm>
            <a:off x="7580553" y="2448169"/>
            <a:ext cx="2393787" cy="68834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050" b="1" dirty="0" err="1">
                <a:solidFill>
                  <a:schemeClr val="tx1"/>
                </a:solidFill>
                <a:latin typeface="Nanum Gothic" panose="020D0604000000000000" pitchFamily="34" charset="-127"/>
                <a:ea typeface="Nanum Gothic" panose="020D0604000000000000" pitchFamily="34" charset="-127"/>
              </a:rPr>
              <a:t>실판매수량</a:t>
            </a:r>
            <a:r>
              <a:rPr lang="ko-KR" altLang="en-US" sz="1050" b="1" dirty="0">
                <a:solidFill>
                  <a:schemeClr val="tx1"/>
                </a:solidFill>
                <a:latin typeface="Nanum Gothic" panose="020D0604000000000000" pitchFamily="34" charset="-127"/>
                <a:ea typeface="Nanum Gothic" panose="020D0604000000000000" pitchFamily="34" charset="-127"/>
              </a:rPr>
              <a:t> 상세</a:t>
            </a:r>
            <a:endParaRPr lang="en-US" altLang="ko-KR" sz="700" dirty="0">
              <a:solidFill>
                <a:schemeClr val="tx1"/>
              </a:solidFill>
              <a:latin typeface="Nanum Gothic" panose="020D0604000000000000" pitchFamily="34" charset="-127"/>
              <a:ea typeface="Nanum Gothic" panose="020D0604000000000000" pitchFamily="34" charset="-127"/>
            </a:endParaRPr>
          </a:p>
          <a:p>
            <a:endParaRPr lang="en-US" altLang="ko-KR" sz="700" dirty="0">
              <a:solidFill>
                <a:schemeClr val="tx1"/>
              </a:solidFill>
              <a:latin typeface="Nanum Gothic" panose="020D0604000000000000" pitchFamily="34" charset="-127"/>
              <a:ea typeface="Nanum Gothic" panose="020D0604000000000000" pitchFamily="34" charset="-127"/>
            </a:endParaRPr>
          </a:p>
          <a:p>
            <a:endParaRPr lang="en-US" altLang="ko-KR" sz="700" dirty="0">
              <a:solidFill>
                <a:schemeClr val="tx1"/>
              </a:solidFill>
              <a:latin typeface="Nanum Gothic" panose="020D0604000000000000" pitchFamily="34" charset="-127"/>
              <a:ea typeface="Nanum Gothic" panose="020D0604000000000000" pitchFamily="34" charset="-127"/>
            </a:endParaRPr>
          </a:p>
          <a:p>
            <a:endParaRPr lang="en-US" altLang="ko-KR" sz="700" dirty="0">
              <a:solidFill>
                <a:schemeClr val="tx1"/>
              </a:solidFill>
              <a:latin typeface="Nanum Gothic" panose="020D0604000000000000" pitchFamily="34" charset="-127"/>
              <a:ea typeface="Nanum Gothic" panose="020D0604000000000000" pitchFamily="34" charset="-127"/>
            </a:endParaRPr>
          </a:p>
          <a:p>
            <a:endParaRPr lang="ko-KR" altLang="en-US" sz="700" dirty="0">
              <a:solidFill>
                <a:schemeClr val="tx1"/>
              </a:solidFill>
              <a:latin typeface="Nanum Gothic" panose="020D0604000000000000" pitchFamily="34" charset="-127"/>
              <a:ea typeface="Nanum Gothic" panose="020D0604000000000000" pitchFamily="34" charset="-127"/>
            </a:endParaRPr>
          </a:p>
        </p:txBody>
      </p:sp>
      <p:sp>
        <p:nvSpPr>
          <p:cNvPr id="103" name="TextBox 102"/>
          <p:cNvSpPr txBox="1"/>
          <p:nvPr/>
        </p:nvSpPr>
        <p:spPr>
          <a:xfrm>
            <a:off x="9687082" y="2435330"/>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104" name="표 103"/>
          <p:cNvGraphicFramePr>
            <a:graphicFrameLocks noGrp="1"/>
          </p:cNvGraphicFramePr>
          <p:nvPr/>
        </p:nvGraphicFramePr>
        <p:xfrm>
          <a:off x="7689231" y="2714134"/>
          <a:ext cx="2230219" cy="356785"/>
        </p:xfrm>
        <a:graphic>
          <a:graphicData uri="http://schemas.openxmlformats.org/drawingml/2006/table">
            <a:tbl>
              <a:tblPr/>
              <a:tblGrid>
                <a:gridCol w="554781">
                  <a:extLst>
                    <a:ext uri="{9D8B030D-6E8A-4147-A177-3AD203B41FA5}">
                      <a16:colId xmlns:a16="http://schemas.microsoft.com/office/drawing/2014/main" val="20000"/>
                    </a:ext>
                  </a:extLst>
                </a:gridCol>
                <a:gridCol w="565876">
                  <a:extLst>
                    <a:ext uri="{9D8B030D-6E8A-4147-A177-3AD203B41FA5}">
                      <a16:colId xmlns:a16="http://schemas.microsoft.com/office/drawing/2014/main" val="20001"/>
                    </a:ext>
                  </a:extLst>
                </a:gridCol>
                <a:gridCol w="554781">
                  <a:extLst>
                    <a:ext uri="{9D8B030D-6E8A-4147-A177-3AD203B41FA5}">
                      <a16:colId xmlns:a16="http://schemas.microsoft.com/office/drawing/2014/main" val="20002"/>
                    </a:ext>
                  </a:extLst>
                </a:gridCol>
                <a:gridCol w="554781">
                  <a:extLst>
                    <a:ext uri="{9D8B030D-6E8A-4147-A177-3AD203B41FA5}">
                      <a16:colId xmlns:a16="http://schemas.microsoft.com/office/drawing/2014/main" val="20003"/>
                    </a:ext>
                  </a:extLst>
                </a:gridCol>
              </a:tblGrid>
              <a:tr h="162863">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주문수량</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주문금액</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취소수량</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취소금액</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93922">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2,000,000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20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400,000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cxnSp>
        <p:nvCxnSpPr>
          <p:cNvPr id="105" name="꺾인 연결선[E] 104"/>
          <p:cNvCxnSpPr>
            <a:stCxn id="99" idx="3"/>
          </p:cNvCxnSpPr>
          <p:nvPr/>
        </p:nvCxnSpPr>
        <p:spPr>
          <a:xfrm flipV="1">
            <a:off x="2370364" y="2732514"/>
            <a:ext cx="5210189" cy="684138"/>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7" name="직사각형 106"/>
          <p:cNvSpPr/>
          <p:nvPr/>
        </p:nvSpPr>
        <p:spPr>
          <a:xfrm>
            <a:off x="7580553" y="3234592"/>
            <a:ext cx="2393787" cy="68834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050" b="1" dirty="0" err="1">
                <a:solidFill>
                  <a:schemeClr val="tx1"/>
                </a:solidFill>
                <a:latin typeface="Nanum Gothic" panose="020D0604000000000000" pitchFamily="34" charset="-127"/>
                <a:ea typeface="Nanum Gothic" panose="020D0604000000000000" pitchFamily="34" charset="-127"/>
              </a:rPr>
              <a:t>실판매수량</a:t>
            </a:r>
            <a:r>
              <a:rPr lang="ko-KR" altLang="en-US" sz="1050" b="1" dirty="0">
                <a:solidFill>
                  <a:schemeClr val="tx1"/>
                </a:solidFill>
                <a:latin typeface="Nanum Gothic" panose="020D0604000000000000" pitchFamily="34" charset="-127"/>
                <a:ea typeface="Nanum Gothic" panose="020D0604000000000000" pitchFamily="34" charset="-127"/>
              </a:rPr>
              <a:t> 상세</a:t>
            </a:r>
            <a:endParaRPr lang="en-US" altLang="ko-KR" sz="700" dirty="0">
              <a:solidFill>
                <a:schemeClr val="tx1"/>
              </a:solidFill>
              <a:latin typeface="Nanum Gothic" panose="020D0604000000000000" pitchFamily="34" charset="-127"/>
              <a:ea typeface="Nanum Gothic" panose="020D0604000000000000" pitchFamily="34" charset="-127"/>
            </a:endParaRPr>
          </a:p>
          <a:p>
            <a:endParaRPr lang="en-US" altLang="ko-KR" sz="700" dirty="0">
              <a:solidFill>
                <a:schemeClr val="tx1"/>
              </a:solidFill>
              <a:latin typeface="Nanum Gothic" panose="020D0604000000000000" pitchFamily="34" charset="-127"/>
              <a:ea typeface="Nanum Gothic" panose="020D0604000000000000" pitchFamily="34" charset="-127"/>
            </a:endParaRPr>
          </a:p>
          <a:p>
            <a:endParaRPr lang="en-US" altLang="ko-KR" sz="700" dirty="0">
              <a:solidFill>
                <a:schemeClr val="tx1"/>
              </a:solidFill>
              <a:latin typeface="Nanum Gothic" panose="020D0604000000000000" pitchFamily="34" charset="-127"/>
              <a:ea typeface="Nanum Gothic" panose="020D0604000000000000" pitchFamily="34" charset="-127"/>
            </a:endParaRPr>
          </a:p>
          <a:p>
            <a:endParaRPr lang="en-US" altLang="ko-KR" sz="700" dirty="0">
              <a:solidFill>
                <a:schemeClr val="tx1"/>
              </a:solidFill>
              <a:latin typeface="Nanum Gothic" panose="020D0604000000000000" pitchFamily="34" charset="-127"/>
              <a:ea typeface="Nanum Gothic" panose="020D0604000000000000" pitchFamily="34" charset="-127"/>
            </a:endParaRPr>
          </a:p>
          <a:p>
            <a:endParaRPr lang="ko-KR" altLang="en-US" sz="700" dirty="0">
              <a:solidFill>
                <a:schemeClr val="tx1"/>
              </a:solidFill>
              <a:latin typeface="Nanum Gothic" panose="020D0604000000000000" pitchFamily="34" charset="-127"/>
              <a:ea typeface="Nanum Gothic" panose="020D0604000000000000" pitchFamily="34" charset="-127"/>
            </a:endParaRPr>
          </a:p>
        </p:txBody>
      </p:sp>
      <p:sp>
        <p:nvSpPr>
          <p:cNvPr id="108" name="TextBox 107"/>
          <p:cNvSpPr txBox="1"/>
          <p:nvPr/>
        </p:nvSpPr>
        <p:spPr>
          <a:xfrm>
            <a:off x="9687082" y="3221753"/>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109" name="표 108"/>
          <p:cNvGraphicFramePr>
            <a:graphicFrameLocks noGrp="1"/>
          </p:cNvGraphicFramePr>
          <p:nvPr/>
        </p:nvGraphicFramePr>
        <p:xfrm>
          <a:off x="7689231" y="3500557"/>
          <a:ext cx="2230219" cy="356785"/>
        </p:xfrm>
        <a:graphic>
          <a:graphicData uri="http://schemas.openxmlformats.org/drawingml/2006/table">
            <a:tbl>
              <a:tblPr/>
              <a:tblGrid>
                <a:gridCol w="554781">
                  <a:extLst>
                    <a:ext uri="{9D8B030D-6E8A-4147-A177-3AD203B41FA5}">
                      <a16:colId xmlns:a16="http://schemas.microsoft.com/office/drawing/2014/main" val="20000"/>
                    </a:ext>
                  </a:extLst>
                </a:gridCol>
                <a:gridCol w="565876">
                  <a:extLst>
                    <a:ext uri="{9D8B030D-6E8A-4147-A177-3AD203B41FA5}">
                      <a16:colId xmlns:a16="http://schemas.microsoft.com/office/drawing/2014/main" val="20001"/>
                    </a:ext>
                  </a:extLst>
                </a:gridCol>
                <a:gridCol w="554781">
                  <a:extLst>
                    <a:ext uri="{9D8B030D-6E8A-4147-A177-3AD203B41FA5}">
                      <a16:colId xmlns:a16="http://schemas.microsoft.com/office/drawing/2014/main" val="20002"/>
                    </a:ext>
                  </a:extLst>
                </a:gridCol>
                <a:gridCol w="554781">
                  <a:extLst>
                    <a:ext uri="{9D8B030D-6E8A-4147-A177-3AD203B41FA5}">
                      <a16:colId xmlns:a16="http://schemas.microsoft.com/office/drawing/2014/main" val="20003"/>
                    </a:ext>
                  </a:extLst>
                </a:gridCol>
              </a:tblGrid>
              <a:tr h="162863">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주문수량</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주문금액</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취소수량</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Malgun Gothic" panose="020B0503020000020004" charset="-127"/>
                          <a:ea typeface="Malgun Gothic" panose="020B0503020000020004" charset="-127"/>
                        </a:rPr>
                        <a:t> </a:t>
                      </a:r>
                      <a:r>
                        <a:rPr lang="ko-KR" altLang="en-US" sz="800" b="1" i="0" u="none" strike="noStrike" dirty="0" err="1">
                          <a:solidFill>
                            <a:srgbClr val="000000"/>
                          </a:solidFill>
                          <a:effectLst/>
                          <a:latin typeface="Malgun Gothic" panose="020B0503020000020004" charset="-127"/>
                          <a:ea typeface="Malgun Gothic" panose="020B0503020000020004" charset="-127"/>
                        </a:rPr>
                        <a:t>취소금액</a:t>
                      </a:r>
                      <a:r>
                        <a:rPr lang="ko-KR" altLang="en-US" sz="800" b="1"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93922">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2,000,000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98</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1,960,000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10" name="직사각형 109"/>
          <p:cNvSpPr/>
          <p:nvPr/>
        </p:nvSpPr>
        <p:spPr>
          <a:xfrm>
            <a:off x="5349653" y="4524236"/>
            <a:ext cx="480322" cy="152538"/>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cxnSp>
        <p:nvCxnSpPr>
          <p:cNvPr id="111" name="꺾인 연결선[E] 110"/>
          <p:cNvCxnSpPr>
            <a:stCxn id="110" idx="0"/>
            <a:endCxn id="107" idx="1"/>
          </p:cNvCxnSpPr>
          <p:nvPr/>
        </p:nvCxnSpPr>
        <p:spPr>
          <a:xfrm rot="5400000" flipH="1" flipV="1">
            <a:off x="6112449" y="3056133"/>
            <a:ext cx="945469" cy="1990739"/>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112" name="표 111"/>
          <p:cNvGraphicFramePr>
            <a:graphicFrameLocks noGrp="1"/>
          </p:cNvGraphicFramePr>
          <p:nvPr/>
        </p:nvGraphicFramePr>
        <p:xfrm>
          <a:off x="7453089" y="846669"/>
          <a:ext cx="2357214" cy="12633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전체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매출데이터</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확인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로그인한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시설사의</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매출데이터만 확인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총합의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실판매수량</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상세 레이어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해당 상품의 상세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옵션별</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매출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내역레이어</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해당 상품의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실판매수량</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상세 레이어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pic>
        <p:nvPicPr>
          <p:cNvPr id="113" name="그림 112"/>
          <p:cNvPicPr>
            <a:picLocks noChangeAspect="1"/>
          </p:cNvPicPr>
          <p:nvPr/>
        </p:nvPicPr>
        <p:blipFill>
          <a:blip r:embed="rId4" cstate="print"/>
          <a:stretch>
            <a:fillRect/>
          </a:stretch>
        </p:blipFill>
        <p:spPr>
          <a:xfrm>
            <a:off x="8941747" y="5559502"/>
            <a:ext cx="81876" cy="926226"/>
          </a:xfrm>
          <a:prstGeom prst="rect">
            <a:avLst/>
          </a:prstGeom>
        </p:spPr>
      </p:pic>
      <p:sp>
        <p:nvSpPr>
          <p:cNvPr id="114" name="타원 113"/>
          <p:cNvSpPr/>
          <p:nvPr/>
        </p:nvSpPr>
        <p:spPr>
          <a:xfrm>
            <a:off x="1799939" y="323399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115" name="타원 114"/>
          <p:cNvSpPr/>
          <p:nvPr/>
        </p:nvSpPr>
        <p:spPr>
          <a:xfrm>
            <a:off x="2599052" y="439420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116" name="타원 115"/>
          <p:cNvSpPr/>
          <p:nvPr/>
        </p:nvSpPr>
        <p:spPr>
          <a:xfrm>
            <a:off x="5299474" y="442982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a:t>
            </a:r>
            <a:r>
              <a:rPr kumimoji="1" lang="ko-KR" altLang="en-US" dirty="0"/>
              <a:t>정책</a:t>
            </a:r>
            <a:r>
              <a:rPr kumimoji="1" lang="en-US" altLang="ko-KR" dirty="0"/>
              <a:t>]</a:t>
            </a:r>
            <a:r>
              <a:rPr kumimoji="1" lang="ko-KR" altLang="en-US" dirty="0"/>
              <a:t> 정산</a:t>
            </a:r>
          </a:p>
        </p:txBody>
      </p:sp>
      <p:sp>
        <p:nvSpPr>
          <p:cNvPr id="4" name="TextBox 3"/>
          <p:cNvSpPr txBox="1"/>
          <p:nvPr/>
        </p:nvSpPr>
        <p:spPr>
          <a:xfrm>
            <a:off x="416496" y="1556792"/>
            <a:ext cx="8807539" cy="1496243"/>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ko-KR" altLang="en-US" sz="1200" b="1" dirty="0" err="1">
                <a:latin typeface="Nanum Gothic" panose="020D0604000000000000" pitchFamily="34" charset="-127"/>
                <a:ea typeface="Nanum Gothic" panose="020D0604000000000000" pitchFamily="34" charset="-127"/>
              </a:rPr>
              <a:t>정산서</a:t>
            </a:r>
            <a:r>
              <a:rPr kumimoji="1" lang="ko-KR" altLang="en-US" sz="1200" b="1" dirty="0">
                <a:latin typeface="Nanum Gothic" panose="020D0604000000000000" pitchFamily="34" charset="-127"/>
                <a:ea typeface="Nanum Gothic" panose="020D0604000000000000" pitchFamily="34" charset="-127"/>
              </a:rPr>
              <a:t> 생성</a:t>
            </a:r>
            <a:endParaRPr kumimoji="1" lang="en-US" altLang="ko-KR" sz="1200" b="1"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rPr>
              <a:t>최초생성</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매월</a:t>
            </a:r>
            <a:r>
              <a:rPr kumimoji="1" lang="en-US" altLang="ko-KR" sz="1000" dirty="0">
                <a:latin typeface="Nanum Gothic" panose="020D0604000000000000" pitchFamily="34" charset="-127"/>
                <a:ea typeface="Nanum Gothic" panose="020D0604000000000000" pitchFamily="34" charset="-127"/>
              </a:rPr>
              <a:t>1</a:t>
            </a:r>
            <a:r>
              <a:rPr kumimoji="1" lang="ko-KR" altLang="en-US" sz="1000" dirty="0">
                <a:latin typeface="Nanum Gothic" panose="020D0604000000000000" pitchFamily="34" charset="-127"/>
                <a:ea typeface="Nanum Gothic" panose="020D0604000000000000" pitchFamily="34" charset="-127"/>
              </a:rPr>
              <a:t>일 </a:t>
            </a:r>
            <a:r>
              <a:rPr kumimoji="1" lang="ko-KR" altLang="en-US" sz="1000" dirty="0" err="1">
                <a:latin typeface="Nanum Gothic" panose="020D0604000000000000" pitchFamily="34" charset="-127"/>
                <a:ea typeface="Nanum Gothic" panose="020D0604000000000000" pitchFamily="34" charset="-127"/>
              </a:rPr>
              <a:t>정산서</a:t>
            </a:r>
            <a:r>
              <a:rPr kumimoji="1" lang="ko-KR" altLang="en-US" sz="1000" dirty="0">
                <a:latin typeface="Nanum Gothic" panose="020D0604000000000000" pitchFamily="34" charset="-127"/>
                <a:ea typeface="Nanum Gothic" panose="020D0604000000000000" pitchFamily="34" charset="-127"/>
              </a:rPr>
              <a:t> 자동생성</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rPr>
              <a:t>생성기준</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전월</a:t>
            </a:r>
            <a:r>
              <a:rPr kumimoji="1" lang="en-US" altLang="ko-KR" sz="1000" dirty="0">
                <a:latin typeface="Nanum Gothic" panose="020D0604000000000000" pitchFamily="34" charset="-127"/>
                <a:ea typeface="Nanum Gothic" panose="020D0604000000000000" pitchFamily="34" charset="-127"/>
              </a:rPr>
              <a:t>1</a:t>
            </a:r>
            <a:r>
              <a:rPr kumimoji="1" lang="ko-KR" altLang="en-US" sz="1000" dirty="0">
                <a:latin typeface="Nanum Gothic" panose="020D0604000000000000" pitchFamily="34" charset="-127"/>
                <a:ea typeface="Nanum Gothic" panose="020D0604000000000000" pitchFamily="34" charset="-127"/>
              </a:rPr>
              <a:t>일</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마지막일 기준으로 </a:t>
            </a:r>
            <a:r>
              <a:rPr kumimoji="1" lang="ko-KR" altLang="en-US" sz="1000" dirty="0" err="1">
                <a:latin typeface="Nanum Gothic" panose="020D0604000000000000" pitchFamily="34" charset="-127"/>
                <a:ea typeface="Nanum Gothic" panose="020D0604000000000000" pitchFamily="34" charset="-127"/>
              </a:rPr>
              <a:t>시설사별</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1</a:t>
            </a:r>
            <a:r>
              <a:rPr kumimoji="1" lang="ko-KR" altLang="en-US" sz="1000" dirty="0">
                <a:latin typeface="Nanum Gothic" panose="020D0604000000000000" pitchFamily="34" charset="-127"/>
                <a:ea typeface="Nanum Gothic" panose="020D0604000000000000" pitchFamily="34" charset="-127"/>
              </a:rPr>
              <a:t>개의 </a:t>
            </a:r>
            <a:r>
              <a:rPr kumimoji="1" lang="ko-KR" altLang="en-US" sz="1000" dirty="0" err="1">
                <a:latin typeface="Nanum Gothic" panose="020D0604000000000000" pitchFamily="34" charset="-127"/>
                <a:ea typeface="Nanum Gothic" panose="020D0604000000000000" pitchFamily="34" charset="-127"/>
              </a:rPr>
              <a:t>정산서</a:t>
            </a:r>
            <a:r>
              <a:rPr kumimoji="1" lang="ko-KR" altLang="en-US" sz="1000" dirty="0">
                <a:latin typeface="Nanum Gothic" panose="020D0604000000000000" pitchFamily="34" charset="-127"/>
                <a:ea typeface="Nanum Gothic" panose="020D0604000000000000" pitchFamily="34" charset="-127"/>
              </a:rPr>
              <a:t> 생성</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rPr>
              <a:t>정산금액</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시설사</a:t>
            </a:r>
            <a:r>
              <a:rPr kumimoji="1" lang="ko-KR" altLang="en-US" sz="1000" dirty="0">
                <a:latin typeface="Nanum Gothic" panose="020D0604000000000000" pitchFamily="34" charset="-127"/>
                <a:ea typeface="Nanum Gothic" panose="020D0604000000000000" pitchFamily="34" charset="-127"/>
              </a:rPr>
              <a:t> 기준으로 판매된 채널의 </a:t>
            </a:r>
            <a:r>
              <a:rPr kumimoji="1" lang="ko-KR" altLang="en-US" sz="1000" dirty="0" err="1">
                <a:latin typeface="Nanum Gothic" panose="020D0604000000000000" pitchFamily="34" charset="-127"/>
                <a:ea typeface="Nanum Gothic" panose="020D0604000000000000" pitchFamily="34" charset="-127"/>
              </a:rPr>
              <a:t>티켓판매가</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판매 옵션의 수수료</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수수료는 </a:t>
            </a:r>
            <a:r>
              <a:rPr kumimoji="1" lang="ko-KR" altLang="en-US" sz="1000" dirty="0" err="1">
                <a:latin typeface="Nanum Gothic" panose="020D0604000000000000" pitchFamily="34" charset="-127"/>
                <a:ea typeface="Nanum Gothic" panose="020D0604000000000000" pitchFamily="34" charset="-127"/>
              </a:rPr>
              <a:t>채널수수료</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티브리지수수료</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err="1">
                <a:latin typeface="Nanum Gothic" panose="020D0604000000000000" pitchFamily="34" charset="-127"/>
                <a:ea typeface="Nanum Gothic" panose="020D0604000000000000" pitchFamily="34" charset="-127"/>
              </a:rPr>
              <a:t>채널별</a:t>
            </a:r>
            <a:r>
              <a:rPr kumimoji="1" lang="ko-KR" altLang="en-US" sz="1000" dirty="0">
                <a:latin typeface="Nanum Gothic" panose="020D0604000000000000" pitchFamily="34" charset="-127"/>
                <a:ea typeface="Nanum Gothic" panose="020D0604000000000000" pitchFamily="34" charset="-127"/>
              </a:rPr>
              <a:t> 수수료 상이한 부분 정리 필요</a:t>
            </a:r>
            <a:r>
              <a:rPr kumimoji="1" lang="en-US" altLang="ko-KR" sz="1000" dirty="0">
                <a:latin typeface="Nanum Gothic" panose="020D0604000000000000" pitchFamily="34" charset="-127"/>
                <a:ea typeface="Nanum Gothic" panose="020D0604000000000000" pitchFamily="34" charset="-127"/>
              </a:rPr>
              <a:t>)</a:t>
            </a: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rPr>
              <a:t>정산예정일</a:t>
            </a:r>
            <a:r>
              <a:rPr kumimoji="1" lang="ko-KR" altLang="en-US" sz="1000" dirty="0">
                <a:latin typeface="Nanum Gothic" panose="020D0604000000000000" pitchFamily="34" charset="-127"/>
                <a:ea typeface="Nanum Gothic" panose="020D0604000000000000" pitchFamily="34" charset="-127"/>
              </a:rPr>
              <a:t>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매월 </a:t>
            </a:r>
            <a:r>
              <a:rPr kumimoji="1" lang="en-US" altLang="ko-KR" sz="1000" dirty="0">
                <a:latin typeface="Nanum Gothic" panose="020D0604000000000000" pitchFamily="34" charset="-127"/>
                <a:ea typeface="Nanum Gothic" panose="020D0604000000000000" pitchFamily="34" charset="-127"/>
              </a:rPr>
              <a:t>15</a:t>
            </a:r>
            <a:r>
              <a:rPr kumimoji="1" lang="ko-KR" altLang="en-US" sz="1000" dirty="0">
                <a:latin typeface="Nanum Gothic" panose="020D0604000000000000" pitchFamily="34" charset="-127"/>
                <a:ea typeface="Nanum Gothic" panose="020D0604000000000000" pitchFamily="34" charset="-127"/>
              </a:rPr>
              <a:t>일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err="1">
                <a:latin typeface="Nanum Gothic" panose="020D0604000000000000" pitchFamily="34" charset="-127"/>
                <a:ea typeface="Nanum Gothic" panose="020D0604000000000000" pitchFamily="34" charset="-127"/>
              </a:rPr>
              <a:t>논의필요</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로 자동 </a:t>
            </a:r>
            <a:r>
              <a:rPr kumimoji="1" lang="ko-KR" altLang="en-US" sz="1000" dirty="0" err="1">
                <a:latin typeface="Nanum Gothic" panose="020D0604000000000000" pitchFamily="34" charset="-127"/>
                <a:ea typeface="Nanum Gothic" panose="020D0604000000000000" pitchFamily="34" charset="-127"/>
              </a:rPr>
              <a:t>셋팅</a:t>
            </a:r>
            <a:endParaRPr kumimoji="1" lang="en-US" altLang="ko-KR" sz="1000" dirty="0">
              <a:latin typeface="Nanum Gothic" panose="020D0604000000000000" pitchFamily="34" charset="-127"/>
              <a:ea typeface="Nanum Gothic" panose="020D0604000000000000" pitchFamily="34" charset="-127"/>
            </a:endParaRPr>
          </a:p>
          <a:p>
            <a:pPr marL="182880">
              <a:lnSpc>
                <a:spcPct val="150000"/>
              </a:lnSpc>
            </a:pPr>
            <a:r>
              <a:rPr kumimoji="1" lang="en-US" altLang="ko-KR" sz="1000" b="1" dirty="0">
                <a:latin typeface="Nanum Gothic" panose="020D0604000000000000" pitchFamily="34" charset="-127"/>
                <a:ea typeface="Nanum Gothic" panose="020D0604000000000000" pitchFamily="34" charset="-127"/>
              </a:rPr>
              <a:t>#  </a:t>
            </a:r>
            <a:r>
              <a:rPr kumimoji="1" lang="ko-KR" altLang="en-US" sz="1000" b="1" dirty="0" err="1">
                <a:latin typeface="Nanum Gothic" panose="020D0604000000000000" pitchFamily="34" charset="-127"/>
                <a:ea typeface="Nanum Gothic" panose="020D0604000000000000" pitchFamily="34" charset="-127"/>
              </a:rPr>
              <a:t>채널정산</a:t>
            </a:r>
            <a:r>
              <a:rPr kumimoji="1" lang="ko-KR" altLang="en-US" sz="1000" b="1" dirty="0">
                <a:latin typeface="Nanum Gothic" panose="020D0604000000000000" pitchFamily="34" charset="-127"/>
                <a:ea typeface="Nanum Gothic" panose="020D0604000000000000" pitchFamily="34" charset="-127"/>
              </a:rPr>
              <a:t> </a:t>
            </a:r>
            <a:r>
              <a:rPr kumimoji="1" lang="en-US" altLang="ko-KR" sz="1000" b="1" dirty="0">
                <a:latin typeface="Nanum Gothic" panose="020D0604000000000000" pitchFamily="34" charset="-127"/>
                <a:ea typeface="Nanum Gothic" panose="020D0604000000000000" pitchFamily="34" charset="-127"/>
              </a:rPr>
              <a:t>: </a:t>
            </a:r>
            <a:r>
              <a:rPr kumimoji="1" lang="ko-KR" altLang="en-US" sz="1000" b="1" dirty="0">
                <a:latin typeface="Nanum Gothic" panose="020D0604000000000000" pitchFamily="34" charset="-127"/>
                <a:ea typeface="Nanum Gothic" panose="020D0604000000000000" pitchFamily="34" charset="-127"/>
              </a:rPr>
              <a:t>각 </a:t>
            </a:r>
            <a:r>
              <a:rPr kumimoji="1" lang="ko-KR" altLang="en-US" sz="1000" b="1" dirty="0" err="1">
                <a:latin typeface="Nanum Gothic" panose="020D0604000000000000" pitchFamily="34" charset="-127"/>
                <a:ea typeface="Nanum Gothic" panose="020D0604000000000000" pitchFamily="34" charset="-127"/>
              </a:rPr>
              <a:t>채널별</a:t>
            </a:r>
            <a:r>
              <a:rPr kumimoji="1" lang="ko-KR" altLang="en-US" sz="1000" b="1" dirty="0">
                <a:latin typeface="Nanum Gothic" panose="020D0604000000000000" pitchFamily="34" charset="-127"/>
                <a:ea typeface="Nanum Gothic" panose="020D0604000000000000" pitchFamily="34" charset="-127"/>
              </a:rPr>
              <a:t> </a:t>
            </a:r>
            <a:r>
              <a:rPr kumimoji="1" lang="ko-KR" altLang="en-US" sz="1000" b="1" dirty="0" err="1">
                <a:latin typeface="Nanum Gothic" panose="020D0604000000000000" pitchFamily="34" charset="-127"/>
                <a:ea typeface="Nanum Gothic" panose="020D0604000000000000" pitchFamily="34" charset="-127"/>
              </a:rPr>
              <a:t>정산서</a:t>
            </a:r>
            <a:r>
              <a:rPr kumimoji="1" lang="ko-KR" altLang="en-US" sz="1000" b="1" dirty="0">
                <a:latin typeface="Nanum Gothic" panose="020D0604000000000000" pitchFamily="34" charset="-127"/>
                <a:ea typeface="Nanum Gothic" panose="020D0604000000000000" pitchFamily="34" charset="-127"/>
              </a:rPr>
              <a:t> 매일 </a:t>
            </a:r>
            <a:r>
              <a:rPr kumimoji="1" lang="en-US" altLang="ko-KR" sz="1000" b="1" dirty="0">
                <a:latin typeface="Nanum Gothic" panose="020D0604000000000000" pitchFamily="34" charset="-127"/>
                <a:ea typeface="Nanum Gothic" panose="020D0604000000000000" pitchFamily="34" charset="-127"/>
              </a:rPr>
              <a:t>1</a:t>
            </a:r>
            <a:r>
              <a:rPr kumimoji="1" lang="ko-KR" altLang="en-US" sz="1000" b="1" dirty="0">
                <a:latin typeface="Nanum Gothic" panose="020D0604000000000000" pitchFamily="34" charset="-127"/>
                <a:ea typeface="Nanum Gothic" panose="020D0604000000000000" pitchFamily="34" charset="-127"/>
              </a:rPr>
              <a:t>회 </a:t>
            </a:r>
            <a:r>
              <a:rPr kumimoji="1" lang="en-US" altLang="ko-KR" sz="1000" b="1" dirty="0">
                <a:latin typeface="Nanum Gothic" panose="020D0604000000000000" pitchFamily="34" charset="-127"/>
                <a:ea typeface="Nanum Gothic" panose="020D0604000000000000" pitchFamily="34" charset="-127"/>
              </a:rPr>
              <a:t>(</a:t>
            </a:r>
            <a:r>
              <a:rPr kumimoji="1" lang="ko-KR" altLang="en-US" sz="1000" b="1" dirty="0" err="1">
                <a:latin typeface="Nanum Gothic" panose="020D0604000000000000" pitchFamily="34" charset="-127"/>
                <a:ea typeface="Nanum Gothic" panose="020D0604000000000000" pitchFamily="34" charset="-127"/>
              </a:rPr>
              <a:t>논의필요</a:t>
            </a:r>
            <a:r>
              <a:rPr kumimoji="1" lang="en-US" altLang="ko-KR" sz="1000" b="1" dirty="0">
                <a:latin typeface="Nanum Gothic" panose="020D0604000000000000" pitchFamily="34" charset="-127"/>
                <a:ea typeface="Nanum Gothic" panose="020D0604000000000000" pitchFamily="34" charset="-127"/>
              </a:rPr>
              <a:t>) </a:t>
            </a:r>
            <a:r>
              <a:rPr kumimoji="1" lang="ko-KR" altLang="en-US" sz="1000" b="1" dirty="0" err="1">
                <a:latin typeface="Nanum Gothic" panose="020D0604000000000000" pitchFamily="34" charset="-127"/>
                <a:ea typeface="Nanum Gothic" panose="020D0604000000000000" pitchFamily="34" charset="-127"/>
              </a:rPr>
              <a:t>크롤링</a:t>
            </a:r>
            <a:r>
              <a:rPr kumimoji="1" lang="ko-KR" altLang="en-US" sz="1000" b="1" dirty="0">
                <a:latin typeface="Nanum Gothic" panose="020D0604000000000000" pitchFamily="34" charset="-127"/>
                <a:ea typeface="Nanum Gothic" panose="020D0604000000000000" pitchFamily="34" charset="-127"/>
              </a:rPr>
              <a:t> 후 </a:t>
            </a:r>
            <a:r>
              <a:rPr kumimoji="1" lang="ko-KR" altLang="en-US" sz="1000" b="1" dirty="0" err="1">
                <a:latin typeface="Nanum Gothic" panose="020D0604000000000000" pitchFamily="34" charset="-127"/>
                <a:ea typeface="Nanum Gothic" panose="020D0604000000000000" pitchFamily="34" charset="-127"/>
              </a:rPr>
              <a:t>채널사별</a:t>
            </a:r>
            <a:r>
              <a:rPr kumimoji="1" lang="ko-KR" altLang="en-US" sz="1000" b="1" dirty="0">
                <a:latin typeface="Nanum Gothic" panose="020D0604000000000000" pitchFamily="34" charset="-127"/>
                <a:ea typeface="Nanum Gothic" panose="020D0604000000000000" pitchFamily="34" charset="-127"/>
              </a:rPr>
              <a:t> 표기 </a:t>
            </a:r>
            <a:r>
              <a:rPr kumimoji="1" lang="en-US" altLang="ko-KR" sz="1000" b="1" dirty="0">
                <a:latin typeface="Nanum Gothic" panose="020D0604000000000000" pitchFamily="34" charset="-127"/>
                <a:ea typeface="Nanum Gothic" panose="020D0604000000000000" pitchFamily="34" charset="-127"/>
                <a:sym typeface="Wingdings" panose="05000000000000000000" pitchFamily="2" charset="2"/>
              </a:rPr>
              <a:t> </a:t>
            </a:r>
            <a:r>
              <a:rPr kumimoji="1" lang="ko-KR" altLang="en-US" sz="1000" b="1" dirty="0">
                <a:latin typeface="Nanum Gothic" panose="020D0604000000000000" pitchFamily="34" charset="-127"/>
                <a:ea typeface="Nanum Gothic" panose="020D0604000000000000" pitchFamily="34" charset="-127"/>
                <a:sym typeface="Wingdings" panose="05000000000000000000" pitchFamily="2" charset="2"/>
              </a:rPr>
              <a:t>단순 확인 용도로 활용</a:t>
            </a:r>
            <a:r>
              <a:rPr kumimoji="1" lang="ko-KR" altLang="en-US" sz="1000" b="1" dirty="0">
                <a:latin typeface="Nanum Gothic" panose="020D0604000000000000" pitchFamily="34" charset="-127"/>
                <a:ea typeface="Nanum Gothic" panose="020D0604000000000000" pitchFamily="34" charset="-127"/>
              </a:rPr>
              <a:t> </a:t>
            </a:r>
            <a:endParaRPr kumimoji="1" lang="en-US" altLang="ko-KR" sz="1000" b="1" dirty="0">
              <a:latin typeface="Nanum Gothic" panose="020D0604000000000000" pitchFamily="34" charset="-127"/>
              <a:ea typeface="Nanum Gothic" panose="020D0604000000000000" pitchFamily="34" charset="-127"/>
            </a:endParaRPr>
          </a:p>
        </p:txBody>
      </p:sp>
      <p:sp>
        <p:nvSpPr>
          <p:cNvPr id="7" name="TextBox 6"/>
          <p:cNvSpPr txBox="1"/>
          <p:nvPr/>
        </p:nvSpPr>
        <p:spPr>
          <a:xfrm>
            <a:off x="386215" y="3429000"/>
            <a:ext cx="8179162" cy="1727396"/>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ko-KR" altLang="en-US" sz="1200" b="1" dirty="0">
                <a:latin typeface="Nanum Gothic" panose="020D0604000000000000" pitchFamily="34" charset="-127"/>
                <a:ea typeface="Nanum Gothic" panose="020D0604000000000000" pitchFamily="34" charset="-127"/>
              </a:rPr>
              <a:t>정산 프로세스</a:t>
            </a:r>
            <a:endParaRPr kumimoji="1" lang="en-US" altLang="ko-KR" sz="1200" b="1"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err="1">
                <a:latin typeface="Nanum Gothic" panose="020D0604000000000000" pitchFamily="34" charset="-127"/>
                <a:ea typeface="Nanum Gothic" panose="020D0604000000000000" pitchFamily="34" charset="-127"/>
              </a:rPr>
              <a:t>정산서</a:t>
            </a:r>
            <a:r>
              <a:rPr kumimoji="1" lang="ko-KR" altLang="en-US" sz="1000" dirty="0">
                <a:latin typeface="Nanum Gothic" panose="020D0604000000000000" pitchFamily="34" charset="-127"/>
                <a:ea typeface="Nanum Gothic" panose="020D0604000000000000" pitchFamily="34" charset="-127"/>
              </a:rPr>
              <a:t> 자동 생성되면서 사업자승인대기 상태로 진행 </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업체 반려 시 혹은 예외 건에 한하여 마스터 확인 </a:t>
            </a:r>
            <a:r>
              <a:rPr kumimoji="1" lang="en-US" altLang="ko-KR"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채널정산</a:t>
            </a:r>
            <a:r>
              <a:rPr kumimoji="1" lang="ko-KR" altLang="en-US" sz="1000" dirty="0">
                <a:latin typeface="Nanum Gothic" panose="020D0604000000000000" pitchFamily="34" charset="-127"/>
                <a:ea typeface="Nanum Gothic" panose="020D0604000000000000" pitchFamily="34" charset="-127"/>
              </a:rPr>
              <a:t> 내역과 수동 비교해서 진행</a:t>
            </a:r>
            <a:r>
              <a:rPr kumimoji="1" lang="en-US" altLang="ko-KR" sz="1000" dirty="0">
                <a:latin typeface="Nanum Gothic" panose="020D0604000000000000" pitchFamily="34" charset="-127"/>
                <a:ea typeface="Nanum Gothic" panose="020D0604000000000000" pitchFamily="34" charset="-127"/>
              </a:rPr>
              <a:t>)</a:t>
            </a:r>
          </a:p>
          <a:p>
            <a:pPr marL="411480" indent="-228600">
              <a:lnSpc>
                <a:spcPct val="150000"/>
              </a:lnSpc>
              <a:buAutoNum type="arabicPeriod"/>
            </a:pPr>
            <a:r>
              <a:rPr kumimoji="1" lang="ko-KR" altLang="en-US" sz="1000" dirty="0">
                <a:latin typeface="Nanum Gothic" panose="020D0604000000000000" pitchFamily="34" charset="-127"/>
                <a:ea typeface="Nanum Gothic" panose="020D0604000000000000" pitchFamily="34" charset="-127"/>
              </a:rPr>
              <a:t>사업자</a:t>
            </a:r>
            <a:r>
              <a:rPr kumimoji="1" lang="en-US" altLang="ko-KR" sz="1000" b="1" dirty="0">
                <a:solidFill>
                  <a:srgbClr val="00B0F0"/>
                </a:solidFill>
                <a:latin typeface="Nanum Gothic" panose="020D0604000000000000" pitchFamily="34" charset="-127"/>
                <a:ea typeface="Nanum Gothic" panose="020D0604000000000000" pitchFamily="34" charset="-127"/>
              </a:rPr>
              <a:t>(</a:t>
            </a:r>
            <a:r>
              <a:rPr kumimoji="1" lang="ko-KR" altLang="en-US" sz="1000" b="1" dirty="0" err="1">
                <a:solidFill>
                  <a:srgbClr val="00B0F0"/>
                </a:solidFill>
                <a:latin typeface="Nanum Gothic" panose="020D0604000000000000" pitchFamily="34" charset="-127"/>
                <a:ea typeface="Nanum Gothic" panose="020D0604000000000000" pitchFamily="34" charset="-127"/>
              </a:rPr>
              <a:t>총판사</a:t>
            </a:r>
            <a:r>
              <a:rPr kumimoji="1" lang="en-US" altLang="ko-KR" sz="1000" b="1" dirty="0">
                <a:solidFill>
                  <a:srgbClr val="00B0F0"/>
                </a:solidFill>
                <a:latin typeface="Nanum Gothic" panose="020D0604000000000000" pitchFamily="34" charset="-127"/>
                <a:ea typeface="Nanum Gothic" panose="020D0604000000000000" pitchFamily="34" charset="-127"/>
              </a:rPr>
              <a:t>? </a:t>
            </a:r>
            <a:r>
              <a:rPr kumimoji="1" lang="ko-KR" altLang="en-US" sz="1000" b="1" dirty="0" err="1">
                <a:solidFill>
                  <a:srgbClr val="00B0F0"/>
                </a:solidFill>
                <a:latin typeface="Nanum Gothic" panose="020D0604000000000000" pitchFamily="34" charset="-127"/>
                <a:ea typeface="Nanum Gothic" panose="020D0604000000000000" pitchFamily="34" charset="-127"/>
              </a:rPr>
              <a:t>시설사</a:t>
            </a:r>
            <a:r>
              <a:rPr kumimoji="1" lang="en-US" altLang="ko-KR" sz="1000" b="1" dirty="0">
                <a:solidFill>
                  <a:srgbClr val="00B0F0"/>
                </a:solidFill>
                <a:latin typeface="Nanum Gothic" panose="020D0604000000000000" pitchFamily="34" charset="-127"/>
                <a:ea typeface="Nanum Gothic" panose="020D0604000000000000" pitchFamily="34" charset="-127"/>
              </a:rPr>
              <a:t>? </a:t>
            </a:r>
            <a:r>
              <a:rPr kumimoji="1" lang="ko-KR" altLang="en-US" sz="1000" b="1" dirty="0">
                <a:solidFill>
                  <a:srgbClr val="00B0F0"/>
                </a:solidFill>
                <a:latin typeface="Nanum Gothic" panose="020D0604000000000000" pitchFamily="34" charset="-127"/>
                <a:ea typeface="Nanum Gothic" panose="020D0604000000000000" pitchFamily="34" charset="-127"/>
              </a:rPr>
              <a:t>둘다</a:t>
            </a:r>
            <a:r>
              <a:rPr kumimoji="1" lang="en-US" altLang="ko-KR" sz="1000" b="1" dirty="0">
                <a:solidFill>
                  <a:srgbClr val="00B0F0"/>
                </a:solidFill>
                <a:latin typeface="Nanum Gothic" panose="020D0604000000000000" pitchFamily="34" charset="-127"/>
                <a:ea typeface="Nanum Gothic" panose="020D0604000000000000" pitchFamily="34" charset="-127"/>
              </a:rPr>
              <a:t>?) </a:t>
            </a:r>
            <a:r>
              <a:rPr kumimoji="1" lang="ko-KR" altLang="en-US" sz="1000" dirty="0">
                <a:latin typeface="Nanum Gothic" panose="020D0604000000000000" pitchFamily="34" charset="-127"/>
                <a:ea typeface="Nanum Gothic" panose="020D0604000000000000" pitchFamily="34" charset="-127"/>
              </a:rPr>
              <a:t>는 </a:t>
            </a:r>
            <a:r>
              <a:rPr kumimoji="1" lang="ko-KR" altLang="en-US" sz="1000" dirty="0" err="1">
                <a:latin typeface="Nanum Gothic" panose="020D0604000000000000" pitchFamily="34" charset="-127"/>
                <a:ea typeface="Nanum Gothic" panose="020D0604000000000000" pitchFamily="34" charset="-127"/>
              </a:rPr>
              <a:t>승인완료</a:t>
            </a:r>
            <a:r>
              <a:rPr kumimoji="1" lang="en-US" altLang="ko-KR" sz="1000" dirty="0">
                <a:latin typeface="Nanum Gothic" panose="020D0604000000000000" pitchFamily="34" charset="-127"/>
                <a:ea typeface="Nanum Gothic" panose="020D0604000000000000" pitchFamily="34" charset="-127"/>
              </a:rPr>
              <a:t> or</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승인거부</a:t>
            </a:r>
            <a:r>
              <a:rPr kumimoji="1" lang="ko-KR" altLang="en-US" sz="1000" dirty="0">
                <a:latin typeface="Nanum Gothic" panose="020D0604000000000000" pitchFamily="34" charset="-127"/>
                <a:ea typeface="Nanum Gothic" panose="020D0604000000000000" pitchFamily="34" charset="-127"/>
              </a:rPr>
              <a:t>  가능 </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a:latin typeface="Nanum Gothic" panose="020D0604000000000000" pitchFamily="34" charset="-127"/>
                <a:ea typeface="Nanum Gothic" panose="020D0604000000000000" pitchFamily="34" charset="-127"/>
              </a:rPr>
              <a:t>사업자 </a:t>
            </a:r>
            <a:r>
              <a:rPr kumimoji="1" lang="ko-KR" altLang="en-US" sz="1000" dirty="0" err="1">
                <a:latin typeface="Nanum Gothic" panose="020D0604000000000000" pitchFamily="34" charset="-127"/>
                <a:ea typeface="Nanum Gothic" panose="020D0604000000000000" pitchFamily="34" charset="-127"/>
              </a:rPr>
              <a:t>승인완료</a:t>
            </a:r>
            <a:r>
              <a:rPr kumimoji="1" lang="ko-KR" altLang="en-US" sz="1000" dirty="0">
                <a:latin typeface="Nanum Gothic" panose="020D0604000000000000" pitchFamily="34" charset="-127"/>
                <a:ea typeface="Nanum Gothic" panose="020D0604000000000000" pitchFamily="34" charset="-127"/>
              </a:rPr>
              <a:t> 시 </a:t>
            </a:r>
            <a:r>
              <a:rPr kumimoji="1" lang="ko-KR" altLang="en-US" sz="1000" dirty="0" err="1">
                <a:latin typeface="Nanum Gothic" panose="020D0604000000000000" pitchFamily="34" charset="-127"/>
                <a:ea typeface="Nanum Gothic" panose="020D0604000000000000" pitchFamily="34" charset="-127"/>
              </a:rPr>
              <a:t>티브리지</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재무팀에서</a:t>
            </a:r>
            <a:r>
              <a:rPr kumimoji="1" lang="ko-KR" altLang="en-US" sz="1000" dirty="0">
                <a:latin typeface="Nanum Gothic" panose="020D0604000000000000" pitchFamily="34" charset="-127"/>
                <a:ea typeface="Nanum Gothic" panose="020D0604000000000000" pitchFamily="34" charset="-127"/>
              </a:rPr>
              <a:t> 매달 </a:t>
            </a:r>
            <a:r>
              <a:rPr kumimoji="1" lang="ko-KR" altLang="en-US" sz="1000" dirty="0" err="1">
                <a:latin typeface="Nanum Gothic" panose="020D0604000000000000" pitchFamily="34" charset="-127"/>
                <a:ea typeface="Nanum Gothic" panose="020D0604000000000000" pitchFamily="34" charset="-127"/>
              </a:rPr>
              <a:t>정산일에</a:t>
            </a:r>
            <a:r>
              <a:rPr kumimoji="1" lang="ko-KR" altLang="en-US" sz="1000" dirty="0">
                <a:latin typeface="Nanum Gothic" panose="020D0604000000000000" pitchFamily="34" charset="-127"/>
                <a:ea typeface="Nanum Gothic" panose="020D0604000000000000" pitchFamily="34" charset="-127"/>
              </a:rPr>
              <a:t> 정산</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입금</a:t>
            </a:r>
            <a:r>
              <a:rPr kumimoji="1" lang="en-US" altLang="ko-KR" sz="1000" dirty="0">
                <a:latin typeface="Nanum Gothic" panose="020D0604000000000000" pitchFamily="34" charset="-127"/>
                <a:ea typeface="Nanum Gothic" panose="020D0604000000000000" pitchFamily="34" charset="-127"/>
              </a:rPr>
              <a:t>)</a:t>
            </a:r>
            <a:r>
              <a:rPr kumimoji="1" lang="ko-KR" altLang="en-US" sz="1000" dirty="0">
                <a:latin typeface="Nanum Gothic" panose="020D0604000000000000" pitchFamily="34" charset="-127"/>
                <a:ea typeface="Nanum Gothic" panose="020D0604000000000000" pitchFamily="34" charset="-127"/>
              </a:rPr>
              <a:t>후 </a:t>
            </a:r>
            <a:r>
              <a:rPr kumimoji="1" lang="ko-KR" altLang="en-US" sz="1000" dirty="0" err="1">
                <a:latin typeface="Nanum Gothic" panose="020D0604000000000000" pitchFamily="34" charset="-127"/>
                <a:ea typeface="Nanum Gothic" panose="020D0604000000000000" pitchFamily="34" charset="-127"/>
              </a:rPr>
              <a:t>정산완료</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클릭시</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상태변경</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r>
              <a:rPr kumimoji="1" lang="ko-KR" altLang="en-US" sz="1000" dirty="0">
                <a:latin typeface="Nanum Gothic" panose="020D0604000000000000" pitchFamily="34" charset="-127"/>
                <a:ea typeface="Nanum Gothic" panose="020D0604000000000000" pitchFamily="34" charset="-127"/>
              </a:rPr>
              <a:t>사업자 </a:t>
            </a:r>
            <a:r>
              <a:rPr kumimoji="1" lang="ko-KR" altLang="en-US" sz="1000" dirty="0" err="1">
                <a:latin typeface="Nanum Gothic" panose="020D0604000000000000" pitchFamily="34" charset="-127"/>
                <a:ea typeface="Nanum Gothic" panose="020D0604000000000000" pitchFamily="34" charset="-127"/>
              </a:rPr>
              <a:t>승인거부시</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정산서</a:t>
            </a:r>
            <a:r>
              <a:rPr kumimoji="1" lang="ko-KR" altLang="en-US" sz="1000" dirty="0">
                <a:latin typeface="Nanum Gothic" panose="020D0604000000000000" pitchFamily="34" charset="-127"/>
                <a:ea typeface="Nanum Gothic" panose="020D0604000000000000" pitchFamily="34" charset="-127"/>
              </a:rPr>
              <a:t> </a:t>
            </a:r>
            <a:r>
              <a:rPr kumimoji="1" lang="ko-KR" altLang="en-US" sz="1000" dirty="0" err="1">
                <a:latin typeface="Nanum Gothic" panose="020D0604000000000000" pitchFamily="34" charset="-127"/>
                <a:ea typeface="Nanum Gothic" panose="020D0604000000000000" pitchFamily="34" charset="-127"/>
              </a:rPr>
              <a:t>수정후</a:t>
            </a:r>
            <a:r>
              <a:rPr kumimoji="1" lang="ko-KR" altLang="en-US" sz="1000" dirty="0">
                <a:latin typeface="Nanum Gothic" panose="020D0604000000000000" pitchFamily="34" charset="-127"/>
                <a:ea typeface="Nanum Gothic" panose="020D0604000000000000" pitchFamily="34" charset="-127"/>
              </a:rPr>
              <a:t> 사업장승인요청 진행</a:t>
            </a:r>
            <a:endParaRPr kumimoji="1" lang="en-US" altLang="ko-KR" sz="1000" dirty="0">
              <a:latin typeface="Nanum Gothic" panose="020D0604000000000000" pitchFamily="34" charset="-127"/>
              <a:ea typeface="Nanum Gothic" panose="020D0604000000000000" pitchFamily="34" charset="-127"/>
            </a:endParaRPr>
          </a:p>
          <a:p>
            <a:pPr marL="411480" indent="-228600">
              <a:lnSpc>
                <a:spcPct val="150000"/>
              </a:lnSpc>
              <a:buAutoNum type="arabicPeriod"/>
            </a:pPr>
            <a:endParaRPr kumimoji="1" lang="en-US" altLang="ko-KR" sz="1000" dirty="0">
              <a:latin typeface="Nanum Gothic" panose="020D0604000000000000" pitchFamily="34" charset="-127"/>
              <a:ea typeface="Nanum Gothic" panose="020D0604000000000000" pitchFamily="34" charset="-127"/>
            </a:endParaRPr>
          </a:p>
          <a:p>
            <a:pPr marL="182880">
              <a:lnSpc>
                <a:spcPct val="150000"/>
              </a:lnSpc>
            </a:pPr>
            <a:r>
              <a:rPr kumimoji="1" lang="en-US" altLang="ko-KR" sz="1000" i="1" dirty="0">
                <a:solidFill>
                  <a:srgbClr val="C00000"/>
                </a:solidFill>
                <a:latin typeface="Nanum Gothic" panose="020D0604000000000000" pitchFamily="34" charset="-127"/>
                <a:ea typeface="Nanum Gothic" panose="020D0604000000000000" pitchFamily="34" charset="-127"/>
              </a:rPr>
              <a:t># </a:t>
            </a:r>
            <a:r>
              <a:rPr kumimoji="1" lang="ko-KR" altLang="en-US" sz="1000" i="1" dirty="0">
                <a:solidFill>
                  <a:srgbClr val="C00000"/>
                </a:solidFill>
                <a:latin typeface="Nanum Gothic" panose="020D0604000000000000" pitchFamily="34" charset="-127"/>
                <a:ea typeface="Nanum Gothic" panose="020D0604000000000000" pitchFamily="34" charset="-127"/>
              </a:rPr>
              <a:t>오픈 이후 </a:t>
            </a:r>
            <a:r>
              <a:rPr kumimoji="1" lang="ko-KR" altLang="en-US" sz="1000" i="1" dirty="0" err="1">
                <a:solidFill>
                  <a:srgbClr val="C00000"/>
                </a:solidFill>
                <a:latin typeface="Nanum Gothic" panose="020D0604000000000000" pitchFamily="34" charset="-127"/>
                <a:ea typeface="Nanum Gothic" panose="020D0604000000000000" pitchFamily="34" charset="-127"/>
              </a:rPr>
              <a:t>개선개발</a:t>
            </a:r>
            <a:r>
              <a:rPr kumimoji="1" lang="ko-KR" altLang="en-US" sz="1000" i="1" dirty="0">
                <a:solidFill>
                  <a:srgbClr val="C00000"/>
                </a:solidFill>
                <a:latin typeface="Nanum Gothic" panose="020D0604000000000000" pitchFamily="34" charset="-127"/>
                <a:ea typeface="Nanum Gothic" panose="020D0604000000000000" pitchFamily="34" charset="-127"/>
              </a:rPr>
              <a:t> 사항 </a:t>
            </a:r>
            <a:r>
              <a:rPr kumimoji="1" lang="en-US" altLang="ko-KR" sz="1000" i="1" dirty="0">
                <a:solidFill>
                  <a:srgbClr val="C00000"/>
                </a:solidFill>
                <a:latin typeface="Nanum Gothic" panose="020D0604000000000000" pitchFamily="34" charset="-127"/>
                <a:ea typeface="Nanum Gothic" panose="020D0604000000000000" pitchFamily="34" charset="-127"/>
              </a:rPr>
              <a:t>: </a:t>
            </a:r>
            <a:r>
              <a:rPr kumimoji="1" lang="ko-KR" altLang="en-US" sz="1000" i="1" dirty="0">
                <a:solidFill>
                  <a:srgbClr val="C00000"/>
                </a:solidFill>
                <a:latin typeface="Nanum Gothic" panose="020D0604000000000000" pitchFamily="34" charset="-127"/>
                <a:ea typeface="Nanum Gothic" panose="020D0604000000000000" pitchFamily="34" charset="-127"/>
              </a:rPr>
              <a:t>사업장 </a:t>
            </a:r>
            <a:r>
              <a:rPr kumimoji="1" lang="ko-KR" altLang="en-US" sz="1000" i="1" dirty="0" err="1">
                <a:solidFill>
                  <a:srgbClr val="C00000"/>
                </a:solidFill>
                <a:latin typeface="Nanum Gothic" panose="020D0604000000000000" pitchFamily="34" charset="-127"/>
                <a:ea typeface="Nanum Gothic" panose="020D0604000000000000" pitchFamily="34" charset="-127"/>
              </a:rPr>
              <a:t>승인완료</a:t>
            </a:r>
            <a:r>
              <a:rPr kumimoji="1" lang="ko-KR" altLang="en-US" sz="1000" i="1" dirty="0">
                <a:solidFill>
                  <a:srgbClr val="C00000"/>
                </a:solidFill>
                <a:latin typeface="Nanum Gothic" panose="020D0604000000000000" pitchFamily="34" charset="-127"/>
                <a:ea typeface="Nanum Gothic" panose="020D0604000000000000" pitchFamily="34" charset="-127"/>
              </a:rPr>
              <a:t> 시 수수료</a:t>
            </a:r>
            <a:r>
              <a:rPr kumimoji="1" lang="en-US" altLang="ko-KR" sz="1000" i="1" dirty="0">
                <a:solidFill>
                  <a:srgbClr val="C00000"/>
                </a:solidFill>
                <a:latin typeface="Nanum Gothic" panose="020D0604000000000000" pitchFamily="34" charset="-127"/>
                <a:ea typeface="Nanum Gothic" panose="020D0604000000000000" pitchFamily="34" charset="-127"/>
              </a:rPr>
              <a:t>(</a:t>
            </a:r>
            <a:r>
              <a:rPr kumimoji="1" lang="ko-KR" altLang="en-US" sz="1000" i="1" dirty="0" err="1">
                <a:solidFill>
                  <a:srgbClr val="C00000"/>
                </a:solidFill>
                <a:latin typeface="Nanum Gothic" panose="020D0604000000000000" pitchFamily="34" charset="-127"/>
                <a:ea typeface="Nanum Gothic" panose="020D0604000000000000" pitchFamily="34" charset="-127"/>
              </a:rPr>
              <a:t>채널수수료</a:t>
            </a:r>
            <a:r>
              <a:rPr kumimoji="1" lang="en-US" altLang="ko-KR" sz="1000" i="1" dirty="0">
                <a:solidFill>
                  <a:srgbClr val="C00000"/>
                </a:solidFill>
                <a:latin typeface="Nanum Gothic" panose="020D0604000000000000" pitchFamily="34" charset="-127"/>
                <a:ea typeface="Nanum Gothic" panose="020D0604000000000000" pitchFamily="34" charset="-127"/>
              </a:rPr>
              <a:t>+</a:t>
            </a:r>
            <a:r>
              <a:rPr kumimoji="1" lang="ko-KR" altLang="en-US" sz="1000" i="1" dirty="0">
                <a:solidFill>
                  <a:srgbClr val="C00000"/>
                </a:solidFill>
                <a:latin typeface="Nanum Gothic" panose="020D0604000000000000" pitchFamily="34" charset="-127"/>
                <a:ea typeface="Nanum Gothic" panose="020D0604000000000000" pitchFamily="34" charset="-127"/>
              </a:rPr>
              <a:t>티브리지수수료</a:t>
            </a:r>
            <a:r>
              <a:rPr kumimoji="1" lang="en-US" altLang="ko-KR" sz="1000" i="1" dirty="0">
                <a:solidFill>
                  <a:srgbClr val="C00000"/>
                </a:solidFill>
                <a:latin typeface="Nanum Gothic" panose="020D0604000000000000" pitchFamily="34" charset="-127"/>
                <a:ea typeface="Nanum Gothic" panose="020D0604000000000000" pitchFamily="34" charset="-127"/>
              </a:rPr>
              <a:t>)</a:t>
            </a:r>
            <a:r>
              <a:rPr kumimoji="1" lang="ko-KR" altLang="en-US" sz="1000" i="1" dirty="0">
                <a:solidFill>
                  <a:srgbClr val="C00000"/>
                </a:solidFill>
                <a:latin typeface="Nanum Gothic" panose="020D0604000000000000" pitchFamily="34" charset="-127"/>
                <a:ea typeface="Nanum Gothic" panose="020D0604000000000000" pitchFamily="34" charset="-127"/>
              </a:rPr>
              <a:t>에 대해 매월 </a:t>
            </a:r>
            <a:r>
              <a:rPr kumimoji="1" lang="en-US" altLang="ko-KR" sz="1000" i="1" dirty="0">
                <a:solidFill>
                  <a:srgbClr val="C00000"/>
                </a:solidFill>
                <a:latin typeface="Nanum Gothic" panose="020D0604000000000000" pitchFamily="34" charset="-127"/>
                <a:ea typeface="Nanum Gothic" panose="020D0604000000000000" pitchFamily="34" charset="-127"/>
              </a:rPr>
              <a:t>10</a:t>
            </a:r>
            <a:r>
              <a:rPr kumimoji="1" lang="ko-KR" altLang="en-US" sz="1000" i="1" dirty="0">
                <a:solidFill>
                  <a:srgbClr val="C00000"/>
                </a:solidFill>
                <a:latin typeface="Nanum Gothic" panose="020D0604000000000000" pitchFamily="34" charset="-127"/>
                <a:ea typeface="Nanum Gothic" panose="020D0604000000000000" pitchFamily="34" charset="-127"/>
              </a:rPr>
              <a:t>일 세금계산서 </a:t>
            </a:r>
            <a:r>
              <a:rPr kumimoji="1" lang="ko-KR" altLang="en-US" sz="1000" i="1" dirty="0" err="1">
                <a:solidFill>
                  <a:srgbClr val="C00000"/>
                </a:solidFill>
                <a:latin typeface="Nanum Gothic" panose="020D0604000000000000" pitchFamily="34" charset="-127"/>
                <a:ea typeface="Nanum Gothic" panose="020D0604000000000000" pitchFamily="34" charset="-127"/>
              </a:rPr>
              <a:t>자동발급</a:t>
            </a:r>
            <a:r>
              <a:rPr kumimoji="1" lang="ko-KR" altLang="en-US" sz="1000" i="1" dirty="0">
                <a:solidFill>
                  <a:srgbClr val="C00000"/>
                </a:solidFill>
                <a:latin typeface="Nanum Gothic" panose="020D0604000000000000" pitchFamily="34" charset="-127"/>
                <a:ea typeface="Nanum Gothic" panose="020D0604000000000000" pitchFamily="34" charset="-127"/>
              </a:rPr>
              <a:t> 되는 프로세스 적용</a:t>
            </a:r>
            <a:endParaRPr kumimoji="1" lang="en-US" altLang="ko-KR" sz="1000" i="1" dirty="0">
              <a:solidFill>
                <a:srgbClr val="C00000"/>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a:t>
            </a:r>
            <a:r>
              <a:rPr kumimoji="1" lang="ko-KR" altLang="en-US" dirty="0"/>
              <a:t>정책</a:t>
            </a:r>
            <a:r>
              <a:rPr kumimoji="1" lang="en-US" altLang="ko-KR" dirty="0"/>
              <a:t>]</a:t>
            </a:r>
            <a:r>
              <a:rPr kumimoji="1" lang="ko-KR" altLang="en-US" dirty="0"/>
              <a:t> </a:t>
            </a:r>
            <a:r>
              <a:rPr kumimoji="1" lang="ko-KR" altLang="en-US" dirty="0" err="1"/>
              <a:t>정산서</a:t>
            </a:r>
            <a:r>
              <a:rPr kumimoji="1" lang="ko-KR" altLang="en-US" dirty="0"/>
              <a:t> </a:t>
            </a:r>
            <a:r>
              <a:rPr kumimoji="1" lang="ko-KR" altLang="en-US" dirty="0" err="1"/>
              <a:t>상태별</a:t>
            </a:r>
            <a:r>
              <a:rPr kumimoji="1" lang="ko-KR" altLang="en-US" dirty="0"/>
              <a:t> </a:t>
            </a:r>
            <a:r>
              <a:rPr kumimoji="1" lang="ko-KR" altLang="en-US" dirty="0" err="1"/>
              <a:t>작업사항</a:t>
            </a:r>
            <a:r>
              <a:rPr kumimoji="1" lang="ko-KR" altLang="en-US" dirty="0"/>
              <a:t> 및 </a:t>
            </a:r>
            <a:r>
              <a:rPr kumimoji="1" lang="ko-KR" altLang="en-US" dirty="0" err="1"/>
              <a:t>노출버튼</a:t>
            </a:r>
            <a:endParaRPr kumimoji="1" lang="ko-KR" altLang="en-US" dirty="0"/>
          </a:p>
        </p:txBody>
      </p:sp>
      <p:graphicFrame>
        <p:nvGraphicFramePr>
          <p:cNvPr id="3" name="표 2"/>
          <p:cNvGraphicFramePr>
            <a:graphicFrameLocks noGrp="1"/>
          </p:cNvGraphicFramePr>
          <p:nvPr/>
        </p:nvGraphicFramePr>
        <p:xfrm>
          <a:off x="416496" y="1484784"/>
          <a:ext cx="8928992" cy="2304256"/>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20000"/>
                    </a:ext>
                  </a:extLst>
                </a:gridCol>
                <a:gridCol w="2729221">
                  <a:extLst>
                    <a:ext uri="{9D8B030D-6E8A-4147-A177-3AD203B41FA5}">
                      <a16:colId xmlns:a16="http://schemas.microsoft.com/office/drawing/2014/main" val="20001"/>
                    </a:ext>
                  </a:extLst>
                </a:gridCol>
                <a:gridCol w="1663267">
                  <a:extLst>
                    <a:ext uri="{9D8B030D-6E8A-4147-A177-3AD203B41FA5}">
                      <a16:colId xmlns:a16="http://schemas.microsoft.com/office/drawing/2014/main" val="20002"/>
                    </a:ext>
                  </a:extLst>
                </a:gridCol>
                <a:gridCol w="1703402">
                  <a:extLst>
                    <a:ext uri="{9D8B030D-6E8A-4147-A177-3AD203B41FA5}">
                      <a16:colId xmlns:a16="http://schemas.microsoft.com/office/drawing/2014/main" val="20003"/>
                    </a:ext>
                  </a:extLst>
                </a:gridCol>
                <a:gridCol w="1536958">
                  <a:extLst>
                    <a:ext uri="{9D8B030D-6E8A-4147-A177-3AD203B41FA5}">
                      <a16:colId xmlns:a16="http://schemas.microsoft.com/office/drawing/2014/main" val="20004"/>
                    </a:ext>
                  </a:extLst>
                </a:gridCol>
              </a:tblGrid>
              <a:tr h="360040">
                <a:tc>
                  <a:txBody>
                    <a:bodyPr/>
                    <a:lstStyle/>
                    <a:p>
                      <a:pPr algn="ctr" latinLnBrk="1"/>
                      <a:r>
                        <a:rPr lang="ko-KR" altLang="en-US" sz="1000" dirty="0" err="1">
                          <a:solidFill>
                            <a:schemeClr val="tx1"/>
                          </a:solidFill>
                          <a:latin typeface="Nanum Gothic" panose="020D0604000000000000" pitchFamily="34" charset="-127"/>
                          <a:ea typeface="Nanum Gothic" panose="020D0604000000000000" pitchFamily="34" charset="-127"/>
                        </a:rPr>
                        <a:t>정산상태</a:t>
                      </a:r>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사업장승인대기</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사업장승인거부</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사업장승인완료</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tc>
                  <a:txBody>
                    <a:bodyPr/>
                    <a:lstStyle/>
                    <a:p>
                      <a:pPr algn="ctr" latinLnBrk="1"/>
                      <a:r>
                        <a:rPr lang="ko-KR" altLang="en-US" sz="1000" dirty="0" err="1">
                          <a:solidFill>
                            <a:schemeClr val="tx1"/>
                          </a:solidFill>
                          <a:latin typeface="Nanum Gothic" panose="020D0604000000000000" pitchFamily="34" charset="-127"/>
                          <a:ea typeface="Nanum Gothic" panose="020D0604000000000000" pitchFamily="34" charset="-127"/>
                        </a:rPr>
                        <a:t>정산완료</a:t>
                      </a:r>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20080">
                <a:tc>
                  <a:txBody>
                    <a:bodyPr/>
                    <a:lstStyle/>
                    <a:p>
                      <a:pPr algn="ctr" latinLnBrk="1"/>
                      <a:r>
                        <a:rPr lang="ko-KR" altLang="en-US" sz="1000" b="1" dirty="0">
                          <a:solidFill>
                            <a:schemeClr val="tx1"/>
                          </a:solidFill>
                          <a:latin typeface="Nanum Gothic" panose="020D0604000000000000" pitchFamily="34" charset="-127"/>
                          <a:ea typeface="Nanum Gothic" panose="020D0604000000000000" pitchFamily="34" charset="-127"/>
                        </a:rPr>
                        <a:t>마스터 </a:t>
                      </a:r>
                      <a:r>
                        <a:rPr lang="ko-KR" altLang="en-US" sz="1000" b="1" dirty="0" err="1">
                          <a:solidFill>
                            <a:schemeClr val="tx1"/>
                          </a:solidFill>
                          <a:latin typeface="Nanum Gothic" panose="020D0604000000000000" pitchFamily="34" charset="-127"/>
                          <a:ea typeface="Nanum Gothic" panose="020D0604000000000000" pitchFamily="34" charset="-127"/>
                        </a:rPr>
                        <a:t>작업사항</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1"/>
                  </a:ext>
                </a:extLst>
              </a:tr>
              <a:tr h="1224136">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총판사</a:t>
                      </a:r>
                      <a:r>
                        <a:rPr lang="ko-KR" altLang="en-US" sz="1000" b="1" dirty="0">
                          <a:solidFill>
                            <a:schemeClr val="tx1"/>
                          </a:solidFill>
                          <a:latin typeface="Nanum Gothic" panose="020D0604000000000000" pitchFamily="34" charset="-127"/>
                          <a:ea typeface="Nanum Gothic" panose="020D0604000000000000" pitchFamily="34" charset="-127"/>
                        </a:rPr>
                        <a:t> </a:t>
                      </a:r>
                      <a:r>
                        <a:rPr lang="ko-KR" altLang="en-US" sz="1000" b="1" dirty="0" err="1">
                          <a:solidFill>
                            <a:schemeClr val="tx1"/>
                          </a:solidFill>
                          <a:latin typeface="Nanum Gothic" panose="020D0604000000000000" pitchFamily="34" charset="-127"/>
                          <a:ea typeface="Nanum Gothic" panose="020D0604000000000000" pitchFamily="34" charset="-127"/>
                        </a:rPr>
                        <a:t>작업사항</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5" name="표 4"/>
          <p:cNvGraphicFramePr>
            <a:graphicFrameLocks noGrp="1"/>
          </p:cNvGraphicFramePr>
          <p:nvPr/>
        </p:nvGraphicFramePr>
        <p:xfrm>
          <a:off x="416496" y="3951708"/>
          <a:ext cx="8928992" cy="2339936"/>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gridCol w="704871">
                  <a:extLst>
                    <a:ext uri="{9D8B030D-6E8A-4147-A177-3AD203B41FA5}">
                      <a16:colId xmlns:a16="http://schemas.microsoft.com/office/drawing/2014/main" val="20001"/>
                    </a:ext>
                  </a:extLst>
                </a:gridCol>
                <a:gridCol w="2751513">
                  <a:extLst>
                    <a:ext uri="{9D8B030D-6E8A-4147-A177-3AD203B41FA5}">
                      <a16:colId xmlns:a16="http://schemas.microsoft.com/office/drawing/2014/main" val="20002"/>
                    </a:ext>
                  </a:extLst>
                </a:gridCol>
                <a:gridCol w="1656184">
                  <a:extLst>
                    <a:ext uri="{9D8B030D-6E8A-4147-A177-3AD203B41FA5}">
                      <a16:colId xmlns:a16="http://schemas.microsoft.com/office/drawing/2014/main" val="20003"/>
                    </a:ext>
                  </a:extLst>
                </a:gridCol>
                <a:gridCol w="1728192">
                  <a:extLst>
                    <a:ext uri="{9D8B030D-6E8A-4147-A177-3AD203B41FA5}">
                      <a16:colId xmlns:a16="http://schemas.microsoft.com/office/drawing/2014/main" val="20004"/>
                    </a:ext>
                  </a:extLst>
                </a:gridCol>
                <a:gridCol w="1512168">
                  <a:extLst>
                    <a:ext uri="{9D8B030D-6E8A-4147-A177-3AD203B41FA5}">
                      <a16:colId xmlns:a16="http://schemas.microsoft.com/office/drawing/2014/main" val="20005"/>
                    </a:ext>
                  </a:extLst>
                </a:gridCol>
              </a:tblGrid>
              <a:tr h="485924">
                <a:tc rowSpan="3">
                  <a:txBody>
                    <a:bodyPr/>
                    <a:lstStyle/>
                    <a:p>
                      <a:pPr algn="ctr" latinLnBrk="1"/>
                      <a:r>
                        <a:rPr lang="ko-KR" altLang="en-US" sz="1000" b="1" dirty="0">
                          <a:solidFill>
                            <a:schemeClr val="tx1"/>
                          </a:solidFill>
                          <a:latin typeface="Nanum Gothic" panose="020D0604000000000000" pitchFamily="34" charset="-127"/>
                          <a:ea typeface="Nanum Gothic" panose="020D0604000000000000" pitchFamily="34" charset="-127"/>
                        </a:rPr>
                        <a:t>마스터 </a:t>
                      </a:r>
                      <a:endParaRPr lang="en-US" altLang="ko-KR"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노출버튼</a:t>
                      </a:r>
                      <a:endParaRPr lang="en-US" altLang="ko-KR" sz="1000" b="1" dirty="0">
                        <a:solidFill>
                          <a:schemeClr val="tx1"/>
                        </a:solidFill>
                        <a:latin typeface="Nanum Gothic" panose="020D0604000000000000" pitchFamily="34" charset="-127"/>
                        <a:ea typeface="Nanum Gothic" panose="020D0604000000000000" pitchFamily="34" charset="-127"/>
                      </a:endParaRPr>
                    </a:p>
                    <a:p>
                      <a:pPr algn="ctr" latinLnBrk="1"/>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a:solidFill>
                            <a:schemeClr val="tx1"/>
                          </a:solidFill>
                          <a:latin typeface="Nanum Gothic" panose="020D0604000000000000" pitchFamily="34" charset="-127"/>
                          <a:ea typeface="Nanum Gothic" panose="020D0604000000000000" pitchFamily="34" charset="-127"/>
                        </a:rPr>
                        <a:t>목록</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0"/>
                  </a:ext>
                </a:extLst>
              </a:tr>
              <a:tr h="485924">
                <a:tc vMerge="1">
                  <a:txBody>
                    <a:bodyPr/>
                    <a:lstStyle/>
                    <a:p>
                      <a:endParaRPr lang="en-US"/>
                    </a:p>
                  </a:txBody>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노출버튼</a:t>
                      </a:r>
                      <a:endParaRPr lang="en-US" altLang="ko-KR" sz="1000" b="1" dirty="0">
                        <a:solidFill>
                          <a:schemeClr val="tx1"/>
                        </a:solidFill>
                        <a:latin typeface="Nanum Gothic" panose="020D0604000000000000" pitchFamily="34" charset="-127"/>
                        <a:ea typeface="Nanum Gothic" panose="020D0604000000000000" pitchFamily="34" charset="-127"/>
                      </a:endParaRPr>
                    </a:p>
                    <a:p>
                      <a:pPr algn="ctr" latinLnBrk="1"/>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정산서</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1"/>
                  </a:ext>
                </a:extLst>
              </a:tr>
              <a:tr h="377652">
                <a:tc vMerge="1">
                  <a:txBody>
                    <a:bodyPr/>
                    <a:lstStyle/>
                    <a:p>
                      <a:endParaRPr lang="en-US"/>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정산서</a:t>
                      </a:r>
                      <a:endParaRPr lang="en-US" altLang="ko-KR" sz="1000" b="1" dirty="0">
                        <a:solidFill>
                          <a:schemeClr val="tx1"/>
                        </a:solidFill>
                        <a:latin typeface="Nanum Gothic" panose="020D0604000000000000" pitchFamily="34" charset="-127"/>
                        <a:ea typeface="Nanum Gothic" panose="020D0604000000000000" pitchFamily="34" charset="-127"/>
                      </a:endParaRPr>
                    </a:p>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수정여부</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수정 불가</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algn="ctr" latinLnBrk="1"/>
                      <a:r>
                        <a:rPr lang="ko-KR" altLang="en-US" sz="1000" dirty="0" err="1">
                          <a:solidFill>
                            <a:schemeClr val="tx1"/>
                          </a:solidFill>
                          <a:latin typeface="Nanum Gothic" panose="020D0604000000000000" pitchFamily="34" charset="-127"/>
                          <a:ea typeface="Nanum Gothic" panose="020D0604000000000000" pitchFamily="34" charset="-127"/>
                        </a:rPr>
                        <a:t>수정가능</a:t>
                      </a:r>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algn="ctr" latinLnBrk="1"/>
                      <a:r>
                        <a:rPr lang="ko-KR" altLang="en-US" sz="1000" dirty="0">
                          <a:solidFill>
                            <a:schemeClr val="tx1"/>
                          </a:solidFill>
                          <a:latin typeface="Nanum Gothic" panose="020D0604000000000000" pitchFamily="34" charset="-127"/>
                          <a:ea typeface="Nanum Gothic" panose="020D0604000000000000" pitchFamily="34" charset="-127"/>
                        </a:rPr>
                        <a:t>수정불가</a:t>
                      </a: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algn="ctr" latinLnBrk="1"/>
                      <a:r>
                        <a:rPr lang="ko-KR" altLang="en-US" sz="1000" dirty="0" err="1">
                          <a:solidFill>
                            <a:schemeClr val="tx1"/>
                          </a:solidFill>
                          <a:latin typeface="Nanum Gothic" panose="020D0604000000000000" pitchFamily="34" charset="-127"/>
                          <a:ea typeface="Nanum Gothic" panose="020D0604000000000000" pitchFamily="34" charset="-127"/>
                        </a:rPr>
                        <a:t>수정가능</a:t>
                      </a:r>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2"/>
                  </a:ext>
                </a:extLst>
              </a:tr>
              <a:tr h="485924">
                <a:tc rowSpan="2">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총판사</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노출버튼</a:t>
                      </a:r>
                      <a:endParaRPr lang="en-US" altLang="ko-KR" sz="1000" b="1" dirty="0">
                        <a:solidFill>
                          <a:schemeClr val="tx1"/>
                        </a:solidFill>
                        <a:latin typeface="Nanum Gothic" panose="020D0604000000000000" pitchFamily="34" charset="-127"/>
                        <a:ea typeface="Nanum Gothic" panose="020D0604000000000000" pitchFamily="34" charset="-127"/>
                      </a:endParaRPr>
                    </a:p>
                    <a:p>
                      <a:pPr algn="ctr" latinLnBrk="1"/>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a:solidFill>
                            <a:schemeClr val="tx1"/>
                          </a:solidFill>
                          <a:latin typeface="Nanum Gothic" panose="020D0604000000000000" pitchFamily="34" charset="-127"/>
                          <a:ea typeface="Nanum Gothic" panose="020D0604000000000000" pitchFamily="34" charset="-127"/>
                        </a:rPr>
                        <a:t>목록</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dash"/>
                      <a:round/>
                      <a:headEnd type="none" w="med" len="med"/>
                      <a:tailEnd type="none" w="med" len="med"/>
                    </a:lnB>
                    <a:noFill/>
                  </a:tcPr>
                </a:tc>
                <a:extLst>
                  <a:ext uri="{0D108BD9-81ED-4DB2-BD59-A6C34878D82A}">
                    <a16:rowId xmlns:a16="http://schemas.microsoft.com/office/drawing/2014/main" val="10003"/>
                  </a:ext>
                </a:extLst>
              </a:tr>
              <a:tr h="485924">
                <a:tc vMerge="1">
                  <a:txBody>
                    <a:bodyPr/>
                    <a:lstStyle/>
                    <a:p>
                      <a:endParaRPr lang="en-US"/>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ko-KR" altLang="en-US" sz="1000" b="1" dirty="0" err="1">
                          <a:solidFill>
                            <a:schemeClr val="tx1"/>
                          </a:solidFill>
                          <a:latin typeface="Nanum Gothic" panose="020D0604000000000000" pitchFamily="34" charset="-127"/>
                          <a:ea typeface="Nanum Gothic" panose="020D0604000000000000" pitchFamily="34" charset="-127"/>
                        </a:rPr>
                        <a:t>노출버튼</a:t>
                      </a:r>
                      <a:endParaRPr lang="en-US" altLang="ko-KR" sz="1000" b="1" dirty="0">
                        <a:solidFill>
                          <a:schemeClr val="tx1"/>
                        </a:solidFill>
                        <a:latin typeface="Nanum Gothic" panose="020D0604000000000000" pitchFamily="34" charset="-127"/>
                        <a:ea typeface="Nanum Gothic" panose="020D0604000000000000" pitchFamily="34" charset="-127"/>
                      </a:endParaRPr>
                    </a:p>
                    <a:p>
                      <a:pPr algn="ctr" latinLnBrk="1"/>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정산서</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dash"/>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latinLnBrk="1"/>
                      <a:endParaRPr lang="ko-KR" altLang="en-US" sz="1000" dirty="0">
                        <a:solidFill>
                          <a:schemeClr val="tx1"/>
                        </a:solidFill>
                        <a:latin typeface="Nanum Gothic" panose="020D0604000000000000" pitchFamily="34" charset="-127"/>
                        <a:ea typeface="Nanum Gothic" panose="020D0604000000000000" pitchFamily="34" charset="-127"/>
                      </a:endParaRPr>
                    </a:p>
                  </a:txBody>
                  <a:tcPr anchor="ctr">
                    <a:lnL w="9525" cap="flat" cmpd="sng" algn="ctr">
                      <a:solidFill>
                        <a:schemeClr val="bg1">
                          <a:lumMod val="65000"/>
                        </a:schemeClr>
                      </a:solidFill>
                      <a:prstDash val="dash"/>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6" name="그룹 5"/>
          <p:cNvGrpSpPr/>
          <p:nvPr/>
        </p:nvGrpSpPr>
        <p:grpSpPr>
          <a:xfrm>
            <a:off x="1956050" y="1988840"/>
            <a:ext cx="7159781" cy="1646499"/>
            <a:chOff x="1749024" y="2020926"/>
            <a:chExt cx="7834393" cy="1646499"/>
          </a:xfrm>
        </p:grpSpPr>
        <p:sp>
          <p:nvSpPr>
            <p:cNvPr id="37" name="직사각형 36"/>
            <p:cNvSpPr/>
            <p:nvPr/>
          </p:nvSpPr>
          <p:spPr>
            <a:xfrm>
              <a:off x="1749024" y="2020944"/>
              <a:ext cx="1140042" cy="26078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1000" dirty="0" err="1">
                  <a:solidFill>
                    <a:schemeClr val="tx1"/>
                  </a:solidFill>
                  <a:latin typeface="Nanum Gothic" panose="020D0604000000000000" pitchFamily="34" charset="-127"/>
                  <a:ea typeface="Nanum Gothic" panose="020D0604000000000000" pitchFamily="34" charset="-127"/>
                </a:rPr>
                <a:t>정산서</a:t>
              </a:r>
              <a:r>
                <a:rPr lang="ko-KR" altLang="en-US" sz="1000" dirty="0">
                  <a:solidFill>
                    <a:schemeClr val="tx1"/>
                  </a:solidFill>
                  <a:latin typeface="Nanum Gothic" panose="020D0604000000000000" pitchFamily="34" charset="-127"/>
                  <a:ea typeface="Nanum Gothic" panose="020D0604000000000000" pitchFamily="34" charset="-127"/>
                </a:rPr>
                <a:t> 최초 생성</a:t>
              </a:r>
            </a:p>
          </p:txBody>
        </p:sp>
        <p:sp>
          <p:nvSpPr>
            <p:cNvPr id="38" name="다이아몬드 37"/>
            <p:cNvSpPr/>
            <p:nvPr/>
          </p:nvSpPr>
          <p:spPr>
            <a:xfrm>
              <a:off x="3272351" y="2955053"/>
              <a:ext cx="1140042" cy="527758"/>
            </a:xfrm>
            <a:prstGeom prst="diamond">
              <a:avLst/>
            </a:prstGeom>
            <a:solidFill>
              <a:schemeClr val="bg1"/>
            </a:solidFill>
            <a:ln w="31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kumimoji="1" lang="ko-KR" altLang="en-US" sz="900" dirty="0">
                  <a:solidFill>
                    <a:schemeClr val="tx1"/>
                  </a:solidFill>
                  <a:latin typeface="Nanum Gothic" panose="020D0604000000000000" pitchFamily="34" charset="-127"/>
                  <a:ea typeface="Nanum Gothic" panose="020D0604000000000000" pitchFamily="34" charset="-127"/>
                </a:rPr>
                <a:t>사업장</a:t>
              </a:r>
              <a:endParaRPr kumimoji="1" lang="en-US" altLang="ko-KR" sz="900" dirty="0">
                <a:solidFill>
                  <a:schemeClr val="tx1"/>
                </a:solidFill>
                <a:latin typeface="Nanum Gothic" panose="020D0604000000000000" pitchFamily="34" charset="-127"/>
                <a:ea typeface="Nanum Gothic" panose="020D0604000000000000" pitchFamily="34" charset="-127"/>
              </a:endParaRPr>
            </a:p>
            <a:p>
              <a:pPr algn="ctr"/>
              <a:r>
                <a:rPr kumimoji="1" lang="ko-KR" altLang="en-US" sz="900" dirty="0" err="1">
                  <a:solidFill>
                    <a:schemeClr val="tx1"/>
                  </a:solidFill>
                  <a:latin typeface="Nanum Gothic" panose="020D0604000000000000" pitchFamily="34" charset="-127"/>
                  <a:ea typeface="Nanum Gothic" panose="020D0604000000000000" pitchFamily="34" charset="-127"/>
                </a:rPr>
                <a:t>정산서</a:t>
              </a:r>
              <a:r>
                <a:rPr kumimoji="1" lang="ko-KR" altLang="en-US" sz="900" dirty="0">
                  <a:solidFill>
                    <a:schemeClr val="tx1"/>
                  </a:solidFill>
                  <a:latin typeface="Nanum Gothic" panose="020D0604000000000000" pitchFamily="34" charset="-127"/>
                  <a:ea typeface="Nanum Gothic" panose="020D0604000000000000" pitchFamily="34" charset="-127"/>
                </a:rPr>
                <a:t> 승인</a:t>
              </a:r>
              <a:endParaRPr kumimoji="1" lang="en-US" altLang="ko-KR" sz="900" dirty="0">
                <a:solidFill>
                  <a:schemeClr val="tx1"/>
                </a:solidFill>
                <a:latin typeface="Nanum Gothic" panose="020D0604000000000000" pitchFamily="34" charset="-127"/>
                <a:ea typeface="Nanum Gothic" panose="020D0604000000000000" pitchFamily="34" charset="-127"/>
              </a:endParaRPr>
            </a:p>
          </p:txBody>
        </p:sp>
        <p:cxnSp>
          <p:nvCxnSpPr>
            <p:cNvPr id="40" name="직선 화살표 연결선 30"/>
            <p:cNvCxnSpPr>
              <a:stCxn id="38" idx="3"/>
              <a:endCxn id="47" idx="2"/>
            </p:cNvCxnSpPr>
            <p:nvPr/>
          </p:nvCxnSpPr>
          <p:spPr>
            <a:xfrm flipV="1">
              <a:off x="4412393" y="2281715"/>
              <a:ext cx="957009" cy="937217"/>
            </a:xfrm>
            <a:prstGeom prst="bentConnector2">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250009" y="2248127"/>
              <a:ext cx="1124026" cy="255455"/>
            </a:xfrm>
            <a:prstGeom prst="rect">
              <a:avLst/>
            </a:prstGeom>
            <a:noFill/>
          </p:spPr>
          <p:txBody>
            <a:bodyPr wrap="none" rtlCol="0">
              <a:spAutoFit/>
            </a:bodyPr>
            <a:lstStyle/>
            <a:p>
              <a:pPr>
                <a:lnSpc>
                  <a:spcPct val="150000"/>
                </a:lnSpc>
              </a:pPr>
              <a:r>
                <a:rPr kumimoji="1" lang="ko-KR" altLang="en-US" sz="800" dirty="0">
                  <a:solidFill>
                    <a:schemeClr val="tx2">
                      <a:lumMod val="60000"/>
                      <a:lumOff val="40000"/>
                    </a:schemeClr>
                  </a:solidFill>
                  <a:latin typeface="Nanum Gothic" panose="020D0604000000000000" pitchFamily="34" charset="-127"/>
                  <a:ea typeface="Nanum Gothic" panose="020D0604000000000000" pitchFamily="34" charset="-127"/>
                </a:rPr>
                <a:t>사업장승인요청</a:t>
              </a:r>
              <a:r>
                <a:rPr kumimoji="1" lang="en-US" altLang="ko-KR" sz="800" dirty="0">
                  <a:solidFill>
                    <a:schemeClr val="tx2">
                      <a:lumMod val="60000"/>
                      <a:lumOff val="40000"/>
                    </a:schemeClr>
                  </a:solidFill>
                  <a:latin typeface="Nanum Gothic" panose="020D0604000000000000" pitchFamily="34" charset="-127"/>
                  <a:ea typeface="Nanum Gothic" panose="020D0604000000000000" pitchFamily="34" charset="-127"/>
                </a:rPr>
                <a:t>(</a:t>
              </a:r>
              <a:r>
                <a:rPr kumimoji="1" lang="ko-KR" altLang="en-US" sz="800" dirty="0">
                  <a:solidFill>
                    <a:schemeClr val="tx2">
                      <a:lumMod val="60000"/>
                      <a:lumOff val="40000"/>
                    </a:schemeClr>
                  </a:solidFill>
                  <a:latin typeface="Nanum Gothic" panose="020D0604000000000000" pitchFamily="34" charset="-127"/>
                  <a:ea typeface="Nanum Gothic" panose="020D0604000000000000" pitchFamily="34" charset="-127"/>
                </a:rPr>
                <a:t>자동</a:t>
              </a:r>
              <a:r>
                <a:rPr kumimoji="1" lang="en-US" altLang="ko-KR" sz="800" dirty="0">
                  <a:solidFill>
                    <a:schemeClr val="tx2">
                      <a:lumMod val="60000"/>
                      <a:lumOff val="40000"/>
                    </a:schemeClr>
                  </a:solidFill>
                  <a:latin typeface="Nanum Gothic" panose="020D0604000000000000" pitchFamily="34" charset="-127"/>
                  <a:ea typeface="Nanum Gothic" panose="020D0604000000000000" pitchFamily="34" charset="-127"/>
                </a:rPr>
                <a:t>)</a:t>
              </a:r>
            </a:p>
          </p:txBody>
        </p:sp>
        <p:sp>
          <p:nvSpPr>
            <p:cNvPr id="42" name="TextBox 41"/>
            <p:cNvSpPr txBox="1"/>
            <p:nvPr/>
          </p:nvSpPr>
          <p:spPr>
            <a:xfrm>
              <a:off x="4514687" y="2933530"/>
              <a:ext cx="569387" cy="255455"/>
            </a:xfrm>
            <a:prstGeom prst="rect">
              <a:avLst/>
            </a:prstGeom>
            <a:noFill/>
          </p:spPr>
          <p:txBody>
            <a:bodyPr wrap="none" rtlCol="0">
              <a:spAutoFit/>
            </a:bodyPr>
            <a:lstStyle/>
            <a:p>
              <a:pPr>
                <a:lnSpc>
                  <a:spcPct val="150000"/>
                </a:lnSpc>
              </a:pPr>
              <a:r>
                <a:rPr kumimoji="1" lang="ko-KR" altLang="en-US" sz="800" dirty="0" err="1">
                  <a:solidFill>
                    <a:srgbClr val="C00000"/>
                  </a:solidFill>
                  <a:latin typeface="Nanum Gothic" panose="020D0604000000000000" pitchFamily="34" charset="-127"/>
                  <a:ea typeface="Nanum Gothic" panose="020D0604000000000000" pitchFamily="34" charset="-127"/>
                </a:rPr>
                <a:t>승인거부</a:t>
              </a:r>
              <a:endParaRPr kumimoji="1" lang="en-US" altLang="ko-KR" sz="800" dirty="0">
                <a:solidFill>
                  <a:srgbClr val="C00000"/>
                </a:solidFill>
                <a:latin typeface="Nanum Gothic" panose="020D0604000000000000" pitchFamily="34" charset="-127"/>
                <a:ea typeface="Nanum Gothic" panose="020D0604000000000000" pitchFamily="34" charset="-127"/>
              </a:endParaRPr>
            </a:p>
          </p:txBody>
        </p:sp>
        <p:cxnSp>
          <p:nvCxnSpPr>
            <p:cNvPr id="45" name="직선 화살표 연결선 38"/>
            <p:cNvCxnSpPr>
              <a:stCxn id="38" idx="2"/>
              <a:endCxn id="46" idx="2"/>
            </p:cNvCxnSpPr>
            <p:nvPr/>
          </p:nvCxnSpPr>
          <p:spPr>
            <a:xfrm rot="5400000" flipH="1" flipV="1">
              <a:off x="4844176" y="1284262"/>
              <a:ext cx="1196745" cy="3200353"/>
            </a:xfrm>
            <a:prstGeom prst="bentConnector3">
              <a:avLst>
                <a:gd name="adj1" fmla="val -19102"/>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직사각형 45"/>
            <p:cNvSpPr/>
            <p:nvPr/>
          </p:nvSpPr>
          <p:spPr>
            <a:xfrm>
              <a:off x="6472704" y="2025277"/>
              <a:ext cx="1140042" cy="26078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1000" dirty="0" err="1">
                  <a:solidFill>
                    <a:schemeClr val="tx1"/>
                  </a:solidFill>
                  <a:latin typeface="Nanum Gothic" panose="020D0604000000000000" pitchFamily="34" charset="-127"/>
                  <a:ea typeface="Nanum Gothic" panose="020D0604000000000000" pitchFamily="34" charset="-127"/>
                </a:rPr>
                <a:t>정산진행</a:t>
              </a:r>
              <a:endParaRPr lang="ko-KR" altLang="en-US" sz="1000" dirty="0">
                <a:solidFill>
                  <a:schemeClr val="tx1"/>
                </a:solidFill>
                <a:latin typeface="Nanum Gothic" panose="020D0604000000000000" pitchFamily="34" charset="-127"/>
                <a:ea typeface="Nanum Gothic" panose="020D0604000000000000" pitchFamily="34" charset="-127"/>
              </a:endParaRPr>
            </a:p>
          </p:txBody>
        </p:sp>
        <p:sp>
          <p:nvSpPr>
            <p:cNvPr id="47" name="직사각형 46"/>
            <p:cNvSpPr/>
            <p:nvPr/>
          </p:nvSpPr>
          <p:spPr>
            <a:xfrm>
              <a:off x="4799381" y="2020926"/>
              <a:ext cx="1140042" cy="26078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1000" dirty="0" err="1">
                  <a:solidFill>
                    <a:schemeClr val="tx1"/>
                  </a:solidFill>
                  <a:latin typeface="Nanum Gothic" panose="020D0604000000000000" pitchFamily="34" charset="-127"/>
                  <a:ea typeface="Nanum Gothic" panose="020D0604000000000000" pitchFamily="34" charset="-127"/>
                </a:rPr>
                <a:t>정산서</a:t>
              </a:r>
              <a:r>
                <a:rPr lang="ko-KR" altLang="en-US" sz="1000" dirty="0">
                  <a:solidFill>
                    <a:schemeClr val="tx1"/>
                  </a:solidFill>
                  <a:latin typeface="Nanum Gothic" panose="020D0604000000000000" pitchFamily="34" charset="-127"/>
                  <a:ea typeface="Nanum Gothic" panose="020D0604000000000000" pitchFamily="34" charset="-127"/>
                </a:rPr>
                <a:t> 재확인</a:t>
              </a:r>
            </a:p>
          </p:txBody>
        </p:sp>
        <p:cxnSp>
          <p:nvCxnSpPr>
            <p:cNvPr id="48" name="직선 화살표 연결선 30"/>
            <p:cNvCxnSpPr>
              <a:stCxn id="37" idx="2"/>
              <a:endCxn id="38" idx="1"/>
            </p:cNvCxnSpPr>
            <p:nvPr/>
          </p:nvCxnSpPr>
          <p:spPr>
            <a:xfrm rot="16200000" flipH="1">
              <a:off x="2327099" y="2273679"/>
              <a:ext cx="937199" cy="953306"/>
            </a:xfrm>
            <a:prstGeom prst="bentConnector2">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809536" y="3411970"/>
              <a:ext cx="569387" cy="255455"/>
            </a:xfrm>
            <a:prstGeom prst="rect">
              <a:avLst/>
            </a:prstGeom>
            <a:noFill/>
          </p:spPr>
          <p:txBody>
            <a:bodyPr wrap="none" rtlCol="0">
              <a:spAutoFit/>
            </a:bodyPr>
            <a:lstStyle/>
            <a:p>
              <a:pPr>
                <a:lnSpc>
                  <a:spcPct val="150000"/>
                </a:lnSpc>
              </a:pPr>
              <a:r>
                <a:rPr kumimoji="1" lang="ko-KR" altLang="en-US" sz="800" dirty="0" err="1">
                  <a:solidFill>
                    <a:schemeClr val="tx2">
                      <a:lumMod val="60000"/>
                      <a:lumOff val="40000"/>
                    </a:schemeClr>
                  </a:solidFill>
                  <a:latin typeface="Nanum Gothic" panose="020D0604000000000000" pitchFamily="34" charset="-127"/>
                  <a:ea typeface="Nanum Gothic" panose="020D0604000000000000" pitchFamily="34" charset="-127"/>
                </a:rPr>
                <a:t>승인완료</a:t>
              </a:r>
              <a:endParaRPr kumimoji="1" lang="en-US" altLang="ko-KR" sz="800" dirty="0">
                <a:solidFill>
                  <a:schemeClr val="tx2">
                    <a:lumMod val="60000"/>
                    <a:lumOff val="40000"/>
                  </a:schemeClr>
                </a:solidFill>
                <a:latin typeface="Nanum Gothic" panose="020D0604000000000000" pitchFamily="34" charset="-127"/>
                <a:ea typeface="Nanum Gothic" panose="020D0604000000000000" pitchFamily="34" charset="-127"/>
              </a:endParaRPr>
            </a:p>
          </p:txBody>
        </p:sp>
        <p:cxnSp>
          <p:nvCxnSpPr>
            <p:cNvPr id="50" name="직선 화살표 연결선 30"/>
            <p:cNvCxnSpPr>
              <a:stCxn id="47" idx="1"/>
              <a:endCxn id="38" idx="0"/>
            </p:cNvCxnSpPr>
            <p:nvPr/>
          </p:nvCxnSpPr>
          <p:spPr>
            <a:xfrm rot="10800000" flipV="1">
              <a:off x="3842372" y="2151321"/>
              <a:ext cx="957009" cy="803732"/>
            </a:xfrm>
            <a:prstGeom prst="bentConnector2">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1" name="직사각형 50"/>
            <p:cNvSpPr/>
            <p:nvPr/>
          </p:nvSpPr>
          <p:spPr>
            <a:xfrm>
              <a:off x="8443375" y="2023992"/>
              <a:ext cx="1140042" cy="26078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1000" dirty="0">
                  <a:solidFill>
                    <a:schemeClr val="tx1"/>
                  </a:solidFill>
                  <a:latin typeface="Nanum Gothic" panose="020D0604000000000000" pitchFamily="34" charset="-127"/>
                  <a:ea typeface="Nanum Gothic" panose="020D0604000000000000" pitchFamily="34" charset="-127"/>
                </a:rPr>
                <a:t>정산상태변경</a:t>
              </a:r>
            </a:p>
          </p:txBody>
        </p:sp>
        <p:cxnSp>
          <p:nvCxnSpPr>
            <p:cNvPr id="52" name="직선 화살표 연결선 51"/>
            <p:cNvCxnSpPr>
              <a:stCxn id="46" idx="3"/>
              <a:endCxn id="51" idx="1"/>
            </p:cNvCxnSpPr>
            <p:nvPr/>
          </p:nvCxnSpPr>
          <p:spPr>
            <a:xfrm flipV="1">
              <a:off x="7612745" y="2154387"/>
              <a:ext cx="830630" cy="1285"/>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57" name="TextBox 56"/>
          <p:cNvSpPr txBox="1"/>
          <p:nvPr/>
        </p:nvSpPr>
        <p:spPr>
          <a:xfrm>
            <a:off x="3703354" y="1869874"/>
            <a:ext cx="1124026" cy="255455"/>
          </a:xfrm>
          <a:prstGeom prst="rect">
            <a:avLst/>
          </a:prstGeom>
          <a:noFill/>
        </p:spPr>
        <p:txBody>
          <a:bodyPr wrap="none" rtlCol="0">
            <a:spAutoFit/>
          </a:bodyPr>
          <a:lstStyle/>
          <a:p>
            <a:pPr>
              <a:lnSpc>
                <a:spcPct val="150000"/>
              </a:lnSpc>
            </a:pPr>
            <a:r>
              <a:rPr kumimoji="1" lang="ko-KR" altLang="en-US" sz="800" dirty="0">
                <a:solidFill>
                  <a:schemeClr val="tx2">
                    <a:lumMod val="60000"/>
                    <a:lumOff val="40000"/>
                  </a:schemeClr>
                </a:solidFill>
                <a:latin typeface="Nanum Gothic" panose="020D0604000000000000" pitchFamily="34" charset="-127"/>
                <a:ea typeface="Nanum Gothic" panose="020D0604000000000000" pitchFamily="34" charset="-127"/>
              </a:rPr>
              <a:t>사업장승인요청</a:t>
            </a:r>
            <a:r>
              <a:rPr kumimoji="1" lang="en-US" altLang="ko-KR" sz="800" dirty="0">
                <a:solidFill>
                  <a:schemeClr val="tx2">
                    <a:lumMod val="60000"/>
                    <a:lumOff val="40000"/>
                  </a:schemeClr>
                </a:solidFill>
                <a:latin typeface="Nanum Gothic" panose="020D0604000000000000" pitchFamily="34" charset="-127"/>
                <a:ea typeface="Nanum Gothic" panose="020D0604000000000000" pitchFamily="34" charset="-127"/>
              </a:rPr>
              <a:t>(</a:t>
            </a:r>
            <a:r>
              <a:rPr kumimoji="1" lang="ko-KR" altLang="en-US" sz="800" dirty="0">
                <a:solidFill>
                  <a:schemeClr val="tx2">
                    <a:lumMod val="60000"/>
                    <a:lumOff val="40000"/>
                  </a:schemeClr>
                </a:solidFill>
                <a:latin typeface="Nanum Gothic" panose="020D0604000000000000" pitchFamily="34" charset="-127"/>
                <a:ea typeface="Nanum Gothic" panose="020D0604000000000000" pitchFamily="34" charset="-127"/>
              </a:rPr>
              <a:t>수동</a:t>
            </a:r>
            <a:r>
              <a:rPr kumimoji="1" lang="en-US" altLang="ko-KR" sz="800" dirty="0">
                <a:solidFill>
                  <a:schemeClr val="tx2">
                    <a:lumMod val="60000"/>
                    <a:lumOff val="40000"/>
                  </a:schemeClr>
                </a:solidFill>
                <a:latin typeface="Nanum Gothic" panose="020D0604000000000000" pitchFamily="34" charset="-127"/>
                <a:ea typeface="Nanum Gothic" panose="020D0604000000000000" pitchFamily="34" charset="-127"/>
              </a:rPr>
              <a:t>)</a:t>
            </a:r>
          </a:p>
        </p:txBody>
      </p:sp>
      <p:sp>
        <p:nvSpPr>
          <p:cNvPr id="58" name="직사각형 57"/>
          <p:cNvSpPr/>
          <p:nvPr/>
        </p:nvSpPr>
        <p:spPr>
          <a:xfrm>
            <a:off x="2771481" y="4106747"/>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61" name="직사각형 60"/>
          <p:cNvSpPr/>
          <p:nvPr/>
        </p:nvSpPr>
        <p:spPr>
          <a:xfrm>
            <a:off x="2804091" y="5939635"/>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2914563" y="5464423"/>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승인하기</a:t>
            </a:r>
          </a:p>
        </p:txBody>
      </p:sp>
      <p:sp>
        <p:nvSpPr>
          <p:cNvPr id="65" name="직사각형 64"/>
          <p:cNvSpPr/>
          <p:nvPr/>
        </p:nvSpPr>
        <p:spPr>
          <a:xfrm>
            <a:off x="3604285" y="5464423"/>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반려하기</a:t>
            </a:r>
          </a:p>
        </p:txBody>
      </p:sp>
      <p:sp>
        <p:nvSpPr>
          <p:cNvPr id="66" name="직사각형 65"/>
          <p:cNvSpPr/>
          <p:nvPr/>
        </p:nvSpPr>
        <p:spPr>
          <a:xfrm>
            <a:off x="4931136" y="4106747"/>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정산서수정</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1" name="직사각형 70"/>
          <p:cNvSpPr/>
          <p:nvPr/>
        </p:nvSpPr>
        <p:spPr>
          <a:xfrm>
            <a:off x="6251341" y="4107768"/>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3" name="직사각형 72"/>
          <p:cNvSpPr/>
          <p:nvPr/>
        </p:nvSpPr>
        <p:spPr>
          <a:xfrm>
            <a:off x="4961478" y="5949280"/>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9" name="직사각형 78"/>
          <p:cNvSpPr/>
          <p:nvPr/>
        </p:nvSpPr>
        <p:spPr>
          <a:xfrm>
            <a:off x="6628904" y="5949280"/>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81" name="직사각형 80"/>
          <p:cNvSpPr/>
          <p:nvPr/>
        </p:nvSpPr>
        <p:spPr>
          <a:xfrm>
            <a:off x="6932107" y="4106747"/>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정산완료</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82" name="TextBox 81"/>
          <p:cNvSpPr txBox="1"/>
          <p:nvPr/>
        </p:nvSpPr>
        <p:spPr>
          <a:xfrm>
            <a:off x="7314852" y="1861112"/>
            <a:ext cx="790601" cy="255455"/>
          </a:xfrm>
          <a:prstGeom prst="rect">
            <a:avLst/>
          </a:prstGeom>
          <a:noFill/>
        </p:spPr>
        <p:txBody>
          <a:bodyPr wrap="none" rtlCol="0">
            <a:spAutoFit/>
          </a:bodyPr>
          <a:lstStyle/>
          <a:p>
            <a:pPr>
              <a:lnSpc>
                <a:spcPct val="150000"/>
              </a:lnSpc>
            </a:pPr>
            <a:r>
              <a:rPr kumimoji="1" lang="ko-KR" altLang="en-US" sz="800" dirty="0" err="1">
                <a:solidFill>
                  <a:schemeClr val="tx2">
                    <a:lumMod val="60000"/>
                    <a:lumOff val="40000"/>
                  </a:schemeClr>
                </a:solidFill>
                <a:latin typeface="Nanum Gothic" panose="020D0604000000000000" pitchFamily="34" charset="-127"/>
                <a:ea typeface="Nanum Gothic" panose="020D0604000000000000" pitchFamily="34" charset="-127"/>
              </a:rPr>
              <a:t>정산완료</a:t>
            </a:r>
            <a:r>
              <a:rPr kumimoji="1" lang="ko-KR" altLang="en-US" sz="800" dirty="0">
                <a:solidFill>
                  <a:schemeClr val="tx2">
                    <a:lumMod val="60000"/>
                    <a:lumOff val="40000"/>
                  </a:schemeClr>
                </a:solidFill>
                <a:latin typeface="Nanum Gothic" panose="020D0604000000000000" pitchFamily="34" charset="-127"/>
                <a:ea typeface="Nanum Gothic" panose="020D0604000000000000" pitchFamily="34" charset="-127"/>
              </a:rPr>
              <a:t> 클릭</a:t>
            </a:r>
            <a:endParaRPr kumimoji="1" lang="en-US" altLang="ko-KR" sz="800"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83" name="직사각형 82"/>
          <p:cNvSpPr/>
          <p:nvPr/>
        </p:nvSpPr>
        <p:spPr>
          <a:xfrm>
            <a:off x="8235026" y="4129204"/>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84" name="직사각형 83"/>
          <p:cNvSpPr/>
          <p:nvPr/>
        </p:nvSpPr>
        <p:spPr>
          <a:xfrm>
            <a:off x="8309908" y="5949280"/>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85" name="TextBox 84"/>
          <p:cNvSpPr txBox="1"/>
          <p:nvPr/>
        </p:nvSpPr>
        <p:spPr>
          <a:xfrm>
            <a:off x="416496" y="1036933"/>
            <a:ext cx="2853666" cy="337015"/>
          </a:xfrm>
          <a:prstGeom prst="rect">
            <a:avLst/>
          </a:prstGeom>
          <a:noFill/>
        </p:spPr>
        <p:txBody>
          <a:bodyPr wrap="none" rtlCol="0">
            <a:spAutoFit/>
          </a:bodyPr>
          <a:lstStyle/>
          <a:p>
            <a:pPr marL="171450" indent="-171450">
              <a:lnSpc>
                <a:spcPct val="150000"/>
              </a:lnSpc>
              <a:buFont typeface="Wingdings" panose="05000000000000000000" pitchFamily="2" charset="2"/>
              <a:buChar char="v"/>
            </a:pPr>
            <a:r>
              <a:rPr kumimoji="1" lang="ko-KR" altLang="en-US" sz="1200" b="1" dirty="0" err="1">
                <a:latin typeface="Nanum Gothic" panose="020D0604000000000000" pitchFamily="34" charset="-127"/>
                <a:ea typeface="Nanum Gothic" panose="020D0604000000000000" pitchFamily="34" charset="-127"/>
              </a:rPr>
              <a:t>정산서</a:t>
            </a:r>
            <a:r>
              <a:rPr kumimoji="1" lang="ko-KR" altLang="en-US" sz="1200" b="1" dirty="0">
                <a:latin typeface="Nanum Gothic" panose="020D0604000000000000" pitchFamily="34" charset="-127"/>
                <a:ea typeface="Nanum Gothic" panose="020D0604000000000000" pitchFamily="34" charset="-127"/>
              </a:rPr>
              <a:t> </a:t>
            </a:r>
            <a:r>
              <a:rPr kumimoji="1" lang="ko-KR" altLang="en-US" sz="1200" b="1" dirty="0" err="1">
                <a:latin typeface="Nanum Gothic" panose="020D0604000000000000" pitchFamily="34" charset="-127"/>
                <a:ea typeface="Nanum Gothic" panose="020D0604000000000000" pitchFamily="34" charset="-127"/>
              </a:rPr>
              <a:t>상태별</a:t>
            </a:r>
            <a:r>
              <a:rPr kumimoji="1" lang="ko-KR" altLang="en-US" sz="1200" b="1" dirty="0">
                <a:latin typeface="Nanum Gothic" panose="020D0604000000000000" pitchFamily="34" charset="-127"/>
                <a:ea typeface="Nanum Gothic" panose="020D0604000000000000" pitchFamily="34" charset="-127"/>
              </a:rPr>
              <a:t> </a:t>
            </a:r>
            <a:r>
              <a:rPr kumimoji="1" lang="ko-KR" altLang="en-US" sz="1200" b="1" dirty="0" err="1">
                <a:latin typeface="Nanum Gothic" panose="020D0604000000000000" pitchFamily="34" charset="-127"/>
                <a:ea typeface="Nanum Gothic" panose="020D0604000000000000" pitchFamily="34" charset="-127"/>
              </a:rPr>
              <a:t>작업사항</a:t>
            </a:r>
            <a:r>
              <a:rPr kumimoji="1" lang="en-US" altLang="ko-KR" sz="1200" b="1" dirty="0">
                <a:latin typeface="Nanum Gothic" panose="020D0604000000000000" pitchFamily="34" charset="-127"/>
                <a:ea typeface="Nanum Gothic" panose="020D0604000000000000" pitchFamily="34" charset="-127"/>
              </a:rPr>
              <a:t>/</a:t>
            </a:r>
            <a:r>
              <a:rPr kumimoji="1" lang="ko-KR" altLang="en-US" sz="1200" b="1" dirty="0" err="1">
                <a:latin typeface="Nanum Gothic" panose="020D0604000000000000" pitchFamily="34" charset="-127"/>
                <a:ea typeface="Nanum Gothic" panose="020D0604000000000000" pitchFamily="34" charset="-127"/>
              </a:rPr>
              <a:t>노출버튼</a:t>
            </a:r>
            <a:r>
              <a:rPr kumimoji="1" lang="en-US" altLang="ko-KR" sz="1200" b="1" dirty="0">
                <a:latin typeface="Nanum Gothic" panose="020D0604000000000000" pitchFamily="34" charset="-127"/>
                <a:ea typeface="Nanum Gothic" panose="020D0604000000000000" pitchFamily="34" charset="-127"/>
              </a:rPr>
              <a:t> </a:t>
            </a:r>
            <a:r>
              <a:rPr kumimoji="1" lang="ko-KR" altLang="en-US" sz="1200" b="1" dirty="0">
                <a:latin typeface="Nanum Gothic" panose="020D0604000000000000" pitchFamily="34" charset="-127"/>
                <a:ea typeface="Nanum Gothic" panose="020D0604000000000000" pitchFamily="34" charset="-127"/>
              </a:rPr>
              <a:t>정책</a:t>
            </a:r>
            <a:endParaRPr kumimoji="1" lang="en-US" altLang="ko-KR" sz="1000" b="1" dirty="0">
              <a:latin typeface="Nanum Gothic" panose="020D0604000000000000" pitchFamily="34" charset="-127"/>
              <a:ea typeface="Nanum Gothic" panose="020D0604000000000000" pitchFamily="34" charset="-127"/>
            </a:endParaRPr>
          </a:p>
        </p:txBody>
      </p:sp>
      <p:sp>
        <p:nvSpPr>
          <p:cNvPr id="86" name="직사각형 85"/>
          <p:cNvSpPr/>
          <p:nvPr/>
        </p:nvSpPr>
        <p:spPr>
          <a:xfrm>
            <a:off x="2664607" y="4504819"/>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
        <p:nvSpPr>
          <p:cNvPr id="89" name="직사각형 88"/>
          <p:cNvSpPr/>
          <p:nvPr/>
        </p:nvSpPr>
        <p:spPr>
          <a:xfrm>
            <a:off x="2664607" y="4712349"/>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a:t>
            </a:r>
            <a:r>
              <a:rPr lang="ko-KR" altLang="en-US" sz="800" b="1" dirty="0" err="1">
                <a:solidFill>
                  <a:schemeClr val="tx1"/>
                </a:solidFill>
                <a:latin typeface="Nanum Gothic" panose="020D0604000000000000" pitchFamily="34" charset="-127"/>
                <a:ea typeface="Nanum Gothic" panose="020D0604000000000000" pitchFamily="34" charset="-127"/>
              </a:rPr>
              <a:t>히스토리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90" name="직사각형 89"/>
          <p:cNvSpPr/>
          <p:nvPr/>
        </p:nvSpPr>
        <p:spPr>
          <a:xfrm>
            <a:off x="4536411" y="4491221"/>
            <a:ext cx="731391"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
        <p:nvSpPr>
          <p:cNvPr id="92" name="직사각형 91"/>
          <p:cNvSpPr/>
          <p:nvPr/>
        </p:nvSpPr>
        <p:spPr>
          <a:xfrm>
            <a:off x="4536411" y="4699458"/>
            <a:ext cx="731391"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승인요청</a:t>
            </a:r>
          </a:p>
        </p:txBody>
      </p:sp>
      <p:sp>
        <p:nvSpPr>
          <p:cNvPr id="93" name="직사각형 92"/>
          <p:cNvSpPr/>
          <p:nvPr/>
        </p:nvSpPr>
        <p:spPr>
          <a:xfrm>
            <a:off x="5301729" y="4491928"/>
            <a:ext cx="731391"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업로드</a:t>
            </a:r>
          </a:p>
        </p:txBody>
      </p:sp>
      <p:sp>
        <p:nvSpPr>
          <p:cNvPr id="94" name="직사각형 93"/>
          <p:cNvSpPr/>
          <p:nvPr/>
        </p:nvSpPr>
        <p:spPr>
          <a:xfrm>
            <a:off x="5301729" y="4700165"/>
            <a:ext cx="731391"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a:t>
            </a:r>
            <a:r>
              <a:rPr lang="ko-KR" altLang="en-US" sz="800" b="1" dirty="0" err="1">
                <a:solidFill>
                  <a:schemeClr val="tx1"/>
                </a:solidFill>
                <a:latin typeface="Nanum Gothic" panose="020D0604000000000000" pitchFamily="34" charset="-127"/>
                <a:ea typeface="Nanum Gothic" panose="020D0604000000000000" pitchFamily="34" charset="-127"/>
              </a:rPr>
              <a:t>히스토리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98" name="직사각형 97"/>
          <p:cNvSpPr/>
          <p:nvPr/>
        </p:nvSpPr>
        <p:spPr>
          <a:xfrm>
            <a:off x="6492546" y="4491064"/>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
        <p:nvSpPr>
          <p:cNvPr id="99" name="직사각형 98"/>
          <p:cNvSpPr/>
          <p:nvPr/>
        </p:nvSpPr>
        <p:spPr>
          <a:xfrm>
            <a:off x="6492546" y="4698594"/>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a:t>
            </a:r>
            <a:r>
              <a:rPr lang="ko-KR" altLang="en-US" sz="800" b="1" dirty="0" err="1">
                <a:solidFill>
                  <a:schemeClr val="tx1"/>
                </a:solidFill>
                <a:latin typeface="Nanum Gothic" panose="020D0604000000000000" pitchFamily="34" charset="-127"/>
                <a:ea typeface="Nanum Gothic" panose="020D0604000000000000" pitchFamily="34" charset="-127"/>
              </a:rPr>
              <a:t>히스토리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00" name="직사각형 99"/>
          <p:cNvSpPr/>
          <p:nvPr/>
        </p:nvSpPr>
        <p:spPr>
          <a:xfrm>
            <a:off x="8170424" y="4491064"/>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
        <p:nvSpPr>
          <p:cNvPr id="101" name="직사각형 100"/>
          <p:cNvSpPr/>
          <p:nvPr/>
        </p:nvSpPr>
        <p:spPr>
          <a:xfrm>
            <a:off x="8170424" y="4698594"/>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a:t>
            </a:r>
            <a:r>
              <a:rPr lang="ko-KR" altLang="en-US" sz="800" b="1" dirty="0" err="1">
                <a:solidFill>
                  <a:schemeClr val="tx1"/>
                </a:solidFill>
                <a:latin typeface="Nanum Gothic" panose="020D0604000000000000" pitchFamily="34" charset="-127"/>
                <a:ea typeface="Nanum Gothic" panose="020D0604000000000000" pitchFamily="34" charset="-127"/>
              </a:rPr>
              <a:t>히스토리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02" name="직사각형 101"/>
          <p:cNvSpPr/>
          <p:nvPr/>
        </p:nvSpPr>
        <p:spPr>
          <a:xfrm>
            <a:off x="1971208" y="5464423"/>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
        <p:nvSpPr>
          <p:cNvPr id="103" name="직사각형 102"/>
          <p:cNvSpPr/>
          <p:nvPr/>
        </p:nvSpPr>
        <p:spPr>
          <a:xfrm>
            <a:off x="4821993" y="5464423"/>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
        <p:nvSpPr>
          <p:cNvPr id="104" name="직사각형 103"/>
          <p:cNvSpPr/>
          <p:nvPr/>
        </p:nvSpPr>
        <p:spPr>
          <a:xfrm>
            <a:off x="6492547" y="5464423"/>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
        <p:nvSpPr>
          <p:cNvPr id="105" name="직사각형 104"/>
          <p:cNvSpPr/>
          <p:nvPr/>
        </p:nvSpPr>
        <p:spPr>
          <a:xfrm>
            <a:off x="8170424" y="5464423"/>
            <a:ext cx="885375"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a:t>
            </a:r>
            <a:r>
              <a:rPr lang="ko-KR" altLang="en-US" sz="800" b="1" dirty="0">
                <a:solidFill>
                  <a:schemeClr val="tx1"/>
                </a:solidFill>
                <a:latin typeface="Nanum Gothic" panose="020D0604000000000000" pitchFamily="34" charset="-127"/>
                <a:ea typeface="Nanum Gothic" panose="020D0604000000000000" pitchFamily="34" charset="-127"/>
              </a:rPr>
              <a:t> 다운로드</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정산관리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채널정산</a:t>
            </a:r>
            <a:r>
              <a:rPr lang="ko-KR" altLang="en-US" dirty="0">
                <a:latin typeface="Nanum Gothic" panose="020D0604000000000000" pitchFamily="34" charset="-127"/>
                <a:ea typeface="Nanum Gothic" panose="020D0604000000000000" pitchFamily="34" charset="-127"/>
              </a:rPr>
              <a:t>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solidFill>
                  <a:srgbClr val="C00000"/>
                </a:solidFill>
                <a:latin typeface="Nanum Gothic" panose="020D0604000000000000" pitchFamily="34" charset="-127"/>
                <a:ea typeface="Nanum Gothic" panose="020D0604000000000000" pitchFamily="34" charset="-127"/>
              </a:rPr>
              <a:t>마스터 로그인시</a:t>
            </a:r>
            <a:r>
              <a:rPr lang="en-US" altLang="ko-KR" dirty="0">
                <a:solidFill>
                  <a:srgbClr val="C00000"/>
                </a:solidFill>
                <a:latin typeface="Nanum Gothic" panose="020D0604000000000000" pitchFamily="34" charset="-127"/>
                <a:ea typeface="Nanum Gothic" panose="020D0604000000000000" pitchFamily="34" charset="-127"/>
              </a:rPr>
              <a:t>)</a:t>
            </a:r>
            <a:endParaRPr lang="ko-KR" altLang="en-US" dirty="0">
              <a:solidFill>
                <a:srgbClr val="C00000"/>
              </a:solidFill>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471228" y="693276"/>
            <a:ext cx="598242" cy="215444"/>
          </a:xfrm>
          <a:prstGeom prst="rect">
            <a:avLst/>
          </a:prstGeom>
        </p:spPr>
        <p:txBody>
          <a:bodyPr wrap="none">
            <a:spAutoFit/>
          </a:bodyPr>
          <a:lstStyle/>
          <a:p>
            <a:pPr algn="r"/>
            <a:r>
              <a:rPr lang="ko-KR" altLang="en-US" sz="800" dirty="0" err="1">
                <a:latin typeface="Nanum Gothic" panose="020D0604000000000000" pitchFamily="34" charset="-127"/>
                <a:ea typeface="Nanum Gothic" panose="020D0604000000000000" pitchFamily="34" charset="-127"/>
              </a:rPr>
              <a:t>레저큐</a:t>
            </a:r>
            <a:r>
              <a:rPr lang="ko-KR" altLang="en-US" sz="800" dirty="0">
                <a:latin typeface="Nanum Gothic" panose="020D0604000000000000" pitchFamily="34" charset="-127"/>
                <a:ea typeface="Nanum Gothic" panose="020D0604000000000000" pitchFamily="34" charset="-127"/>
              </a:rPr>
              <a:t>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6" name="TextBox 105"/>
          <p:cNvSpPr txBox="1"/>
          <p:nvPr/>
        </p:nvSpPr>
        <p:spPr>
          <a:xfrm>
            <a:off x="1191375" y="1085116"/>
            <a:ext cx="761747"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채널정산</a:t>
            </a:r>
            <a:endParaRPr lang="ko-KR" altLang="en-US" sz="1200" b="1" dirty="0">
              <a:latin typeface="Nanum Gothic" panose="020D0604000000000000" pitchFamily="34" charset="-127"/>
              <a:ea typeface="Nanum Gothic" panose="020D0604000000000000" pitchFamily="34" charset="-127"/>
            </a:endParaRPr>
          </a:p>
        </p:txBody>
      </p:sp>
      <p:sp>
        <p:nvSpPr>
          <p:cNvPr id="119" name="TextBox 118"/>
          <p:cNvSpPr txBox="1"/>
          <p:nvPr/>
        </p:nvSpPr>
        <p:spPr>
          <a:xfrm>
            <a:off x="1191375" y="1313869"/>
            <a:ext cx="3579826"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채널사의</a:t>
            </a:r>
            <a:r>
              <a:rPr lang="ko-KR" altLang="en-US" sz="800" dirty="0">
                <a:latin typeface="Nanum Gothic" panose="020D0604000000000000" pitchFamily="34" charset="-127"/>
                <a:ea typeface="Nanum Gothic" panose="020D0604000000000000" pitchFamily="34" charset="-127"/>
              </a:rPr>
              <a:t> </a:t>
            </a:r>
            <a:r>
              <a:rPr lang="ko-KR" altLang="en-US" sz="800" dirty="0" err="1">
                <a:latin typeface="Nanum Gothic" panose="020D0604000000000000" pitchFamily="34" charset="-127"/>
                <a:ea typeface="Nanum Gothic" panose="020D0604000000000000" pitchFamily="34" charset="-127"/>
              </a:rPr>
              <a:t>정산내역을</a:t>
            </a:r>
            <a:r>
              <a:rPr lang="ko-KR" altLang="en-US" sz="800" dirty="0">
                <a:latin typeface="Nanum Gothic" panose="020D0604000000000000" pitchFamily="34" charset="-127"/>
                <a:ea typeface="Nanum Gothic" panose="020D0604000000000000" pitchFamily="34" charset="-127"/>
              </a:rPr>
              <a:t> 확인할 수 있습니다</a:t>
            </a:r>
            <a:r>
              <a:rPr lang="en-US" altLang="ko-KR" sz="800" dirty="0">
                <a:latin typeface="Nanum Gothic" panose="020D0604000000000000" pitchFamily="34" charset="-127"/>
                <a:ea typeface="Nanum Gothic" panose="020D0604000000000000" pitchFamily="34" charset="-127"/>
              </a:rPr>
              <a:t>. (</a:t>
            </a:r>
            <a:r>
              <a:rPr lang="ko-KR" altLang="en-US" sz="800" dirty="0">
                <a:latin typeface="Nanum Gothic" panose="020D0604000000000000" pitchFamily="34" charset="-127"/>
                <a:ea typeface="Nanum Gothic" panose="020D0604000000000000" pitchFamily="34" charset="-127"/>
              </a:rPr>
              <a:t>업데이트 주기 </a:t>
            </a:r>
            <a:r>
              <a:rPr lang="en-US" altLang="ko-KR" sz="800" dirty="0">
                <a:latin typeface="Nanum Gothic" panose="020D0604000000000000" pitchFamily="34" charset="-127"/>
                <a:ea typeface="Nanum Gothic" panose="020D0604000000000000" pitchFamily="34" charset="-127"/>
              </a:rPr>
              <a:t>: </a:t>
            </a:r>
            <a:r>
              <a:rPr lang="ko-KR" altLang="en-US" sz="800" dirty="0">
                <a:latin typeface="Nanum Gothic" panose="020D0604000000000000" pitchFamily="34" charset="-127"/>
                <a:ea typeface="Nanum Gothic" panose="020D0604000000000000" pitchFamily="34" charset="-127"/>
              </a:rPr>
              <a:t>매일 오전 </a:t>
            </a:r>
            <a:r>
              <a:rPr lang="en-US" altLang="ko-KR" sz="800" dirty="0">
                <a:latin typeface="Nanum Gothic" panose="020D0604000000000000" pitchFamily="34" charset="-127"/>
                <a:ea typeface="Nanum Gothic" panose="020D0604000000000000" pitchFamily="34" charset="-127"/>
              </a:rPr>
              <a:t>9</a:t>
            </a:r>
            <a:r>
              <a:rPr lang="ko-KR" altLang="en-US" sz="800" dirty="0">
                <a:latin typeface="Nanum Gothic" panose="020D0604000000000000" pitchFamily="34" charset="-127"/>
                <a:ea typeface="Nanum Gothic" panose="020D0604000000000000" pitchFamily="34" charset="-127"/>
              </a:rPr>
              <a:t>시 </a:t>
            </a:r>
            <a:r>
              <a:rPr lang="en-US" altLang="ko-KR" sz="800" dirty="0">
                <a:latin typeface="Nanum Gothic" panose="020D0604000000000000" pitchFamily="34" charset="-127"/>
                <a:ea typeface="Nanum Gothic" panose="020D0604000000000000" pitchFamily="34" charset="-127"/>
              </a:rPr>
              <a:t>1</a:t>
            </a:r>
            <a:r>
              <a:rPr lang="ko-KR" altLang="en-US" sz="800" dirty="0">
                <a:latin typeface="Nanum Gothic" panose="020D0604000000000000" pitchFamily="34" charset="-127"/>
                <a:ea typeface="Nanum Gothic" panose="020D0604000000000000" pitchFamily="34" charset="-127"/>
              </a:rPr>
              <a:t>회</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a:t>
            </a:r>
          </a:p>
        </p:txBody>
      </p:sp>
      <p:pic>
        <p:nvPicPr>
          <p:cNvPr id="44" name="그림 43"/>
          <p:cNvPicPr>
            <a:picLocks noChangeAspect="1"/>
          </p:cNvPicPr>
          <p:nvPr/>
        </p:nvPicPr>
        <p:blipFill>
          <a:blip r:embed="rId2" cstate="print"/>
          <a:stretch>
            <a:fillRect/>
          </a:stretch>
        </p:blipFill>
        <p:spPr>
          <a:xfrm>
            <a:off x="2804740" y="5709511"/>
            <a:ext cx="3000375" cy="301408"/>
          </a:xfrm>
          <a:prstGeom prst="rect">
            <a:avLst/>
          </a:prstGeom>
        </p:spPr>
      </p:pic>
      <p:sp>
        <p:nvSpPr>
          <p:cNvPr id="55" name="직사각형 54"/>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6" name="직사각형 55"/>
          <p:cNvSpPr/>
          <p:nvPr/>
        </p:nvSpPr>
        <p:spPr>
          <a:xfrm>
            <a:off x="128462" y="362586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8" name="직사각형 57"/>
          <p:cNvSpPr/>
          <p:nvPr/>
        </p:nvSpPr>
        <p:spPr>
          <a:xfrm>
            <a:off x="128461" y="464408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59" name="직사각형 58"/>
          <p:cNvSpPr/>
          <p:nvPr/>
        </p:nvSpPr>
        <p:spPr>
          <a:xfrm>
            <a:off x="128457" y="397276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1" name="직사각형 60"/>
          <p:cNvSpPr/>
          <p:nvPr/>
        </p:nvSpPr>
        <p:spPr>
          <a:xfrm>
            <a:off x="128457" y="4311737"/>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128458" y="2645211"/>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매출내역</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128461" y="2992662"/>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채널정산</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71" name="직사각형 70"/>
          <p:cNvSpPr/>
          <p:nvPr/>
        </p:nvSpPr>
        <p:spPr>
          <a:xfrm>
            <a:off x="128458" y="3335116"/>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정산현황</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graphicFrame>
        <p:nvGraphicFramePr>
          <p:cNvPr id="41" name="표 40"/>
          <p:cNvGraphicFramePr>
            <a:graphicFrameLocks noGrp="1"/>
          </p:cNvGraphicFramePr>
          <p:nvPr/>
        </p:nvGraphicFramePr>
        <p:xfrm>
          <a:off x="1267854" y="3022856"/>
          <a:ext cx="6853498" cy="934050"/>
        </p:xfrm>
        <a:graphic>
          <a:graphicData uri="http://schemas.openxmlformats.org/drawingml/2006/table">
            <a:tbl>
              <a:tblPr/>
              <a:tblGrid>
                <a:gridCol w="588802">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1260031">
                  <a:extLst>
                    <a:ext uri="{9D8B030D-6E8A-4147-A177-3AD203B41FA5}">
                      <a16:colId xmlns:a16="http://schemas.microsoft.com/office/drawing/2014/main" val="20005"/>
                    </a:ext>
                  </a:extLst>
                </a:gridCol>
                <a:gridCol w="684185">
                  <a:extLst>
                    <a:ext uri="{9D8B030D-6E8A-4147-A177-3AD203B41FA5}">
                      <a16:colId xmlns:a16="http://schemas.microsoft.com/office/drawing/2014/main" val="20006"/>
                    </a:ext>
                  </a:extLst>
                </a:gridCol>
                <a:gridCol w="648072">
                  <a:extLst>
                    <a:ext uri="{9D8B030D-6E8A-4147-A177-3AD203B41FA5}">
                      <a16:colId xmlns:a16="http://schemas.microsoft.com/office/drawing/2014/main" val="20007"/>
                    </a:ext>
                  </a:extLst>
                </a:gridCol>
                <a:gridCol w="576064">
                  <a:extLst>
                    <a:ext uri="{9D8B030D-6E8A-4147-A177-3AD203B41FA5}">
                      <a16:colId xmlns:a16="http://schemas.microsoft.com/office/drawing/2014/main" val="20008"/>
                    </a:ext>
                  </a:extLst>
                </a:gridCol>
                <a:gridCol w="720080">
                  <a:extLst>
                    <a:ext uri="{9D8B030D-6E8A-4147-A177-3AD203B41FA5}">
                      <a16:colId xmlns:a16="http://schemas.microsoft.com/office/drawing/2014/main" val="20009"/>
                    </a:ext>
                  </a:extLst>
                </a:gridCol>
              </a:tblGrid>
              <a:tr h="188241">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채널</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시설사</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정산유형</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정산차수</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marL="0" marR="0" indent="0" algn="ctr" defTabSz="914400" rtl="0" eaLnBrk="1" fontAlgn="ctr" latinLnBrk="1" hangingPunct="1">
                        <a:lnSpc>
                          <a:spcPct val="100000"/>
                        </a:lnSpc>
                        <a:spcBef>
                          <a:spcPts val="0"/>
                        </a:spcBef>
                        <a:spcAft>
                          <a:spcPts val="0"/>
                        </a:spcAft>
                        <a:buClrTx/>
                        <a:buSzTx/>
                        <a:buFontTx/>
                        <a:buNone/>
                        <a:defRPr/>
                      </a:pP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정산지급비율</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정산대상기간</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정산예상일</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판매가</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채널수수료</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채널입금가</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188241">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쿠팡</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월정산</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1</a:t>
                      </a:r>
                      <a:r>
                        <a:rPr lang="ko-KR" altLang="en-US" sz="800" dirty="0">
                          <a:solidFill>
                            <a:srgbClr val="676A6C"/>
                          </a:solidFill>
                          <a:effectLst/>
                          <a:latin typeface="Nanum Gothic" panose="020D0604000000000000" pitchFamily="34" charset="-127"/>
                          <a:ea typeface="Nanum Gothic" panose="020D0604000000000000" pitchFamily="34" charset="-127"/>
                        </a:rPr>
                        <a:t>차</a:t>
                      </a:r>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1,000,000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1,100,000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위메프</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월정산</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a:t>
                      </a:r>
                      <a:r>
                        <a:rPr lang="ko-KR" altLang="en-US" sz="800" dirty="0">
                          <a:solidFill>
                            <a:srgbClr val="676A6C"/>
                          </a:solidFill>
                          <a:effectLst/>
                          <a:latin typeface="Nanum Gothic" panose="020D0604000000000000" pitchFamily="34" charset="-127"/>
                          <a:ea typeface="Nanum Gothic" panose="020D0604000000000000" pitchFamily="34" charset="-127"/>
                        </a:rPr>
                        <a:t>차</a:t>
                      </a:r>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241">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쿠팡</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롯데월드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월정산</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1</a:t>
                      </a:r>
                      <a:r>
                        <a:rPr lang="ko-KR" altLang="en-US" sz="800" dirty="0">
                          <a:solidFill>
                            <a:srgbClr val="676A6C"/>
                          </a:solidFill>
                          <a:effectLst/>
                          <a:latin typeface="Nanum Gothic" panose="020D0604000000000000" pitchFamily="34" charset="-127"/>
                          <a:ea typeface="Nanum Gothic" panose="020D0604000000000000" pitchFamily="34" charset="-127"/>
                        </a:rPr>
                        <a:t>차</a:t>
                      </a:r>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graphicFrame>
        <p:nvGraphicFramePr>
          <p:cNvPr id="32" name="표 31"/>
          <p:cNvGraphicFramePr>
            <a:graphicFrameLocks noGrp="1"/>
          </p:cNvGraphicFramePr>
          <p:nvPr/>
        </p:nvGraphicFramePr>
        <p:xfrm>
          <a:off x="1280592" y="1634820"/>
          <a:ext cx="6048672" cy="883374"/>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4688145">
                  <a:extLst>
                    <a:ext uri="{9D8B030D-6E8A-4147-A177-3AD203B41FA5}">
                      <a16:colId xmlns:a16="http://schemas.microsoft.com/office/drawing/2014/main" val="20001"/>
                    </a:ext>
                  </a:extLst>
                </a:gridCol>
                <a:gridCol w="640447">
                  <a:extLst>
                    <a:ext uri="{9D8B030D-6E8A-4147-A177-3AD203B41FA5}">
                      <a16:colId xmlns:a16="http://schemas.microsoft.com/office/drawing/2014/main" val="20002"/>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기간</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913255"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1"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0001"/>
                  </a:ext>
                </a:extLst>
              </a:tr>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채널</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dirty="0"/>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46" name="직사각형 45"/>
          <p:cNvSpPr/>
          <p:nvPr/>
        </p:nvSpPr>
        <p:spPr>
          <a:xfrm>
            <a:off x="3099505" y="166909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2020-02-01</a:t>
            </a:r>
            <a:endParaRPr lang="ko-KR" altLang="en-US" sz="900" dirty="0">
              <a:solidFill>
                <a:schemeClr val="tx1"/>
              </a:solidFill>
            </a:endParaRPr>
          </a:p>
        </p:txBody>
      </p:sp>
      <p:pic>
        <p:nvPicPr>
          <p:cNvPr id="47"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8471" y="169643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48" name="직사각형 47"/>
          <p:cNvSpPr/>
          <p:nvPr/>
        </p:nvSpPr>
        <p:spPr>
          <a:xfrm>
            <a:off x="4105126" y="166909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2020-02-07</a:t>
            </a:r>
            <a:endParaRPr lang="ko-KR" altLang="en-US" sz="900" dirty="0">
              <a:solidFill>
                <a:schemeClr val="tx1"/>
              </a:solidFill>
            </a:endParaRPr>
          </a:p>
        </p:txBody>
      </p:sp>
      <p:pic>
        <p:nvPicPr>
          <p:cNvPr id="49"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092" y="169643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50" name="직사각형 49"/>
          <p:cNvSpPr/>
          <p:nvPr/>
        </p:nvSpPr>
        <p:spPr>
          <a:xfrm>
            <a:off x="6781836" y="1669099"/>
            <a:ext cx="524577" cy="20899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51" name="직사각형 50"/>
          <p:cNvSpPr/>
          <p:nvPr/>
        </p:nvSpPr>
        <p:spPr>
          <a:xfrm>
            <a:off x="6780157" y="1926853"/>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52" name="직사각형 51"/>
          <p:cNvSpPr/>
          <p:nvPr/>
        </p:nvSpPr>
        <p:spPr>
          <a:xfrm>
            <a:off x="2058755" y="1675210"/>
            <a:ext cx="937005" cy="202883"/>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정산예상일</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53" name="직사각형 52"/>
          <p:cNvSpPr/>
          <p:nvPr/>
        </p:nvSpPr>
        <p:spPr>
          <a:xfrm>
            <a:off x="2058755" y="1958877"/>
            <a:ext cx="1729716"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54" name="직사각형 53"/>
          <p:cNvSpPr/>
          <p:nvPr/>
        </p:nvSpPr>
        <p:spPr>
          <a:xfrm>
            <a:off x="2060279" y="2235832"/>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쿠팡</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위메프</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티몬</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60" name="직사각형 59"/>
          <p:cNvSpPr/>
          <p:nvPr/>
        </p:nvSpPr>
        <p:spPr>
          <a:xfrm>
            <a:off x="5066497"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당일</a:t>
            </a:r>
          </a:p>
        </p:txBody>
      </p:sp>
      <p:sp>
        <p:nvSpPr>
          <p:cNvPr id="64" name="직사각형 63"/>
          <p:cNvSpPr/>
          <p:nvPr/>
        </p:nvSpPr>
        <p:spPr>
          <a:xfrm>
            <a:off x="5527252"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65" name="직사각형 64"/>
          <p:cNvSpPr/>
          <p:nvPr/>
        </p:nvSpPr>
        <p:spPr>
          <a:xfrm>
            <a:off x="5989719"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graphicFrame>
        <p:nvGraphicFramePr>
          <p:cNvPr id="45" name="표 44"/>
          <p:cNvGraphicFramePr>
            <a:graphicFrameLocks noGrp="1"/>
          </p:cNvGraphicFramePr>
          <p:nvPr/>
        </p:nvGraphicFramePr>
        <p:xfrm>
          <a:off x="7453089" y="846669"/>
          <a:ext cx="2357214" cy="189504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95250" marR="0" lvl="0" indent="-952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마스터로그인시만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메뉴활성화</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되고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접근가능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95250" marR="0" lvl="0" indent="-952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채널사의</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정산 내역 크롤링해서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95250" marR="0" lvl="0" indent="-952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업데이트 주기 확정 필요</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정산예상일</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정산대상기간 기준 선택</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디폴트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정산예상일</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기간조회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당일이 디폴트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회원가입된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전체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명 노출되고 단일 선택</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전체보기가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4</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채널사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다중 선택 가능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전체가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5</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검색결과 전체 엑셀파일 다운로드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형태는 화면에서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본것과</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동일</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pic>
        <p:nvPicPr>
          <p:cNvPr id="57" name="그림 56"/>
          <p:cNvPicPr>
            <a:picLocks noChangeAspect="1"/>
          </p:cNvPicPr>
          <p:nvPr/>
        </p:nvPicPr>
        <p:blipFill>
          <a:blip r:embed="rId4" cstate="print"/>
          <a:stretch>
            <a:fillRect/>
          </a:stretch>
        </p:blipFill>
        <p:spPr>
          <a:xfrm rot="10800000" flipV="1">
            <a:off x="2497195" y="4576001"/>
            <a:ext cx="5723272" cy="133729"/>
          </a:xfrm>
          <a:prstGeom prst="rect">
            <a:avLst/>
          </a:prstGeom>
        </p:spPr>
      </p:pic>
      <p:pic>
        <p:nvPicPr>
          <p:cNvPr id="66" name="그림 65"/>
          <p:cNvPicPr>
            <a:picLocks noChangeAspect="1"/>
          </p:cNvPicPr>
          <p:nvPr/>
        </p:nvPicPr>
        <p:blipFill>
          <a:blip r:embed="rId5" cstate="print"/>
          <a:stretch>
            <a:fillRect/>
          </a:stretch>
        </p:blipFill>
        <p:spPr>
          <a:xfrm>
            <a:off x="8111952" y="3303019"/>
            <a:ext cx="108516" cy="1227588"/>
          </a:xfrm>
          <a:prstGeom prst="rect">
            <a:avLst/>
          </a:prstGeom>
        </p:spPr>
      </p:pic>
      <p:cxnSp>
        <p:nvCxnSpPr>
          <p:cNvPr id="67" name="직선 연결선[R] 66"/>
          <p:cNvCxnSpPr/>
          <p:nvPr/>
        </p:nvCxnSpPr>
        <p:spPr>
          <a:xfrm>
            <a:off x="2432720" y="2802944"/>
            <a:ext cx="2" cy="1934318"/>
          </a:xfrm>
          <a:prstGeom prst="line">
            <a:avLst/>
          </a:prstGeom>
          <a:ln w="3175">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1282261" y="4530606"/>
            <a:ext cx="2028962" cy="338554"/>
          </a:xfrm>
          <a:prstGeom prst="rect">
            <a:avLst/>
          </a:prstGeom>
          <a:noFill/>
        </p:spPr>
        <p:txBody>
          <a:bodyPr wrap="square" rtlCol="0">
            <a:spAutoFit/>
          </a:bodyPr>
          <a:lstStyle/>
          <a:p>
            <a:r>
              <a:rPr lang="ko-KR" altLang="en-US" sz="800" b="1" i="1" dirty="0" err="1">
                <a:solidFill>
                  <a:srgbClr val="C00000"/>
                </a:solidFill>
                <a:latin typeface="Nanum Gothic" panose="020D0604000000000000" pitchFamily="34" charset="-127"/>
                <a:ea typeface="Nanum Gothic" panose="020D0604000000000000" pitchFamily="34" charset="-127"/>
              </a:rPr>
              <a:t>시설사까지</a:t>
            </a:r>
            <a:r>
              <a:rPr lang="ko-KR" altLang="en-US" sz="800" b="1" i="1" dirty="0">
                <a:solidFill>
                  <a:srgbClr val="C00000"/>
                </a:solidFill>
                <a:latin typeface="Nanum Gothic" panose="020D0604000000000000" pitchFamily="34" charset="-127"/>
                <a:ea typeface="Nanum Gothic" panose="020D0604000000000000" pitchFamily="34" charset="-127"/>
              </a:rPr>
              <a:t> </a:t>
            </a:r>
            <a:endParaRPr lang="en-US" altLang="ko-KR" sz="800" b="1" i="1" dirty="0">
              <a:solidFill>
                <a:srgbClr val="C00000"/>
              </a:solidFill>
              <a:latin typeface="Nanum Gothic" panose="020D0604000000000000" pitchFamily="34" charset="-127"/>
              <a:ea typeface="Nanum Gothic" panose="020D0604000000000000" pitchFamily="34" charset="-127"/>
            </a:endParaRPr>
          </a:p>
          <a:p>
            <a:r>
              <a:rPr lang="ko-KR" altLang="en-US" sz="800" b="1" i="1" dirty="0" err="1">
                <a:solidFill>
                  <a:srgbClr val="C00000"/>
                </a:solidFill>
                <a:latin typeface="Nanum Gothic" panose="020D0604000000000000" pitchFamily="34" charset="-127"/>
                <a:ea typeface="Nanum Gothic" panose="020D0604000000000000" pitchFamily="34" charset="-127"/>
              </a:rPr>
              <a:t>가로스크롤</a:t>
            </a:r>
            <a:r>
              <a:rPr lang="ko-KR" altLang="en-US" sz="800" b="1" i="1" dirty="0">
                <a:solidFill>
                  <a:srgbClr val="C00000"/>
                </a:solidFill>
                <a:latin typeface="Nanum Gothic" panose="020D0604000000000000" pitchFamily="34" charset="-127"/>
                <a:ea typeface="Nanum Gothic" panose="020D0604000000000000" pitchFamily="34" charset="-127"/>
              </a:rPr>
              <a:t> 없이 고정</a:t>
            </a:r>
          </a:p>
        </p:txBody>
      </p:sp>
      <p:sp>
        <p:nvSpPr>
          <p:cNvPr id="69" name="TextBox 68"/>
          <p:cNvSpPr txBox="1"/>
          <p:nvPr/>
        </p:nvSpPr>
        <p:spPr>
          <a:xfrm>
            <a:off x="1226930" y="2757046"/>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70" name="직사각형 69"/>
          <p:cNvSpPr/>
          <p:nvPr/>
        </p:nvSpPr>
        <p:spPr>
          <a:xfrm>
            <a:off x="2278835" y="2765203"/>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2" name="직사각형 71"/>
          <p:cNvSpPr/>
          <p:nvPr/>
        </p:nvSpPr>
        <p:spPr>
          <a:xfrm>
            <a:off x="1678937" y="2761437"/>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73" name="타원 72"/>
          <p:cNvSpPr/>
          <p:nvPr/>
        </p:nvSpPr>
        <p:spPr>
          <a:xfrm>
            <a:off x="2004881" y="158813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75" name="직사각형 74"/>
          <p:cNvSpPr/>
          <p:nvPr/>
        </p:nvSpPr>
        <p:spPr>
          <a:xfrm>
            <a:off x="3049634" y="1575010"/>
            <a:ext cx="3487542" cy="333489"/>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
        <p:nvSpPr>
          <p:cNvPr id="74" name="타원 73"/>
          <p:cNvSpPr/>
          <p:nvPr/>
        </p:nvSpPr>
        <p:spPr>
          <a:xfrm>
            <a:off x="4127301" y="148460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77" name="타원 76"/>
          <p:cNvSpPr/>
          <p:nvPr/>
        </p:nvSpPr>
        <p:spPr>
          <a:xfrm>
            <a:off x="1227550" y="197218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
        <p:nvSpPr>
          <p:cNvPr id="78" name="타원 77"/>
          <p:cNvSpPr/>
          <p:nvPr/>
        </p:nvSpPr>
        <p:spPr>
          <a:xfrm>
            <a:off x="1223926" y="227254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4</a:t>
            </a:r>
            <a:endParaRPr lang="ko-KR" altLang="en-US" sz="900" b="1" dirty="0">
              <a:latin typeface="나눔고딕" pitchFamily="50" charset="-127"/>
              <a:ea typeface="나눔고딕" pitchFamily="50" charset="-127"/>
            </a:endParaRPr>
          </a:p>
        </p:txBody>
      </p:sp>
      <p:sp>
        <p:nvSpPr>
          <p:cNvPr id="79" name="타원 78"/>
          <p:cNvSpPr/>
          <p:nvPr/>
        </p:nvSpPr>
        <p:spPr>
          <a:xfrm>
            <a:off x="2368247" y="262370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5</a:t>
            </a:r>
            <a:endParaRPr lang="ko-KR" altLang="en-US" sz="900" b="1" dirty="0">
              <a:latin typeface="나눔고딕" pitchFamily="50" charset="-127"/>
              <a:ea typeface="나눔고딕" pitchFamily="50" charset="-127"/>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정산관리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정산현황</a:t>
            </a:r>
            <a:r>
              <a:rPr lang="ko-KR" altLang="en-US" dirty="0">
                <a:latin typeface="Nanum Gothic" panose="020D0604000000000000" pitchFamily="34" charset="-127"/>
                <a:ea typeface="Nanum Gothic" panose="020D0604000000000000" pitchFamily="34" charset="-127"/>
              </a:rPr>
              <a:t>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solidFill>
                  <a:srgbClr val="C00000"/>
                </a:solidFill>
                <a:latin typeface="Nanum Gothic" panose="020D0604000000000000" pitchFamily="34" charset="-127"/>
                <a:ea typeface="Nanum Gothic" panose="020D0604000000000000" pitchFamily="34" charset="-127"/>
              </a:rPr>
              <a:t>마스터 로그인시</a:t>
            </a:r>
            <a:r>
              <a:rPr lang="en-US" altLang="ko-KR" dirty="0">
                <a:solidFill>
                  <a:srgbClr val="C00000"/>
                </a:solidFill>
                <a:latin typeface="Nanum Gothic" panose="020D0604000000000000" pitchFamily="34" charset="-127"/>
                <a:ea typeface="Nanum Gothic" panose="020D0604000000000000" pitchFamily="34" charset="-127"/>
              </a:rPr>
              <a:t>)</a:t>
            </a:r>
            <a:endParaRPr lang="ko-KR" altLang="en-US" dirty="0">
              <a:solidFill>
                <a:srgbClr val="C00000"/>
              </a:solidFill>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471228" y="693276"/>
            <a:ext cx="598242" cy="215444"/>
          </a:xfrm>
          <a:prstGeom prst="rect">
            <a:avLst/>
          </a:prstGeom>
        </p:spPr>
        <p:txBody>
          <a:bodyPr wrap="none">
            <a:spAutoFit/>
          </a:bodyPr>
          <a:lstStyle/>
          <a:p>
            <a:pPr algn="r"/>
            <a:r>
              <a:rPr lang="ko-KR" altLang="en-US" sz="800" dirty="0" err="1">
                <a:latin typeface="Nanum Gothic" panose="020D0604000000000000" pitchFamily="34" charset="-127"/>
                <a:ea typeface="Nanum Gothic" panose="020D0604000000000000" pitchFamily="34" charset="-127"/>
              </a:rPr>
              <a:t>레저큐</a:t>
            </a:r>
            <a:r>
              <a:rPr lang="ko-KR" altLang="en-US" sz="800" dirty="0">
                <a:latin typeface="Nanum Gothic" panose="020D0604000000000000" pitchFamily="34" charset="-127"/>
                <a:ea typeface="Nanum Gothic" panose="020D0604000000000000" pitchFamily="34" charset="-127"/>
              </a:rPr>
              <a:t>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6" name="TextBox 105"/>
          <p:cNvSpPr txBox="1"/>
          <p:nvPr/>
        </p:nvSpPr>
        <p:spPr>
          <a:xfrm>
            <a:off x="1191375" y="1085116"/>
            <a:ext cx="761747"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정산현황</a:t>
            </a:r>
            <a:endParaRPr lang="ko-KR" altLang="en-US" sz="1200" b="1" dirty="0">
              <a:latin typeface="Nanum Gothic" panose="020D0604000000000000" pitchFamily="34" charset="-127"/>
              <a:ea typeface="Nanum Gothic" panose="020D0604000000000000" pitchFamily="34" charset="-127"/>
            </a:endParaRPr>
          </a:p>
        </p:txBody>
      </p:sp>
      <p:sp>
        <p:nvSpPr>
          <p:cNvPr id="119" name="TextBox 118"/>
          <p:cNvSpPr txBox="1"/>
          <p:nvPr/>
        </p:nvSpPr>
        <p:spPr>
          <a:xfrm>
            <a:off x="1191375" y="1313869"/>
            <a:ext cx="1955985"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정산서를</a:t>
            </a:r>
            <a:r>
              <a:rPr lang="ko-KR" altLang="en-US" sz="800" dirty="0">
                <a:latin typeface="Nanum Gothic" panose="020D0604000000000000" pitchFamily="34" charset="-127"/>
                <a:ea typeface="Nanum Gothic" panose="020D0604000000000000" pitchFamily="34" charset="-127"/>
              </a:rPr>
              <a:t> 확인하고 관리 할 수 있습니다</a:t>
            </a:r>
            <a:r>
              <a:rPr lang="en-US" altLang="ko-KR" sz="800" dirty="0">
                <a:latin typeface="Nanum Gothic" panose="020D0604000000000000" pitchFamily="34" charset="-127"/>
                <a:ea typeface="Nanum Gothic" panose="020D0604000000000000" pitchFamily="34" charset="-127"/>
              </a:rPr>
              <a:t>. </a:t>
            </a:r>
            <a:r>
              <a:rPr lang="ko-KR" altLang="en-US" sz="800" dirty="0">
                <a:latin typeface="Nanum Gothic" panose="020D0604000000000000" pitchFamily="34" charset="-127"/>
                <a:ea typeface="Nanum Gothic" panose="020D0604000000000000" pitchFamily="34" charset="-127"/>
              </a:rPr>
              <a:t> </a:t>
            </a:r>
          </a:p>
        </p:txBody>
      </p:sp>
      <p:graphicFrame>
        <p:nvGraphicFramePr>
          <p:cNvPr id="26" name="표 25"/>
          <p:cNvGraphicFramePr>
            <a:graphicFrameLocks noGrp="1"/>
          </p:cNvGraphicFramePr>
          <p:nvPr/>
        </p:nvGraphicFramePr>
        <p:xfrm>
          <a:off x="1280592" y="1634820"/>
          <a:ext cx="6048672" cy="85958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4688145">
                  <a:extLst>
                    <a:ext uri="{9D8B030D-6E8A-4147-A177-3AD203B41FA5}">
                      <a16:colId xmlns:a16="http://schemas.microsoft.com/office/drawing/2014/main" val="20001"/>
                    </a:ext>
                  </a:extLst>
                </a:gridCol>
                <a:gridCol w="640447">
                  <a:extLst>
                    <a:ext uri="{9D8B030D-6E8A-4147-A177-3AD203B41FA5}">
                      <a16:colId xmlns:a16="http://schemas.microsoft.com/office/drawing/2014/main" val="20002"/>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기간</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960880"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정산상태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r>
                        <a:rPr lang="ko-KR" altLang="en-US" sz="800" b="0" dirty="0">
                          <a:solidFill>
                            <a:schemeClr val="tx1"/>
                          </a:solidFill>
                          <a:latin typeface="Nanum Gothic" panose="020D0604000000000000" pitchFamily="34" charset="-127"/>
                          <a:ea typeface="Nanum Gothic" panose="020D0604000000000000" pitchFamily="34" charset="-127"/>
                        </a:rPr>
                        <a:t>● 전체     ○사업장승인대기    ○</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사업장승인거부      </a:t>
                      </a:r>
                      <a:r>
                        <a:rPr lang="ko-KR" altLang="en-US" sz="800" b="0" dirty="0">
                          <a:solidFill>
                            <a:schemeClr val="tx1"/>
                          </a:solidFill>
                          <a:latin typeface="Nanum Gothic" panose="020D0604000000000000" pitchFamily="34" charset="-127"/>
                          <a:ea typeface="Nanum Gothic" panose="020D0604000000000000" pitchFamily="34" charset="-127"/>
                        </a:rPr>
                        <a:t>○사업장승인완료      ○</a:t>
                      </a:r>
                      <a:r>
                        <a:rPr lang="ko-KR" altLang="en-US" sz="800" b="0" dirty="0" err="1">
                          <a:solidFill>
                            <a:schemeClr val="tx1"/>
                          </a:solidFill>
                          <a:latin typeface="Nanum Gothic" panose="020D0604000000000000" pitchFamily="34" charset="-127"/>
                          <a:ea typeface="Nanum Gothic" panose="020D0604000000000000" pitchFamily="34" charset="-127"/>
                        </a:rPr>
                        <a:t>정산완료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45" name="직사각형 44"/>
          <p:cNvSpPr/>
          <p:nvPr/>
        </p:nvSpPr>
        <p:spPr>
          <a:xfrm>
            <a:off x="5050017"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당일</a:t>
            </a:r>
          </a:p>
        </p:txBody>
      </p:sp>
      <p:sp>
        <p:nvSpPr>
          <p:cNvPr id="46" name="직사각형 45"/>
          <p:cNvSpPr/>
          <p:nvPr/>
        </p:nvSpPr>
        <p:spPr>
          <a:xfrm>
            <a:off x="5510772"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47" name="직사각형 46"/>
          <p:cNvSpPr/>
          <p:nvPr/>
        </p:nvSpPr>
        <p:spPr>
          <a:xfrm>
            <a:off x="5973239"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48" name="직사각형 47"/>
          <p:cNvSpPr/>
          <p:nvPr/>
        </p:nvSpPr>
        <p:spPr>
          <a:xfrm>
            <a:off x="3109748" y="166909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2020-02-01</a:t>
            </a:r>
            <a:endParaRPr lang="ko-KR" altLang="en-US" sz="900" dirty="0">
              <a:solidFill>
                <a:schemeClr val="tx1"/>
              </a:solidFill>
            </a:endParaRPr>
          </a:p>
        </p:txBody>
      </p:sp>
      <p:pic>
        <p:nvPicPr>
          <p:cNvPr id="49"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98714" y="169643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50" name="직사각형 49"/>
          <p:cNvSpPr/>
          <p:nvPr/>
        </p:nvSpPr>
        <p:spPr>
          <a:xfrm>
            <a:off x="4115369" y="166909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2020-02-29</a:t>
            </a:r>
            <a:endParaRPr lang="ko-KR" altLang="en-US" sz="900" dirty="0">
              <a:solidFill>
                <a:schemeClr val="tx1"/>
              </a:solidFill>
            </a:endParaRPr>
          </a:p>
        </p:txBody>
      </p:sp>
      <p:pic>
        <p:nvPicPr>
          <p:cNvPr id="51"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4335" y="169643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52" name="직사각형 51"/>
          <p:cNvSpPr/>
          <p:nvPr/>
        </p:nvSpPr>
        <p:spPr>
          <a:xfrm>
            <a:off x="6781836" y="1669099"/>
            <a:ext cx="524577" cy="20899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53" name="직사각형 52"/>
          <p:cNvSpPr/>
          <p:nvPr/>
        </p:nvSpPr>
        <p:spPr>
          <a:xfrm>
            <a:off x="6780157" y="1926853"/>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graphicFrame>
        <p:nvGraphicFramePr>
          <p:cNvPr id="57" name="표 56"/>
          <p:cNvGraphicFramePr>
            <a:graphicFrameLocks noGrp="1"/>
          </p:cNvGraphicFramePr>
          <p:nvPr/>
        </p:nvGraphicFramePr>
        <p:xfrm>
          <a:off x="1280592" y="2978419"/>
          <a:ext cx="8208910" cy="970513"/>
        </p:xfrm>
        <a:graphic>
          <a:graphicData uri="http://schemas.openxmlformats.org/drawingml/2006/table">
            <a:tbl>
              <a:tblPr/>
              <a:tblGrid>
                <a:gridCol w="221613">
                  <a:extLst>
                    <a:ext uri="{9D8B030D-6E8A-4147-A177-3AD203B41FA5}">
                      <a16:colId xmlns:a16="http://schemas.microsoft.com/office/drawing/2014/main" val="20000"/>
                    </a:ext>
                  </a:extLst>
                </a:gridCol>
                <a:gridCol w="714491">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1281257">
                  <a:extLst>
                    <a:ext uri="{9D8B030D-6E8A-4147-A177-3AD203B41FA5}">
                      <a16:colId xmlns:a16="http://schemas.microsoft.com/office/drawing/2014/main" val="20005"/>
                    </a:ext>
                  </a:extLst>
                </a:gridCol>
                <a:gridCol w="698970">
                  <a:extLst>
                    <a:ext uri="{9D8B030D-6E8A-4147-A177-3AD203B41FA5}">
                      <a16:colId xmlns:a16="http://schemas.microsoft.com/office/drawing/2014/main" val="20006"/>
                    </a:ext>
                  </a:extLst>
                </a:gridCol>
                <a:gridCol w="603960">
                  <a:extLst>
                    <a:ext uri="{9D8B030D-6E8A-4147-A177-3AD203B41FA5}">
                      <a16:colId xmlns:a16="http://schemas.microsoft.com/office/drawing/2014/main" val="20007"/>
                    </a:ext>
                  </a:extLst>
                </a:gridCol>
                <a:gridCol w="584646">
                  <a:extLst>
                    <a:ext uri="{9D8B030D-6E8A-4147-A177-3AD203B41FA5}">
                      <a16:colId xmlns:a16="http://schemas.microsoft.com/office/drawing/2014/main" val="20008"/>
                    </a:ext>
                  </a:extLst>
                </a:gridCol>
                <a:gridCol w="615156">
                  <a:extLst>
                    <a:ext uri="{9D8B030D-6E8A-4147-A177-3AD203B41FA5}">
                      <a16:colId xmlns:a16="http://schemas.microsoft.com/office/drawing/2014/main" val="20009"/>
                    </a:ext>
                  </a:extLst>
                </a:gridCol>
                <a:gridCol w="1025259">
                  <a:extLst>
                    <a:ext uri="{9D8B030D-6E8A-4147-A177-3AD203B41FA5}">
                      <a16:colId xmlns:a16="http://schemas.microsoft.com/office/drawing/2014/main" val="20010"/>
                    </a:ext>
                  </a:extLst>
                </a:gridCol>
                <a:gridCol w="951390">
                  <a:extLst>
                    <a:ext uri="{9D8B030D-6E8A-4147-A177-3AD203B41FA5}">
                      <a16:colId xmlns:a16="http://schemas.microsoft.com/office/drawing/2014/main" val="20011"/>
                    </a:ext>
                  </a:extLst>
                </a:gridCol>
              </a:tblGrid>
              <a:tr h="224704">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marL="0" marR="0" indent="0" algn="ctr" defTabSz="914400" rtl="0" eaLnBrk="1" fontAlgn="ctr" latinLnBrk="1" hangingPunct="1">
                        <a:lnSpc>
                          <a:spcPct val="100000"/>
                        </a:lnSpc>
                        <a:spcBef>
                          <a:spcPts val="0"/>
                        </a:spcBef>
                        <a:spcAft>
                          <a:spcPts val="0"/>
                        </a:spcAft>
                        <a:buClrTx/>
                        <a:buSzTx/>
                        <a:buFontTx/>
                        <a:buNone/>
                        <a:defRPr/>
                      </a:pP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정산상태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총판사명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시설사명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정산기간</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지급예정일</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판매가</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수수료</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정산금액</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정산서</a:t>
                      </a: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 최종 </a:t>
                      </a: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등록일시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정산서</a:t>
                      </a: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 </a:t>
                      </a: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최종등록자</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224704">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사업장</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승인대기</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레저큐</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1,320,000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2020-02-01</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system</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24704">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사업장</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승인거부</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레저큐</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롯데월드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2020-02-01</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latinLnBrk="1"/>
                      <a:r>
                        <a:rPr lang="ko-KR" altLang="en-US" sz="800" dirty="0" err="1">
                          <a:solidFill>
                            <a:srgbClr val="676A6C"/>
                          </a:solidFill>
                          <a:effectLst/>
                          <a:latin typeface="Nanum Gothic" panose="020D0604000000000000" pitchFamily="34" charset="-127"/>
                          <a:ea typeface="Nanum Gothic" panose="020D0604000000000000" pitchFamily="34" charset="-127"/>
                        </a:rPr>
                        <a:t>김관리</a:t>
                      </a:r>
                      <a:r>
                        <a:rPr lang="en-US" altLang="ko-KR" sz="800" dirty="0">
                          <a:solidFill>
                            <a:srgbClr val="676A6C"/>
                          </a:solidFill>
                          <a:effectLst/>
                          <a:latin typeface="Nanum Gothic" panose="020D0604000000000000" pitchFamily="34" charset="-127"/>
                          <a:ea typeface="Nanum Gothic" panose="020D0604000000000000" pitchFamily="34" charset="-127"/>
                        </a:rPr>
                        <a:t>(</a:t>
                      </a:r>
                      <a:r>
                        <a:rPr lang="en-US" altLang="ko-KR" sz="800" dirty="0" err="1">
                          <a:solidFill>
                            <a:srgbClr val="676A6C"/>
                          </a:solidFill>
                          <a:effectLst/>
                          <a:latin typeface="Nanum Gothic" panose="020D0604000000000000" pitchFamily="34" charset="-127"/>
                          <a:ea typeface="Nanum Gothic" panose="020D0604000000000000" pitchFamily="34" charset="-127"/>
                        </a:rPr>
                        <a:t>kimkim</a:t>
                      </a:r>
                      <a:r>
                        <a:rPr lang="en-US" altLang="ko-KR" sz="800" dirty="0">
                          <a:solidFill>
                            <a:srgbClr val="676A6C"/>
                          </a:solidFill>
                          <a:effectLst/>
                          <a:latin typeface="Nanum Gothic" panose="020D0604000000000000" pitchFamily="34" charset="-127"/>
                          <a:ea typeface="Nanum Gothic" panose="020D0604000000000000" pitchFamily="34" charset="-127"/>
                        </a:rPr>
                        <a:t>)</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24704">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사업장</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승인완료</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레저큐</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서울랜드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2020-02-01</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latinLnBrk="1"/>
                      <a:r>
                        <a:rPr lang="ko-KR" altLang="en-US" sz="800" dirty="0" err="1">
                          <a:solidFill>
                            <a:srgbClr val="676A6C"/>
                          </a:solidFill>
                          <a:effectLst/>
                          <a:latin typeface="Nanum Gothic" panose="020D0604000000000000" pitchFamily="34" charset="-127"/>
                          <a:ea typeface="Nanum Gothic" panose="020D0604000000000000" pitchFamily="34" charset="-127"/>
                        </a:rPr>
                        <a:t>김관리</a:t>
                      </a:r>
                      <a:r>
                        <a:rPr lang="en-US" altLang="ko-KR" sz="800" dirty="0">
                          <a:solidFill>
                            <a:srgbClr val="676A6C"/>
                          </a:solidFill>
                          <a:effectLst/>
                          <a:latin typeface="Nanum Gothic" panose="020D0604000000000000" pitchFamily="34" charset="-127"/>
                          <a:ea typeface="Nanum Gothic" panose="020D0604000000000000" pitchFamily="34" charset="-127"/>
                        </a:rPr>
                        <a:t>(</a:t>
                      </a:r>
                      <a:r>
                        <a:rPr lang="en-US" altLang="ko-KR" sz="800" dirty="0" err="1">
                          <a:solidFill>
                            <a:srgbClr val="676A6C"/>
                          </a:solidFill>
                          <a:effectLst/>
                          <a:latin typeface="Nanum Gothic" panose="020D0604000000000000" pitchFamily="34" charset="-127"/>
                          <a:ea typeface="Nanum Gothic" panose="020D0604000000000000" pitchFamily="34" charset="-127"/>
                        </a:rPr>
                        <a:t>kimkim</a:t>
                      </a:r>
                      <a:r>
                        <a:rPr lang="en-US" altLang="ko-KR" sz="800" dirty="0">
                          <a:solidFill>
                            <a:srgbClr val="676A6C"/>
                          </a:solidFill>
                          <a:effectLst/>
                          <a:latin typeface="Nanum Gothic" panose="020D0604000000000000" pitchFamily="34" charset="-127"/>
                          <a:ea typeface="Nanum Gothic" panose="020D0604000000000000" pitchFamily="34" charset="-127"/>
                        </a:rPr>
                        <a:t>)</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pic>
        <p:nvPicPr>
          <p:cNvPr id="44" name="그림 43"/>
          <p:cNvPicPr>
            <a:picLocks noChangeAspect="1"/>
          </p:cNvPicPr>
          <p:nvPr/>
        </p:nvPicPr>
        <p:blipFill>
          <a:blip r:embed="rId3" cstate="print"/>
          <a:stretch>
            <a:fillRect/>
          </a:stretch>
        </p:blipFill>
        <p:spPr>
          <a:xfrm>
            <a:off x="2831048" y="5503760"/>
            <a:ext cx="3000375" cy="301408"/>
          </a:xfrm>
          <a:prstGeom prst="rect">
            <a:avLst/>
          </a:prstGeom>
        </p:spPr>
      </p:pic>
      <p:sp>
        <p:nvSpPr>
          <p:cNvPr id="65" name="TextBox 64"/>
          <p:cNvSpPr txBox="1"/>
          <p:nvPr/>
        </p:nvSpPr>
        <p:spPr>
          <a:xfrm>
            <a:off x="1223926" y="2727103"/>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66" name="직사각형 65"/>
          <p:cNvSpPr/>
          <p:nvPr/>
        </p:nvSpPr>
        <p:spPr>
          <a:xfrm>
            <a:off x="1667185" y="2720490"/>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71" name="직사각형 70"/>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2" name="직사각형 71"/>
          <p:cNvSpPr/>
          <p:nvPr/>
        </p:nvSpPr>
        <p:spPr>
          <a:xfrm>
            <a:off x="128462" y="365490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3" name="직사각형 72"/>
          <p:cNvSpPr/>
          <p:nvPr/>
        </p:nvSpPr>
        <p:spPr>
          <a:xfrm>
            <a:off x="128461" y="46731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4" name="직사각형 73"/>
          <p:cNvSpPr/>
          <p:nvPr/>
        </p:nvSpPr>
        <p:spPr>
          <a:xfrm>
            <a:off x="128457" y="40018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5" name="직사각형 74"/>
          <p:cNvSpPr/>
          <p:nvPr/>
        </p:nvSpPr>
        <p:spPr>
          <a:xfrm>
            <a:off x="128457" y="43407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6" name="직사각형 75"/>
          <p:cNvSpPr/>
          <p:nvPr/>
        </p:nvSpPr>
        <p:spPr>
          <a:xfrm>
            <a:off x="128458" y="2645211"/>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매출내역</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78" name="직사각형 77"/>
          <p:cNvSpPr/>
          <p:nvPr/>
        </p:nvSpPr>
        <p:spPr>
          <a:xfrm>
            <a:off x="128458" y="2978419"/>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55" name="직사각형 54"/>
          <p:cNvSpPr/>
          <p:nvPr/>
        </p:nvSpPr>
        <p:spPr>
          <a:xfrm>
            <a:off x="1568624" y="3226356"/>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61" name="직사각형 60"/>
          <p:cNvSpPr/>
          <p:nvPr/>
        </p:nvSpPr>
        <p:spPr>
          <a:xfrm>
            <a:off x="1576691" y="3482329"/>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정산서수정</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68" name="직사각형 67"/>
          <p:cNvSpPr/>
          <p:nvPr/>
        </p:nvSpPr>
        <p:spPr>
          <a:xfrm>
            <a:off x="2058755" y="1675210"/>
            <a:ext cx="937005" cy="202883"/>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정산서등록일   ▽</a:t>
            </a:r>
          </a:p>
        </p:txBody>
      </p:sp>
      <p:sp>
        <p:nvSpPr>
          <p:cNvPr id="69" name="직사각형 68"/>
          <p:cNvSpPr/>
          <p:nvPr/>
        </p:nvSpPr>
        <p:spPr>
          <a:xfrm>
            <a:off x="2058755" y="1958877"/>
            <a:ext cx="1729716"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77" name="직사각형 76"/>
          <p:cNvSpPr/>
          <p:nvPr/>
        </p:nvSpPr>
        <p:spPr>
          <a:xfrm>
            <a:off x="128461" y="3326855"/>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정산현황</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101" name="직사각형 100"/>
          <p:cNvSpPr/>
          <p:nvPr/>
        </p:nvSpPr>
        <p:spPr>
          <a:xfrm>
            <a:off x="1576691" y="3730266"/>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02" name="직사각형 101"/>
          <p:cNvSpPr/>
          <p:nvPr/>
        </p:nvSpPr>
        <p:spPr>
          <a:xfrm>
            <a:off x="6722858" y="2738815"/>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정산완료</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03" name="직사각형 102"/>
          <p:cNvSpPr/>
          <p:nvPr/>
        </p:nvSpPr>
        <p:spPr>
          <a:xfrm>
            <a:off x="4941111" y="4105977"/>
            <a:ext cx="2609642" cy="607106"/>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lang="en-US" altLang="ko-KR" sz="900" dirty="0">
                <a:solidFill>
                  <a:schemeClr val="tx1"/>
                </a:solidFill>
                <a:latin typeface="Nanum Gothic" panose="020D0604000000000000" pitchFamily="34" charset="-127"/>
                <a:ea typeface="Nanum Gothic" panose="020D0604000000000000" pitchFamily="34" charset="-127"/>
              </a:rPr>
              <a:t>N</a:t>
            </a:r>
            <a:r>
              <a:rPr lang="ko-KR" altLang="en-US" sz="900" dirty="0">
                <a:solidFill>
                  <a:schemeClr val="tx1"/>
                </a:solidFill>
                <a:latin typeface="Nanum Gothic" panose="020D0604000000000000" pitchFamily="34" charset="-127"/>
                <a:ea typeface="Nanum Gothic" panose="020D0604000000000000" pitchFamily="34" charset="-127"/>
              </a:rPr>
              <a:t>개의 </a:t>
            </a:r>
            <a:r>
              <a:rPr lang="ko-KR" altLang="en-US" sz="900" dirty="0" err="1">
                <a:solidFill>
                  <a:schemeClr val="tx1"/>
                </a:solidFill>
                <a:latin typeface="Nanum Gothic" panose="020D0604000000000000" pitchFamily="34" charset="-127"/>
                <a:ea typeface="Nanum Gothic" panose="020D0604000000000000" pitchFamily="34" charset="-127"/>
              </a:rPr>
              <a:t>정산서를</a:t>
            </a:r>
            <a:r>
              <a:rPr lang="ko-KR" altLang="en-US" sz="900" dirty="0">
                <a:solidFill>
                  <a:schemeClr val="tx1"/>
                </a:solidFill>
                <a:latin typeface="Nanum Gothic" panose="020D0604000000000000" pitchFamily="34" charset="-127"/>
                <a:ea typeface="Nanum Gothic" panose="020D0604000000000000" pitchFamily="34" charset="-127"/>
              </a:rPr>
              <a:t> 정산완료상태로 변경합니다</a:t>
            </a:r>
            <a:r>
              <a:rPr lang="en-US" altLang="ko-KR" sz="900" dirty="0">
                <a:solidFill>
                  <a:schemeClr val="tx1"/>
                </a:solidFill>
                <a:latin typeface="Nanum Gothic" panose="020D0604000000000000" pitchFamily="34" charset="-127"/>
                <a:ea typeface="Nanum Gothic" panose="020D0604000000000000" pitchFamily="34" charset="-127"/>
              </a:rPr>
              <a:t>.</a:t>
            </a:r>
            <a:endParaRPr lang="ko-KR" altLang="en-US" sz="900" dirty="0">
              <a:solidFill>
                <a:schemeClr val="tx1"/>
              </a:solidFill>
              <a:latin typeface="Nanum Gothic" panose="020D0604000000000000" pitchFamily="34" charset="-127"/>
              <a:ea typeface="Nanum Gothic" panose="020D0604000000000000" pitchFamily="34" charset="-127"/>
            </a:endParaRPr>
          </a:p>
        </p:txBody>
      </p:sp>
      <p:sp>
        <p:nvSpPr>
          <p:cNvPr id="104" name="직사각형 103"/>
          <p:cNvSpPr/>
          <p:nvPr/>
        </p:nvSpPr>
        <p:spPr>
          <a:xfrm>
            <a:off x="5896105" y="4483455"/>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확인</a:t>
            </a:r>
          </a:p>
        </p:txBody>
      </p:sp>
      <p:cxnSp>
        <p:nvCxnSpPr>
          <p:cNvPr id="105" name="꺾인 연결선[E] 104"/>
          <p:cNvCxnSpPr>
            <a:stCxn id="102" idx="1"/>
            <a:endCxn id="103" idx="0"/>
          </p:cNvCxnSpPr>
          <p:nvPr/>
        </p:nvCxnSpPr>
        <p:spPr>
          <a:xfrm rot="10800000" flipV="1">
            <a:off x="6245932" y="2820761"/>
            <a:ext cx="476926" cy="1285216"/>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표 53"/>
          <p:cNvGraphicFramePr>
            <a:graphicFrameLocks noGrp="1"/>
          </p:cNvGraphicFramePr>
          <p:nvPr/>
        </p:nvGraphicFramePr>
        <p:xfrm>
          <a:off x="7453089" y="846669"/>
          <a:ext cx="2357214" cy="145728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95250" marR="0" lvl="0" indent="-952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마스터로그인시와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로그인시 일부 기능 및 검색결과 내역 다르게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정산서등록일</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정산기간</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지급예정일</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기준 선택</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디폴트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등록일</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기간조회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당일이 디폴트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회원가입된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전체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명 노출되고 단일 선택</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전체보기가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4</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별 조회 가능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전체가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56" name="직사각형 55"/>
          <p:cNvSpPr/>
          <p:nvPr/>
        </p:nvSpPr>
        <p:spPr>
          <a:xfrm>
            <a:off x="2278835" y="2717584"/>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pic>
        <p:nvPicPr>
          <p:cNvPr id="59" name="그림 58"/>
          <p:cNvPicPr>
            <a:picLocks noChangeAspect="1"/>
          </p:cNvPicPr>
          <p:nvPr/>
        </p:nvPicPr>
        <p:blipFill>
          <a:blip r:embed="rId4" cstate="print"/>
          <a:stretch>
            <a:fillRect/>
          </a:stretch>
        </p:blipFill>
        <p:spPr>
          <a:xfrm rot="10800000" flipV="1">
            <a:off x="3861222" y="4734833"/>
            <a:ext cx="5723272" cy="133729"/>
          </a:xfrm>
          <a:prstGeom prst="rect">
            <a:avLst/>
          </a:prstGeom>
        </p:spPr>
      </p:pic>
      <p:pic>
        <p:nvPicPr>
          <p:cNvPr id="60" name="그림 59"/>
          <p:cNvPicPr>
            <a:picLocks noChangeAspect="1"/>
          </p:cNvPicPr>
          <p:nvPr/>
        </p:nvPicPr>
        <p:blipFill>
          <a:blip r:embed="rId5" cstate="print"/>
          <a:stretch>
            <a:fillRect/>
          </a:stretch>
        </p:blipFill>
        <p:spPr>
          <a:xfrm>
            <a:off x="9475979" y="3461851"/>
            <a:ext cx="108516" cy="1227588"/>
          </a:xfrm>
          <a:prstGeom prst="rect">
            <a:avLst/>
          </a:prstGeom>
        </p:spPr>
      </p:pic>
      <p:cxnSp>
        <p:nvCxnSpPr>
          <p:cNvPr id="62" name="직선 연결선[R] 61"/>
          <p:cNvCxnSpPr/>
          <p:nvPr/>
        </p:nvCxnSpPr>
        <p:spPr>
          <a:xfrm>
            <a:off x="3723076" y="2922275"/>
            <a:ext cx="2" cy="1934318"/>
          </a:xfrm>
          <a:prstGeom prst="line">
            <a:avLst/>
          </a:prstGeom>
          <a:ln w="3175">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1490562" y="4713083"/>
            <a:ext cx="2028962" cy="215444"/>
          </a:xfrm>
          <a:prstGeom prst="rect">
            <a:avLst/>
          </a:prstGeom>
          <a:noFill/>
        </p:spPr>
        <p:txBody>
          <a:bodyPr wrap="square" rtlCol="0">
            <a:spAutoFit/>
          </a:bodyPr>
          <a:lstStyle/>
          <a:p>
            <a:r>
              <a:rPr lang="ko-KR" altLang="en-US" sz="800" b="1" i="1" dirty="0" err="1">
                <a:solidFill>
                  <a:srgbClr val="C00000"/>
                </a:solidFill>
                <a:latin typeface="Nanum Gothic" panose="020D0604000000000000" pitchFamily="34" charset="-127"/>
                <a:ea typeface="Nanum Gothic" panose="020D0604000000000000" pitchFamily="34" charset="-127"/>
              </a:rPr>
              <a:t>시설사명</a:t>
            </a:r>
            <a:r>
              <a:rPr lang="ko-KR" altLang="en-US" sz="800" b="1" i="1" dirty="0">
                <a:solidFill>
                  <a:srgbClr val="C00000"/>
                </a:solidFill>
                <a:latin typeface="Nanum Gothic" panose="020D0604000000000000" pitchFamily="34" charset="-127"/>
                <a:ea typeface="Nanum Gothic" panose="020D0604000000000000" pitchFamily="34" charset="-127"/>
              </a:rPr>
              <a:t> 까지 </a:t>
            </a:r>
            <a:r>
              <a:rPr lang="ko-KR" altLang="en-US" sz="800" b="1" i="1" dirty="0" err="1">
                <a:solidFill>
                  <a:srgbClr val="C00000"/>
                </a:solidFill>
                <a:latin typeface="Nanum Gothic" panose="020D0604000000000000" pitchFamily="34" charset="-127"/>
                <a:ea typeface="Nanum Gothic" panose="020D0604000000000000" pitchFamily="34" charset="-127"/>
              </a:rPr>
              <a:t>가로스크롤</a:t>
            </a:r>
            <a:r>
              <a:rPr lang="ko-KR" altLang="en-US" sz="800" b="1" i="1" dirty="0">
                <a:solidFill>
                  <a:srgbClr val="C00000"/>
                </a:solidFill>
                <a:latin typeface="Nanum Gothic" panose="020D0604000000000000" pitchFamily="34" charset="-127"/>
                <a:ea typeface="Nanum Gothic" panose="020D0604000000000000" pitchFamily="34" charset="-127"/>
              </a:rPr>
              <a:t> 없이 고정</a:t>
            </a:r>
          </a:p>
        </p:txBody>
      </p:sp>
      <p:sp>
        <p:nvSpPr>
          <p:cNvPr id="64" name="타원 63"/>
          <p:cNvSpPr/>
          <p:nvPr/>
        </p:nvSpPr>
        <p:spPr>
          <a:xfrm>
            <a:off x="2004881" y="158813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67" name="직사각형 66"/>
          <p:cNvSpPr/>
          <p:nvPr/>
        </p:nvSpPr>
        <p:spPr>
          <a:xfrm>
            <a:off x="3049634" y="1575010"/>
            <a:ext cx="3487542" cy="333489"/>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sp>
        <p:nvSpPr>
          <p:cNvPr id="70" name="타원 69"/>
          <p:cNvSpPr/>
          <p:nvPr/>
        </p:nvSpPr>
        <p:spPr>
          <a:xfrm>
            <a:off x="4127301" y="148460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79" name="타원 78"/>
          <p:cNvSpPr/>
          <p:nvPr/>
        </p:nvSpPr>
        <p:spPr>
          <a:xfrm>
            <a:off x="1227550" y="1972187"/>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
        <p:nvSpPr>
          <p:cNvPr id="80" name="타원 79"/>
          <p:cNvSpPr/>
          <p:nvPr/>
        </p:nvSpPr>
        <p:spPr>
          <a:xfrm>
            <a:off x="1223926" y="227254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4</a:t>
            </a:r>
            <a:endParaRPr lang="ko-KR" altLang="en-US" sz="900" b="1" dirty="0">
              <a:latin typeface="나눔고딕" pitchFamily="50" charset="-127"/>
              <a:ea typeface="나눔고딕" pitchFamily="50" charset="-127"/>
            </a:endParaRPr>
          </a:p>
        </p:txBody>
      </p:sp>
      <p:sp>
        <p:nvSpPr>
          <p:cNvPr id="81" name="타원 80"/>
          <p:cNvSpPr/>
          <p:nvPr/>
        </p:nvSpPr>
        <p:spPr>
          <a:xfrm>
            <a:off x="2504471" y="2560539"/>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5</a:t>
            </a:r>
            <a:endParaRPr lang="ko-KR" altLang="en-US" sz="900" b="1" dirty="0">
              <a:latin typeface="나눔고딕" pitchFamily="50" charset="-127"/>
              <a:ea typeface="나눔고딕" pitchFamily="50" charset="-127"/>
            </a:endParaRPr>
          </a:p>
        </p:txBody>
      </p:sp>
      <p:graphicFrame>
        <p:nvGraphicFramePr>
          <p:cNvPr id="4" name="표 3"/>
          <p:cNvGraphicFramePr>
            <a:graphicFrameLocks noGrp="1"/>
          </p:cNvGraphicFramePr>
          <p:nvPr/>
        </p:nvGraphicFramePr>
        <p:xfrm>
          <a:off x="7492330" y="5016395"/>
          <a:ext cx="2357214" cy="143520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5</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검색결과 전체 엑셀파일 다운로드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형태는 화면에서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본것과</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동일</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6</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수승인거부시에만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수정 버튼으로 노출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상세 보기 페이지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현재창</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전환되고 수정 처리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그외</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나머지 상태에는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정산서보기</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버튼으로 노출되고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전산서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상세 보기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페이지연결</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시 수정 처리 불가</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7</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사업장승인완료된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경우만 선택해서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정산완료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처리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82" name="타원 81"/>
          <p:cNvSpPr/>
          <p:nvPr/>
        </p:nvSpPr>
        <p:spPr>
          <a:xfrm>
            <a:off x="1527499" y="312235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6</a:t>
            </a:r>
            <a:endParaRPr lang="ko-KR" altLang="en-US" sz="900" b="1" dirty="0">
              <a:latin typeface="나눔고딕" pitchFamily="50" charset="-127"/>
              <a:ea typeface="나눔고딕" pitchFamily="50" charset="-127"/>
            </a:endParaRPr>
          </a:p>
        </p:txBody>
      </p:sp>
      <p:sp>
        <p:nvSpPr>
          <p:cNvPr id="83" name="타원 82"/>
          <p:cNvSpPr/>
          <p:nvPr/>
        </p:nvSpPr>
        <p:spPr>
          <a:xfrm>
            <a:off x="1426546" y="346021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7</a:t>
            </a:r>
            <a:endParaRPr lang="ko-KR" altLang="en-US" sz="900" b="1" dirty="0">
              <a:latin typeface="나눔고딕" pitchFamily="50" charset="-127"/>
              <a:ea typeface="나눔고딕" pitchFamily="50" charset="-127"/>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 name="표 52"/>
          <p:cNvGraphicFramePr>
            <a:graphicFrameLocks noGrp="1"/>
          </p:cNvGraphicFramePr>
          <p:nvPr/>
        </p:nvGraphicFramePr>
        <p:xfrm>
          <a:off x="7453089" y="836962"/>
          <a:ext cx="2357214" cy="18729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상태에 상관없이 마스터</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공통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현재 보고 있는 화면 엑셀로 다운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 로그인시</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사업자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승인거부시</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만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 로그인시</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사업자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승인거부시</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만 노출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화면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새로고침</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되고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해당버튼과</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2</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번</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정산서업로드</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버튼 모두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미노출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4</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로그인시만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정산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변경이력</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레이어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히스토리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최신순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나열</a:t>
                      </a:r>
                      <a:endParaRPr lang="en-US" altLang="ko-KR" sz="800" b="0" baseline="0" dirty="0">
                        <a:solidFill>
                          <a:srgbClr val="C00000"/>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정산관리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정산현황</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정산서</a:t>
            </a:r>
            <a:r>
              <a:rPr lang="ko-KR" altLang="en-US" dirty="0">
                <a:latin typeface="Nanum Gothic" panose="020D0604000000000000" pitchFamily="34" charset="-127"/>
                <a:ea typeface="Nanum Gothic" panose="020D0604000000000000" pitchFamily="34" charset="-127"/>
              </a:rPr>
              <a:t>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solidFill>
                  <a:srgbClr val="C00000"/>
                </a:solidFill>
                <a:latin typeface="Nanum Gothic" panose="020D0604000000000000" pitchFamily="34" charset="-127"/>
                <a:ea typeface="Nanum Gothic" panose="020D0604000000000000" pitchFamily="34" charset="-127"/>
              </a:rPr>
              <a:t>마스터 로그인시</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a:t>
            </a: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6" name="TextBox 105"/>
          <p:cNvSpPr txBox="1"/>
          <p:nvPr/>
        </p:nvSpPr>
        <p:spPr>
          <a:xfrm>
            <a:off x="1191375" y="1085116"/>
            <a:ext cx="1366080"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정산현황</a:t>
            </a:r>
            <a:r>
              <a:rPr lang="ko-KR" altLang="en-US" sz="1200" b="1" dirty="0">
                <a:latin typeface="Nanum Gothic" panose="020D0604000000000000" pitchFamily="34" charset="-127"/>
                <a:ea typeface="Nanum Gothic" panose="020D0604000000000000" pitchFamily="34" charset="-127"/>
              </a:rPr>
              <a:t> </a:t>
            </a:r>
            <a:r>
              <a:rPr lang="en-US" altLang="ko-KR" sz="1200" b="1" dirty="0">
                <a:latin typeface="Nanum Gothic" panose="020D0604000000000000" pitchFamily="34" charset="-127"/>
                <a:ea typeface="Nanum Gothic" panose="020D0604000000000000" pitchFamily="34" charset="-127"/>
              </a:rPr>
              <a:t>&gt;</a:t>
            </a:r>
            <a:r>
              <a:rPr lang="ko-KR" altLang="en-US" sz="1200" b="1" dirty="0">
                <a:latin typeface="Nanum Gothic" panose="020D0604000000000000" pitchFamily="34" charset="-127"/>
                <a:ea typeface="Nanum Gothic" panose="020D0604000000000000" pitchFamily="34" charset="-127"/>
              </a:rPr>
              <a:t> </a:t>
            </a:r>
            <a:r>
              <a:rPr lang="ko-KR" altLang="en-US" sz="1200" b="1" dirty="0" err="1">
                <a:latin typeface="Nanum Gothic" panose="020D0604000000000000" pitchFamily="34" charset="-127"/>
                <a:ea typeface="Nanum Gothic" panose="020D0604000000000000" pitchFamily="34" charset="-127"/>
              </a:rPr>
              <a:t>정산서</a:t>
            </a:r>
            <a:endParaRPr lang="ko-KR" altLang="en-US" sz="1200" b="1" dirty="0">
              <a:latin typeface="Nanum Gothic" panose="020D0604000000000000" pitchFamily="34" charset="-127"/>
              <a:ea typeface="Nanum Gothic" panose="020D0604000000000000" pitchFamily="34" charset="-127"/>
            </a:endParaRPr>
          </a:p>
        </p:txBody>
      </p:sp>
      <p:sp>
        <p:nvSpPr>
          <p:cNvPr id="119" name="TextBox 118"/>
          <p:cNvSpPr txBox="1"/>
          <p:nvPr/>
        </p:nvSpPr>
        <p:spPr>
          <a:xfrm>
            <a:off x="1191375" y="1313869"/>
            <a:ext cx="1455848"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정산상세내역이 보여집니다</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a:t>
            </a:r>
          </a:p>
        </p:txBody>
      </p:sp>
      <p:graphicFrame>
        <p:nvGraphicFramePr>
          <p:cNvPr id="3" name="표 2"/>
          <p:cNvGraphicFramePr>
            <a:graphicFrameLocks noGrp="1"/>
          </p:cNvGraphicFramePr>
          <p:nvPr/>
        </p:nvGraphicFramePr>
        <p:xfrm>
          <a:off x="1267854" y="2936650"/>
          <a:ext cx="6049874" cy="1543198"/>
        </p:xfrm>
        <a:graphic>
          <a:graphicData uri="http://schemas.openxmlformats.org/drawingml/2006/table">
            <a:tbl>
              <a:tblPr/>
              <a:tblGrid>
                <a:gridCol w="483793">
                  <a:extLst>
                    <a:ext uri="{9D8B030D-6E8A-4147-A177-3AD203B41FA5}">
                      <a16:colId xmlns:a16="http://schemas.microsoft.com/office/drawing/2014/main" val="20000"/>
                    </a:ext>
                  </a:extLst>
                </a:gridCol>
                <a:gridCol w="409331">
                  <a:extLst>
                    <a:ext uri="{9D8B030D-6E8A-4147-A177-3AD203B41FA5}">
                      <a16:colId xmlns:a16="http://schemas.microsoft.com/office/drawing/2014/main" val="20001"/>
                    </a:ext>
                  </a:extLst>
                </a:gridCol>
                <a:gridCol w="1375580">
                  <a:extLst>
                    <a:ext uri="{9D8B030D-6E8A-4147-A177-3AD203B41FA5}">
                      <a16:colId xmlns:a16="http://schemas.microsoft.com/office/drawing/2014/main" val="20002"/>
                    </a:ext>
                  </a:extLst>
                </a:gridCol>
                <a:gridCol w="756234">
                  <a:extLst>
                    <a:ext uri="{9D8B030D-6E8A-4147-A177-3AD203B41FA5}">
                      <a16:colId xmlns:a16="http://schemas.microsoft.com/office/drawing/2014/main" val="20003"/>
                    </a:ext>
                  </a:extLst>
                </a:gridCol>
                <a:gridCol w="756234">
                  <a:extLst>
                    <a:ext uri="{9D8B030D-6E8A-4147-A177-3AD203B41FA5}">
                      <a16:colId xmlns:a16="http://schemas.microsoft.com/office/drawing/2014/main" val="20004"/>
                    </a:ext>
                  </a:extLst>
                </a:gridCol>
                <a:gridCol w="756234">
                  <a:extLst>
                    <a:ext uri="{9D8B030D-6E8A-4147-A177-3AD203B41FA5}">
                      <a16:colId xmlns:a16="http://schemas.microsoft.com/office/drawing/2014/main" val="20005"/>
                    </a:ext>
                  </a:extLst>
                </a:gridCol>
                <a:gridCol w="756234">
                  <a:extLst>
                    <a:ext uri="{9D8B030D-6E8A-4147-A177-3AD203B41FA5}">
                      <a16:colId xmlns:a16="http://schemas.microsoft.com/office/drawing/2014/main" val="20006"/>
                    </a:ext>
                  </a:extLst>
                </a:gridCol>
                <a:gridCol w="756234">
                  <a:extLst>
                    <a:ext uri="{9D8B030D-6E8A-4147-A177-3AD203B41FA5}">
                      <a16:colId xmlns:a16="http://schemas.microsoft.com/office/drawing/2014/main" val="20007"/>
                    </a:ext>
                  </a:extLst>
                </a:gridCol>
              </a:tblGrid>
              <a:tr h="0">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구분</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채널</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상품명</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a:solidFill>
                            <a:schemeClr val="tx1"/>
                          </a:solidFill>
                          <a:effectLst/>
                          <a:latin typeface="Nanum Gothic" panose="020D0604000000000000" pitchFamily="34" charset="-127"/>
                          <a:ea typeface="Nanum Gothic" panose="020D0604000000000000" pitchFamily="34" charset="-127"/>
                        </a:rPr>
                        <a:t>단가</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a:solidFill>
                            <a:schemeClr val="tx1"/>
                          </a:solidFill>
                          <a:effectLst/>
                          <a:latin typeface="Nanum Gothic" panose="020D0604000000000000" pitchFamily="34" charset="-127"/>
                          <a:ea typeface="Nanum Gothic" panose="020D0604000000000000" pitchFamily="34" charset="-127"/>
                        </a:rPr>
                        <a:t>수량</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판매가</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공급가</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수수료</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gridSpan="4">
                  <a:txBody>
                    <a:bodyPr/>
                    <a:lstStyle/>
                    <a:p>
                      <a:pPr algn="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합계</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rgbClr val="E7E7E7"/>
                      </a:solidFill>
                      <a:prstDash val="solid"/>
                      <a:round/>
                      <a:headEnd type="none" w="med" len="med"/>
                      <a:tailEnd type="none" w="med" len="med"/>
                    </a:lnL>
                    <a:lnT w="9525" cap="flat" cmpd="sng" algn="ctr">
                      <a:solidFill>
                        <a:srgbClr val="E7EAEC"/>
                      </a:solidFill>
                      <a:prstDash val="solid"/>
                      <a:round/>
                      <a:headEnd type="none" w="med" len="med"/>
                      <a:tailEnd type="none" w="med" len="med"/>
                    </a:lnT>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429</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4,037,200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3,350,876</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686,324</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352914">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err="1">
                          <a:solidFill>
                            <a:srgbClr val="676A6C"/>
                          </a:solidFill>
                          <a:effectLst/>
                          <a:latin typeface="Nanum Gothic" panose="020D0604000000000000" pitchFamily="34" charset="-127"/>
                          <a:ea typeface="Nanum Gothic" panose="020D0604000000000000" pitchFamily="34" charset="-127"/>
                        </a:rPr>
                        <a:t>쿠팡</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01.</a:t>
                      </a:r>
                      <a:r>
                        <a:rPr lang="ko-KR" altLang="en-US" sz="800">
                          <a:solidFill>
                            <a:srgbClr val="676A6C"/>
                          </a:solidFill>
                          <a:effectLst/>
                          <a:latin typeface="Nanum Gothic" panose="020D0604000000000000" pitchFamily="34" charset="-127"/>
                          <a:ea typeface="Nanum Gothic" panose="020D0604000000000000" pitchFamily="34" charset="-127"/>
                        </a:rPr>
                        <a:t>장비 </a:t>
                      </a:r>
                      <a:r>
                        <a:rPr lang="en-US" altLang="ko-KR" sz="800">
                          <a:solidFill>
                            <a:srgbClr val="676A6C"/>
                          </a:solidFill>
                          <a:effectLst/>
                          <a:latin typeface="Nanum Gothic" panose="020D0604000000000000" pitchFamily="34" charset="-127"/>
                          <a:ea typeface="Nanum Gothic" panose="020D0604000000000000" pitchFamily="34" charset="-127"/>
                        </a:rPr>
                        <a:t>2</a:t>
                      </a:r>
                      <a:r>
                        <a:rPr lang="ko-KR" altLang="en-US" sz="800">
                          <a:solidFill>
                            <a:srgbClr val="676A6C"/>
                          </a:solidFill>
                          <a:effectLst/>
                          <a:latin typeface="Nanum Gothic" panose="020D0604000000000000" pitchFamily="34" charset="-127"/>
                          <a:ea typeface="Nanum Gothic" panose="020D0604000000000000" pitchFamily="34" charset="-127"/>
                        </a:rPr>
                        <a:t>타임</a:t>
                      </a:r>
                      <a:r>
                        <a:rPr lang="en-US" altLang="ko-KR" sz="800">
                          <a:solidFill>
                            <a:srgbClr val="676A6C"/>
                          </a:solidFill>
                          <a:effectLst/>
                          <a:latin typeface="Nanum Gothic" panose="020D0604000000000000" pitchFamily="34" charset="-127"/>
                          <a:ea typeface="Nanum Gothic" panose="020D0604000000000000" pitchFamily="34" charset="-127"/>
                        </a:rPr>
                        <a:t>(8</a:t>
                      </a:r>
                      <a:r>
                        <a:rPr lang="ko-KR" altLang="en-US" sz="800">
                          <a:solidFill>
                            <a:srgbClr val="676A6C"/>
                          </a:solidFill>
                          <a:effectLst/>
                          <a:latin typeface="Nanum Gothic" panose="020D0604000000000000" pitchFamily="34" charset="-127"/>
                          <a:ea typeface="Nanum Gothic" panose="020D0604000000000000" pitchFamily="34" charset="-127"/>
                        </a:rPr>
                        <a:t>시간</a:t>
                      </a:r>
                      <a:r>
                        <a:rPr lang="en-US" altLang="ko-KR" sz="800">
                          <a:solidFill>
                            <a:srgbClr val="676A6C"/>
                          </a:solidFill>
                          <a:effectLst/>
                          <a:latin typeface="Nanum Gothic" panose="020D0604000000000000" pitchFamily="34" charset="-127"/>
                          <a:ea typeface="Nanum Gothic" panose="020D0604000000000000" pitchFamily="34" charset="-127"/>
                        </a:rPr>
                        <a:t>) - </a:t>
                      </a:r>
                      <a:r>
                        <a:rPr lang="ko-KR" altLang="en-US" sz="800">
                          <a:solidFill>
                            <a:srgbClr val="676A6C"/>
                          </a:solidFill>
                          <a:effectLst/>
                          <a:latin typeface="Nanum Gothic" panose="020D0604000000000000" pitchFamily="34" charset="-127"/>
                          <a:ea typeface="Nanum Gothic" panose="020D0604000000000000" pitchFamily="34" charset="-127"/>
                        </a:rPr>
                        <a:t>스키</a:t>
                      </a:r>
                      <a:r>
                        <a:rPr lang="en-US" sz="800">
                          <a:solidFill>
                            <a:srgbClr val="676A6C"/>
                          </a:solidFill>
                          <a:effectLst/>
                          <a:latin typeface="Nanum Gothic" panose="020D0604000000000000" pitchFamily="34" charset="-127"/>
                          <a:ea typeface="Nanum Gothic" panose="020D0604000000000000" pitchFamily="34" charset="-127"/>
                        </a:rPr>
                        <a:t>or</a:t>
                      </a:r>
                      <a:r>
                        <a:rPr lang="ko-KR" altLang="en-US" sz="800">
                          <a:solidFill>
                            <a:srgbClr val="676A6C"/>
                          </a:solidFill>
                          <a:effectLst/>
                          <a:latin typeface="Nanum Gothic" panose="020D0604000000000000" pitchFamily="34" charset="-127"/>
                          <a:ea typeface="Nanum Gothic" panose="020D0604000000000000" pitchFamily="34" charset="-127"/>
                        </a:rPr>
                        <a:t>보드 </a:t>
                      </a:r>
                      <a:r>
                        <a:rPr lang="en-US" altLang="ko-KR" sz="800">
                          <a:solidFill>
                            <a:srgbClr val="676A6C"/>
                          </a:solidFill>
                          <a:effectLst/>
                          <a:latin typeface="Nanum Gothic" panose="020D0604000000000000" pitchFamily="34" charset="-127"/>
                          <a:ea typeface="Nanum Gothic" panose="020D0604000000000000" pitchFamily="34" charset="-127"/>
                        </a:rPr>
                        <a:t>- (</a:t>
                      </a:r>
                      <a:r>
                        <a:rPr lang="ko-KR" altLang="en-US" sz="800">
                          <a:solidFill>
                            <a:srgbClr val="676A6C"/>
                          </a:solidFill>
                          <a:effectLst/>
                          <a:latin typeface="Nanum Gothic" panose="020D0604000000000000" pitchFamily="34" charset="-127"/>
                          <a:ea typeface="Nanum Gothic" panose="020D0604000000000000" pitchFamily="34" charset="-127"/>
                        </a:rPr>
                        <a:t>월</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금</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주중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17</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170,000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141,100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28,900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22530">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err="1">
                          <a:solidFill>
                            <a:srgbClr val="676A6C"/>
                          </a:solidFill>
                          <a:effectLst/>
                          <a:latin typeface="Nanum Gothic" panose="020D0604000000000000" pitchFamily="34" charset="-127"/>
                          <a:ea typeface="Nanum Gothic" panose="020D0604000000000000" pitchFamily="34" charset="-127"/>
                        </a:rPr>
                        <a:t>쿠팡</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02.</a:t>
                      </a:r>
                      <a:r>
                        <a:rPr lang="ko-KR" altLang="en-US" sz="800">
                          <a:solidFill>
                            <a:srgbClr val="676A6C"/>
                          </a:solidFill>
                          <a:effectLst/>
                          <a:latin typeface="Nanum Gothic" panose="020D0604000000000000" pitchFamily="34" charset="-127"/>
                          <a:ea typeface="Nanum Gothic" panose="020D0604000000000000" pitchFamily="34" charset="-127"/>
                        </a:rPr>
                        <a:t>장비 </a:t>
                      </a:r>
                      <a:r>
                        <a:rPr lang="en-US" altLang="ko-KR" sz="800">
                          <a:solidFill>
                            <a:srgbClr val="676A6C"/>
                          </a:solidFill>
                          <a:effectLst/>
                          <a:latin typeface="Nanum Gothic" panose="020D0604000000000000" pitchFamily="34" charset="-127"/>
                          <a:ea typeface="Nanum Gothic" panose="020D0604000000000000" pitchFamily="34" charset="-127"/>
                        </a:rPr>
                        <a:t>1</a:t>
                      </a:r>
                      <a:r>
                        <a:rPr lang="ko-KR" altLang="en-US" sz="800">
                          <a:solidFill>
                            <a:srgbClr val="676A6C"/>
                          </a:solidFill>
                          <a:effectLst/>
                          <a:latin typeface="Nanum Gothic" panose="020D0604000000000000" pitchFamily="34" charset="-127"/>
                          <a:ea typeface="Nanum Gothic" panose="020D0604000000000000" pitchFamily="34" charset="-127"/>
                        </a:rPr>
                        <a:t>타임</a:t>
                      </a:r>
                      <a:r>
                        <a:rPr lang="en-US" altLang="ko-KR" sz="800">
                          <a:solidFill>
                            <a:srgbClr val="676A6C"/>
                          </a:solidFill>
                          <a:effectLst/>
                          <a:latin typeface="Nanum Gothic" panose="020D0604000000000000" pitchFamily="34" charset="-127"/>
                          <a:ea typeface="Nanum Gothic" panose="020D0604000000000000" pitchFamily="34" charset="-127"/>
                        </a:rPr>
                        <a:t>(4</a:t>
                      </a:r>
                      <a:r>
                        <a:rPr lang="ko-KR" altLang="en-US" sz="800">
                          <a:solidFill>
                            <a:srgbClr val="676A6C"/>
                          </a:solidFill>
                          <a:effectLst/>
                          <a:latin typeface="Nanum Gothic" panose="020D0604000000000000" pitchFamily="34" charset="-127"/>
                          <a:ea typeface="Nanum Gothic" panose="020D0604000000000000" pitchFamily="34" charset="-127"/>
                        </a:rPr>
                        <a:t>시간</a:t>
                      </a:r>
                      <a:r>
                        <a:rPr lang="en-US" altLang="ko-KR" sz="800">
                          <a:solidFill>
                            <a:srgbClr val="676A6C"/>
                          </a:solidFill>
                          <a:effectLst/>
                          <a:latin typeface="Nanum Gothic" panose="020D0604000000000000" pitchFamily="34" charset="-127"/>
                          <a:ea typeface="Nanum Gothic" panose="020D0604000000000000" pitchFamily="34" charset="-127"/>
                        </a:rPr>
                        <a:t>) - </a:t>
                      </a:r>
                      <a:r>
                        <a:rPr lang="ko-KR" altLang="en-US" sz="800">
                          <a:solidFill>
                            <a:srgbClr val="676A6C"/>
                          </a:solidFill>
                          <a:effectLst/>
                          <a:latin typeface="Nanum Gothic" panose="020D0604000000000000" pitchFamily="34" charset="-127"/>
                          <a:ea typeface="Nanum Gothic" panose="020D0604000000000000" pitchFamily="34" charset="-127"/>
                        </a:rPr>
                        <a:t>스키</a:t>
                      </a:r>
                      <a:r>
                        <a:rPr lang="en-US" sz="800">
                          <a:solidFill>
                            <a:srgbClr val="676A6C"/>
                          </a:solidFill>
                          <a:effectLst/>
                          <a:latin typeface="Nanum Gothic" panose="020D0604000000000000" pitchFamily="34" charset="-127"/>
                          <a:ea typeface="Nanum Gothic" panose="020D0604000000000000" pitchFamily="34" charset="-127"/>
                        </a:rPr>
                        <a:t>or</a:t>
                      </a:r>
                      <a:r>
                        <a:rPr lang="ko-KR" altLang="en-US" sz="800">
                          <a:solidFill>
                            <a:srgbClr val="676A6C"/>
                          </a:solidFill>
                          <a:effectLst/>
                          <a:latin typeface="Nanum Gothic" panose="020D0604000000000000" pitchFamily="34" charset="-127"/>
                          <a:ea typeface="Nanum Gothic" panose="020D0604000000000000" pitchFamily="34" charset="-127"/>
                        </a:rPr>
                        <a:t>보드 </a:t>
                      </a:r>
                      <a:r>
                        <a:rPr lang="en-US" altLang="ko-KR" sz="800">
                          <a:solidFill>
                            <a:srgbClr val="676A6C"/>
                          </a:solidFill>
                          <a:effectLst/>
                          <a:latin typeface="Nanum Gothic" panose="020D0604000000000000" pitchFamily="34" charset="-127"/>
                          <a:ea typeface="Nanum Gothic" panose="020D0604000000000000" pitchFamily="34" charset="-127"/>
                        </a:rPr>
                        <a:t>- (</a:t>
                      </a:r>
                      <a:r>
                        <a:rPr lang="ko-KR" altLang="en-US" sz="800">
                          <a:solidFill>
                            <a:srgbClr val="676A6C"/>
                          </a:solidFill>
                          <a:effectLst/>
                          <a:latin typeface="Nanum Gothic" panose="020D0604000000000000" pitchFamily="34" charset="-127"/>
                          <a:ea typeface="Nanum Gothic" panose="020D0604000000000000" pitchFamily="34" charset="-127"/>
                        </a:rPr>
                        <a:t>토</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일</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공휴일</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주말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13</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130,000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107,900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22,100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144066">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a:solidFill>
                            <a:srgbClr val="676A6C"/>
                          </a:solidFill>
                          <a:effectLst/>
                          <a:latin typeface="Nanum Gothic" panose="020D0604000000000000" pitchFamily="34" charset="-127"/>
                          <a:ea typeface="Nanum Gothic" panose="020D0604000000000000" pitchFamily="34" charset="-127"/>
                        </a:rPr>
                        <a:t>가자고</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05.</a:t>
                      </a:r>
                      <a:r>
                        <a:rPr lang="ko-KR" altLang="en-US" sz="800">
                          <a:solidFill>
                            <a:srgbClr val="676A6C"/>
                          </a:solidFill>
                          <a:effectLst/>
                          <a:latin typeface="Nanum Gothic" panose="020D0604000000000000" pitchFamily="34" charset="-127"/>
                          <a:ea typeface="Nanum Gothic" panose="020D0604000000000000" pitchFamily="34" charset="-127"/>
                        </a:rPr>
                        <a:t>일반의류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16</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160,000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132,800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27,200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144066">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가자고</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06.</a:t>
                      </a:r>
                      <a:r>
                        <a:rPr lang="ko-KR" altLang="en-US" sz="800">
                          <a:solidFill>
                            <a:srgbClr val="676A6C"/>
                          </a:solidFill>
                          <a:effectLst/>
                          <a:latin typeface="Nanum Gothic" panose="020D0604000000000000" pitchFamily="34" charset="-127"/>
                          <a:ea typeface="Nanum Gothic" panose="020D0604000000000000" pitchFamily="34" charset="-127"/>
                        </a:rPr>
                        <a:t>고급의류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15,000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60,000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49,800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10,200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144066">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a:solidFill>
                            <a:srgbClr val="676A6C"/>
                          </a:solidFill>
                          <a:effectLst/>
                          <a:latin typeface="Nanum Gothic" panose="020D0604000000000000" pitchFamily="34" charset="-127"/>
                          <a:ea typeface="Nanum Gothic" panose="020D0604000000000000" pitchFamily="34" charset="-127"/>
                        </a:rPr>
                        <a:t>가자고</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07.</a:t>
                      </a:r>
                      <a:r>
                        <a:rPr lang="ko-KR" altLang="en-US" sz="800" dirty="0">
                          <a:solidFill>
                            <a:srgbClr val="676A6C"/>
                          </a:solidFill>
                          <a:effectLst/>
                          <a:latin typeface="Nanum Gothic" panose="020D0604000000000000" pitchFamily="34" charset="-127"/>
                          <a:ea typeface="Nanum Gothic" panose="020D0604000000000000" pitchFamily="34" charset="-127"/>
                        </a:rPr>
                        <a:t>헬멧 </a:t>
                      </a:r>
                      <a:r>
                        <a:rPr lang="en-US" altLang="ko-KR" sz="800" dirty="0">
                          <a:solidFill>
                            <a:srgbClr val="676A6C"/>
                          </a:solidFill>
                          <a:effectLst/>
                          <a:latin typeface="Nanum Gothic" panose="020D0604000000000000" pitchFamily="34" charset="-127"/>
                          <a:ea typeface="Nanum Gothic" panose="020D0604000000000000" pitchFamily="34" charset="-127"/>
                        </a:rPr>
                        <a:t>_191210</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9,000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7,470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1,530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4" name="직사각형 53"/>
          <p:cNvSpPr/>
          <p:nvPr/>
        </p:nvSpPr>
        <p:spPr>
          <a:xfrm>
            <a:off x="1197716" y="2708732"/>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판매상세내역</a:t>
            </a:r>
            <a:endParaRPr lang="ko-KR" altLang="en-US" sz="700" b="1" dirty="0"/>
          </a:p>
        </p:txBody>
      </p:sp>
      <p:sp>
        <p:nvSpPr>
          <p:cNvPr id="55" name="직사각형 54"/>
          <p:cNvSpPr/>
          <p:nvPr/>
        </p:nvSpPr>
        <p:spPr>
          <a:xfrm>
            <a:off x="1173776" y="4583274"/>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a:t>
            </a:r>
            <a:r>
              <a:rPr lang="ko-KR" altLang="en-US" sz="900" b="1" dirty="0" err="1">
                <a:latin typeface="나눔고딕" pitchFamily="50" charset="-127"/>
                <a:ea typeface="나눔고딕" pitchFamily="50" charset="-127"/>
              </a:rPr>
              <a:t>조정금</a:t>
            </a:r>
            <a:r>
              <a:rPr lang="ko-KR" altLang="en-US" sz="900" b="1" dirty="0">
                <a:latin typeface="나눔고딕" pitchFamily="50" charset="-127"/>
                <a:ea typeface="나눔고딕" pitchFamily="50" charset="-127"/>
              </a:rPr>
              <a:t> </a:t>
            </a:r>
            <a:r>
              <a:rPr lang="ko-KR" altLang="en-US" sz="900" b="1" dirty="0" err="1">
                <a:latin typeface="나눔고딕" pitchFamily="50" charset="-127"/>
                <a:ea typeface="나눔고딕" pitchFamily="50" charset="-127"/>
              </a:rPr>
              <a:t>상세내역</a:t>
            </a:r>
            <a:endParaRPr lang="ko-KR" altLang="en-US" sz="700" b="1" dirty="0"/>
          </a:p>
        </p:txBody>
      </p:sp>
      <p:sp>
        <p:nvSpPr>
          <p:cNvPr id="41" name="직사각형 40"/>
          <p:cNvSpPr/>
          <p:nvPr/>
        </p:nvSpPr>
        <p:spPr>
          <a:xfrm>
            <a:off x="6335754" y="1154975"/>
            <a:ext cx="981972" cy="19018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a:t>
            </a:r>
            <a:r>
              <a:rPr lang="ko-KR" altLang="en-US" sz="800" b="1" dirty="0" err="1">
                <a:solidFill>
                  <a:schemeClr val="bg1"/>
                </a:solidFill>
                <a:latin typeface="Nanum Gothic" panose="020D0604000000000000" pitchFamily="34" charset="-127"/>
                <a:ea typeface="Nanum Gothic" panose="020D0604000000000000" pitchFamily="34" charset="-127"/>
              </a:rPr>
              <a:t>히스토리</a:t>
            </a:r>
            <a:endParaRPr lang="ko-KR" altLang="en-US" sz="800" b="1" dirty="0">
              <a:solidFill>
                <a:schemeClr val="bg1"/>
              </a:solidFill>
              <a:latin typeface="Nanum Gothic" panose="020D0604000000000000" pitchFamily="34" charset="-127"/>
              <a:ea typeface="Nanum Gothic" panose="020D0604000000000000" pitchFamily="34" charset="-127"/>
            </a:endParaRPr>
          </a:p>
        </p:txBody>
      </p:sp>
      <p:sp>
        <p:nvSpPr>
          <p:cNvPr id="42" name="직사각형 41"/>
          <p:cNvSpPr/>
          <p:nvPr/>
        </p:nvSpPr>
        <p:spPr>
          <a:xfrm>
            <a:off x="7416234" y="2900711"/>
            <a:ext cx="2361302" cy="211568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1100" b="1" dirty="0" err="1">
                <a:solidFill>
                  <a:schemeClr val="tx1"/>
                </a:solidFill>
                <a:latin typeface="Nanum Gothic" panose="020D0604000000000000" pitchFamily="34" charset="-127"/>
                <a:ea typeface="Nanum Gothic" panose="020D0604000000000000" pitchFamily="34" charset="-127"/>
              </a:rPr>
              <a:t>정산서</a:t>
            </a:r>
            <a:r>
              <a:rPr lang="ko-KR" altLang="en-US" sz="1100" b="1" dirty="0">
                <a:solidFill>
                  <a:schemeClr val="tx1"/>
                </a:solidFill>
                <a:latin typeface="Nanum Gothic" panose="020D0604000000000000" pitchFamily="34" charset="-127"/>
                <a:ea typeface="Nanum Gothic" panose="020D0604000000000000" pitchFamily="34" charset="-127"/>
              </a:rPr>
              <a:t> </a:t>
            </a:r>
            <a:r>
              <a:rPr lang="ko-KR" altLang="en-US" sz="1100" b="1" dirty="0" err="1">
                <a:solidFill>
                  <a:schemeClr val="tx1"/>
                </a:solidFill>
                <a:latin typeface="Nanum Gothic" panose="020D0604000000000000" pitchFamily="34" charset="-127"/>
                <a:ea typeface="Nanum Gothic" panose="020D0604000000000000" pitchFamily="34" charset="-127"/>
              </a:rPr>
              <a:t>히스토리</a:t>
            </a:r>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43" name="TextBox 42"/>
          <p:cNvSpPr txBox="1"/>
          <p:nvPr/>
        </p:nvSpPr>
        <p:spPr>
          <a:xfrm>
            <a:off x="9490277" y="2937048"/>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sp>
        <p:nvSpPr>
          <p:cNvPr id="15" name="TextBox 14"/>
          <p:cNvSpPr txBox="1"/>
          <p:nvPr/>
        </p:nvSpPr>
        <p:spPr>
          <a:xfrm>
            <a:off x="3619007" y="6474240"/>
            <a:ext cx="914033" cy="246221"/>
          </a:xfrm>
          <a:prstGeom prst="rect">
            <a:avLst/>
          </a:prstGeom>
          <a:noFill/>
        </p:spPr>
        <p:txBody>
          <a:bodyPr wrap="none" rtlCol="0">
            <a:spAutoFit/>
          </a:bodyPr>
          <a:lstStyle/>
          <a:p>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r>
              <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rPr>
              <a:t>뒷장에 계속</a:t>
            </a:r>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endPar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endParaRPr>
          </a:p>
        </p:txBody>
      </p:sp>
      <p:graphicFrame>
        <p:nvGraphicFramePr>
          <p:cNvPr id="49" name="표 48"/>
          <p:cNvGraphicFramePr>
            <a:graphicFrameLocks noGrp="1"/>
          </p:cNvGraphicFramePr>
          <p:nvPr/>
        </p:nvGraphicFramePr>
        <p:xfrm>
          <a:off x="7483818" y="3295247"/>
          <a:ext cx="2230219" cy="922958"/>
        </p:xfrm>
        <a:graphic>
          <a:graphicData uri="http://schemas.openxmlformats.org/drawingml/2006/table">
            <a:tbl>
              <a:tblPr/>
              <a:tblGrid>
                <a:gridCol w="604766">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494608">
                  <a:extLst>
                    <a:ext uri="{9D8B030D-6E8A-4147-A177-3AD203B41FA5}">
                      <a16:colId xmlns:a16="http://schemas.microsoft.com/office/drawing/2014/main" val="20002"/>
                    </a:ext>
                  </a:extLst>
                </a:gridCol>
                <a:gridCol w="554781">
                  <a:extLst>
                    <a:ext uri="{9D8B030D-6E8A-4147-A177-3AD203B41FA5}">
                      <a16:colId xmlns:a16="http://schemas.microsoft.com/office/drawing/2014/main" val="20003"/>
                    </a:ext>
                  </a:extLst>
                </a:gridCol>
              </a:tblGrid>
              <a:tr h="162863">
                <a:tc>
                  <a:txBody>
                    <a:bodyPr/>
                    <a:lstStyle/>
                    <a:p>
                      <a:pPr algn="ctr" fontAlgn="ctr"/>
                      <a:r>
                        <a:rPr lang="ko-KR" altLang="en-US" sz="800" b="1" i="0" u="none" strike="noStrike" dirty="0">
                          <a:solidFill>
                            <a:srgbClr val="000000"/>
                          </a:solidFill>
                          <a:effectLst/>
                          <a:latin typeface="Nanum Gothic" panose="020D0604000000000000" pitchFamily="34" charset="-127"/>
                          <a:ea typeface="Nanum Gothic" panose="020D0604000000000000" pitchFamily="34" charset="-127"/>
                        </a:rPr>
                        <a:t>날짜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Nanum Gothic" panose="020D0604000000000000" pitchFamily="34" charset="-127"/>
                          <a:ea typeface="Nanum Gothic" panose="020D0604000000000000" pitchFamily="34" charset="-127"/>
                        </a:rPr>
                        <a:t>상태</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Nanum Gothic" panose="020D0604000000000000" pitchFamily="34" charset="-127"/>
                          <a:ea typeface="Nanum Gothic" panose="020D0604000000000000" pitchFamily="34" charset="-127"/>
                        </a:rPr>
                        <a:t>작업자</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ko-KR" altLang="en-US" sz="800" b="1" i="0" u="none" strike="noStrike" dirty="0">
                          <a:solidFill>
                            <a:srgbClr val="000000"/>
                          </a:solidFill>
                          <a:effectLst/>
                          <a:latin typeface="Nanum Gothic" panose="020D0604000000000000" pitchFamily="34" charset="-127"/>
                          <a:ea typeface="Nanum Gothic" panose="020D0604000000000000" pitchFamily="34" charset="-127"/>
                        </a:rPr>
                        <a:t>비고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93922">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2020-02-01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정산필요</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반려</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93922">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2020-02-01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사업장승인대기</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김관리</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r>
                        <a:rPr lang="en-US" altLang="ko-KR" sz="800" b="0" i="0" u="none" strike="noStrike" dirty="0" err="1">
                          <a:solidFill>
                            <a:srgbClr val="000000"/>
                          </a:solidFill>
                          <a:effectLst/>
                          <a:latin typeface="Nanum Gothic" panose="020D0604000000000000" pitchFamily="34" charset="-127"/>
                          <a:ea typeface="Nanum Gothic" panose="020D0604000000000000" pitchFamily="34" charset="-127"/>
                        </a:rPr>
                        <a:t>kimkim</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사업장승인요청</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93922">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2020-02-01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정산필요</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system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최초생성</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7" name="타원 56"/>
          <p:cNvSpPr/>
          <p:nvPr/>
        </p:nvSpPr>
        <p:spPr>
          <a:xfrm>
            <a:off x="7235746" y="106672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나눔고딕" pitchFamily="50" charset="-127"/>
                <a:ea typeface="나눔고딕" pitchFamily="50" charset="-127"/>
              </a:rPr>
              <a:t>4</a:t>
            </a:r>
            <a:endParaRPr lang="ko-KR" altLang="en-US" sz="800" b="1" dirty="0">
              <a:latin typeface="나눔고딕" pitchFamily="50" charset="-127"/>
              <a:ea typeface="나눔고딕" pitchFamily="50" charset="-127"/>
            </a:endParaRPr>
          </a:p>
        </p:txBody>
      </p:sp>
      <p:sp>
        <p:nvSpPr>
          <p:cNvPr id="58" name="직사각형 57"/>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9" name="직사각형 58"/>
          <p:cNvSpPr/>
          <p:nvPr/>
        </p:nvSpPr>
        <p:spPr>
          <a:xfrm>
            <a:off x="128462" y="365490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128461" y="46731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61" name="직사각형 60"/>
          <p:cNvSpPr/>
          <p:nvPr/>
        </p:nvSpPr>
        <p:spPr>
          <a:xfrm>
            <a:off x="128457" y="40018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128457" y="43407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128458" y="2645211"/>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매출내역</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65" name="직사각형 64"/>
          <p:cNvSpPr/>
          <p:nvPr/>
        </p:nvSpPr>
        <p:spPr>
          <a:xfrm>
            <a:off x="128458" y="2978419"/>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64" name="직사각형 63"/>
          <p:cNvSpPr/>
          <p:nvPr/>
        </p:nvSpPr>
        <p:spPr>
          <a:xfrm>
            <a:off x="128461" y="3326855"/>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정산현황</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graphicFrame>
        <p:nvGraphicFramePr>
          <p:cNvPr id="4" name="표 3"/>
          <p:cNvGraphicFramePr>
            <a:graphicFrameLocks noGrp="1"/>
          </p:cNvGraphicFramePr>
          <p:nvPr/>
        </p:nvGraphicFramePr>
        <p:xfrm>
          <a:off x="1250472" y="1788095"/>
          <a:ext cx="6067254" cy="765726"/>
        </p:xfrm>
        <a:graphic>
          <a:graphicData uri="http://schemas.openxmlformats.org/drawingml/2006/table">
            <a:tbl>
              <a:tblPr/>
              <a:tblGrid>
                <a:gridCol w="947498">
                  <a:extLst>
                    <a:ext uri="{9D8B030D-6E8A-4147-A177-3AD203B41FA5}">
                      <a16:colId xmlns:a16="http://schemas.microsoft.com/office/drawing/2014/main" val="20000"/>
                    </a:ext>
                  </a:extLst>
                </a:gridCol>
                <a:gridCol w="2016457">
                  <a:extLst>
                    <a:ext uri="{9D8B030D-6E8A-4147-A177-3AD203B41FA5}">
                      <a16:colId xmlns:a16="http://schemas.microsoft.com/office/drawing/2014/main" val="20001"/>
                    </a:ext>
                  </a:extLst>
                </a:gridCol>
                <a:gridCol w="1017170">
                  <a:extLst>
                    <a:ext uri="{9D8B030D-6E8A-4147-A177-3AD203B41FA5}">
                      <a16:colId xmlns:a16="http://schemas.microsoft.com/office/drawing/2014/main" val="20002"/>
                    </a:ext>
                  </a:extLst>
                </a:gridCol>
                <a:gridCol w="2086129">
                  <a:extLst>
                    <a:ext uri="{9D8B030D-6E8A-4147-A177-3AD203B41FA5}">
                      <a16:colId xmlns:a16="http://schemas.microsoft.com/office/drawing/2014/main" val="20003"/>
                    </a:ext>
                  </a:extLst>
                </a:gridCol>
              </a:tblGrid>
              <a:tr h="255242">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총판사</a:t>
                      </a:r>
                      <a:r>
                        <a:rPr lang="en-US" altLang="ko-KR" sz="900" b="1"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시설사</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err="1">
                          <a:solidFill>
                            <a:srgbClr val="000000"/>
                          </a:solidFill>
                          <a:effectLst/>
                          <a:latin typeface="Nanum Gothic" panose="020D0604000000000000" pitchFamily="34" charset="-127"/>
                          <a:ea typeface="Nanum Gothic" panose="020D0604000000000000" pitchFamily="34" charset="-127"/>
                        </a:rPr>
                        <a:t>레저큐</a:t>
                      </a:r>
                      <a:r>
                        <a:rPr lang="ko-KR" altLang="en-US" sz="9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900" b="0" i="0" u="none" strike="noStrike" dirty="0">
                          <a:solidFill>
                            <a:srgbClr val="000000"/>
                          </a:solidFill>
                          <a:effectLst/>
                          <a:latin typeface="Nanum Gothic" panose="020D0604000000000000" pitchFamily="34" charset="-127"/>
                          <a:ea typeface="Nanum Gothic" panose="020D0604000000000000" pitchFamily="34" charset="-127"/>
                        </a:rPr>
                        <a:t>/ </a:t>
                      </a:r>
                      <a:r>
                        <a:rPr lang="ko-KR" altLang="en-US" sz="900" b="0" i="0" u="none" strike="noStrike" dirty="0">
                          <a:solidFill>
                            <a:srgbClr val="000000"/>
                          </a:solidFill>
                          <a:effectLst/>
                          <a:latin typeface="Nanum Gothic" panose="020D0604000000000000" pitchFamily="34" charset="-127"/>
                          <a:ea typeface="Nanum Gothic" panose="020D0604000000000000" pitchFamily="34" charset="-127"/>
                        </a:rPr>
                        <a:t>에버랜드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정산서</a:t>
                      </a:r>
                      <a:r>
                        <a:rPr lang="ko-KR" altLang="en-US" sz="900" b="1" i="0" u="none" strike="noStrike" dirty="0">
                          <a:solidFill>
                            <a:srgbClr val="000000"/>
                          </a:solidFill>
                          <a:effectLst/>
                          <a:latin typeface="Nanum Gothic" panose="020D0604000000000000" pitchFamily="34" charset="-127"/>
                          <a:ea typeface="Nanum Gothic" panose="020D0604000000000000" pitchFamily="34" charset="-127"/>
                        </a:rPr>
                        <a:t> 상태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Nanum Gothic" panose="020D0604000000000000" pitchFamily="34" charset="-127"/>
                          <a:ea typeface="Nanum Gothic" panose="020D0604000000000000" pitchFamily="34" charset="-127"/>
                        </a:rPr>
                        <a:t> 사업자승인거부</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242">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정산기간</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938530" marR="0" lvl="0" indent="0" algn="l" defTabSz="914400" rtl="0" eaLnBrk="1" fontAlgn="ctr" latinLnBrk="1" hangingPunct="1">
                        <a:lnSpc>
                          <a:spcPct val="100000"/>
                        </a:lnSpc>
                        <a:spcBef>
                          <a:spcPts val="0"/>
                        </a:spcBef>
                        <a:spcAft>
                          <a:spcPts val="0"/>
                        </a:spcAft>
                        <a:buClrTx/>
                        <a:buSzTx/>
                        <a:buFontTx/>
                        <a:buNone/>
                        <a:defRPr/>
                      </a:pPr>
                      <a:r>
                        <a:rPr lang="en-US" altLang="ko-KR" sz="9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9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지급예정일</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endParaRPr lang="ko-KR" altLang="en-US" sz="9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242">
                <a:tc>
                  <a:txBody>
                    <a:bodyPr/>
                    <a:lstStyle/>
                    <a:p>
                      <a:pPr algn="ctr" fontAlgn="ctr"/>
                      <a:r>
                        <a:rPr lang="ko-KR" altLang="en-US" sz="900" b="1" i="0" u="none" strike="noStrike" dirty="0">
                          <a:solidFill>
                            <a:srgbClr val="000000"/>
                          </a:solidFill>
                          <a:effectLst/>
                          <a:latin typeface="Nanum Gothic" panose="020D0604000000000000" pitchFamily="34" charset="-127"/>
                          <a:ea typeface="Nanum Gothic" panose="020D0604000000000000" pitchFamily="34" charset="-127"/>
                        </a:rPr>
                        <a:t>판매가</a:t>
                      </a:r>
                      <a:r>
                        <a:rPr lang="en-US" altLang="ko-KR" sz="900" b="1"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900" b="1" i="0" u="none" strike="noStrike" dirty="0">
                          <a:solidFill>
                            <a:srgbClr val="000000"/>
                          </a:solidFill>
                          <a:effectLst/>
                          <a:latin typeface="Nanum Gothic" panose="020D0604000000000000" pitchFamily="34" charset="-127"/>
                          <a:ea typeface="Nanum Gothic" panose="020D0604000000000000" pitchFamily="34" charset="-127"/>
                        </a:rPr>
                        <a:t>수수료</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900" b="0" i="0" u="none" strike="noStrike" dirty="0">
                          <a:solidFill>
                            <a:srgbClr val="000000"/>
                          </a:solidFill>
                          <a:effectLst/>
                          <a:latin typeface="Nanum Gothic" panose="020D0604000000000000" pitchFamily="34" charset="-127"/>
                          <a:ea typeface="Nanum Gothic" panose="020D0604000000000000" pitchFamily="34" charset="-127"/>
                        </a:rPr>
                        <a:t>1,200,000 (120,000)</a:t>
                      </a:r>
                      <a:endParaRPr lang="ko-KR" altLang="en-US" sz="9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정산금액</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en-US" altLang="ko-KR" sz="900" b="0" i="0" u="none" strike="noStrike" kern="1200" cap="none" spc="0" normalizeH="0" baseline="0" noProof="0" dirty="0">
                          <a:ln>
                            <a:noFill/>
                          </a:ln>
                          <a:solidFill>
                            <a:srgbClr val="676A6C"/>
                          </a:solidFill>
                          <a:effectLst/>
                          <a:uLnTx/>
                          <a:uFillTx/>
                          <a:latin typeface="Nanum Gothic" panose="020D0604000000000000" pitchFamily="34" charset="-127"/>
                          <a:ea typeface="Nanum Gothic" panose="020D0604000000000000" pitchFamily="34" charset="-127"/>
                          <a:cs typeface="+mn-cs"/>
                        </a:rPr>
                        <a:t>1,320,000</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5" name="직사각형 44"/>
          <p:cNvSpPr/>
          <p:nvPr/>
        </p:nvSpPr>
        <p:spPr>
          <a:xfrm>
            <a:off x="5796269" y="2064083"/>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2020-02-15</a:t>
            </a:r>
            <a:endParaRPr lang="ko-KR" altLang="en-US" sz="900" dirty="0">
              <a:solidFill>
                <a:schemeClr val="tx1"/>
              </a:solidFill>
            </a:endParaRPr>
          </a:p>
        </p:txBody>
      </p:sp>
      <p:pic>
        <p:nvPicPr>
          <p:cNvPr id="46"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85235" y="2091422"/>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44" name="직사각형 43"/>
          <p:cNvSpPr/>
          <p:nvPr/>
        </p:nvSpPr>
        <p:spPr>
          <a:xfrm>
            <a:off x="4520165" y="1167502"/>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업로드</a:t>
            </a:r>
          </a:p>
        </p:txBody>
      </p:sp>
      <p:sp>
        <p:nvSpPr>
          <p:cNvPr id="47" name="직사각형 46"/>
          <p:cNvSpPr/>
          <p:nvPr/>
        </p:nvSpPr>
        <p:spPr>
          <a:xfrm>
            <a:off x="2235597" y="2060155"/>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50"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4563" y="2087494"/>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51" name="직사각형 50"/>
          <p:cNvSpPr/>
          <p:nvPr/>
        </p:nvSpPr>
        <p:spPr>
          <a:xfrm>
            <a:off x="3294603" y="2061112"/>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2020-01-31</a:t>
            </a:r>
            <a:endParaRPr lang="ko-KR" altLang="en-US" sz="900" dirty="0">
              <a:solidFill>
                <a:schemeClr val="tx1"/>
              </a:solidFill>
            </a:endParaRPr>
          </a:p>
        </p:txBody>
      </p:sp>
      <p:pic>
        <p:nvPicPr>
          <p:cNvPr id="52" name="Picture 2" descr="C:\Users\Junice\Dropbox\5. Abydos KISA 전자계약\아이콘백\calendar48.png"/>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3569" y="2088451"/>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56" name="직사각형 55"/>
          <p:cNvSpPr/>
          <p:nvPr/>
        </p:nvSpPr>
        <p:spPr>
          <a:xfrm>
            <a:off x="5435993" y="1154883"/>
            <a:ext cx="864096"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사업장승인요청</a:t>
            </a:r>
          </a:p>
        </p:txBody>
      </p:sp>
      <p:sp>
        <p:nvSpPr>
          <p:cNvPr id="66" name="직사각형 65"/>
          <p:cNvSpPr/>
          <p:nvPr/>
        </p:nvSpPr>
        <p:spPr>
          <a:xfrm>
            <a:off x="3606567" y="1167502"/>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다운로드</a:t>
            </a:r>
          </a:p>
        </p:txBody>
      </p:sp>
      <p:cxnSp>
        <p:nvCxnSpPr>
          <p:cNvPr id="48" name="꺾인 연결선[E] 47"/>
          <p:cNvCxnSpPr>
            <a:stCxn id="41" idx="2"/>
            <a:endCxn id="42" idx="1"/>
          </p:cNvCxnSpPr>
          <p:nvPr/>
        </p:nvCxnSpPr>
        <p:spPr>
          <a:xfrm rot="16200000" flipH="1">
            <a:off x="5814792" y="2357110"/>
            <a:ext cx="2613391" cy="589494"/>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7" name="타원 66"/>
          <p:cNvSpPr/>
          <p:nvPr/>
        </p:nvSpPr>
        <p:spPr>
          <a:xfrm>
            <a:off x="3568878" y="106672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나눔고딕" pitchFamily="50" charset="-127"/>
                <a:ea typeface="나눔고딕" pitchFamily="50" charset="-127"/>
              </a:rPr>
              <a:t>1</a:t>
            </a:r>
            <a:endParaRPr lang="ko-KR" altLang="en-US" sz="800" b="1" dirty="0">
              <a:latin typeface="나눔고딕" pitchFamily="50" charset="-127"/>
              <a:ea typeface="나눔고딕" pitchFamily="50" charset="-127"/>
            </a:endParaRPr>
          </a:p>
        </p:txBody>
      </p:sp>
      <p:sp>
        <p:nvSpPr>
          <p:cNvPr id="68" name="타원 67"/>
          <p:cNvSpPr/>
          <p:nvPr/>
        </p:nvSpPr>
        <p:spPr>
          <a:xfrm>
            <a:off x="4500336" y="1076680"/>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나눔고딕" pitchFamily="50" charset="-127"/>
                <a:ea typeface="나눔고딕" pitchFamily="50" charset="-127"/>
              </a:rPr>
              <a:t>2</a:t>
            </a:r>
            <a:endParaRPr lang="ko-KR" altLang="en-US" sz="800" b="1" dirty="0">
              <a:latin typeface="나눔고딕" pitchFamily="50" charset="-127"/>
              <a:ea typeface="나눔고딕" pitchFamily="50" charset="-127"/>
            </a:endParaRPr>
          </a:p>
        </p:txBody>
      </p:sp>
      <p:sp>
        <p:nvSpPr>
          <p:cNvPr id="69" name="타원 68"/>
          <p:cNvSpPr/>
          <p:nvPr/>
        </p:nvSpPr>
        <p:spPr>
          <a:xfrm>
            <a:off x="5418045" y="1059284"/>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나눔고딕" pitchFamily="50" charset="-127"/>
                <a:ea typeface="나눔고딕" pitchFamily="50" charset="-127"/>
              </a:rPr>
              <a:t>3</a:t>
            </a:r>
            <a:endParaRPr lang="ko-KR" altLang="en-US" sz="800" b="1" dirty="0">
              <a:latin typeface="나눔고딕" pitchFamily="50" charset="-127"/>
              <a:ea typeface="나눔고딕" pitchFamily="50" charset="-127"/>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정산관리</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정산현황</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정산서</a:t>
            </a:r>
            <a:r>
              <a:rPr lang="ko-KR" altLang="en-US" dirty="0">
                <a:latin typeface="Nanum Gothic" panose="020D0604000000000000" pitchFamily="34" charset="-127"/>
                <a:ea typeface="Nanum Gothic" panose="020D0604000000000000" pitchFamily="34" charset="-127"/>
              </a:rPr>
              <a:t>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solidFill>
                  <a:srgbClr val="C00000"/>
                </a:solidFill>
                <a:latin typeface="Nanum Gothic" panose="020D0604000000000000" pitchFamily="34" charset="-127"/>
                <a:ea typeface="Nanum Gothic" panose="020D0604000000000000" pitchFamily="34" charset="-127"/>
              </a:rPr>
              <a:t>마스터 로그인시</a:t>
            </a:r>
            <a:r>
              <a:rPr lang="en-US" altLang="ko-KR" dirty="0">
                <a:solidFill>
                  <a:srgbClr val="C00000"/>
                </a:solidFill>
                <a:latin typeface="Nanum Gothic" panose="020D0604000000000000" pitchFamily="34" charset="-127"/>
                <a:ea typeface="Nanum Gothic" panose="020D0604000000000000" pitchFamily="34" charset="-127"/>
              </a:rPr>
              <a:t>)</a:t>
            </a:r>
            <a:endParaRPr lang="ko-KR" altLang="en-US" dirty="0">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graphicFrame>
        <p:nvGraphicFramePr>
          <p:cNvPr id="6" name="표 5"/>
          <p:cNvGraphicFramePr>
            <a:graphicFrameLocks noGrp="1"/>
          </p:cNvGraphicFramePr>
          <p:nvPr/>
        </p:nvGraphicFramePr>
        <p:xfrm>
          <a:off x="1267854" y="1789762"/>
          <a:ext cx="6049872" cy="1493528"/>
        </p:xfrm>
        <a:graphic>
          <a:graphicData uri="http://schemas.openxmlformats.org/drawingml/2006/table">
            <a:tbl>
              <a:tblPr/>
              <a:tblGrid>
                <a:gridCol w="1008312">
                  <a:extLst>
                    <a:ext uri="{9D8B030D-6E8A-4147-A177-3AD203B41FA5}">
                      <a16:colId xmlns:a16="http://schemas.microsoft.com/office/drawing/2014/main" val="20000"/>
                    </a:ext>
                  </a:extLst>
                </a:gridCol>
                <a:gridCol w="1008312">
                  <a:extLst>
                    <a:ext uri="{9D8B030D-6E8A-4147-A177-3AD203B41FA5}">
                      <a16:colId xmlns:a16="http://schemas.microsoft.com/office/drawing/2014/main" val="20001"/>
                    </a:ext>
                  </a:extLst>
                </a:gridCol>
                <a:gridCol w="1008312">
                  <a:extLst>
                    <a:ext uri="{9D8B030D-6E8A-4147-A177-3AD203B41FA5}">
                      <a16:colId xmlns:a16="http://schemas.microsoft.com/office/drawing/2014/main" val="20002"/>
                    </a:ext>
                  </a:extLst>
                </a:gridCol>
                <a:gridCol w="1008312">
                  <a:extLst>
                    <a:ext uri="{9D8B030D-6E8A-4147-A177-3AD203B41FA5}">
                      <a16:colId xmlns:a16="http://schemas.microsoft.com/office/drawing/2014/main" val="20003"/>
                    </a:ext>
                  </a:extLst>
                </a:gridCol>
                <a:gridCol w="1008312">
                  <a:extLst>
                    <a:ext uri="{9D8B030D-6E8A-4147-A177-3AD203B41FA5}">
                      <a16:colId xmlns:a16="http://schemas.microsoft.com/office/drawing/2014/main" val="20004"/>
                    </a:ext>
                  </a:extLst>
                </a:gridCol>
                <a:gridCol w="1008312">
                  <a:extLst>
                    <a:ext uri="{9D8B030D-6E8A-4147-A177-3AD203B41FA5}">
                      <a16:colId xmlns:a16="http://schemas.microsoft.com/office/drawing/2014/main" val="20005"/>
                    </a:ext>
                  </a:extLst>
                </a:gridCol>
              </a:tblGrid>
              <a:tr h="0">
                <a:tc gridSpan="2">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구분</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507F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hMerge="1">
                  <a:txBody>
                    <a:bodyPr/>
                    <a:lstStyle/>
                    <a:p>
                      <a:endParaRPr lang="en-US"/>
                    </a:p>
                  </a:txBody>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수량</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C07B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판매가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F050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공급가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304C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수수료</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C05E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gridSpan="2">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총 판매금액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hMerge="1">
                  <a:txBody>
                    <a:bodyPr/>
                    <a:lstStyle/>
                    <a:p>
                      <a:endParaRPr lang="en-US"/>
                    </a:p>
                  </a:txBody>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429</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4,037,200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3,350,876</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686,324</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1"/>
                  </a:ext>
                </a:extLst>
              </a:tr>
              <a:tr h="196482">
                <a:tc rowSpan="5">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조정금액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사용 후 취소</a:t>
                      </a:r>
                      <a:r>
                        <a:rPr lang="en-US" altLang="ko-KR" sz="800" b="0">
                          <a:solidFill>
                            <a:srgbClr val="676A6C"/>
                          </a:solidFill>
                          <a:effectLst/>
                          <a:latin typeface="Nanum Gothic" panose="020D0604000000000000" pitchFamily="34" charset="-127"/>
                          <a:ea typeface="Nanum Gothic" panose="020D0604000000000000" pitchFamily="34" charset="-127"/>
                        </a:rPr>
                        <a:t>/</a:t>
                      </a:r>
                      <a:r>
                        <a:rPr lang="ko-KR" altLang="en-US" sz="800" b="0">
                          <a:solidFill>
                            <a:srgbClr val="676A6C"/>
                          </a:solidFill>
                          <a:effectLst/>
                          <a:latin typeface="Nanum Gothic" panose="020D0604000000000000" pitchFamily="34" charset="-127"/>
                          <a:ea typeface="Nanum Gothic" panose="020D0604000000000000" pitchFamily="34" charset="-127"/>
                        </a:rPr>
                        <a:t>환불 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2"/>
                  </a:ext>
                </a:extLst>
              </a:tr>
              <a:tr h="0">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선정산 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3"/>
                  </a:ext>
                </a:extLst>
              </a:tr>
              <a:tr h="0">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취소위약금</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4"/>
                  </a:ext>
                </a:extLst>
              </a:tr>
              <a:tr h="291426">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수수료 변경에 따른 판매가</a:t>
                      </a:r>
                      <a:r>
                        <a:rPr lang="en-US" altLang="ko-KR" sz="800" b="0">
                          <a:solidFill>
                            <a:srgbClr val="676A6C"/>
                          </a:solidFill>
                          <a:effectLst/>
                          <a:latin typeface="Nanum Gothic" panose="020D0604000000000000" pitchFamily="34" charset="-127"/>
                          <a:ea typeface="Nanum Gothic" panose="020D0604000000000000" pitchFamily="34" charset="-127"/>
                        </a:rPr>
                        <a:t>/</a:t>
                      </a:r>
                      <a:r>
                        <a:rPr lang="ko-KR" altLang="en-US" sz="800" b="0">
                          <a:solidFill>
                            <a:srgbClr val="676A6C"/>
                          </a:solidFill>
                          <a:effectLst/>
                          <a:latin typeface="Nanum Gothic" panose="020D0604000000000000" pitchFamily="34" charset="-127"/>
                          <a:ea typeface="Nanum Gothic" panose="020D0604000000000000" pitchFamily="34" charset="-127"/>
                        </a:rPr>
                        <a:t>공급가 조정항목</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5"/>
                  </a:ext>
                </a:extLst>
              </a:tr>
              <a:tr h="0">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기타 조정금액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6"/>
                  </a:ext>
                </a:extLst>
              </a:tr>
              <a:tr h="0">
                <a:tc gridSpan="2">
                  <a:txBody>
                    <a:bodyPr/>
                    <a:lstStyle/>
                    <a:p>
                      <a:pPr algn="l" fontAlgn="ctr" latinLnBrk="1"/>
                      <a:r>
                        <a:rPr lang="ko-KR" altLang="en-US" sz="800">
                          <a:solidFill>
                            <a:srgbClr val="676A6C"/>
                          </a:solidFill>
                          <a:effectLst/>
                          <a:latin typeface="Nanum Gothic" panose="020D0604000000000000" pitchFamily="34" charset="-127"/>
                          <a:ea typeface="Nanum Gothic" panose="020D0604000000000000" pitchFamily="34" charset="-127"/>
                        </a:rPr>
                        <a:t>총 정산금액</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총 판매금액</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조정금</a:t>
                      </a:r>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hMerge="1">
                  <a:txBody>
                    <a:bodyPr/>
                    <a:lstStyle/>
                    <a:p>
                      <a:endParaRPr lang="en-US"/>
                    </a:p>
                  </a:txBody>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429</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4,037,200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3,350,876</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686,324</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5" name="직사각형 54"/>
          <p:cNvSpPr/>
          <p:nvPr/>
        </p:nvSpPr>
        <p:spPr>
          <a:xfrm>
            <a:off x="1173776" y="1517860"/>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총 정산 금액</a:t>
            </a:r>
            <a:endParaRPr lang="ko-KR" altLang="en-US" sz="700" b="1" dirty="0"/>
          </a:p>
        </p:txBody>
      </p:sp>
      <p:graphicFrame>
        <p:nvGraphicFramePr>
          <p:cNvPr id="8" name="표 7"/>
          <p:cNvGraphicFramePr>
            <a:graphicFrameLocks noGrp="1"/>
          </p:cNvGraphicFramePr>
          <p:nvPr/>
        </p:nvGraphicFramePr>
        <p:xfrm>
          <a:off x="1238699" y="3751850"/>
          <a:ext cx="6079026" cy="567692"/>
        </p:xfrm>
        <a:graphic>
          <a:graphicData uri="http://schemas.openxmlformats.org/drawingml/2006/table">
            <a:tbl>
              <a:tblPr/>
              <a:tblGrid>
                <a:gridCol w="1013171">
                  <a:extLst>
                    <a:ext uri="{9D8B030D-6E8A-4147-A177-3AD203B41FA5}">
                      <a16:colId xmlns:a16="http://schemas.microsoft.com/office/drawing/2014/main" val="20000"/>
                    </a:ext>
                  </a:extLst>
                </a:gridCol>
                <a:gridCol w="1013171">
                  <a:extLst>
                    <a:ext uri="{9D8B030D-6E8A-4147-A177-3AD203B41FA5}">
                      <a16:colId xmlns:a16="http://schemas.microsoft.com/office/drawing/2014/main" val="20001"/>
                    </a:ext>
                  </a:extLst>
                </a:gridCol>
                <a:gridCol w="751855">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1428621">
                  <a:extLst>
                    <a:ext uri="{9D8B030D-6E8A-4147-A177-3AD203B41FA5}">
                      <a16:colId xmlns:a16="http://schemas.microsoft.com/office/drawing/2014/main" val="20005"/>
                    </a:ext>
                  </a:extLst>
                </a:gridCol>
              </a:tblGrid>
              <a:tr h="0">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지급비율</a:t>
                      </a:r>
                      <a:r>
                        <a:rPr lang="en-US" altLang="ko-KR" sz="900" dirty="0">
                          <a:solidFill>
                            <a:schemeClr val="tx1"/>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1063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err="1">
                          <a:solidFill>
                            <a:schemeClr val="tx1"/>
                          </a:solidFill>
                          <a:effectLst/>
                          <a:latin typeface="Nanum Gothic" panose="020D0604000000000000" pitchFamily="34" charset="-127"/>
                          <a:ea typeface="Nanum Gothic" panose="020D0604000000000000" pitchFamily="34" charset="-127"/>
                        </a:rPr>
                        <a:t>지급예정일</a:t>
                      </a:r>
                      <a:endParaRPr lang="ko-KR" altLang="en-US" sz="900" dirty="0">
                        <a:solidFill>
                          <a:schemeClr val="tx1"/>
                        </a:solidFill>
                        <a:effectLst/>
                        <a:latin typeface="Nanum Gothic" panose="020D0604000000000000" pitchFamily="34" charset="-127"/>
                        <a:ea typeface="Nanum Gothic" panose="020D0604000000000000" pitchFamily="34" charset="-127"/>
                      </a:endParaRP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9055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수량</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F075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판매가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8050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공급가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2064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수수료</a:t>
                      </a:r>
                      <a:br>
                        <a:rPr lang="ko-KR" altLang="en-US" sz="900" dirty="0">
                          <a:solidFill>
                            <a:schemeClr val="tx1"/>
                          </a:solidFill>
                          <a:effectLst/>
                          <a:latin typeface="Nanum Gothic" panose="020D0604000000000000" pitchFamily="34" charset="-127"/>
                          <a:ea typeface="Nanum Gothic" panose="020D0604000000000000" pitchFamily="34" charset="-127"/>
                        </a:rPr>
                      </a:br>
                      <a:r>
                        <a:rPr lang="en-US" altLang="ko-KR" sz="900" dirty="0">
                          <a:solidFill>
                            <a:schemeClr val="tx1"/>
                          </a:solidFill>
                          <a:effectLst/>
                          <a:latin typeface="Nanum Gothic" panose="020D0604000000000000" pitchFamily="34" charset="-127"/>
                          <a:ea typeface="Nanum Gothic" panose="020D0604000000000000" pitchFamily="34" charset="-127"/>
                        </a:rPr>
                        <a:t>(</a:t>
                      </a:r>
                      <a:r>
                        <a:rPr lang="ko-KR" altLang="en-US" sz="900" dirty="0">
                          <a:solidFill>
                            <a:schemeClr val="tx1"/>
                          </a:solidFill>
                          <a:effectLst/>
                          <a:latin typeface="Nanum Gothic" panose="020D0604000000000000" pitchFamily="34" charset="-127"/>
                          <a:ea typeface="Nanum Gothic" panose="020D0604000000000000" pitchFamily="34" charset="-127"/>
                        </a:rPr>
                        <a:t>세금계산서 발행 예정 금액</a:t>
                      </a:r>
                      <a:r>
                        <a:rPr lang="en-US" altLang="ko-KR" sz="900" dirty="0">
                          <a:solidFill>
                            <a:schemeClr val="tx1"/>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D04E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100 %</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2020-01-15</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429</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4,037,200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3,350,876</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686,324</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6" name="직사각형 55"/>
          <p:cNvSpPr/>
          <p:nvPr/>
        </p:nvSpPr>
        <p:spPr>
          <a:xfrm>
            <a:off x="1173776" y="3504032"/>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a:t>
            </a:r>
            <a:r>
              <a:rPr lang="ko-KR" altLang="en-US" sz="900" b="1" dirty="0" err="1">
                <a:latin typeface="나눔고딕" pitchFamily="50" charset="-127"/>
                <a:ea typeface="나눔고딕" pitchFamily="50" charset="-127"/>
              </a:rPr>
              <a:t>지급예정</a:t>
            </a:r>
            <a:endParaRPr lang="ko-KR" altLang="en-US" sz="700" b="1" dirty="0"/>
          </a:p>
        </p:txBody>
      </p:sp>
      <p:sp>
        <p:nvSpPr>
          <p:cNvPr id="41" name="직사각형 40"/>
          <p:cNvSpPr/>
          <p:nvPr/>
        </p:nvSpPr>
        <p:spPr>
          <a:xfrm>
            <a:off x="1267854" y="4882144"/>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안내</a:t>
            </a:r>
            <a:endParaRPr lang="ko-KR" altLang="en-US" sz="700" b="1" dirty="0"/>
          </a:p>
        </p:txBody>
      </p:sp>
      <p:sp>
        <p:nvSpPr>
          <p:cNvPr id="49" name="직사각형 48"/>
          <p:cNvSpPr/>
          <p:nvPr/>
        </p:nvSpPr>
        <p:spPr>
          <a:xfrm>
            <a:off x="1352600" y="6393830"/>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목록</a:t>
            </a:r>
          </a:p>
        </p:txBody>
      </p:sp>
      <p:sp>
        <p:nvSpPr>
          <p:cNvPr id="53" name="직사각형 52"/>
          <p:cNvSpPr/>
          <p:nvPr/>
        </p:nvSpPr>
        <p:spPr>
          <a:xfrm>
            <a:off x="1439381" y="5151198"/>
            <a:ext cx="5878344" cy="82623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안내문구가 들어갑니다</a:t>
            </a:r>
            <a:r>
              <a:rPr lang="en-US" altLang="ko-KR" sz="800" dirty="0">
                <a:solidFill>
                  <a:schemeClr val="tx1"/>
                </a:solidFill>
                <a:latin typeface="Nanum Gothic" panose="020D0604000000000000" pitchFamily="34" charset="-127"/>
                <a:ea typeface="Nanum Gothic" panose="020D0604000000000000" pitchFamily="34" charset="-127"/>
              </a:rPr>
              <a:t>.</a:t>
            </a:r>
          </a:p>
        </p:txBody>
      </p:sp>
      <p:sp>
        <p:nvSpPr>
          <p:cNvPr id="59" name="TextBox 58"/>
          <p:cNvSpPr txBox="1"/>
          <p:nvPr/>
        </p:nvSpPr>
        <p:spPr>
          <a:xfrm>
            <a:off x="3619007" y="1014605"/>
            <a:ext cx="1154483" cy="246221"/>
          </a:xfrm>
          <a:prstGeom prst="rect">
            <a:avLst/>
          </a:prstGeom>
          <a:noFill/>
        </p:spPr>
        <p:txBody>
          <a:bodyPr wrap="none" rtlCol="0">
            <a:spAutoFit/>
          </a:bodyPr>
          <a:lstStyle/>
          <a:p>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r>
              <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rPr>
              <a:t>앞장에서 이어짐</a:t>
            </a:r>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endPar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endParaRPr>
          </a:p>
        </p:txBody>
      </p:sp>
      <p:sp>
        <p:nvSpPr>
          <p:cNvPr id="68" name="직사각형 67"/>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9" name="직사각형 68"/>
          <p:cNvSpPr/>
          <p:nvPr/>
        </p:nvSpPr>
        <p:spPr>
          <a:xfrm>
            <a:off x="128462" y="365490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0" name="직사각형 69"/>
          <p:cNvSpPr/>
          <p:nvPr/>
        </p:nvSpPr>
        <p:spPr>
          <a:xfrm>
            <a:off x="128461" y="46731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1" name="직사각형 70"/>
          <p:cNvSpPr/>
          <p:nvPr/>
        </p:nvSpPr>
        <p:spPr>
          <a:xfrm>
            <a:off x="128457" y="40018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2" name="직사각형 71"/>
          <p:cNvSpPr/>
          <p:nvPr/>
        </p:nvSpPr>
        <p:spPr>
          <a:xfrm>
            <a:off x="128457" y="43407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3" name="직사각형 72"/>
          <p:cNvSpPr/>
          <p:nvPr/>
        </p:nvSpPr>
        <p:spPr>
          <a:xfrm>
            <a:off x="128458" y="2645211"/>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매출내역</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75" name="직사각형 74"/>
          <p:cNvSpPr/>
          <p:nvPr/>
        </p:nvSpPr>
        <p:spPr>
          <a:xfrm>
            <a:off x="128458" y="2978419"/>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74" name="직사각형 73"/>
          <p:cNvSpPr/>
          <p:nvPr/>
        </p:nvSpPr>
        <p:spPr>
          <a:xfrm>
            <a:off x="128461" y="3326855"/>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정산현황</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42" name="직사각형 41"/>
          <p:cNvSpPr/>
          <p:nvPr/>
        </p:nvSpPr>
        <p:spPr>
          <a:xfrm>
            <a:off x="5537801" y="6406449"/>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업로드</a:t>
            </a:r>
          </a:p>
        </p:txBody>
      </p:sp>
      <p:sp>
        <p:nvSpPr>
          <p:cNvPr id="44" name="직사각형 43"/>
          <p:cNvSpPr/>
          <p:nvPr/>
        </p:nvSpPr>
        <p:spPr>
          <a:xfrm>
            <a:off x="6453629" y="6393830"/>
            <a:ext cx="864096"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사업장승인요청</a:t>
            </a:r>
          </a:p>
        </p:txBody>
      </p:sp>
      <p:sp>
        <p:nvSpPr>
          <p:cNvPr id="45" name="직사각형 44"/>
          <p:cNvSpPr/>
          <p:nvPr/>
        </p:nvSpPr>
        <p:spPr>
          <a:xfrm>
            <a:off x="4624203" y="6406449"/>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다운로드</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정산관리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정산현황</a:t>
            </a:r>
            <a:r>
              <a:rPr lang="ko-KR" altLang="en-US" dirty="0">
                <a:latin typeface="Nanum Gothic" panose="020D0604000000000000" pitchFamily="34" charset="-127"/>
                <a:ea typeface="Nanum Gothic" panose="020D0604000000000000" pitchFamily="34" charset="-127"/>
              </a:rPr>
              <a:t>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총판사</a:t>
            </a:r>
            <a:r>
              <a:rPr lang="ko-KR" altLang="en-US" dirty="0">
                <a:solidFill>
                  <a:srgbClr val="C00000"/>
                </a:solidFill>
                <a:latin typeface="Nanum Gothic" panose="020D0604000000000000" pitchFamily="34" charset="-127"/>
                <a:ea typeface="Nanum Gothic" panose="020D0604000000000000" pitchFamily="34" charset="-127"/>
              </a:rPr>
              <a:t> 로그인시</a:t>
            </a:r>
            <a:r>
              <a:rPr lang="en-US" altLang="ko-KR" dirty="0">
                <a:solidFill>
                  <a:srgbClr val="C00000"/>
                </a:solidFill>
                <a:latin typeface="Nanum Gothic" panose="020D0604000000000000" pitchFamily="34" charset="-127"/>
                <a:ea typeface="Nanum Gothic" panose="020D0604000000000000" pitchFamily="34" charset="-127"/>
              </a:rPr>
              <a:t>)</a:t>
            </a:r>
            <a:endParaRPr lang="ko-KR" altLang="en-US" dirty="0">
              <a:solidFill>
                <a:srgbClr val="C00000"/>
              </a:solidFill>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471228" y="693276"/>
            <a:ext cx="598242" cy="215444"/>
          </a:xfrm>
          <a:prstGeom prst="rect">
            <a:avLst/>
          </a:prstGeom>
        </p:spPr>
        <p:txBody>
          <a:bodyPr wrap="none">
            <a:spAutoFit/>
          </a:bodyPr>
          <a:lstStyle/>
          <a:p>
            <a:pPr algn="r"/>
            <a:r>
              <a:rPr lang="ko-KR" altLang="en-US" sz="800" dirty="0" err="1">
                <a:latin typeface="Nanum Gothic" panose="020D0604000000000000" pitchFamily="34" charset="-127"/>
                <a:ea typeface="Nanum Gothic" panose="020D0604000000000000" pitchFamily="34" charset="-127"/>
              </a:rPr>
              <a:t>레저큐</a:t>
            </a:r>
            <a:r>
              <a:rPr lang="ko-KR" altLang="en-US" sz="800" dirty="0">
                <a:latin typeface="Nanum Gothic" panose="020D0604000000000000" pitchFamily="34" charset="-127"/>
                <a:ea typeface="Nanum Gothic" panose="020D0604000000000000" pitchFamily="34" charset="-127"/>
              </a:rPr>
              <a:t>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6" name="TextBox 105"/>
          <p:cNvSpPr txBox="1"/>
          <p:nvPr/>
        </p:nvSpPr>
        <p:spPr>
          <a:xfrm>
            <a:off x="1191375" y="1085116"/>
            <a:ext cx="761747"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정산현황</a:t>
            </a:r>
            <a:endParaRPr lang="ko-KR" altLang="en-US" sz="1200" b="1" dirty="0">
              <a:latin typeface="Nanum Gothic" panose="020D0604000000000000" pitchFamily="34" charset="-127"/>
              <a:ea typeface="Nanum Gothic" panose="020D0604000000000000" pitchFamily="34" charset="-127"/>
            </a:endParaRPr>
          </a:p>
        </p:txBody>
      </p:sp>
      <p:sp>
        <p:nvSpPr>
          <p:cNvPr id="119" name="TextBox 118"/>
          <p:cNvSpPr txBox="1"/>
          <p:nvPr/>
        </p:nvSpPr>
        <p:spPr>
          <a:xfrm>
            <a:off x="1191375" y="1313869"/>
            <a:ext cx="1955985"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정산서를</a:t>
            </a:r>
            <a:r>
              <a:rPr lang="ko-KR" altLang="en-US" sz="800" dirty="0">
                <a:latin typeface="Nanum Gothic" panose="020D0604000000000000" pitchFamily="34" charset="-127"/>
                <a:ea typeface="Nanum Gothic" panose="020D0604000000000000" pitchFamily="34" charset="-127"/>
              </a:rPr>
              <a:t> 확인하고 관리 할 수 있습니다</a:t>
            </a:r>
            <a:r>
              <a:rPr lang="en-US" altLang="ko-KR" sz="800" dirty="0">
                <a:latin typeface="Nanum Gothic" panose="020D0604000000000000" pitchFamily="34" charset="-127"/>
                <a:ea typeface="Nanum Gothic" panose="020D0604000000000000" pitchFamily="34" charset="-127"/>
              </a:rPr>
              <a:t>. </a:t>
            </a:r>
            <a:r>
              <a:rPr lang="ko-KR" altLang="en-US" sz="800" dirty="0">
                <a:latin typeface="Nanum Gothic" panose="020D0604000000000000" pitchFamily="34" charset="-127"/>
                <a:ea typeface="Nanum Gothic" panose="020D0604000000000000" pitchFamily="34" charset="-127"/>
              </a:rPr>
              <a:t> </a:t>
            </a:r>
          </a:p>
        </p:txBody>
      </p:sp>
      <p:pic>
        <p:nvPicPr>
          <p:cNvPr id="44" name="그림 43"/>
          <p:cNvPicPr>
            <a:picLocks noChangeAspect="1"/>
          </p:cNvPicPr>
          <p:nvPr/>
        </p:nvPicPr>
        <p:blipFill>
          <a:blip r:embed="rId2" cstate="print"/>
          <a:stretch>
            <a:fillRect/>
          </a:stretch>
        </p:blipFill>
        <p:spPr>
          <a:xfrm>
            <a:off x="2831048" y="4676911"/>
            <a:ext cx="3000375" cy="301408"/>
          </a:xfrm>
          <a:prstGeom prst="rect">
            <a:avLst/>
          </a:prstGeom>
        </p:spPr>
      </p:pic>
      <p:sp>
        <p:nvSpPr>
          <p:cNvPr id="55" name="직사각형 54"/>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6" name="직사각형 55"/>
          <p:cNvSpPr/>
          <p:nvPr/>
        </p:nvSpPr>
        <p:spPr>
          <a:xfrm>
            <a:off x="128462" y="365490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8" name="직사각형 57"/>
          <p:cNvSpPr/>
          <p:nvPr/>
        </p:nvSpPr>
        <p:spPr>
          <a:xfrm>
            <a:off x="128461" y="46731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59" name="직사각형 58"/>
          <p:cNvSpPr/>
          <p:nvPr/>
        </p:nvSpPr>
        <p:spPr>
          <a:xfrm>
            <a:off x="128457" y="40018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1" name="직사각형 60"/>
          <p:cNvSpPr/>
          <p:nvPr/>
        </p:nvSpPr>
        <p:spPr>
          <a:xfrm>
            <a:off x="128457" y="43407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128458" y="2645211"/>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매출내역</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128458" y="2978419"/>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128461" y="3326855"/>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정산현황</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graphicFrame>
        <p:nvGraphicFramePr>
          <p:cNvPr id="67" name="표 66"/>
          <p:cNvGraphicFramePr>
            <a:graphicFrameLocks noGrp="1"/>
          </p:cNvGraphicFramePr>
          <p:nvPr/>
        </p:nvGraphicFramePr>
        <p:xfrm>
          <a:off x="1280592" y="1634820"/>
          <a:ext cx="6048672" cy="85958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4688145">
                  <a:extLst>
                    <a:ext uri="{9D8B030D-6E8A-4147-A177-3AD203B41FA5}">
                      <a16:colId xmlns:a16="http://schemas.microsoft.com/office/drawing/2014/main" val="20001"/>
                    </a:ext>
                  </a:extLst>
                </a:gridCol>
                <a:gridCol w="640447">
                  <a:extLst>
                    <a:ext uri="{9D8B030D-6E8A-4147-A177-3AD203B41FA5}">
                      <a16:colId xmlns:a16="http://schemas.microsoft.com/office/drawing/2014/main" val="20002"/>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기간</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960880"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정산상태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r>
                        <a:rPr lang="ko-KR" altLang="en-US" sz="800" b="0" dirty="0">
                          <a:solidFill>
                            <a:schemeClr val="tx1"/>
                          </a:solidFill>
                          <a:latin typeface="Nanum Gothic" panose="020D0604000000000000" pitchFamily="34" charset="-127"/>
                          <a:ea typeface="Nanum Gothic" panose="020D0604000000000000" pitchFamily="34" charset="-127"/>
                        </a:rPr>
                        <a:t>● 전체    ○사업장승인대기    ○</a:t>
                      </a: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사업장승인거부      </a:t>
                      </a:r>
                      <a:r>
                        <a:rPr lang="ko-KR" altLang="en-US" sz="800" b="0" dirty="0">
                          <a:solidFill>
                            <a:schemeClr val="tx1"/>
                          </a:solidFill>
                          <a:latin typeface="Nanum Gothic" panose="020D0604000000000000" pitchFamily="34" charset="-127"/>
                          <a:ea typeface="Nanum Gothic" panose="020D0604000000000000" pitchFamily="34" charset="-127"/>
                        </a:rPr>
                        <a:t>○사업장승인완료      ○</a:t>
                      </a:r>
                      <a:r>
                        <a:rPr lang="ko-KR" altLang="en-US" sz="800" b="0" dirty="0" err="1">
                          <a:solidFill>
                            <a:schemeClr val="tx1"/>
                          </a:solidFill>
                          <a:latin typeface="Nanum Gothic" panose="020D0604000000000000" pitchFamily="34" charset="-127"/>
                          <a:ea typeface="Nanum Gothic" panose="020D0604000000000000" pitchFamily="34" charset="-127"/>
                        </a:rPr>
                        <a:t>정산완료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68" name="직사각형 67"/>
          <p:cNvSpPr/>
          <p:nvPr/>
        </p:nvSpPr>
        <p:spPr>
          <a:xfrm>
            <a:off x="5050017"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당일</a:t>
            </a:r>
          </a:p>
        </p:txBody>
      </p:sp>
      <p:sp>
        <p:nvSpPr>
          <p:cNvPr id="69" name="직사각형 68"/>
          <p:cNvSpPr/>
          <p:nvPr/>
        </p:nvSpPr>
        <p:spPr>
          <a:xfrm>
            <a:off x="5510772"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70" name="직사각형 69"/>
          <p:cNvSpPr/>
          <p:nvPr/>
        </p:nvSpPr>
        <p:spPr>
          <a:xfrm>
            <a:off x="5973239" y="1696438"/>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71" name="직사각형 70"/>
          <p:cNvSpPr/>
          <p:nvPr/>
        </p:nvSpPr>
        <p:spPr>
          <a:xfrm>
            <a:off x="3109748" y="166909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2020-02-01</a:t>
            </a:r>
            <a:endParaRPr lang="ko-KR" altLang="en-US" sz="900" dirty="0">
              <a:solidFill>
                <a:schemeClr val="tx1"/>
              </a:solidFill>
            </a:endParaRPr>
          </a:p>
        </p:txBody>
      </p:sp>
      <p:pic>
        <p:nvPicPr>
          <p:cNvPr id="72"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98714" y="169643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73" name="직사각형 72"/>
          <p:cNvSpPr/>
          <p:nvPr/>
        </p:nvSpPr>
        <p:spPr>
          <a:xfrm>
            <a:off x="4115369" y="166909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2020-02-29</a:t>
            </a:r>
            <a:endParaRPr lang="ko-KR" altLang="en-US" sz="900" dirty="0">
              <a:solidFill>
                <a:schemeClr val="tx1"/>
              </a:solidFill>
            </a:endParaRPr>
          </a:p>
        </p:txBody>
      </p:sp>
      <p:pic>
        <p:nvPicPr>
          <p:cNvPr id="74"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4335" y="169643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75" name="직사각형 74"/>
          <p:cNvSpPr/>
          <p:nvPr/>
        </p:nvSpPr>
        <p:spPr>
          <a:xfrm>
            <a:off x="6781836" y="1669099"/>
            <a:ext cx="524577" cy="20899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76" name="직사각형 75"/>
          <p:cNvSpPr/>
          <p:nvPr/>
        </p:nvSpPr>
        <p:spPr>
          <a:xfrm>
            <a:off x="6780157" y="1926853"/>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graphicFrame>
        <p:nvGraphicFramePr>
          <p:cNvPr id="77" name="표 76"/>
          <p:cNvGraphicFramePr>
            <a:graphicFrameLocks noGrp="1"/>
          </p:cNvGraphicFramePr>
          <p:nvPr/>
        </p:nvGraphicFramePr>
        <p:xfrm>
          <a:off x="1267854" y="3026038"/>
          <a:ext cx="7150237" cy="946614"/>
        </p:xfrm>
        <a:graphic>
          <a:graphicData uri="http://schemas.openxmlformats.org/drawingml/2006/table">
            <a:tbl>
              <a:tblPr/>
              <a:tblGrid>
                <a:gridCol w="213680">
                  <a:extLst>
                    <a:ext uri="{9D8B030D-6E8A-4147-A177-3AD203B41FA5}">
                      <a16:colId xmlns:a16="http://schemas.microsoft.com/office/drawing/2014/main" val="20000"/>
                    </a:ext>
                  </a:extLst>
                </a:gridCol>
                <a:gridCol w="672604">
                  <a:extLst>
                    <a:ext uri="{9D8B030D-6E8A-4147-A177-3AD203B41FA5}">
                      <a16:colId xmlns:a16="http://schemas.microsoft.com/office/drawing/2014/main" val="20001"/>
                    </a:ext>
                  </a:extLst>
                </a:gridCol>
                <a:gridCol w="567204">
                  <a:extLst>
                    <a:ext uri="{9D8B030D-6E8A-4147-A177-3AD203B41FA5}">
                      <a16:colId xmlns:a16="http://schemas.microsoft.com/office/drawing/2014/main" val="20002"/>
                    </a:ext>
                  </a:extLst>
                </a:gridCol>
                <a:gridCol w="1248826">
                  <a:extLst>
                    <a:ext uri="{9D8B030D-6E8A-4147-A177-3AD203B41FA5}">
                      <a16:colId xmlns:a16="http://schemas.microsoft.com/office/drawing/2014/main" val="20003"/>
                    </a:ext>
                  </a:extLst>
                </a:gridCol>
                <a:gridCol w="470821">
                  <a:extLst>
                    <a:ext uri="{9D8B030D-6E8A-4147-A177-3AD203B41FA5}">
                      <a16:colId xmlns:a16="http://schemas.microsoft.com/office/drawing/2014/main" val="20004"/>
                    </a:ext>
                  </a:extLst>
                </a:gridCol>
                <a:gridCol w="538083">
                  <a:extLst>
                    <a:ext uri="{9D8B030D-6E8A-4147-A177-3AD203B41FA5}">
                      <a16:colId xmlns:a16="http://schemas.microsoft.com/office/drawing/2014/main" val="20005"/>
                    </a:ext>
                  </a:extLst>
                </a:gridCol>
                <a:gridCol w="681343">
                  <a:extLst>
                    <a:ext uri="{9D8B030D-6E8A-4147-A177-3AD203B41FA5}">
                      <a16:colId xmlns:a16="http://schemas.microsoft.com/office/drawing/2014/main" val="20006"/>
                    </a:ext>
                  </a:extLst>
                </a:gridCol>
                <a:gridCol w="588729">
                  <a:extLst>
                    <a:ext uri="{9D8B030D-6E8A-4147-A177-3AD203B41FA5}">
                      <a16:colId xmlns:a16="http://schemas.microsoft.com/office/drawing/2014/main" val="20007"/>
                    </a:ext>
                  </a:extLst>
                </a:gridCol>
                <a:gridCol w="569902">
                  <a:extLst>
                    <a:ext uri="{9D8B030D-6E8A-4147-A177-3AD203B41FA5}">
                      <a16:colId xmlns:a16="http://schemas.microsoft.com/office/drawing/2014/main" val="20008"/>
                    </a:ext>
                  </a:extLst>
                </a:gridCol>
                <a:gridCol w="599642">
                  <a:extLst>
                    <a:ext uri="{9D8B030D-6E8A-4147-A177-3AD203B41FA5}">
                      <a16:colId xmlns:a16="http://schemas.microsoft.com/office/drawing/2014/main" val="20009"/>
                    </a:ext>
                  </a:extLst>
                </a:gridCol>
                <a:gridCol w="999403">
                  <a:extLst>
                    <a:ext uri="{9D8B030D-6E8A-4147-A177-3AD203B41FA5}">
                      <a16:colId xmlns:a16="http://schemas.microsoft.com/office/drawing/2014/main" val="20010"/>
                    </a:ext>
                  </a:extLst>
                </a:gridCol>
              </a:tblGrid>
              <a:tr h="224704">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marL="0" marR="0" indent="0" algn="ctr" defTabSz="914400" rtl="0" eaLnBrk="1" fontAlgn="ctr" latinLnBrk="1" hangingPunct="1">
                        <a:lnSpc>
                          <a:spcPct val="100000"/>
                        </a:lnSpc>
                        <a:spcBef>
                          <a:spcPts val="0"/>
                        </a:spcBef>
                        <a:spcAft>
                          <a:spcPts val="0"/>
                        </a:spcAft>
                        <a:buClrTx/>
                        <a:buSzTx/>
                        <a:buFontTx/>
                        <a:buNone/>
                        <a:defRPr/>
                      </a:pP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정산상태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정산기간</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총판사명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시설사명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지급예정일</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판매가</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수수료</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정산금액</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정산서</a:t>
                      </a: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 최종 </a:t>
                      </a: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등록일시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24704">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사업장</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승인대기</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레저큐</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1,320,000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2020-02-01</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24704">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정산완료</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dirty="0">
                          <a:solidFill>
                            <a:srgbClr val="676A6C"/>
                          </a:solidFill>
                          <a:effectLst/>
                          <a:latin typeface="Nanum Gothic" panose="020D0604000000000000" pitchFamily="34" charset="-127"/>
                          <a:ea typeface="Nanum Gothic" panose="020D0604000000000000" pitchFamily="34" charset="-127"/>
                        </a:rPr>
                        <a:t>2020-01-01~2020-01-31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레저큐</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롯데월드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dirty="0">
                          <a:solidFill>
                            <a:srgbClr val="676A6C"/>
                          </a:solidFill>
                          <a:effectLst/>
                          <a:latin typeface="Nanum Gothic" panose="020D0604000000000000" pitchFamily="34" charset="-127"/>
                          <a:ea typeface="Nanum Gothic" panose="020D0604000000000000" pitchFamily="34" charset="-127"/>
                        </a:rPr>
                        <a:t>2020-02-15</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200,000</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2020-02-01</a:t>
                      </a: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24704">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r" fontAlgn="ctr" latinLnBrk="1"/>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latinLnBrk="1"/>
                      <a:endParaRPr lang="en-US" altLang="ko-KR" sz="800" dirty="0">
                        <a:solidFill>
                          <a:srgbClr val="676A6C"/>
                        </a:solidFill>
                        <a:effectLst/>
                        <a:latin typeface="Nanum Gothic" panose="020D0604000000000000" pitchFamily="34" charset="-127"/>
                        <a:ea typeface="Nanum Gothic" panose="020D0604000000000000" pitchFamily="34" charset="-127"/>
                      </a:endParaRPr>
                    </a:p>
                  </a:txBody>
                  <a:tcPr marL="34792" marR="34792" marT="8698" marB="8698"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8" name="TextBox 77"/>
          <p:cNvSpPr txBox="1"/>
          <p:nvPr/>
        </p:nvSpPr>
        <p:spPr>
          <a:xfrm>
            <a:off x="1215178" y="2763718"/>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79" name="직사각형 78"/>
          <p:cNvSpPr/>
          <p:nvPr/>
        </p:nvSpPr>
        <p:spPr>
          <a:xfrm>
            <a:off x="1667185" y="2768109"/>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80" name="직사각형 79"/>
          <p:cNvSpPr/>
          <p:nvPr/>
        </p:nvSpPr>
        <p:spPr>
          <a:xfrm>
            <a:off x="1497421" y="3273975"/>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81" name="직사각형 80"/>
          <p:cNvSpPr/>
          <p:nvPr/>
        </p:nvSpPr>
        <p:spPr>
          <a:xfrm>
            <a:off x="1505488" y="3529948"/>
            <a:ext cx="606406"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정산서보기</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82" name="직사각형 81"/>
          <p:cNvSpPr/>
          <p:nvPr/>
        </p:nvSpPr>
        <p:spPr>
          <a:xfrm>
            <a:off x="6465168" y="2789494"/>
            <a:ext cx="847629" cy="163892"/>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반려</a:t>
            </a:r>
          </a:p>
        </p:txBody>
      </p:sp>
      <p:sp>
        <p:nvSpPr>
          <p:cNvPr id="83" name="직사각형 82"/>
          <p:cNvSpPr/>
          <p:nvPr/>
        </p:nvSpPr>
        <p:spPr>
          <a:xfrm>
            <a:off x="2058755" y="1675210"/>
            <a:ext cx="937005" cy="202883"/>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정산서등록일   ▽</a:t>
            </a:r>
          </a:p>
        </p:txBody>
      </p:sp>
      <p:sp>
        <p:nvSpPr>
          <p:cNvPr id="84" name="직사각형 83"/>
          <p:cNvSpPr/>
          <p:nvPr/>
        </p:nvSpPr>
        <p:spPr>
          <a:xfrm>
            <a:off x="2058755" y="1958877"/>
            <a:ext cx="1729716"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graphicFrame>
        <p:nvGraphicFramePr>
          <p:cNvPr id="49" name="표 48"/>
          <p:cNvGraphicFramePr>
            <a:graphicFrameLocks noGrp="1"/>
          </p:cNvGraphicFramePr>
          <p:nvPr/>
        </p:nvGraphicFramePr>
        <p:xfrm>
          <a:off x="7453089" y="846669"/>
          <a:ext cx="2357214" cy="9475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95250" marR="0" lvl="0" indent="-9525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총찬사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반려</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보기만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사업장승인대기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상태시에만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선택 후 반려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보기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보기 페이지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현재창</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50" name="직사각형 49"/>
          <p:cNvSpPr/>
          <p:nvPr/>
        </p:nvSpPr>
        <p:spPr>
          <a:xfrm>
            <a:off x="4657879" y="4097133"/>
            <a:ext cx="2609642" cy="607106"/>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lang="en-US" altLang="ko-KR" sz="900" dirty="0">
                <a:solidFill>
                  <a:schemeClr val="tx1"/>
                </a:solidFill>
                <a:latin typeface="Nanum Gothic" panose="020D0604000000000000" pitchFamily="34" charset="-127"/>
                <a:ea typeface="Nanum Gothic" panose="020D0604000000000000" pitchFamily="34" charset="-127"/>
              </a:rPr>
              <a:t>N</a:t>
            </a:r>
            <a:r>
              <a:rPr lang="ko-KR" altLang="en-US" sz="900" dirty="0">
                <a:solidFill>
                  <a:schemeClr val="tx1"/>
                </a:solidFill>
                <a:latin typeface="Nanum Gothic" panose="020D0604000000000000" pitchFamily="34" charset="-127"/>
                <a:ea typeface="Nanum Gothic" panose="020D0604000000000000" pitchFamily="34" charset="-127"/>
              </a:rPr>
              <a:t>개의 </a:t>
            </a:r>
            <a:r>
              <a:rPr lang="ko-KR" altLang="en-US" sz="900" dirty="0" err="1">
                <a:solidFill>
                  <a:schemeClr val="tx1"/>
                </a:solidFill>
                <a:latin typeface="Nanum Gothic" panose="020D0604000000000000" pitchFamily="34" charset="-127"/>
                <a:ea typeface="Nanum Gothic" panose="020D0604000000000000" pitchFamily="34" charset="-127"/>
              </a:rPr>
              <a:t>정산서가</a:t>
            </a:r>
            <a:r>
              <a:rPr lang="ko-KR" altLang="en-US" sz="900" dirty="0">
                <a:solidFill>
                  <a:schemeClr val="tx1"/>
                </a:solidFill>
                <a:latin typeface="Nanum Gothic" panose="020D0604000000000000" pitchFamily="34" charset="-127"/>
                <a:ea typeface="Nanum Gothic" panose="020D0604000000000000" pitchFamily="34" charset="-127"/>
              </a:rPr>
              <a:t> 반려되었습니다</a:t>
            </a:r>
            <a:r>
              <a:rPr lang="en-US" altLang="ko-KR" sz="900" dirty="0">
                <a:solidFill>
                  <a:schemeClr val="tx1"/>
                </a:solidFill>
                <a:latin typeface="Nanum Gothic" panose="020D0604000000000000" pitchFamily="34" charset="-127"/>
                <a:ea typeface="Nanum Gothic" panose="020D0604000000000000" pitchFamily="34" charset="-127"/>
              </a:rPr>
              <a:t>.</a:t>
            </a:r>
          </a:p>
          <a:p>
            <a:pPr algn="ctr"/>
            <a:endParaRPr lang="ko-KR" altLang="en-US" sz="900" dirty="0">
              <a:solidFill>
                <a:schemeClr val="tx1"/>
              </a:solidFill>
              <a:latin typeface="Nanum Gothic" panose="020D0604000000000000" pitchFamily="34" charset="-127"/>
              <a:ea typeface="Nanum Gothic" panose="020D0604000000000000" pitchFamily="34" charset="-127"/>
            </a:endParaRPr>
          </a:p>
        </p:txBody>
      </p:sp>
      <p:sp>
        <p:nvSpPr>
          <p:cNvPr id="51" name="직사각형 50"/>
          <p:cNvSpPr/>
          <p:nvPr/>
        </p:nvSpPr>
        <p:spPr>
          <a:xfrm>
            <a:off x="5612873" y="4474611"/>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확인</a:t>
            </a:r>
          </a:p>
        </p:txBody>
      </p:sp>
      <p:cxnSp>
        <p:nvCxnSpPr>
          <p:cNvPr id="52" name="꺾인 연결선[E] 51"/>
          <p:cNvCxnSpPr>
            <a:endCxn id="50" idx="0"/>
          </p:cNvCxnSpPr>
          <p:nvPr/>
        </p:nvCxnSpPr>
        <p:spPr>
          <a:xfrm rot="10800000" flipV="1">
            <a:off x="5962700" y="2811917"/>
            <a:ext cx="476926" cy="1285216"/>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타원 52"/>
          <p:cNvSpPr/>
          <p:nvPr/>
        </p:nvSpPr>
        <p:spPr>
          <a:xfrm>
            <a:off x="6391528" y="267011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54" name="타원 53"/>
          <p:cNvSpPr/>
          <p:nvPr/>
        </p:nvSpPr>
        <p:spPr>
          <a:xfrm>
            <a:off x="1968652" y="364988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 name="표 52"/>
          <p:cNvGraphicFramePr>
            <a:graphicFrameLocks noGrp="1"/>
          </p:cNvGraphicFramePr>
          <p:nvPr/>
        </p:nvGraphicFramePr>
        <p:xfrm>
          <a:off x="7453089" y="836962"/>
          <a:ext cx="2357214" cy="15571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상태에 상관없이 마스터</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공통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현재 보고 있는 화면 엑셀로 다운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노출조건</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YES &amp;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사업장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승인대기</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화면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새로고침</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되고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2</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번</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,3</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번 버튼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미노출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사업자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승인완료</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로 변경</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노출조건</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YES &amp;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정산서상태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사업장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승인대기</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화면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새로고침</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되고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2</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번</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,3</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번 버튼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미노출</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정산상태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사업자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승인거부</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로 변경</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정산관리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정산현황</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정산서</a:t>
            </a:r>
            <a:r>
              <a:rPr lang="ko-KR" altLang="en-US" dirty="0">
                <a:latin typeface="Nanum Gothic" panose="020D0604000000000000" pitchFamily="34" charset="-127"/>
                <a:ea typeface="Nanum Gothic" panose="020D0604000000000000" pitchFamily="34" charset="-127"/>
              </a:rPr>
              <a:t>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총판사</a:t>
            </a:r>
            <a:r>
              <a:rPr lang="ko-KR" altLang="en-US" dirty="0">
                <a:solidFill>
                  <a:srgbClr val="C00000"/>
                </a:solidFill>
                <a:latin typeface="Nanum Gothic" panose="020D0604000000000000" pitchFamily="34" charset="-127"/>
                <a:ea typeface="Nanum Gothic" panose="020D0604000000000000" pitchFamily="34" charset="-127"/>
              </a:rPr>
              <a:t> 로그인시</a:t>
            </a:r>
            <a:r>
              <a:rPr lang="en-US" altLang="ko-KR" dirty="0">
                <a:solidFill>
                  <a:srgbClr val="C00000"/>
                </a:solidFill>
                <a:latin typeface="Nanum Gothic" panose="020D0604000000000000" pitchFamily="34" charset="-127"/>
                <a:ea typeface="Nanum Gothic" panose="020D0604000000000000" pitchFamily="34" charset="-127"/>
              </a:rPr>
              <a:t>)</a:t>
            </a:r>
            <a:endParaRPr lang="ko-KR" altLang="en-US" dirty="0">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6" name="TextBox 105"/>
          <p:cNvSpPr txBox="1"/>
          <p:nvPr/>
        </p:nvSpPr>
        <p:spPr>
          <a:xfrm>
            <a:off x="1191375" y="1085116"/>
            <a:ext cx="1366080"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정산현황</a:t>
            </a:r>
            <a:r>
              <a:rPr lang="ko-KR" altLang="en-US" sz="1200" b="1" dirty="0">
                <a:latin typeface="Nanum Gothic" panose="020D0604000000000000" pitchFamily="34" charset="-127"/>
                <a:ea typeface="Nanum Gothic" panose="020D0604000000000000" pitchFamily="34" charset="-127"/>
              </a:rPr>
              <a:t> </a:t>
            </a:r>
            <a:r>
              <a:rPr lang="en-US" altLang="ko-KR" sz="1200" b="1" dirty="0">
                <a:latin typeface="Nanum Gothic" panose="020D0604000000000000" pitchFamily="34" charset="-127"/>
                <a:ea typeface="Nanum Gothic" panose="020D0604000000000000" pitchFamily="34" charset="-127"/>
              </a:rPr>
              <a:t>&gt;</a:t>
            </a:r>
            <a:r>
              <a:rPr lang="ko-KR" altLang="en-US" sz="1200" b="1" dirty="0">
                <a:latin typeface="Nanum Gothic" panose="020D0604000000000000" pitchFamily="34" charset="-127"/>
                <a:ea typeface="Nanum Gothic" panose="020D0604000000000000" pitchFamily="34" charset="-127"/>
              </a:rPr>
              <a:t> </a:t>
            </a:r>
            <a:r>
              <a:rPr lang="ko-KR" altLang="en-US" sz="1200" b="1" dirty="0" err="1">
                <a:latin typeface="Nanum Gothic" panose="020D0604000000000000" pitchFamily="34" charset="-127"/>
                <a:ea typeface="Nanum Gothic" panose="020D0604000000000000" pitchFamily="34" charset="-127"/>
              </a:rPr>
              <a:t>정산서</a:t>
            </a:r>
            <a:endParaRPr lang="ko-KR" altLang="en-US" sz="1200" b="1" dirty="0">
              <a:latin typeface="Nanum Gothic" panose="020D0604000000000000" pitchFamily="34" charset="-127"/>
              <a:ea typeface="Nanum Gothic" panose="020D0604000000000000" pitchFamily="34" charset="-127"/>
            </a:endParaRPr>
          </a:p>
        </p:txBody>
      </p:sp>
      <p:sp>
        <p:nvSpPr>
          <p:cNvPr id="119" name="TextBox 118"/>
          <p:cNvSpPr txBox="1"/>
          <p:nvPr/>
        </p:nvSpPr>
        <p:spPr>
          <a:xfrm>
            <a:off x="1191375" y="1313869"/>
            <a:ext cx="1455848"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정산상세내역이 보여집니다</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a:t>
            </a:r>
          </a:p>
        </p:txBody>
      </p:sp>
      <p:graphicFrame>
        <p:nvGraphicFramePr>
          <p:cNvPr id="3" name="표 2"/>
          <p:cNvGraphicFramePr>
            <a:graphicFrameLocks noGrp="1"/>
          </p:cNvGraphicFramePr>
          <p:nvPr/>
        </p:nvGraphicFramePr>
        <p:xfrm>
          <a:off x="1267854" y="2936650"/>
          <a:ext cx="6049874" cy="1543198"/>
        </p:xfrm>
        <a:graphic>
          <a:graphicData uri="http://schemas.openxmlformats.org/drawingml/2006/table">
            <a:tbl>
              <a:tblPr/>
              <a:tblGrid>
                <a:gridCol w="483793">
                  <a:extLst>
                    <a:ext uri="{9D8B030D-6E8A-4147-A177-3AD203B41FA5}">
                      <a16:colId xmlns:a16="http://schemas.microsoft.com/office/drawing/2014/main" val="20000"/>
                    </a:ext>
                  </a:extLst>
                </a:gridCol>
                <a:gridCol w="409331">
                  <a:extLst>
                    <a:ext uri="{9D8B030D-6E8A-4147-A177-3AD203B41FA5}">
                      <a16:colId xmlns:a16="http://schemas.microsoft.com/office/drawing/2014/main" val="20001"/>
                    </a:ext>
                  </a:extLst>
                </a:gridCol>
                <a:gridCol w="1375580">
                  <a:extLst>
                    <a:ext uri="{9D8B030D-6E8A-4147-A177-3AD203B41FA5}">
                      <a16:colId xmlns:a16="http://schemas.microsoft.com/office/drawing/2014/main" val="20002"/>
                    </a:ext>
                  </a:extLst>
                </a:gridCol>
                <a:gridCol w="756234">
                  <a:extLst>
                    <a:ext uri="{9D8B030D-6E8A-4147-A177-3AD203B41FA5}">
                      <a16:colId xmlns:a16="http://schemas.microsoft.com/office/drawing/2014/main" val="20003"/>
                    </a:ext>
                  </a:extLst>
                </a:gridCol>
                <a:gridCol w="756234">
                  <a:extLst>
                    <a:ext uri="{9D8B030D-6E8A-4147-A177-3AD203B41FA5}">
                      <a16:colId xmlns:a16="http://schemas.microsoft.com/office/drawing/2014/main" val="20004"/>
                    </a:ext>
                  </a:extLst>
                </a:gridCol>
                <a:gridCol w="756234">
                  <a:extLst>
                    <a:ext uri="{9D8B030D-6E8A-4147-A177-3AD203B41FA5}">
                      <a16:colId xmlns:a16="http://schemas.microsoft.com/office/drawing/2014/main" val="20005"/>
                    </a:ext>
                  </a:extLst>
                </a:gridCol>
                <a:gridCol w="756234">
                  <a:extLst>
                    <a:ext uri="{9D8B030D-6E8A-4147-A177-3AD203B41FA5}">
                      <a16:colId xmlns:a16="http://schemas.microsoft.com/office/drawing/2014/main" val="20006"/>
                    </a:ext>
                  </a:extLst>
                </a:gridCol>
                <a:gridCol w="756234">
                  <a:extLst>
                    <a:ext uri="{9D8B030D-6E8A-4147-A177-3AD203B41FA5}">
                      <a16:colId xmlns:a16="http://schemas.microsoft.com/office/drawing/2014/main" val="20007"/>
                    </a:ext>
                  </a:extLst>
                </a:gridCol>
              </a:tblGrid>
              <a:tr h="0">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구분</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채널</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상품명</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a:solidFill>
                            <a:schemeClr val="tx1"/>
                          </a:solidFill>
                          <a:effectLst/>
                          <a:latin typeface="Nanum Gothic" panose="020D0604000000000000" pitchFamily="34" charset="-127"/>
                          <a:ea typeface="Nanum Gothic" panose="020D0604000000000000" pitchFamily="34" charset="-127"/>
                        </a:rPr>
                        <a:t>단가</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a:solidFill>
                            <a:schemeClr val="tx1"/>
                          </a:solidFill>
                          <a:effectLst/>
                          <a:latin typeface="Nanum Gothic" panose="020D0604000000000000" pitchFamily="34" charset="-127"/>
                          <a:ea typeface="Nanum Gothic" panose="020D0604000000000000" pitchFamily="34" charset="-127"/>
                        </a:rPr>
                        <a:t>수량</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판매가</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공급가</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수수료</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gridSpan="4">
                  <a:txBody>
                    <a:bodyPr/>
                    <a:lstStyle/>
                    <a:p>
                      <a:pPr algn="r" fontAlgn="ctr" latinLnBrk="1"/>
                      <a:r>
                        <a:rPr lang="ko-KR" altLang="en-US" sz="900" b="1" dirty="0">
                          <a:solidFill>
                            <a:schemeClr val="tx1"/>
                          </a:solidFill>
                          <a:effectLst/>
                          <a:latin typeface="Nanum Gothic" panose="020D0604000000000000" pitchFamily="34" charset="-127"/>
                          <a:ea typeface="Nanum Gothic" panose="020D0604000000000000" pitchFamily="34" charset="-127"/>
                        </a:rPr>
                        <a:t>합계</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lnL w="9525" cap="flat" cmpd="sng" algn="ctr">
                      <a:solidFill>
                        <a:srgbClr val="E7E7E7"/>
                      </a:solidFill>
                      <a:prstDash val="solid"/>
                      <a:round/>
                      <a:headEnd type="none" w="med" len="med"/>
                      <a:tailEnd type="none" w="med" len="med"/>
                    </a:lnL>
                    <a:lnT w="9525" cap="flat" cmpd="sng" algn="ctr">
                      <a:solidFill>
                        <a:srgbClr val="E7EAEC"/>
                      </a:solidFill>
                      <a:prstDash val="solid"/>
                      <a:round/>
                      <a:headEnd type="none" w="med" len="med"/>
                      <a:tailEnd type="none" w="med" len="med"/>
                    </a:lnT>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429</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4,037,200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3,350,876</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fontAlgn="ctr" latinLnBrk="1"/>
                      <a:r>
                        <a:rPr lang="en-US" altLang="ko-KR" sz="900" b="1" dirty="0">
                          <a:solidFill>
                            <a:schemeClr val="tx1"/>
                          </a:solidFill>
                          <a:effectLst/>
                          <a:latin typeface="Nanum Gothic" panose="020D0604000000000000" pitchFamily="34" charset="-127"/>
                          <a:ea typeface="Nanum Gothic" panose="020D0604000000000000" pitchFamily="34" charset="-127"/>
                        </a:rPr>
                        <a:t>686,324</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352914">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err="1">
                          <a:solidFill>
                            <a:srgbClr val="676A6C"/>
                          </a:solidFill>
                          <a:effectLst/>
                          <a:latin typeface="Nanum Gothic" panose="020D0604000000000000" pitchFamily="34" charset="-127"/>
                          <a:ea typeface="Nanum Gothic" panose="020D0604000000000000" pitchFamily="34" charset="-127"/>
                        </a:rPr>
                        <a:t>쿠팡</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01.</a:t>
                      </a:r>
                      <a:r>
                        <a:rPr lang="ko-KR" altLang="en-US" sz="800">
                          <a:solidFill>
                            <a:srgbClr val="676A6C"/>
                          </a:solidFill>
                          <a:effectLst/>
                          <a:latin typeface="Nanum Gothic" panose="020D0604000000000000" pitchFamily="34" charset="-127"/>
                          <a:ea typeface="Nanum Gothic" panose="020D0604000000000000" pitchFamily="34" charset="-127"/>
                        </a:rPr>
                        <a:t>장비 </a:t>
                      </a:r>
                      <a:r>
                        <a:rPr lang="en-US" altLang="ko-KR" sz="800">
                          <a:solidFill>
                            <a:srgbClr val="676A6C"/>
                          </a:solidFill>
                          <a:effectLst/>
                          <a:latin typeface="Nanum Gothic" panose="020D0604000000000000" pitchFamily="34" charset="-127"/>
                          <a:ea typeface="Nanum Gothic" panose="020D0604000000000000" pitchFamily="34" charset="-127"/>
                        </a:rPr>
                        <a:t>2</a:t>
                      </a:r>
                      <a:r>
                        <a:rPr lang="ko-KR" altLang="en-US" sz="800">
                          <a:solidFill>
                            <a:srgbClr val="676A6C"/>
                          </a:solidFill>
                          <a:effectLst/>
                          <a:latin typeface="Nanum Gothic" panose="020D0604000000000000" pitchFamily="34" charset="-127"/>
                          <a:ea typeface="Nanum Gothic" panose="020D0604000000000000" pitchFamily="34" charset="-127"/>
                        </a:rPr>
                        <a:t>타임</a:t>
                      </a:r>
                      <a:r>
                        <a:rPr lang="en-US" altLang="ko-KR" sz="800">
                          <a:solidFill>
                            <a:srgbClr val="676A6C"/>
                          </a:solidFill>
                          <a:effectLst/>
                          <a:latin typeface="Nanum Gothic" panose="020D0604000000000000" pitchFamily="34" charset="-127"/>
                          <a:ea typeface="Nanum Gothic" panose="020D0604000000000000" pitchFamily="34" charset="-127"/>
                        </a:rPr>
                        <a:t>(8</a:t>
                      </a:r>
                      <a:r>
                        <a:rPr lang="ko-KR" altLang="en-US" sz="800">
                          <a:solidFill>
                            <a:srgbClr val="676A6C"/>
                          </a:solidFill>
                          <a:effectLst/>
                          <a:latin typeface="Nanum Gothic" panose="020D0604000000000000" pitchFamily="34" charset="-127"/>
                          <a:ea typeface="Nanum Gothic" panose="020D0604000000000000" pitchFamily="34" charset="-127"/>
                        </a:rPr>
                        <a:t>시간</a:t>
                      </a:r>
                      <a:r>
                        <a:rPr lang="en-US" altLang="ko-KR" sz="800">
                          <a:solidFill>
                            <a:srgbClr val="676A6C"/>
                          </a:solidFill>
                          <a:effectLst/>
                          <a:latin typeface="Nanum Gothic" panose="020D0604000000000000" pitchFamily="34" charset="-127"/>
                          <a:ea typeface="Nanum Gothic" panose="020D0604000000000000" pitchFamily="34" charset="-127"/>
                        </a:rPr>
                        <a:t>) - </a:t>
                      </a:r>
                      <a:r>
                        <a:rPr lang="ko-KR" altLang="en-US" sz="800">
                          <a:solidFill>
                            <a:srgbClr val="676A6C"/>
                          </a:solidFill>
                          <a:effectLst/>
                          <a:latin typeface="Nanum Gothic" panose="020D0604000000000000" pitchFamily="34" charset="-127"/>
                          <a:ea typeface="Nanum Gothic" panose="020D0604000000000000" pitchFamily="34" charset="-127"/>
                        </a:rPr>
                        <a:t>스키</a:t>
                      </a:r>
                      <a:r>
                        <a:rPr lang="en-US" sz="800">
                          <a:solidFill>
                            <a:srgbClr val="676A6C"/>
                          </a:solidFill>
                          <a:effectLst/>
                          <a:latin typeface="Nanum Gothic" panose="020D0604000000000000" pitchFamily="34" charset="-127"/>
                          <a:ea typeface="Nanum Gothic" panose="020D0604000000000000" pitchFamily="34" charset="-127"/>
                        </a:rPr>
                        <a:t>or</a:t>
                      </a:r>
                      <a:r>
                        <a:rPr lang="ko-KR" altLang="en-US" sz="800">
                          <a:solidFill>
                            <a:srgbClr val="676A6C"/>
                          </a:solidFill>
                          <a:effectLst/>
                          <a:latin typeface="Nanum Gothic" panose="020D0604000000000000" pitchFamily="34" charset="-127"/>
                          <a:ea typeface="Nanum Gothic" panose="020D0604000000000000" pitchFamily="34" charset="-127"/>
                        </a:rPr>
                        <a:t>보드 </a:t>
                      </a:r>
                      <a:r>
                        <a:rPr lang="en-US" altLang="ko-KR" sz="800">
                          <a:solidFill>
                            <a:srgbClr val="676A6C"/>
                          </a:solidFill>
                          <a:effectLst/>
                          <a:latin typeface="Nanum Gothic" panose="020D0604000000000000" pitchFamily="34" charset="-127"/>
                          <a:ea typeface="Nanum Gothic" panose="020D0604000000000000" pitchFamily="34" charset="-127"/>
                        </a:rPr>
                        <a:t>- (</a:t>
                      </a:r>
                      <a:r>
                        <a:rPr lang="ko-KR" altLang="en-US" sz="800">
                          <a:solidFill>
                            <a:srgbClr val="676A6C"/>
                          </a:solidFill>
                          <a:effectLst/>
                          <a:latin typeface="Nanum Gothic" panose="020D0604000000000000" pitchFamily="34" charset="-127"/>
                          <a:ea typeface="Nanum Gothic" panose="020D0604000000000000" pitchFamily="34" charset="-127"/>
                        </a:rPr>
                        <a:t>월</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금</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주중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17</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170,000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141,100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28,900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22530">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err="1">
                          <a:solidFill>
                            <a:srgbClr val="676A6C"/>
                          </a:solidFill>
                          <a:effectLst/>
                          <a:latin typeface="Nanum Gothic" panose="020D0604000000000000" pitchFamily="34" charset="-127"/>
                          <a:ea typeface="Nanum Gothic" panose="020D0604000000000000" pitchFamily="34" charset="-127"/>
                        </a:rPr>
                        <a:t>쿠팡</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02.</a:t>
                      </a:r>
                      <a:r>
                        <a:rPr lang="ko-KR" altLang="en-US" sz="800">
                          <a:solidFill>
                            <a:srgbClr val="676A6C"/>
                          </a:solidFill>
                          <a:effectLst/>
                          <a:latin typeface="Nanum Gothic" panose="020D0604000000000000" pitchFamily="34" charset="-127"/>
                          <a:ea typeface="Nanum Gothic" panose="020D0604000000000000" pitchFamily="34" charset="-127"/>
                        </a:rPr>
                        <a:t>장비 </a:t>
                      </a:r>
                      <a:r>
                        <a:rPr lang="en-US" altLang="ko-KR" sz="800">
                          <a:solidFill>
                            <a:srgbClr val="676A6C"/>
                          </a:solidFill>
                          <a:effectLst/>
                          <a:latin typeface="Nanum Gothic" panose="020D0604000000000000" pitchFamily="34" charset="-127"/>
                          <a:ea typeface="Nanum Gothic" panose="020D0604000000000000" pitchFamily="34" charset="-127"/>
                        </a:rPr>
                        <a:t>1</a:t>
                      </a:r>
                      <a:r>
                        <a:rPr lang="ko-KR" altLang="en-US" sz="800">
                          <a:solidFill>
                            <a:srgbClr val="676A6C"/>
                          </a:solidFill>
                          <a:effectLst/>
                          <a:latin typeface="Nanum Gothic" panose="020D0604000000000000" pitchFamily="34" charset="-127"/>
                          <a:ea typeface="Nanum Gothic" panose="020D0604000000000000" pitchFamily="34" charset="-127"/>
                        </a:rPr>
                        <a:t>타임</a:t>
                      </a:r>
                      <a:r>
                        <a:rPr lang="en-US" altLang="ko-KR" sz="800">
                          <a:solidFill>
                            <a:srgbClr val="676A6C"/>
                          </a:solidFill>
                          <a:effectLst/>
                          <a:latin typeface="Nanum Gothic" panose="020D0604000000000000" pitchFamily="34" charset="-127"/>
                          <a:ea typeface="Nanum Gothic" panose="020D0604000000000000" pitchFamily="34" charset="-127"/>
                        </a:rPr>
                        <a:t>(4</a:t>
                      </a:r>
                      <a:r>
                        <a:rPr lang="ko-KR" altLang="en-US" sz="800">
                          <a:solidFill>
                            <a:srgbClr val="676A6C"/>
                          </a:solidFill>
                          <a:effectLst/>
                          <a:latin typeface="Nanum Gothic" panose="020D0604000000000000" pitchFamily="34" charset="-127"/>
                          <a:ea typeface="Nanum Gothic" panose="020D0604000000000000" pitchFamily="34" charset="-127"/>
                        </a:rPr>
                        <a:t>시간</a:t>
                      </a:r>
                      <a:r>
                        <a:rPr lang="en-US" altLang="ko-KR" sz="800">
                          <a:solidFill>
                            <a:srgbClr val="676A6C"/>
                          </a:solidFill>
                          <a:effectLst/>
                          <a:latin typeface="Nanum Gothic" panose="020D0604000000000000" pitchFamily="34" charset="-127"/>
                          <a:ea typeface="Nanum Gothic" panose="020D0604000000000000" pitchFamily="34" charset="-127"/>
                        </a:rPr>
                        <a:t>) - </a:t>
                      </a:r>
                      <a:r>
                        <a:rPr lang="ko-KR" altLang="en-US" sz="800">
                          <a:solidFill>
                            <a:srgbClr val="676A6C"/>
                          </a:solidFill>
                          <a:effectLst/>
                          <a:latin typeface="Nanum Gothic" panose="020D0604000000000000" pitchFamily="34" charset="-127"/>
                          <a:ea typeface="Nanum Gothic" panose="020D0604000000000000" pitchFamily="34" charset="-127"/>
                        </a:rPr>
                        <a:t>스키</a:t>
                      </a:r>
                      <a:r>
                        <a:rPr lang="en-US" sz="800">
                          <a:solidFill>
                            <a:srgbClr val="676A6C"/>
                          </a:solidFill>
                          <a:effectLst/>
                          <a:latin typeface="Nanum Gothic" panose="020D0604000000000000" pitchFamily="34" charset="-127"/>
                          <a:ea typeface="Nanum Gothic" panose="020D0604000000000000" pitchFamily="34" charset="-127"/>
                        </a:rPr>
                        <a:t>or</a:t>
                      </a:r>
                      <a:r>
                        <a:rPr lang="ko-KR" altLang="en-US" sz="800">
                          <a:solidFill>
                            <a:srgbClr val="676A6C"/>
                          </a:solidFill>
                          <a:effectLst/>
                          <a:latin typeface="Nanum Gothic" panose="020D0604000000000000" pitchFamily="34" charset="-127"/>
                          <a:ea typeface="Nanum Gothic" panose="020D0604000000000000" pitchFamily="34" charset="-127"/>
                        </a:rPr>
                        <a:t>보드 </a:t>
                      </a:r>
                      <a:r>
                        <a:rPr lang="en-US" altLang="ko-KR" sz="800">
                          <a:solidFill>
                            <a:srgbClr val="676A6C"/>
                          </a:solidFill>
                          <a:effectLst/>
                          <a:latin typeface="Nanum Gothic" panose="020D0604000000000000" pitchFamily="34" charset="-127"/>
                          <a:ea typeface="Nanum Gothic" panose="020D0604000000000000" pitchFamily="34" charset="-127"/>
                        </a:rPr>
                        <a:t>- (</a:t>
                      </a:r>
                      <a:r>
                        <a:rPr lang="ko-KR" altLang="en-US" sz="800">
                          <a:solidFill>
                            <a:srgbClr val="676A6C"/>
                          </a:solidFill>
                          <a:effectLst/>
                          <a:latin typeface="Nanum Gothic" panose="020D0604000000000000" pitchFamily="34" charset="-127"/>
                          <a:ea typeface="Nanum Gothic" panose="020D0604000000000000" pitchFamily="34" charset="-127"/>
                        </a:rPr>
                        <a:t>토</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일</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공휴일</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주말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13</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130,000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107,900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22,100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144066">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a:solidFill>
                            <a:srgbClr val="676A6C"/>
                          </a:solidFill>
                          <a:effectLst/>
                          <a:latin typeface="Nanum Gothic" panose="020D0604000000000000" pitchFamily="34" charset="-127"/>
                          <a:ea typeface="Nanum Gothic" panose="020D0604000000000000" pitchFamily="34" charset="-127"/>
                        </a:rPr>
                        <a:t>가자고</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05.</a:t>
                      </a:r>
                      <a:r>
                        <a:rPr lang="ko-KR" altLang="en-US" sz="800">
                          <a:solidFill>
                            <a:srgbClr val="676A6C"/>
                          </a:solidFill>
                          <a:effectLst/>
                          <a:latin typeface="Nanum Gothic" panose="020D0604000000000000" pitchFamily="34" charset="-127"/>
                          <a:ea typeface="Nanum Gothic" panose="020D0604000000000000" pitchFamily="34" charset="-127"/>
                        </a:rPr>
                        <a:t>일반의류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16</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160,000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132,800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27,200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144066">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가자고</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06.</a:t>
                      </a:r>
                      <a:r>
                        <a:rPr lang="ko-KR" altLang="en-US" sz="800">
                          <a:solidFill>
                            <a:srgbClr val="676A6C"/>
                          </a:solidFill>
                          <a:effectLst/>
                          <a:latin typeface="Nanum Gothic" panose="020D0604000000000000" pitchFamily="34" charset="-127"/>
                          <a:ea typeface="Nanum Gothic" panose="020D0604000000000000" pitchFamily="34" charset="-127"/>
                        </a:rPr>
                        <a:t>고급의류 </a:t>
                      </a:r>
                      <a:r>
                        <a:rPr lang="en-US" altLang="ko-KR" sz="800">
                          <a:solidFill>
                            <a:srgbClr val="676A6C"/>
                          </a:solidFill>
                          <a:effectLst/>
                          <a:latin typeface="Nanum Gothic" panose="020D0604000000000000" pitchFamily="34" charset="-127"/>
                          <a:ea typeface="Nanum Gothic" panose="020D0604000000000000" pitchFamily="34" charset="-127"/>
                        </a:rPr>
                        <a:t>_191210</a:t>
                      </a:r>
                      <a:endParaRPr lang="ko-KR" altLang="en-US" sz="80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15,000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60,000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49,800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10,200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144066">
                <a:tc>
                  <a:txBody>
                    <a:bodyPr/>
                    <a:lstStyle/>
                    <a:p>
                      <a:pPr algn="ctr" fontAlgn="ctr" latinLnBrk="1"/>
                      <a:r>
                        <a:rPr lang="ko-KR" altLang="en-US" sz="800">
                          <a:solidFill>
                            <a:srgbClr val="676A6C"/>
                          </a:solidFill>
                          <a:effectLst/>
                          <a:latin typeface="Nanum Gothic" panose="020D0604000000000000" pitchFamily="34" charset="-127"/>
                          <a:ea typeface="Nanum Gothic" panose="020D0604000000000000" pitchFamily="34" charset="-127"/>
                        </a:rPr>
                        <a:t>신규</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ko-KR" altLang="en-US" sz="800" dirty="0">
                          <a:solidFill>
                            <a:srgbClr val="676A6C"/>
                          </a:solidFill>
                          <a:effectLst/>
                          <a:latin typeface="Nanum Gothic" panose="020D0604000000000000" pitchFamily="34" charset="-127"/>
                          <a:ea typeface="Nanum Gothic" panose="020D0604000000000000" pitchFamily="34" charset="-127"/>
                        </a:rPr>
                        <a:t>가자고</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07.</a:t>
                      </a:r>
                      <a:r>
                        <a:rPr lang="ko-KR" altLang="en-US" sz="800" dirty="0">
                          <a:solidFill>
                            <a:srgbClr val="676A6C"/>
                          </a:solidFill>
                          <a:effectLst/>
                          <a:latin typeface="Nanum Gothic" panose="020D0604000000000000" pitchFamily="34" charset="-127"/>
                          <a:ea typeface="Nanum Gothic" panose="020D0604000000000000" pitchFamily="34" charset="-127"/>
                        </a:rPr>
                        <a:t>헬멧 </a:t>
                      </a:r>
                      <a:r>
                        <a:rPr lang="en-US" altLang="ko-KR" sz="800" dirty="0">
                          <a:solidFill>
                            <a:srgbClr val="676A6C"/>
                          </a:solidFill>
                          <a:effectLst/>
                          <a:latin typeface="Nanum Gothic" panose="020D0604000000000000" pitchFamily="34" charset="-127"/>
                          <a:ea typeface="Nanum Gothic" panose="020D0604000000000000" pitchFamily="34" charset="-127"/>
                        </a:rPr>
                        <a:t>_191210</a:t>
                      </a:r>
                      <a:endParaRPr lang="ko-KR" altLang="en-US" sz="800" dirty="0">
                        <a:solidFill>
                          <a:srgbClr val="676A6C"/>
                        </a:solidFill>
                        <a:effectLst/>
                        <a:latin typeface="Nanum Gothic" panose="020D0604000000000000" pitchFamily="34" charset="-127"/>
                        <a:ea typeface="Nanum Gothic" panose="020D0604000000000000" pitchFamily="34" charset="-127"/>
                      </a:endParaRP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9,000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7,470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1,530</a:t>
                      </a:r>
                    </a:p>
                  </a:txBody>
                  <a:tcPr marL="32259" marR="32259" marT="8065" marB="8065"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4" name="직사각형 53"/>
          <p:cNvSpPr/>
          <p:nvPr/>
        </p:nvSpPr>
        <p:spPr>
          <a:xfrm>
            <a:off x="1197716" y="2708732"/>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판매상세내역</a:t>
            </a:r>
            <a:endParaRPr lang="ko-KR" altLang="en-US" sz="700" b="1" dirty="0"/>
          </a:p>
        </p:txBody>
      </p:sp>
      <p:sp>
        <p:nvSpPr>
          <p:cNvPr id="55" name="직사각형 54"/>
          <p:cNvSpPr/>
          <p:nvPr/>
        </p:nvSpPr>
        <p:spPr>
          <a:xfrm>
            <a:off x="1173776" y="4583274"/>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a:t>
            </a:r>
            <a:r>
              <a:rPr lang="ko-KR" altLang="en-US" sz="900" b="1" dirty="0" err="1">
                <a:latin typeface="나눔고딕" pitchFamily="50" charset="-127"/>
                <a:ea typeface="나눔고딕" pitchFamily="50" charset="-127"/>
              </a:rPr>
              <a:t>조정금</a:t>
            </a:r>
            <a:r>
              <a:rPr lang="ko-KR" altLang="en-US" sz="900" b="1" dirty="0">
                <a:latin typeface="나눔고딕" pitchFamily="50" charset="-127"/>
                <a:ea typeface="나눔고딕" pitchFamily="50" charset="-127"/>
              </a:rPr>
              <a:t> </a:t>
            </a:r>
            <a:r>
              <a:rPr lang="ko-KR" altLang="en-US" sz="900" b="1" dirty="0" err="1">
                <a:latin typeface="나눔고딕" pitchFamily="50" charset="-127"/>
                <a:ea typeface="나눔고딕" pitchFamily="50" charset="-127"/>
              </a:rPr>
              <a:t>상세내역</a:t>
            </a:r>
            <a:endParaRPr lang="ko-KR" altLang="en-US" sz="700" b="1" dirty="0"/>
          </a:p>
        </p:txBody>
      </p:sp>
      <p:sp>
        <p:nvSpPr>
          <p:cNvPr id="15" name="TextBox 14"/>
          <p:cNvSpPr txBox="1"/>
          <p:nvPr/>
        </p:nvSpPr>
        <p:spPr>
          <a:xfrm>
            <a:off x="3619007" y="6474240"/>
            <a:ext cx="914033" cy="246221"/>
          </a:xfrm>
          <a:prstGeom prst="rect">
            <a:avLst/>
          </a:prstGeom>
          <a:noFill/>
        </p:spPr>
        <p:txBody>
          <a:bodyPr wrap="none" rtlCol="0">
            <a:spAutoFit/>
          </a:bodyPr>
          <a:lstStyle/>
          <a:p>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r>
              <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rPr>
              <a:t>뒷장에 계속</a:t>
            </a:r>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endPar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endParaRPr>
          </a:p>
        </p:txBody>
      </p:sp>
      <p:sp>
        <p:nvSpPr>
          <p:cNvPr id="58" name="직사각형 57"/>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9" name="직사각형 58"/>
          <p:cNvSpPr/>
          <p:nvPr/>
        </p:nvSpPr>
        <p:spPr>
          <a:xfrm>
            <a:off x="128462" y="365490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128461" y="46731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61" name="직사각형 60"/>
          <p:cNvSpPr/>
          <p:nvPr/>
        </p:nvSpPr>
        <p:spPr>
          <a:xfrm>
            <a:off x="128457" y="40018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128457" y="43407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128458" y="2645211"/>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매출내역</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65" name="직사각형 64"/>
          <p:cNvSpPr/>
          <p:nvPr/>
        </p:nvSpPr>
        <p:spPr>
          <a:xfrm>
            <a:off x="128458" y="2978419"/>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64" name="직사각형 63"/>
          <p:cNvSpPr/>
          <p:nvPr/>
        </p:nvSpPr>
        <p:spPr>
          <a:xfrm>
            <a:off x="128461" y="3326855"/>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정산현황</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graphicFrame>
        <p:nvGraphicFramePr>
          <p:cNvPr id="4" name="표 3"/>
          <p:cNvGraphicFramePr>
            <a:graphicFrameLocks noGrp="1"/>
          </p:cNvGraphicFramePr>
          <p:nvPr/>
        </p:nvGraphicFramePr>
        <p:xfrm>
          <a:off x="1250472" y="1788095"/>
          <a:ext cx="6067254" cy="765726"/>
        </p:xfrm>
        <a:graphic>
          <a:graphicData uri="http://schemas.openxmlformats.org/drawingml/2006/table">
            <a:tbl>
              <a:tblPr/>
              <a:tblGrid>
                <a:gridCol w="947498">
                  <a:extLst>
                    <a:ext uri="{9D8B030D-6E8A-4147-A177-3AD203B41FA5}">
                      <a16:colId xmlns:a16="http://schemas.microsoft.com/office/drawing/2014/main" val="20000"/>
                    </a:ext>
                  </a:extLst>
                </a:gridCol>
                <a:gridCol w="2016457">
                  <a:extLst>
                    <a:ext uri="{9D8B030D-6E8A-4147-A177-3AD203B41FA5}">
                      <a16:colId xmlns:a16="http://schemas.microsoft.com/office/drawing/2014/main" val="20001"/>
                    </a:ext>
                  </a:extLst>
                </a:gridCol>
                <a:gridCol w="1017170">
                  <a:extLst>
                    <a:ext uri="{9D8B030D-6E8A-4147-A177-3AD203B41FA5}">
                      <a16:colId xmlns:a16="http://schemas.microsoft.com/office/drawing/2014/main" val="20002"/>
                    </a:ext>
                  </a:extLst>
                </a:gridCol>
                <a:gridCol w="2086129">
                  <a:extLst>
                    <a:ext uri="{9D8B030D-6E8A-4147-A177-3AD203B41FA5}">
                      <a16:colId xmlns:a16="http://schemas.microsoft.com/office/drawing/2014/main" val="20003"/>
                    </a:ext>
                  </a:extLst>
                </a:gridCol>
              </a:tblGrid>
              <a:tr h="255242">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총판사</a:t>
                      </a:r>
                      <a:r>
                        <a:rPr lang="en-US" altLang="ko-KR" sz="900" b="1"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시설사</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err="1">
                          <a:solidFill>
                            <a:srgbClr val="000000"/>
                          </a:solidFill>
                          <a:effectLst/>
                          <a:latin typeface="Nanum Gothic" panose="020D0604000000000000" pitchFamily="34" charset="-127"/>
                          <a:ea typeface="Nanum Gothic" panose="020D0604000000000000" pitchFamily="34" charset="-127"/>
                        </a:rPr>
                        <a:t>레저큐</a:t>
                      </a:r>
                      <a:r>
                        <a:rPr lang="ko-KR" altLang="en-US" sz="9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900" b="0" i="0" u="none" strike="noStrike" dirty="0">
                          <a:solidFill>
                            <a:srgbClr val="000000"/>
                          </a:solidFill>
                          <a:effectLst/>
                          <a:latin typeface="Nanum Gothic" panose="020D0604000000000000" pitchFamily="34" charset="-127"/>
                          <a:ea typeface="Nanum Gothic" panose="020D0604000000000000" pitchFamily="34" charset="-127"/>
                        </a:rPr>
                        <a:t>/ </a:t>
                      </a:r>
                      <a:r>
                        <a:rPr lang="ko-KR" altLang="en-US" sz="900" b="0" i="0" u="none" strike="noStrike" dirty="0">
                          <a:solidFill>
                            <a:srgbClr val="000000"/>
                          </a:solidFill>
                          <a:effectLst/>
                          <a:latin typeface="Nanum Gothic" panose="020D0604000000000000" pitchFamily="34" charset="-127"/>
                          <a:ea typeface="Nanum Gothic" panose="020D0604000000000000" pitchFamily="34" charset="-127"/>
                        </a:rPr>
                        <a:t>에버랜드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정산서</a:t>
                      </a:r>
                      <a:r>
                        <a:rPr lang="ko-KR" altLang="en-US" sz="900" b="1" i="0" u="none" strike="noStrike" dirty="0">
                          <a:solidFill>
                            <a:srgbClr val="000000"/>
                          </a:solidFill>
                          <a:effectLst/>
                          <a:latin typeface="Nanum Gothic" panose="020D0604000000000000" pitchFamily="34" charset="-127"/>
                          <a:ea typeface="Nanum Gothic" panose="020D0604000000000000" pitchFamily="34" charset="-127"/>
                        </a:rPr>
                        <a:t> 상태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Nanum Gothic" panose="020D0604000000000000" pitchFamily="34" charset="-127"/>
                          <a:ea typeface="Nanum Gothic" panose="020D0604000000000000" pitchFamily="34" charset="-127"/>
                        </a:rPr>
                        <a:t> 사업자승인대기</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242">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정산기간</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8255" marR="0" lvl="0" indent="0" algn="ctr" defTabSz="914400" rtl="0" eaLnBrk="1" fontAlgn="ctr" latinLnBrk="1" hangingPunct="1">
                        <a:lnSpc>
                          <a:spcPct val="100000"/>
                        </a:lnSpc>
                        <a:spcBef>
                          <a:spcPts val="0"/>
                        </a:spcBef>
                        <a:spcAft>
                          <a:spcPts val="0"/>
                        </a:spcAft>
                        <a:buClrTx/>
                        <a:buSzTx/>
                        <a:buFontTx/>
                        <a:buNone/>
                        <a:defRPr/>
                      </a:pPr>
                      <a:r>
                        <a:rPr lang="en-US" altLang="ko-KR" sz="900" b="0" i="0" u="none" strike="noStrike" dirty="0">
                          <a:solidFill>
                            <a:srgbClr val="000000"/>
                          </a:solidFill>
                          <a:effectLst/>
                          <a:latin typeface="Nanum Gothic" panose="020D0604000000000000" pitchFamily="34" charset="-127"/>
                          <a:ea typeface="Nanum Gothic" panose="020D0604000000000000" pitchFamily="34" charset="-127"/>
                        </a:rPr>
                        <a:t>2020.01. 01 ~ 2020.01.31</a:t>
                      </a:r>
                      <a:endParaRPr lang="ko-KR" altLang="en-US" sz="9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지급예정일</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900" b="0" i="0" u="none" strike="noStrike" dirty="0">
                          <a:solidFill>
                            <a:srgbClr val="000000"/>
                          </a:solidFill>
                          <a:effectLst/>
                          <a:latin typeface="Nanum Gothic" panose="020D0604000000000000" pitchFamily="34" charset="-127"/>
                          <a:ea typeface="Nanum Gothic" panose="020D0604000000000000" pitchFamily="34" charset="-127"/>
                        </a:rPr>
                        <a:t>2020.02.15</a:t>
                      </a:r>
                      <a:endParaRPr lang="ko-KR" altLang="en-US" sz="9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242">
                <a:tc>
                  <a:txBody>
                    <a:bodyPr/>
                    <a:lstStyle/>
                    <a:p>
                      <a:pPr algn="ctr" fontAlgn="ctr"/>
                      <a:r>
                        <a:rPr lang="ko-KR" altLang="en-US" sz="900" b="1" i="0" u="none" strike="noStrike" dirty="0">
                          <a:solidFill>
                            <a:srgbClr val="000000"/>
                          </a:solidFill>
                          <a:effectLst/>
                          <a:latin typeface="Nanum Gothic" panose="020D0604000000000000" pitchFamily="34" charset="-127"/>
                          <a:ea typeface="Nanum Gothic" panose="020D0604000000000000" pitchFamily="34" charset="-127"/>
                        </a:rPr>
                        <a:t>판매가</a:t>
                      </a:r>
                      <a:r>
                        <a:rPr lang="en-US" altLang="ko-KR" sz="900" b="1"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900" b="1" i="0" u="none" strike="noStrike" dirty="0">
                          <a:solidFill>
                            <a:srgbClr val="000000"/>
                          </a:solidFill>
                          <a:effectLst/>
                          <a:latin typeface="Nanum Gothic" panose="020D0604000000000000" pitchFamily="34" charset="-127"/>
                          <a:ea typeface="Nanum Gothic" panose="020D0604000000000000" pitchFamily="34" charset="-127"/>
                        </a:rPr>
                        <a:t>수수료</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900" b="0" i="0" u="none" strike="noStrike" dirty="0">
                          <a:solidFill>
                            <a:srgbClr val="000000"/>
                          </a:solidFill>
                          <a:effectLst/>
                          <a:latin typeface="Nanum Gothic" panose="020D0604000000000000" pitchFamily="34" charset="-127"/>
                          <a:ea typeface="Nanum Gothic" panose="020D0604000000000000" pitchFamily="34" charset="-127"/>
                        </a:rPr>
                        <a:t>1,200,000 (120,000)</a:t>
                      </a:r>
                      <a:endParaRPr lang="ko-KR" altLang="en-US" sz="9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900" b="1" i="0" u="none" strike="noStrike" dirty="0" err="1">
                          <a:solidFill>
                            <a:srgbClr val="000000"/>
                          </a:solidFill>
                          <a:effectLst/>
                          <a:latin typeface="Nanum Gothic" panose="020D0604000000000000" pitchFamily="34" charset="-127"/>
                          <a:ea typeface="Nanum Gothic" panose="020D0604000000000000" pitchFamily="34" charset="-127"/>
                        </a:rPr>
                        <a:t>정산금액</a:t>
                      </a:r>
                      <a:endParaRPr lang="ko-KR" altLang="en-US" sz="900" b="1"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kumimoji="0" lang="en-US" altLang="ko-KR" sz="900" b="0" i="0" u="none" strike="noStrike" kern="1200" cap="none" spc="0" normalizeH="0" baseline="0" noProof="0" dirty="0">
                          <a:ln>
                            <a:noFill/>
                          </a:ln>
                          <a:solidFill>
                            <a:srgbClr val="676A6C"/>
                          </a:solidFill>
                          <a:effectLst/>
                          <a:uLnTx/>
                          <a:uFillTx/>
                          <a:latin typeface="Nanum Gothic" panose="020D0604000000000000" pitchFamily="34" charset="-127"/>
                          <a:ea typeface="Nanum Gothic" panose="020D0604000000000000" pitchFamily="34" charset="-127"/>
                          <a:cs typeface="+mn-cs"/>
                        </a:rPr>
                        <a:t>1,320,000</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4" name="직사각형 43"/>
          <p:cNvSpPr/>
          <p:nvPr/>
        </p:nvSpPr>
        <p:spPr>
          <a:xfrm>
            <a:off x="5557134" y="1167502"/>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승인</a:t>
            </a:r>
          </a:p>
        </p:txBody>
      </p:sp>
      <p:sp>
        <p:nvSpPr>
          <p:cNvPr id="56" name="직사각형 55"/>
          <p:cNvSpPr/>
          <p:nvPr/>
        </p:nvSpPr>
        <p:spPr>
          <a:xfrm>
            <a:off x="6472962" y="1154883"/>
            <a:ext cx="864096"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반려</a:t>
            </a:r>
          </a:p>
        </p:txBody>
      </p:sp>
      <p:sp>
        <p:nvSpPr>
          <p:cNvPr id="66" name="직사각형 65"/>
          <p:cNvSpPr/>
          <p:nvPr/>
        </p:nvSpPr>
        <p:spPr>
          <a:xfrm>
            <a:off x="4643536" y="1167502"/>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다운로드</a:t>
            </a:r>
          </a:p>
        </p:txBody>
      </p:sp>
      <p:sp>
        <p:nvSpPr>
          <p:cNvPr id="67" name="타원 66"/>
          <p:cNvSpPr/>
          <p:nvPr/>
        </p:nvSpPr>
        <p:spPr>
          <a:xfrm>
            <a:off x="4605847" y="1066722"/>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나눔고딕" pitchFamily="50" charset="-127"/>
                <a:ea typeface="나눔고딕" pitchFamily="50" charset="-127"/>
              </a:rPr>
              <a:t>1</a:t>
            </a:r>
            <a:endParaRPr lang="ko-KR" altLang="en-US" sz="800" b="1" dirty="0">
              <a:latin typeface="나눔고딕" pitchFamily="50" charset="-127"/>
              <a:ea typeface="나눔고딕" pitchFamily="50" charset="-127"/>
            </a:endParaRPr>
          </a:p>
        </p:txBody>
      </p:sp>
      <p:sp>
        <p:nvSpPr>
          <p:cNvPr id="68" name="타원 67"/>
          <p:cNvSpPr/>
          <p:nvPr/>
        </p:nvSpPr>
        <p:spPr>
          <a:xfrm>
            <a:off x="5537305" y="1076680"/>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나눔고딕" pitchFamily="50" charset="-127"/>
                <a:ea typeface="나눔고딕" pitchFamily="50" charset="-127"/>
              </a:rPr>
              <a:t>2</a:t>
            </a:r>
            <a:endParaRPr lang="ko-KR" altLang="en-US" sz="800" b="1" dirty="0">
              <a:latin typeface="나눔고딕" pitchFamily="50" charset="-127"/>
              <a:ea typeface="나눔고딕" pitchFamily="50" charset="-127"/>
            </a:endParaRPr>
          </a:p>
        </p:txBody>
      </p:sp>
      <p:sp>
        <p:nvSpPr>
          <p:cNvPr id="69" name="타원 68"/>
          <p:cNvSpPr/>
          <p:nvPr/>
        </p:nvSpPr>
        <p:spPr>
          <a:xfrm>
            <a:off x="6455014" y="1059284"/>
            <a:ext cx="149662" cy="1496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나눔고딕" pitchFamily="50" charset="-127"/>
                <a:ea typeface="나눔고딕" pitchFamily="50" charset="-127"/>
              </a:rPr>
              <a:t>3</a:t>
            </a:r>
            <a:endParaRPr lang="ko-KR" altLang="en-US" sz="800" b="1" dirty="0">
              <a:latin typeface="나눔고딕" pitchFamily="50" charset="-127"/>
              <a:ea typeface="나눔고딕" pitchFamily="50" charset="-127"/>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매출</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정산관리</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정산현황</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정산서</a:t>
            </a:r>
            <a:r>
              <a:rPr lang="ko-KR" altLang="en-US" dirty="0">
                <a:latin typeface="Nanum Gothic" panose="020D0604000000000000" pitchFamily="34" charset="-127"/>
                <a:ea typeface="Nanum Gothic" panose="020D0604000000000000" pitchFamily="34" charset="-127"/>
              </a:rPr>
              <a:t>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총판사</a:t>
            </a:r>
            <a:r>
              <a:rPr lang="ko-KR" altLang="en-US" dirty="0">
                <a:solidFill>
                  <a:srgbClr val="C00000"/>
                </a:solidFill>
                <a:latin typeface="Nanum Gothic" panose="020D0604000000000000" pitchFamily="34" charset="-127"/>
                <a:ea typeface="Nanum Gothic" panose="020D0604000000000000" pitchFamily="34" charset="-127"/>
              </a:rPr>
              <a:t> 로그인시</a:t>
            </a:r>
            <a:r>
              <a:rPr lang="en-US" altLang="ko-KR" dirty="0">
                <a:solidFill>
                  <a:srgbClr val="C00000"/>
                </a:solidFill>
                <a:latin typeface="Nanum Gothic" panose="020D0604000000000000" pitchFamily="34" charset="-127"/>
                <a:ea typeface="Nanum Gothic" panose="020D0604000000000000" pitchFamily="34" charset="-127"/>
              </a:rPr>
              <a:t>)</a:t>
            </a:r>
            <a:endParaRPr lang="ko-KR" altLang="en-US" dirty="0">
              <a:latin typeface="Nanum Gothic" panose="020D0604000000000000" pitchFamily="34" charset="-127"/>
              <a:ea typeface="Nanum Gothic" panose="020D0604000000000000" pitchFamily="34" charset="-127"/>
            </a:endParaRPr>
          </a:p>
        </p:txBody>
      </p:sp>
      <p:sp>
        <p:nvSpPr>
          <p:cNvPr id="22" name="직사각형 21"/>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4" name="직사각형 23"/>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25" name="직사각형 2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27" name="직사각형 2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28" name="직사각형 2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9" name="그룹 28"/>
          <p:cNvGrpSpPr/>
          <p:nvPr/>
        </p:nvGrpSpPr>
        <p:grpSpPr>
          <a:xfrm>
            <a:off x="1267854" y="665402"/>
            <a:ext cx="1931523" cy="207884"/>
            <a:chOff x="1267854" y="665402"/>
            <a:chExt cx="1931523" cy="207884"/>
          </a:xfrm>
        </p:grpSpPr>
        <p:sp>
          <p:nvSpPr>
            <p:cNvPr id="30" name="직사각형 29"/>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31" name="그룹 30"/>
            <p:cNvGrpSpPr/>
            <p:nvPr/>
          </p:nvGrpSpPr>
          <p:grpSpPr>
            <a:xfrm>
              <a:off x="2995760" y="665405"/>
              <a:ext cx="203617" cy="207881"/>
              <a:chOff x="2939843" y="5447120"/>
              <a:chExt cx="272722" cy="278432"/>
            </a:xfrm>
          </p:grpSpPr>
          <p:sp>
            <p:nvSpPr>
              <p:cNvPr id="33" name="직사각형 32"/>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34" name="타원 33"/>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35" name="직선 연결선 145"/>
              <p:cNvCxnSpPr>
                <a:stCxn id="34"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6" name="직사각형 35"/>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38" name="직사각형 37"/>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40" name="직사각형 3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9" name="직사각형 38"/>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graphicFrame>
        <p:nvGraphicFramePr>
          <p:cNvPr id="6" name="표 5"/>
          <p:cNvGraphicFramePr>
            <a:graphicFrameLocks noGrp="1"/>
          </p:cNvGraphicFramePr>
          <p:nvPr/>
        </p:nvGraphicFramePr>
        <p:xfrm>
          <a:off x="1267854" y="1789762"/>
          <a:ext cx="6049872" cy="1493528"/>
        </p:xfrm>
        <a:graphic>
          <a:graphicData uri="http://schemas.openxmlformats.org/drawingml/2006/table">
            <a:tbl>
              <a:tblPr/>
              <a:tblGrid>
                <a:gridCol w="1008312">
                  <a:extLst>
                    <a:ext uri="{9D8B030D-6E8A-4147-A177-3AD203B41FA5}">
                      <a16:colId xmlns:a16="http://schemas.microsoft.com/office/drawing/2014/main" val="20000"/>
                    </a:ext>
                  </a:extLst>
                </a:gridCol>
                <a:gridCol w="1008312">
                  <a:extLst>
                    <a:ext uri="{9D8B030D-6E8A-4147-A177-3AD203B41FA5}">
                      <a16:colId xmlns:a16="http://schemas.microsoft.com/office/drawing/2014/main" val="20001"/>
                    </a:ext>
                  </a:extLst>
                </a:gridCol>
                <a:gridCol w="1008312">
                  <a:extLst>
                    <a:ext uri="{9D8B030D-6E8A-4147-A177-3AD203B41FA5}">
                      <a16:colId xmlns:a16="http://schemas.microsoft.com/office/drawing/2014/main" val="20002"/>
                    </a:ext>
                  </a:extLst>
                </a:gridCol>
                <a:gridCol w="1008312">
                  <a:extLst>
                    <a:ext uri="{9D8B030D-6E8A-4147-A177-3AD203B41FA5}">
                      <a16:colId xmlns:a16="http://schemas.microsoft.com/office/drawing/2014/main" val="20003"/>
                    </a:ext>
                  </a:extLst>
                </a:gridCol>
                <a:gridCol w="1008312">
                  <a:extLst>
                    <a:ext uri="{9D8B030D-6E8A-4147-A177-3AD203B41FA5}">
                      <a16:colId xmlns:a16="http://schemas.microsoft.com/office/drawing/2014/main" val="20004"/>
                    </a:ext>
                  </a:extLst>
                </a:gridCol>
                <a:gridCol w="1008312">
                  <a:extLst>
                    <a:ext uri="{9D8B030D-6E8A-4147-A177-3AD203B41FA5}">
                      <a16:colId xmlns:a16="http://schemas.microsoft.com/office/drawing/2014/main" val="20005"/>
                    </a:ext>
                  </a:extLst>
                </a:gridCol>
              </a:tblGrid>
              <a:tr h="0">
                <a:tc gridSpan="2">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구분</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507F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hMerge="1">
                  <a:txBody>
                    <a:bodyPr/>
                    <a:lstStyle/>
                    <a:p>
                      <a:endParaRPr lang="en-US"/>
                    </a:p>
                  </a:txBody>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수량</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C07B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판매가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F050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공급가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304C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수수료</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C05E3B"/>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gridSpan="2">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총 판매금액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hMerge="1">
                  <a:txBody>
                    <a:bodyPr/>
                    <a:lstStyle/>
                    <a:p>
                      <a:endParaRPr lang="en-US"/>
                    </a:p>
                  </a:txBody>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429</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4,037,200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3,350,876</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686,324</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1"/>
                  </a:ext>
                </a:extLst>
              </a:tr>
              <a:tr h="196482">
                <a:tc rowSpan="5">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조정금액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사용 후 취소</a:t>
                      </a:r>
                      <a:r>
                        <a:rPr lang="en-US" altLang="ko-KR" sz="800" b="0">
                          <a:solidFill>
                            <a:srgbClr val="676A6C"/>
                          </a:solidFill>
                          <a:effectLst/>
                          <a:latin typeface="Nanum Gothic" panose="020D0604000000000000" pitchFamily="34" charset="-127"/>
                          <a:ea typeface="Nanum Gothic" panose="020D0604000000000000" pitchFamily="34" charset="-127"/>
                        </a:rPr>
                        <a:t>/</a:t>
                      </a:r>
                      <a:r>
                        <a:rPr lang="ko-KR" altLang="en-US" sz="800" b="0">
                          <a:solidFill>
                            <a:srgbClr val="676A6C"/>
                          </a:solidFill>
                          <a:effectLst/>
                          <a:latin typeface="Nanum Gothic" panose="020D0604000000000000" pitchFamily="34" charset="-127"/>
                          <a:ea typeface="Nanum Gothic" panose="020D0604000000000000" pitchFamily="34" charset="-127"/>
                        </a:rPr>
                        <a:t>환불 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2"/>
                  </a:ext>
                </a:extLst>
              </a:tr>
              <a:tr h="0">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선정산 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3"/>
                  </a:ext>
                </a:extLst>
              </a:tr>
              <a:tr h="0">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취소위약금</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4"/>
                  </a:ext>
                </a:extLst>
              </a:tr>
              <a:tr h="291426">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수수료 변경에 따른 판매가</a:t>
                      </a:r>
                      <a:r>
                        <a:rPr lang="en-US" altLang="ko-KR" sz="800" b="0">
                          <a:solidFill>
                            <a:srgbClr val="676A6C"/>
                          </a:solidFill>
                          <a:effectLst/>
                          <a:latin typeface="Nanum Gothic" panose="020D0604000000000000" pitchFamily="34" charset="-127"/>
                          <a:ea typeface="Nanum Gothic" panose="020D0604000000000000" pitchFamily="34" charset="-127"/>
                        </a:rPr>
                        <a:t>/</a:t>
                      </a:r>
                      <a:r>
                        <a:rPr lang="ko-KR" altLang="en-US" sz="800" b="0">
                          <a:solidFill>
                            <a:srgbClr val="676A6C"/>
                          </a:solidFill>
                          <a:effectLst/>
                          <a:latin typeface="Nanum Gothic" panose="020D0604000000000000" pitchFamily="34" charset="-127"/>
                          <a:ea typeface="Nanum Gothic" panose="020D0604000000000000" pitchFamily="34" charset="-127"/>
                        </a:rPr>
                        <a:t>공급가 조정항목</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5"/>
                  </a:ext>
                </a:extLst>
              </a:tr>
              <a:tr h="0">
                <a:tc vMerge="1">
                  <a:txBody>
                    <a:bodyPr/>
                    <a:lstStyle/>
                    <a:p>
                      <a:endParaRPr lang="en-US"/>
                    </a:p>
                  </a:txBody>
                  <a:tcPr/>
                </a:tc>
                <a:tc>
                  <a:txBody>
                    <a:bodyPr/>
                    <a:lstStyle/>
                    <a:p>
                      <a:pPr algn="r" fontAlgn="ctr" latinLnBrk="1"/>
                      <a:r>
                        <a:rPr lang="ko-KR" altLang="en-US" sz="800" b="0">
                          <a:solidFill>
                            <a:srgbClr val="676A6C"/>
                          </a:solidFill>
                          <a:effectLst/>
                          <a:latin typeface="Nanum Gothic" panose="020D0604000000000000" pitchFamily="34" charset="-127"/>
                          <a:ea typeface="Nanum Gothic" panose="020D0604000000000000" pitchFamily="34" charset="-127"/>
                        </a:rPr>
                        <a:t>기타 조정금액</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rgbClr val="F9F9F9"/>
                    </a:solidFill>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AEC"/>
                      </a:solidFill>
                      <a:prstDash val="solid"/>
                      <a:round/>
                      <a:headEnd type="none" w="med" len="med"/>
                      <a:tailEnd type="none" w="med" len="med"/>
                    </a:lnB>
                  </a:tcPr>
                </a:tc>
                <a:extLst>
                  <a:ext uri="{0D108BD9-81ED-4DB2-BD59-A6C34878D82A}">
                    <a16:rowId xmlns:a16="http://schemas.microsoft.com/office/drawing/2014/main" val="10006"/>
                  </a:ext>
                </a:extLst>
              </a:tr>
              <a:tr h="0">
                <a:tc gridSpan="2">
                  <a:txBody>
                    <a:bodyPr/>
                    <a:lstStyle/>
                    <a:p>
                      <a:pPr algn="l" fontAlgn="ctr" latinLnBrk="1"/>
                      <a:r>
                        <a:rPr lang="ko-KR" altLang="en-US" sz="800">
                          <a:solidFill>
                            <a:srgbClr val="676A6C"/>
                          </a:solidFill>
                          <a:effectLst/>
                          <a:latin typeface="Nanum Gothic" panose="020D0604000000000000" pitchFamily="34" charset="-127"/>
                          <a:ea typeface="Nanum Gothic" panose="020D0604000000000000" pitchFamily="34" charset="-127"/>
                        </a:rPr>
                        <a:t>총 정산금액</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총 판매금액</a:t>
                      </a:r>
                      <a:r>
                        <a:rPr lang="en-US" altLang="ko-KR" sz="800">
                          <a:solidFill>
                            <a:srgbClr val="676A6C"/>
                          </a:solidFill>
                          <a:effectLst/>
                          <a:latin typeface="Nanum Gothic" panose="020D0604000000000000" pitchFamily="34" charset="-127"/>
                          <a:ea typeface="Nanum Gothic" panose="020D0604000000000000" pitchFamily="34" charset="-127"/>
                        </a:rPr>
                        <a:t>-</a:t>
                      </a:r>
                      <a:r>
                        <a:rPr lang="ko-KR" altLang="en-US" sz="800">
                          <a:solidFill>
                            <a:srgbClr val="676A6C"/>
                          </a:solidFill>
                          <a:effectLst/>
                          <a:latin typeface="Nanum Gothic" panose="020D0604000000000000" pitchFamily="34" charset="-127"/>
                          <a:ea typeface="Nanum Gothic" panose="020D0604000000000000" pitchFamily="34" charset="-127"/>
                        </a:rPr>
                        <a:t>조정금</a:t>
                      </a:r>
                      <a:r>
                        <a:rPr lang="en-US" altLang="ko-KR" sz="800">
                          <a:solidFill>
                            <a:srgbClr val="676A6C"/>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hMerge="1">
                  <a:txBody>
                    <a:bodyPr/>
                    <a:lstStyle/>
                    <a:p>
                      <a:endParaRPr lang="en-US"/>
                    </a:p>
                  </a:txBody>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429</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4,037,200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3,350,876</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686,324</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5" name="직사각형 54"/>
          <p:cNvSpPr/>
          <p:nvPr/>
        </p:nvSpPr>
        <p:spPr>
          <a:xfrm>
            <a:off x="1173776" y="1517860"/>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총 정산 금액</a:t>
            </a:r>
            <a:endParaRPr lang="ko-KR" altLang="en-US" sz="700" b="1" dirty="0"/>
          </a:p>
        </p:txBody>
      </p:sp>
      <p:graphicFrame>
        <p:nvGraphicFramePr>
          <p:cNvPr id="8" name="표 7"/>
          <p:cNvGraphicFramePr>
            <a:graphicFrameLocks noGrp="1"/>
          </p:cNvGraphicFramePr>
          <p:nvPr/>
        </p:nvGraphicFramePr>
        <p:xfrm>
          <a:off x="1238699" y="3751850"/>
          <a:ext cx="6079026" cy="567692"/>
        </p:xfrm>
        <a:graphic>
          <a:graphicData uri="http://schemas.openxmlformats.org/drawingml/2006/table">
            <a:tbl>
              <a:tblPr/>
              <a:tblGrid>
                <a:gridCol w="1013171">
                  <a:extLst>
                    <a:ext uri="{9D8B030D-6E8A-4147-A177-3AD203B41FA5}">
                      <a16:colId xmlns:a16="http://schemas.microsoft.com/office/drawing/2014/main" val="20000"/>
                    </a:ext>
                  </a:extLst>
                </a:gridCol>
                <a:gridCol w="1013171">
                  <a:extLst>
                    <a:ext uri="{9D8B030D-6E8A-4147-A177-3AD203B41FA5}">
                      <a16:colId xmlns:a16="http://schemas.microsoft.com/office/drawing/2014/main" val="20001"/>
                    </a:ext>
                  </a:extLst>
                </a:gridCol>
                <a:gridCol w="751855">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1428621">
                  <a:extLst>
                    <a:ext uri="{9D8B030D-6E8A-4147-A177-3AD203B41FA5}">
                      <a16:colId xmlns:a16="http://schemas.microsoft.com/office/drawing/2014/main" val="20005"/>
                    </a:ext>
                  </a:extLst>
                </a:gridCol>
              </a:tblGrid>
              <a:tr h="0">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지급비율</a:t>
                      </a:r>
                      <a:r>
                        <a:rPr lang="en-US" altLang="ko-KR" sz="900" dirty="0">
                          <a:solidFill>
                            <a:schemeClr val="tx1"/>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1063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err="1">
                          <a:solidFill>
                            <a:schemeClr val="tx1"/>
                          </a:solidFill>
                          <a:effectLst/>
                          <a:latin typeface="Nanum Gothic" panose="020D0604000000000000" pitchFamily="34" charset="-127"/>
                          <a:ea typeface="Nanum Gothic" panose="020D0604000000000000" pitchFamily="34" charset="-127"/>
                        </a:rPr>
                        <a:t>지급예정일</a:t>
                      </a:r>
                      <a:endParaRPr lang="ko-KR" altLang="en-US" sz="900" dirty="0">
                        <a:solidFill>
                          <a:schemeClr val="tx1"/>
                        </a:solidFill>
                        <a:effectLst/>
                        <a:latin typeface="Nanum Gothic" panose="020D0604000000000000" pitchFamily="34" charset="-127"/>
                        <a:ea typeface="Nanum Gothic" panose="020D0604000000000000" pitchFamily="34" charset="-127"/>
                      </a:endParaRP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9055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수량</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F075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판매가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8050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공급가</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2064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tc>
                  <a:txBody>
                    <a:bodyPr/>
                    <a:lstStyle/>
                    <a:p>
                      <a:pPr algn="ctr" fontAlgn="ctr" latinLnBrk="1"/>
                      <a:r>
                        <a:rPr lang="ko-KR" altLang="en-US" sz="900" dirty="0">
                          <a:solidFill>
                            <a:schemeClr val="tx1"/>
                          </a:solidFill>
                          <a:effectLst/>
                          <a:latin typeface="Nanum Gothic" panose="020D0604000000000000" pitchFamily="34" charset="-127"/>
                          <a:ea typeface="Nanum Gothic" panose="020D0604000000000000" pitchFamily="34" charset="-127"/>
                        </a:rPr>
                        <a:t>수수료</a:t>
                      </a:r>
                      <a:br>
                        <a:rPr lang="ko-KR" altLang="en-US" sz="900" dirty="0">
                          <a:solidFill>
                            <a:schemeClr val="tx1"/>
                          </a:solidFill>
                          <a:effectLst/>
                          <a:latin typeface="Nanum Gothic" panose="020D0604000000000000" pitchFamily="34" charset="-127"/>
                          <a:ea typeface="Nanum Gothic" panose="020D0604000000000000" pitchFamily="34" charset="-127"/>
                        </a:rPr>
                      </a:br>
                      <a:r>
                        <a:rPr lang="en-US" altLang="ko-KR" sz="900" dirty="0">
                          <a:solidFill>
                            <a:schemeClr val="tx1"/>
                          </a:solidFill>
                          <a:effectLst/>
                          <a:latin typeface="Nanum Gothic" panose="020D0604000000000000" pitchFamily="34" charset="-127"/>
                          <a:ea typeface="Nanum Gothic" panose="020D0604000000000000" pitchFamily="34" charset="-127"/>
                        </a:rPr>
                        <a:t>(</a:t>
                      </a:r>
                      <a:r>
                        <a:rPr lang="ko-KR" altLang="en-US" sz="900" dirty="0">
                          <a:solidFill>
                            <a:schemeClr val="tx1"/>
                          </a:solidFill>
                          <a:effectLst/>
                          <a:latin typeface="Nanum Gothic" panose="020D0604000000000000" pitchFamily="34" charset="-127"/>
                          <a:ea typeface="Nanum Gothic" panose="020D0604000000000000" pitchFamily="34" charset="-127"/>
                        </a:rPr>
                        <a:t>세금계산서 발행 예정 금액</a:t>
                      </a:r>
                      <a:r>
                        <a:rPr lang="en-US" altLang="ko-KR" sz="900" dirty="0">
                          <a:solidFill>
                            <a:schemeClr val="tx1"/>
                          </a:solidFill>
                          <a:effectLst/>
                          <a:latin typeface="Nanum Gothic" panose="020D0604000000000000" pitchFamily="34" charset="-127"/>
                          <a:ea typeface="Nanum Gothic" panose="020D0604000000000000" pitchFamily="34" charset="-127"/>
                        </a:rPr>
                        <a:t>)</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D04E31"/>
                      </a:solidFill>
                      <a:prstDash val="solid"/>
                      <a:round/>
                      <a:headEnd type="none" w="med" len="med"/>
                      <a:tailEnd type="none" w="med" len="med"/>
                    </a:lnT>
                    <a:lnB w="9525" cap="flat" cmpd="sng" algn="ctr">
                      <a:solidFill>
                        <a:srgbClr val="E7EAEC"/>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100 %</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ctr" fontAlgn="ctr" latinLnBrk="1"/>
                      <a:r>
                        <a:rPr lang="en-US" altLang="ko-KR" sz="800">
                          <a:solidFill>
                            <a:srgbClr val="676A6C"/>
                          </a:solidFill>
                          <a:effectLst/>
                          <a:latin typeface="Nanum Gothic" panose="020D0604000000000000" pitchFamily="34" charset="-127"/>
                          <a:ea typeface="Nanum Gothic" panose="020D0604000000000000" pitchFamily="34" charset="-127"/>
                        </a:rPr>
                        <a:t>2020-01-15</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429</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4,037,200</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a:solidFill>
                            <a:srgbClr val="676A6C"/>
                          </a:solidFill>
                          <a:effectLst/>
                          <a:latin typeface="Nanum Gothic" panose="020D0604000000000000" pitchFamily="34" charset="-127"/>
                          <a:ea typeface="Nanum Gothic" panose="020D0604000000000000" pitchFamily="34" charset="-127"/>
                        </a:rPr>
                        <a:t>3,350,876</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tc>
                  <a:txBody>
                    <a:bodyPr/>
                    <a:lstStyle/>
                    <a:p>
                      <a:pPr algn="r" fontAlgn="ctr" latinLnBrk="1"/>
                      <a:r>
                        <a:rPr lang="en-US" altLang="ko-KR" sz="800" dirty="0">
                          <a:solidFill>
                            <a:srgbClr val="676A6C"/>
                          </a:solidFill>
                          <a:effectLst/>
                          <a:latin typeface="Nanum Gothic" panose="020D0604000000000000" pitchFamily="34" charset="-127"/>
                          <a:ea typeface="Nanum Gothic" panose="020D0604000000000000" pitchFamily="34" charset="-127"/>
                        </a:rPr>
                        <a:t>686,324</a:t>
                      </a:r>
                    </a:p>
                  </a:txBody>
                  <a:tcPr marL="34290" marR="34290" marT="8573" marB="8573"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AEC"/>
                      </a:solidFill>
                      <a:prstDash val="solid"/>
                      <a:round/>
                      <a:headEnd type="none" w="med" len="med"/>
                      <a:tailEnd type="none" w="med" len="med"/>
                    </a:lnT>
                    <a:lnB w="9525" cap="flat" cmpd="sng" algn="ctr">
                      <a:solidFill>
                        <a:srgbClr val="E7E7E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6" name="직사각형 55"/>
          <p:cNvSpPr/>
          <p:nvPr/>
        </p:nvSpPr>
        <p:spPr>
          <a:xfrm>
            <a:off x="1173776" y="3504032"/>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a:t>
            </a:r>
            <a:r>
              <a:rPr lang="ko-KR" altLang="en-US" sz="900" b="1" dirty="0" err="1">
                <a:latin typeface="나눔고딕" pitchFamily="50" charset="-127"/>
                <a:ea typeface="나눔고딕" pitchFamily="50" charset="-127"/>
              </a:rPr>
              <a:t>지급예정</a:t>
            </a:r>
            <a:endParaRPr lang="ko-KR" altLang="en-US" sz="700" b="1" dirty="0"/>
          </a:p>
        </p:txBody>
      </p:sp>
      <p:sp>
        <p:nvSpPr>
          <p:cNvPr id="41" name="직사각형 40"/>
          <p:cNvSpPr/>
          <p:nvPr/>
        </p:nvSpPr>
        <p:spPr>
          <a:xfrm>
            <a:off x="1267854" y="4882144"/>
            <a:ext cx="2339866" cy="230832"/>
          </a:xfrm>
          <a:prstGeom prst="rect">
            <a:avLst/>
          </a:prstGeom>
        </p:spPr>
        <p:txBody>
          <a:bodyPr wrap="square">
            <a:spAutoFit/>
          </a:bodyPr>
          <a:lstStyle/>
          <a:p>
            <a:r>
              <a:rPr lang="ko-KR" altLang="en-US" sz="900" b="1" dirty="0">
                <a:latin typeface="나눔고딕" pitchFamily="50" charset="-127"/>
                <a:ea typeface="나눔고딕" pitchFamily="50" charset="-127"/>
              </a:rPr>
              <a:t>▣ 안내</a:t>
            </a:r>
            <a:endParaRPr lang="ko-KR" altLang="en-US" sz="700" b="1" dirty="0"/>
          </a:p>
        </p:txBody>
      </p:sp>
      <p:sp>
        <p:nvSpPr>
          <p:cNvPr id="49" name="직사각형 48"/>
          <p:cNvSpPr/>
          <p:nvPr/>
        </p:nvSpPr>
        <p:spPr>
          <a:xfrm>
            <a:off x="1352600" y="6393830"/>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목록</a:t>
            </a:r>
          </a:p>
        </p:txBody>
      </p:sp>
      <p:sp>
        <p:nvSpPr>
          <p:cNvPr id="53" name="직사각형 52"/>
          <p:cNvSpPr/>
          <p:nvPr/>
        </p:nvSpPr>
        <p:spPr>
          <a:xfrm>
            <a:off x="1439381" y="5151198"/>
            <a:ext cx="5878344" cy="82623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안내문구가 들어갑니다</a:t>
            </a:r>
            <a:r>
              <a:rPr lang="en-US" altLang="ko-KR" sz="800" dirty="0">
                <a:solidFill>
                  <a:schemeClr val="tx1"/>
                </a:solidFill>
                <a:latin typeface="Nanum Gothic" panose="020D0604000000000000" pitchFamily="34" charset="-127"/>
                <a:ea typeface="Nanum Gothic" panose="020D0604000000000000" pitchFamily="34" charset="-127"/>
              </a:rPr>
              <a:t>.</a:t>
            </a:r>
          </a:p>
        </p:txBody>
      </p:sp>
      <p:sp>
        <p:nvSpPr>
          <p:cNvPr id="59" name="TextBox 58"/>
          <p:cNvSpPr txBox="1"/>
          <p:nvPr/>
        </p:nvSpPr>
        <p:spPr>
          <a:xfrm>
            <a:off x="3619007" y="1014605"/>
            <a:ext cx="1154483" cy="246221"/>
          </a:xfrm>
          <a:prstGeom prst="rect">
            <a:avLst/>
          </a:prstGeom>
          <a:noFill/>
        </p:spPr>
        <p:txBody>
          <a:bodyPr wrap="none" rtlCol="0">
            <a:spAutoFit/>
          </a:bodyPr>
          <a:lstStyle/>
          <a:p>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r>
              <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rPr>
              <a:t>앞장에서 이어짐</a:t>
            </a:r>
            <a:r>
              <a:rPr kumimoji="1" lang="en-US" altLang="ko-KR" sz="1000" i="1" dirty="0">
                <a:solidFill>
                  <a:schemeClr val="accent1">
                    <a:lumMod val="75000"/>
                  </a:schemeClr>
                </a:solidFill>
                <a:latin typeface="Nanum Gothic" panose="020D0604000000000000" pitchFamily="34" charset="-127"/>
                <a:ea typeface="Nanum Gothic" panose="020D0604000000000000" pitchFamily="34" charset="-127"/>
              </a:rPr>
              <a:t>-</a:t>
            </a:r>
            <a:endParaRPr kumimoji="1" lang="ko-KR" altLang="en-US" sz="1000" i="1" dirty="0">
              <a:solidFill>
                <a:schemeClr val="accent1">
                  <a:lumMod val="75000"/>
                </a:schemeClr>
              </a:solidFill>
              <a:latin typeface="Nanum Gothic" panose="020D0604000000000000" pitchFamily="34" charset="-127"/>
              <a:ea typeface="Nanum Gothic" panose="020D0604000000000000" pitchFamily="34" charset="-127"/>
            </a:endParaRPr>
          </a:p>
        </p:txBody>
      </p:sp>
      <p:sp>
        <p:nvSpPr>
          <p:cNvPr id="68" name="직사각형 67"/>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9" name="직사각형 68"/>
          <p:cNvSpPr/>
          <p:nvPr/>
        </p:nvSpPr>
        <p:spPr>
          <a:xfrm>
            <a:off x="128462" y="365490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0" name="직사각형 69"/>
          <p:cNvSpPr/>
          <p:nvPr/>
        </p:nvSpPr>
        <p:spPr>
          <a:xfrm>
            <a:off x="128461" y="467312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1" name="직사각형 70"/>
          <p:cNvSpPr/>
          <p:nvPr/>
        </p:nvSpPr>
        <p:spPr>
          <a:xfrm>
            <a:off x="128457" y="400180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2" name="직사각형 71"/>
          <p:cNvSpPr/>
          <p:nvPr/>
        </p:nvSpPr>
        <p:spPr>
          <a:xfrm>
            <a:off x="128457" y="434077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3" name="직사각형 72"/>
          <p:cNvSpPr/>
          <p:nvPr/>
        </p:nvSpPr>
        <p:spPr>
          <a:xfrm>
            <a:off x="128458" y="2645211"/>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매출내역</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75" name="직사각형 74"/>
          <p:cNvSpPr/>
          <p:nvPr/>
        </p:nvSpPr>
        <p:spPr>
          <a:xfrm>
            <a:off x="128458" y="2978419"/>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chemeClr val="tx1"/>
                </a:solidFill>
                <a:latin typeface="Nanum Gothic" panose="020D0604000000000000" pitchFamily="34" charset="-127"/>
                <a:ea typeface="Nanum Gothic" panose="020D0604000000000000" pitchFamily="34" charset="-127"/>
              </a:rPr>
              <a:t>채널정산</a:t>
            </a:r>
            <a:endParaRPr lang="ko-KR" altLang="en-US" sz="900" b="1" dirty="0">
              <a:solidFill>
                <a:schemeClr val="tx1"/>
              </a:solidFill>
              <a:latin typeface="Nanum Gothic" panose="020D0604000000000000" pitchFamily="34" charset="-127"/>
              <a:ea typeface="Nanum Gothic" panose="020D0604000000000000" pitchFamily="34" charset="-127"/>
            </a:endParaRPr>
          </a:p>
        </p:txBody>
      </p:sp>
      <p:sp>
        <p:nvSpPr>
          <p:cNvPr id="74" name="직사각형 73"/>
          <p:cNvSpPr/>
          <p:nvPr/>
        </p:nvSpPr>
        <p:spPr>
          <a:xfrm>
            <a:off x="128461" y="3326855"/>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t"/>
          <a:lstStyle/>
          <a:p>
            <a:pPr>
              <a:lnSpc>
                <a:spcPct val="200000"/>
              </a:lnSpc>
            </a:pPr>
            <a:r>
              <a:rPr lang="ko-KR" altLang="en-US" sz="900" b="1" dirty="0" err="1">
                <a:solidFill>
                  <a:srgbClr val="0070C0"/>
                </a:solidFill>
                <a:latin typeface="Nanum Gothic" panose="020D0604000000000000" pitchFamily="34" charset="-127"/>
                <a:ea typeface="Nanum Gothic" panose="020D0604000000000000" pitchFamily="34" charset="-127"/>
              </a:rPr>
              <a:t>정산현황</a:t>
            </a:r>
            <a:r>
              <a:rPr lang="ko-KR" altLang="en-US" sz="900" b="1" dirty="0">
                <a:solidFill>
                  <a:srgbClr val="0070C0"/>
                </a:solidFill>
                <a:latin typeface="Nanum Gothic" panose="020D0604000000000000" pitchFamily="34" charset="-127"/>
                <a:ea typeface="Nanum Gothic" panose="020D0604000000000000" pitchFamily="34" charset="-127"/>
              </a:rPr>
              <a:t>           </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42" name="직사각형 41"/>
          <p:cNvSpPr/>
          <p:nvPr/>
        </p:nvSpPr>
        <p:spPr>
          <a:xfrm>
            <a:off x="5537801" y="6406449"/>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승인</a:t>
            </a:r>
          </a:p>
        </p:txBody>
      </p:sp>
      <p:sp>
        <p:nvSpPr>
          <p:cNvPr id="44" name="직사각형 43"/>
          <p:cNvSpPr/>
          <p:nvPr/>
        </p:nvSpPr>
        <p:spPr>
          <a:xfrm>
            <a:off x="6453629" y="6393830"/>
            <a:ext cx="864096"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반려</a:t>
            </a:r>
          </a:p>
        </p:txBody>
      </p:sp>
      <p:sp>
        <p:nvSpPr>
          <p:cNvPr id="45" name="직사각형 44"/>
          <p:cNvSpPr/>
          <p:nvPr/>
        </p:nvSpPr>
        <p:spPr>
          <a:xfrm>
            <a:off x="4624203" y="6406449"/>
            <a:ext cx="880163" cy="168544"/>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정산서</a:t>
            </a:r>
            <a:r>
              <a:rPr lang="ko-KR" altLang="en-US" sz="800" b="1" dirty="0">
                <a:solidFill>
                  <a:schemeClr val="bg1"/>
                </a:solidFill>
                <a:latin typeface="Nanum Gothic" panose="020D0604000000000000" pitchFamily="34" charset="-127"/>
                <a:ea typeface="Nanum Gothic" panose="020D0604000000000000" pitchFamily="34" charset="-127"/>
              </a:rPr>
              <a:t> 다운로드</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1947969" cy="461665"/>
          </a:xfrm>
          <a:prstGeom prst="rect">
            <a:avLst/>
          </a:prstGeom>
          <a:noFill/>
        </p:spPr>
        <p:txBody>
          <a:bodyPr wrap="none" rtlCol="0">
            <a:spAutoFit/>
          </a:bodyPr>
          <a:lstStyle/>
          <a:p>
            <a:r>
              <a:rPr lang="en-US" altLang="ko-KR" sz="2400" b="1" dirty="0">
                <a:solidFill>
                  <a:srgbClr val="4B4C58"/>
                </a:solidFill>
                <a:latin typeface="Nanum Gothic" panose="020D0604000000000000" pitchFamily="34" charset="-127"/>
                <a:ea typeface="Nanum Gothic" panose="020D0604000000000000" pitchFamily="34" charset="-127"/>
              </a:rPr>
              <a:t>[PC]</a:t>
            </a:r>
            <a:r>
              <a:rPr lang="ko-KR" altLang="en-US" sz="2400" b="1" dirty="0">
                <a:solidFill>
                  <a:srgbClr val="4B4C58"/>
                </a:solidFill>
                <a:latin typeface="Nanum Gothic" panose="020D0604000000000000" pitchFamily="34" charset="-127"/>
                <a:ea typeface="Nanum Gothic" panose="020D0604000000000000" pitchFamily="34" charset="-127"/>
              </a:rPr>
              <a:t>문의관리</a:t>
            </a:r>
            <a:endParaRPr lang="en-US" altLang="ko-KR" sz="2400" b="1" dirty="0">
              <a:solidFill>
                <a:srgbClr val="4B4C58"/>
              </a:solidFill>
              <a:latin typeface="Nanum Gothic" panose="020D0604000000000000" pitchFamily="34" charset="-127"/>
              <a:ea typeface="Nanum Gothic" panose="020D0604000000000000" pitchFamily="34" charset="-127"/>
            </a:endParaRPr>
          </a:p>
        </p:txBody>
      </p:sp>
      <p:sp>
        <p:nvSpPr>
          <p:cNvPr id="5" name="TextBox 4"/>
          <p:cNvSpPr txBox="1"/>
          <p:nvPr/>
        </p:nvSpPr>
        <p:spPr>
          <a:xfrm>
            <a:off x="374438" y="2670820"/>
            <a:ext cx="1901483" cy="276999"/>
          </a:xfrm>
          <a:prstGeom prst="rect">
            <a:avLst/>
          </a:prstGeom>
          <a:noFill/>
        </p:spPr>
        <p:txBody>
          <a:bodyPr wrap="none" rtlCol="0">
            <a:spAutoFit/>
          </a:bodyPr>
          <a:lstStyle/>
          <a:p>
            <a:r>
              <a:rPr lang="ko-KR" altLang="en-US" sz="1200" dirty="0" err="1">
                <a:solidFill>
                  <a:srgbClr val="E72F14"/>
                </a:solidFill>
                <a:latin typeface="Nanum Gothic" panose="020D0604000000000000" pitchFamily="34" charset="-127"/>
                <a:ea typeface="Nanum Gothic" panose="020D0604000000000000" pitchFamily="34" charset="-127"/>
              </a:rPr>
              <a:t>티켓통합</a:t>
            </a:r>
            <a:r>
              <a:rPr lang="ko-KR" altLang="en-US" sz="1200" dirty="0">
                <a:solidFill>
                  <a:srgbClr val="E72F14"/>
                </a:solidFill>
                <a:latin typeface="Nanum Gothic" panose="020D0604000000000000" pitchFamily="34" charset="-127"/>
                <a:ea typeface="Nanum Gothic" panose="020D0604000000000000" pitchFamily="34" charset="-127"/>
              </a:rPr>
              <a:t> 솔루션 티브리지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문의관리</a:t>
            </a:r>
          </a:p>
        </p:txBody>
      </p:sp>
      <p:sp>
        <p:nvSpPr>
          <p:cNvPr id="76" name="직사각형 75"/>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78" name="직사각형 77"/>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81" name="직사각형 80"/>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82" name="직사각형 81"/>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84" name="그룹 83"/>
          <p:cNvGrpSpPr/>
          <p:nvPr/>
        </p:nvGrpSpPr>
        <p:grpSpPr>
          <a:xfrm>
            <a:off x="1267854" y="669145"/>
            <a:ext cx="1931523" cy="207884"/>
            <a:chOff x="1267854" y="665402"/>
            <a:chExt cx="1931523" cy="207884"/>
          </a:xfrm>
        </p:grpSpPr>
        <p:sp>
          <p:nvSpPr>
            <p:cNvPr id="85" name="직사각형 84"/>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87" name="그룹 86"/>
            <p:cNvGrpSpPr/>
            <p:nvPr/>
          </p:nvGrpSpPr>
          <p:grpSpPr>
            <a:xfrm>
              <a:off x="2995760" y="665405"/>
              <a:ext cx="203617" cy="207881"/>
              <a:chOff x="2939843" y="5447120"/>
              <a:chExt cx="272722" cy="278432"/>
            </a:xfrm>
          </p:grpSpPr>
          <p:sp>
            <p:nvSpPr>
              <p:cNvPr id="88" name="직사각형 87"/>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89" name="타원 88"/>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90" name="직선 연결선 145"/>
              <p:cNvCxnSpPr>
                <a:stCxn id="8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8" name="직사각형 97"/>
          <p:cNvSpPr/>
          <p:nvPr/>
        </p:nvSpPr>
        <p:spPr>
          <a:xfrm>
            <a:off x="6059261" y="691314"/>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99" name="직사각형 98"/>
          <p:cNvSpPr/>
          <p:nvPr/>
        </p:nvSpPr>
        <p:spPr>
          <a:xfrm>
            <a:off x="5176276" y="665365"/>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100" name="직사각형 99"/>
          <p:cNvSpPr/>
          <p:nvPr/>
        </p:nvSpPr>
        <p:spPr>
          <a:xfrm>
            <a:off x="6706391" y="691314"/>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101" name="직사각형 100"/>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104" name="직사각형 103"/>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07" name="직사각형 106"/>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8" name="TextBox 107"/>
          <p:cNvSpPr txBox="1"/>
          <p:nvPr/>
        </p:nvSpPr>
        <p:spPr>
          <a:xfrm>
            <a:off x="1191375" y="1085116"/>
            <a:ext cx="761747"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문의관리</a:t>
            </a:r>
          </a:p>
        </p:txBody>
      </p:sp>
      <p:sp>
        <p:nvSpPr>
          <p:cNvPr id="109" name="TextBox 108"/>
          <p:cNvSpPr txBox="1"/>
          <p:nvPr/>
        </p:nvSpPr>
        <p:spPr>
          <a:xfrm>
            <a:off x="1191375" y="1313869"/>
            <a:ext cx="3429144" cy="215444"/>
          </a:xfrm>
          <a:prstGeom prst="rect">
            <a:avLst/>
          </a:prstGeom>
          <a:noFill/>
        </p:spPr>
        <p:txBody>
          <a:bodyPr wrap="none" rtlCol="0">
            <a:spAutoFit/>
          </a:bodyPr>
          <a:lstStyle/>
          <a:p>
            <a:r>
              <a:rPr lang="en-US" altLang="ko-KR" sz="800" dirty="0">
                <a:latin typeface="Nanum Gothic" panose="020D0604000000000000" pitchFamily="34" charset="-127"/>
                <a:ea typeface="Nanum Gothic" panose="020D0604000000000000" pitchFamily="34" charset="-127"/>
              </a:rPr>
              <a:t>12</a:t>
            </a:r>
            <a:r>
              <a:rPr lang="ko-KR" altLang="en-US" sz="800" dirty="0">
                <a:latin typeface="Nanum Gothic" panose="020D0604000000000000" pitchFamily="34" charset="-127"/>
                <a:ea typeface="Nanum Gothic" panose="020D0604000000000000" pitchFamily="34" charset="-127"/>
              </a:rPr>
              <a:t>월</a:t>
            </a:r>
            <a:r>
              <a:rPr lang="en-US" altLang="ko-KR" sz="800" dirty="0">
                <a:latin typeface="Nanum Gothic" panose="020D0604000000000000" pitchFamily="34" charset="-127"/>
                <a:ea typeface="Nanum Gothic" panose="020D0604000000000000" pitchFamily="34" charset="-127"/>
              </a:rPr>
              <a:t>21</a:t>
            </a:r>
            <a:r>
              <a:rPr lang="ko-KR" altLang="en-US" sz="800" dirty="0">
                <a:latin typeface="Nanum Gothic" panose="020D0604000000000000" pitchFamily="34" charset="-127"/>
                <a:ea typeface="Nanum Gothic" panose="020D0604000000000000" pitchFamily="34" charset="-127"/>
              </a:rPr>
              <a:t>일 </a:t>
            </a:r>
            <a:r>
              <a:rPr lang="en-US" altLang="ko-KR" sz="800" dirty="0">
                <a:latin typeface="Nanum Gothic" panose="020D0604000000000000" pitchFamily="34" charset="-127"/>
                <a:ea typeface="Nanum Gothic" panose="020D0604000000000000" pitchFamily="34" charset="-127"/>
              </a:rPr>
              <a:t>09</a:t>
            </a:r>
            <a:r>
              <a:rPr lang="ko-KR" altLang="en-US" sz="800" dirty="0">
                <a:latin typeface="Nanum Gothic" panose="020D0604000000000000" pitchFamily="34" charset="-127"/>
                <a:ea typeface="Nanum Gothic" panose="020D0604000000000000" pitchFamily="34" charset="-127"/>
              </a:rPr>
              <a:t>시</a:t>
            </a:r>
            <a:r>
              <a:rPr lang="en-US" altLang="ko-KR" sz="800" dirty="0">
                <a:latin typeface="Nanum Gothic" panose="020D0604000000000000" pitchFamily="34" charset="-127"/>
                <a:ea typeface="Nanum Gothic" panose="020D0604000000000000" pitchFamily="34" charset="-127"/>
              </a:rPr>
              <a:t>00</a:t>
            </a:r>
            <a:r>
              <a:rPr lang="ko-KR" altLang="en-US" sz="800" dirty="0">
                <a:latin typeface="Nanum Gothic" panose="020D0604000000000000" pitchFamily="34" charset="-127"/>
                <a:ea typeface="Nanum Gothic" panose="020D0604000000000000" pitchFamily="34" charset="-127"/>
              </a:rPr>
              <a:t>분 기준으로 수집된 </a:t>
            </a:r>
            <a:r>
              <a:rPr lang="ko-KR" altLang="en-US" sz="800" dirty="0" err="1">
                <a:latin typeface="Nanum Gothic" panose="020D0604000000000000" pitchFamily="34" charset="-127"/>
                <a:ea typeface="Nanum Gothic" panose="020D0604000000000000" pitchFamily="34" charset="-127"/>
              </a:rPr>
              <a:t>문의목록입니다</a:t>
            </a:r>
            <a:r>
              <a:rPr lang="en-US" altLang="ko-KR" sz="800" dirty="0">
                <a:latin typeface="Nanum Gothic" panose="020D0604000000000000" pitchFamily="34" charset="-127"/>
                <a:ea typeface="Nanum Gothic" panose="020D0604000000000000" pitchFamily="34" charset="-127"/>
              </a:rPr>
              <a:t>.(5</a:t>
            </a:r>
            <a:r>
              <a:rPr lang="ko-KR" altLang="en-US" sz="800" dirty="0">
                <a:latin typeface="Nanum Gothic" panose="020D0604000000000000" pitchFamily="34" charset="-127"/>
                <a:ea typeface="Nanum Gothic" panose="020D0604000000000000" pitchFamily="34" charset="-127"/>
              </a:rPr>
              <a:t>분 단위 업데이트</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110" name="직사각형 109"/>
          <p:cNvSpPr/>
          <p:nvPr/>
        </p:nvSpPr>
        <p:spPr>
          <a:xfrm>
            <a:off x="4615071"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강제업데이트</a:t>
            </a:r>
          </a:p>
        </p:txBody>
      </p:sp>
      <p:graphicFrame>
        <p:nvGraphicFramePr>
          <p:cNvPr id="111" name="표 110"/>
          <p:cNvGraphicFramePr>
            <a:graphicFrameLocks noGrp="1"/>
          </p:cNvGraphicFramePr>
          <p:nvPr/>
        </p:nvGraphicFramePr>
        <p:xfrm>
          <a:off x="1280592" y="1634820"/>
          <a:ext cx="6048672" cy="1144603"/>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84032">
                  <a:extLst>
                    <a:ext uri="{9D8B030D-6E8A-4147-A177-3AD203B41FA5}">
                      <a16:colId xmlns:a16="http://schemas.microsoft.com/office/drawing/2014/main" val="20001"/>
                    </a:ext>
                  </a:extLst>
                </a:gridCol>
                <a:gridCol w="711608">
                  <a:extLst>
                    <a:ext uri="{9D8B030D-6E8A-4147-A177-3AD203B41FA5}">
                      <a16:colId xmlns:a16="http://schemas.microsoft.com/office/drawing/2014/main" val="20002"/>
                    </a:ext>
                  </a:extLst>
                </a:gridCol>
                <a:gridCol w="1992505">
                  <a:extLst>
                    <a:ext uri="{9D8B030D-6E8A-4147-A177-3AD203B41FA5}">
                      <a16:colId xmlns:a16="http://schemas.microsoft.com/office/drawing/2014/main" val="20003"/>
                    </a:ext>
                  </a:extLst>
                </a:gridCol>
                <a:gridCol w="640447">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문의일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889000"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a:solidFill>
                            <a:schemeClr val="tx1"/>
                          </a:solidFill>
                          <a:latin typeface="Nanum Gothic" panose="020D0604000000000000" pitchFamily="34" charset="-127"/>
                          <a:ea typeface="Nanum Gothic" panose="020D0604000000000000" pitchFamily="34" charset="-127"/>
                        </a:rPr>
                        <a:t>문의 </a:t>
                      </a:r>
                      <a:r>
                        <a:rPr lang="ko-KR" altLang="en-US" sz="800" b="1" dirty="0" err="1">
                          <a:solidFill>
                            <a:schemeClr val="tx1"/>
                          </a:solidFill>
                          <a:latin typeface="Nanum Gothic" panose="020D0604000000000000" pitchFamily="34" charset="-127"/>
                          <a:ea typeface="Nanum Gothic" panose="020D0604000000000000" pitchFamily="34" charset="-127"/>
                        </a:rPr>
                        <a:t>채널명</a:t>
                      </a:r>
                      <a:endParaRPr lang="ko-KR" altLang="en-US" sz="800" b="1"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5022">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답변상태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marR="0" lvl="0" indent="0" algn="l" defTabSz="914400" rtl="0" eaLnBrk="1" fontAlgn="auto" latinLnBrk="1" hangingPunct="1">
                        <a:lnSpc>
                          <a:spcPct val="15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답변대기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답변완료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112" name="직사각형 111"/>
          <p:cNvSpPr/>
          <p:nvPr/>
        </p:nvSpPr>
        <p:spPr>
          <a:xfrm>
            <a:off x="2058755" y="194612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121" name="직사각형 120"/>
          <p:cNvSpPr/>
          <p:nvPr/>
        </p:nvSpPr>
        <p:spPr>
          <a:xfrm>
            <a:off x="6749307" y="1897318"/>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122" name="직사각형 121"/>
          <p:cNvSpPr/>
          <p:nvPr/>
        </p:nvSpPr>
        <p:spPr>
          <a:xfrm>
            <a:off x="6747628" y="2316636"/>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123" name="직사각형 122"/>
          <p:cNvSpPr/>
          <p:nvPr/>
        </p:nvSpPr>
        <p:spPr>
          <a:xfrm>
            <a:off x="2990949" y="2521172"/>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24" name="직사각형 123"/>
          <p:cNvSpPr/>
          <p:nvPr/>
        </p:nvSpPr>
        <p:spPr>
          <a:xfrm>
            <a:off x="2051503" y="2521172"/>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문의내용</a:t>
            </a:r>
            <a:r>
              <a:rPr lang="ko-KR" altLang="en-US" sz="800" dirty="0">
                <a:solidFill>
                  <a:schemeClr val="tx1"/>
                </a:solidFill>
                <a:latin typeface="Nanum Gothic" panose="020D0604000000000000" pitchFamily="34" charset="-127"/>
                <a:ea typeface="Nanum Gothic" panose="020D0604000000000000" pitchFamily="34" charset="-127"/>
              </a:rPr>
              <a:t>       ▽</a:t>
            </a:r>
          </a:p>
        </p:txBody>
      </p:sp>
      <p:pic>
        <p:nvPicPr>
          <p:cNvPr id="126" name="그림 125"/>
          <p:cNvPicPr>
            <a:picLocks noChangeAspect="1"/>
          </p:cNvPicPr>
          <p:nvPr/>
        </p:nvPicPr>
        <p:blipFill>
          <a:blip r:embed="rId2" cstate="print"/>
          <a:stretch>
            <a:fillRect/>
          </a:stretch>
        </p:blipFill>
        <p:spPr>
          <a:xfrm>
            <a:off x="2781910" y="6428561"/>
            <a:ext cx="3000375" cy="301408"/>
          </a:xfrm>
          <a:prstGeom prst="rect">
            <a:avLst/>
          </a:prstGeom>
        </p:spPr>
      </p:pic>
      <p:graphicFrame>
        <p:nvGraphicFramePr>
          <p:cNvPr id="127" name="표 126"/>
          <p:cNvGraphicFramePr>
            <a:graphicFrameLocks noGrp="1"/>
          </p:cNvGraphicFramePr>
          <p:nvPr/>
        </p:nvGraphicFramePr>
        <p:xfrm>
          <a:off x="1280590" y="4049534"/>
          <a:ext cx="7378657" cy="873688"/>
        </p:xfrm>
        <a:graphic>
          <a:graphicData uri="http://schemas.openxmlformats.org/drawingml/2006/table">
            <a:tbl>
              <a:tblPr/>
              <a:tblGrid>
                <a:gridCol w="292989">
                  <a:extLst>
                    <a:ext uri="{9D8B030D-6E8A-4147-A177-3AD203B41FA5}">
                      <a16:colId xmlns:a16="http://schemas.microsoft.com/office/drawing/2014/main" val="20000"/>
                    </a:ext>
                  </a:extLst>
                </a:gridCol>
                <a:gridCol w="417293">
                  <a:extLst>
                    <a:ext uri="{9D8B030D-6E8A-4147-A177-3AD203B41FA5}">
                      <a16:colId xmlns:a16="http://schemas.microsoft.com/office/drawing/2014/main" val="20001"/>
                    </a:ext>
                  </a:extLst>
                </a:gridCol>
                <a:gridCol w="510134">
                  <a:extLst>
                    <a:ext uri="{9D8B030D-6E8A-4147-A177-3AD203B41FA5}">
                      <a16:colId xmlns:a16="http://schemas.microsoft.com/office/drawing/2014/main" val="20002"/>
                    </a:ext>
                  </a:extLst>
                </a:gridCol>
                <a:gridCol w="510134">
                  <a:extLst>
                    <a:ext uri="{9D8B030D-6E8A-4147-A177-3AD203B41FA5}">
                      <a16:colId xmlns:a16="http://schemas.microsoft.com/office/drawing/2014/main" val="20003"/>
                    </a:ext>
                  </a:extLst>
                </a:gridCol>
                <a:gridCol w="649409">
                  <a:extLst>
                    <a:ext uri="{9D8B030D-6E8A-4147-A177-3AD203B41FA5}">
                      <a16:colId xmlns:a16="http://schemas.microsoft.com/office/drawing/2014/main" val="20004"/>
                    </a:ext>
                  </a:extLst>
                </a:gridCol>
                <a:gridCol w="910172">
                  <a:extLst>
                    <a:ext uri="{9D8B030D-6E8A-4147-A177-3AD203B41FA5}">
                      <a16:colId xmlns:a16="http://schemas.microsoft.com/office/drawing/2014/main" val="20005"/>
                    </a:ext>
                  </a:extLst>
                </a:gridCol>
                <a:gridCol w="686155">
                  <a:extLst>
                    <a:ext uri="{9D8B030D-6E8A-4147-A177-3AD203B41FA5}">
                      <a16:colId xmlns:a16="http://schemas.microsoft.com/office/drawing/2014/main" val="20006"/>
                    </a:ext>
                  </a:extLst>
                </a:gridCol>
                <a:gridCol w="496179">
                  <a:extLst>
                    <a:ext uri="{9D8B030D-6E8A-4147-A177-3AD203B41FA5}">
                      <a16:colId xmlns:a16="http://schemas.microsoft.com/office/drawing/2014/main" val="20007"/>
                    </a:ext>
                  </a:extLst>
                </a:gridCol>
                <a:gridCol w="511073">
                  <a:extLst>
                    <a:ext uri="{9D8B030D-6E8A-4147-A177-3AD203B41FA5}">
                      <a16:colId xmlns:a16="http://schemas.microsoft.com/office/drawing/2014/main" val="20008"/>
                    </a:ext>
                  </a:extLst>
                </a:gridCol>
                <a:gridCol w="764816">
                  <a:extLst>
                    <a:ext uri="{9D8B030D-6E8A-4147-A177-3AD203B41FA5}">
                      <a16:colId xmlns:a16="http://schemas.microsoft.com/office/drawing/2014/main" val="20009"/>
                    </a:ext>
                  </a:extLst>
                </a:gridCol>
                <a:gridCol w="850593">
                  <a:extLst>
                    <a:ext uri="{9D8B030D-6E8A-4147-A177-3AD203B41FA5}">
                      <a16:colId xmlns:a16="http://schemas.microsoft.com/office/drawing/2014/main" val="20010"/>
                    </a:ext>
                  </a:extLst>
                </a:gridCol>
                <a:gridCol w="779710">
                  <a:extLst>
                    <a:ext uri="{9D8B030D-6E8A-4147-A177-3AD203B41FA5}">
                      <a16:colId xmlns:a16="http://schemas.microsoft.com/office/drawing/2014/main" val="20011"/>
                    </a:ext>
                  </a:extLst>
                </a:gridCol>
              </a:tblGrid>
              <a:tr h="188241">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답변상태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문의채널명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채널문의번호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문의내용</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상품명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tx1"/>
                          </a:solidFill>
                          <a:effectLst/>
                          <a:latin typeface="Nanum Gothic" panose="020D0604000000000000" pitchFamily="34" charset="-127"/>
                          <a:ea typeface="Nanum Gothic" panose="020D0604000000000000" pitchFamily="34" charset="-127"/>
                        </a:rPr>
                        <a:t>옵션명</a:t>
                      </a:r>
                      <a:endParaRPr lang="ko-KR" altLang="en-US" sz="800" b="1"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ko-KR" altLang="en-US" sz="800" b="1" i="0" u="sng" strike="noStrike" dirty="0" err="1">
                          <a:solidFill>
                            <a:schemeClr val="bg1"/>
                          </a:solidFill>
                          <a:effectLst/>
                          <a:latin typeface="Nanum Gothic" panose="020D0604000000000000" pitchFamily="34" charset="-127"/>
                          <a:ea typeface="Nanum Gothic" panose="020D0604000000000000" pitchFamily="34" charset="-127"/>
                        </a:rPr>
                        <a:t>주문여부</a:t>
                      </a:r>
                      <a:endParaRPr lang="ko-KR" altLang="en-US" sz="800" b="1" i="0" u="sng"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sng" strike="noStrike" dirty="0" err="1">
                          <a:solidFill>
                            <a:schemeClr val="bg1"/>
                          </a:solidFill>
                          <a:effectLst/>
                          <a:latin typeface="Nanum Gothic" panose="020D0604000000000000" pitchFamily="34" charset="-127"/>
                          <a:ea typeface="Nanum Gothic" panose="020D0604000000000000" pitchFamily="34" charset="-127"/>
                        </a:rPr>
                        <a:t>문의자명</a:t>
                      </a:r>
                      <a:r>
                        <a:rPr lang="en-US" altLang="ko-KR" sz="800" b="1" i="0" u="sng" strike="noStrike" dirty="0">
                          <a:solidFill>
                            <a:schemeClr val="bg1"/>
                          </a:solidFill>
                          <a:effectLst/>
                          <a:latin typeface="Nanum Gothic" panose="020D0604000000000000" pitchFamily="34" charset="-127"/>
                          <a:ea typeface="Nanum Gothic" panose="020D0604000000000000" pitchFamily="34" charset="-127"/>
                        </a:rPr>
                        <a:t>(ID)</a:t>
                      </a:r>
                      <a:endParaRPr lang="ko-KR" altLang="en-US" sz="800" b="1" i="0" u="sng"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문의일시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최종답변일시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09878">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답변대기</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쿠팡</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CP011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미사용 </a:t>
                      </a: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활불되나요</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에버랜드입장권</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chemeClr val="tx1"/>
                          </a:solidFill>
                          <a:effectLst/>
                          <a:latin typeface="Nanum Gothic" panose="020D0604000000000000" pitchFamily="34" charset="-127"/>
                          <a:ea typeface="Nanum Gothic" panose="020D0604000000000000" pitchFamily="34" charset="-127"/>
                        </a:rPr>
                        <a:t>주말권</a:t>
                      </a:r>
                      <a:endParaRPr lang="en-US" altLang="ko-KR" sz="800" b="0"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YES</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홍길동</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(HONG1)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2020-01-20</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답변완료</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티몬</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TM011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환불언제되요</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공연티켓</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chemeClr val="tx1"/>
                          </a:solidFill>
                          <a:effectLst/>
                          <a:latin typeface="Nanum Gothic" panose="020D0604000000000000" pitchFamily="34" charset="-127"/>
                          <a:ea typeface="Nanum Gothic" panose="020D0604000000000000" pitchFamily="34" charset="-127"/>
                        </a:rPr>
                        <a:t>당일권</a:t>
                      </a:r>
                      <a:endParaRPr lang="en-US" altLang="ko-KR" sz="800" b="0"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YES</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이이로</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(EEE)</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2020-01-19</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19:00:20</a:t>
                      </a: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2020-01-20</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241">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NO</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28" name="TextBox 127"/>
          <p:cNvSpPr txBox="1"/>
          <p:nvPr/>
        </p:nvSpPr>
        <p:spPr>
          <a:xfrm>
            <a:off x="1199203" y="3804119"/>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132" name="직사각형 131"/>
          <p:cNvSpPr/>
          <p:nvPr/>
        </p:nvSpPr>
        <p:spPr>
          <a:xfrm>
            <a:off x="2251108" y="3812276"/>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33" name="직사각형 132"/>
          <p:cNvSpPr/>
          <p:nvPr/>
        </p:nvSpPr>
        <p:spPr>
          <a:xfrm>
            <a:off x="1651210" y="3808510"/>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135" name="직사각형 134"/>
          <p:cNvSpPr/>
          <p:nvPr/>
        </p:nvSpPr>
        <p:spPr>
          <a:xfrm>
            <a:off x="1650403" y="4262794"/>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답변</a:t>
            </a:r>
          </a:p>
        </p:txBody>
      </p:sp>
      <p:sp>
        <p:nvSpPr>
          <p:cNvPr id="59" name="직사각형 58"/>
          <p:cNvSpPr/>
          <p:nvPr/>
        </p:nvSpPr>
        <p:spPr>
          <a:xfrm>
            <a:off x="128461" y="3661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60" name="직사각형 59"/>
          <p:cNvSpPr/>
          <p:nvPr/>
        </p:nvSpPr>
        <p:spPr>
          <a:xfrm>
            <a:off x="128457" y="299047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1" name="직사각형 60"/>
          <p:cNvSpPr/>
          <p:nvPr/>
        </p:nvSpPr>
        <p:spPr>
          <a:xfrm>
            <a:off x="128457" y="332944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8" name="직사각형 57"/>
          <p:cNvSpPr/>
          <p:nvPr/>
        </p:nvSpPr>
        <p:spPr>
          <a:xfrm>
            <a:off x="4764666" y="1955028"/>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쿠팡</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위메프</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티몬</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62" name="직사각형 61"/>
          <p:cNvSpPr/>
          <p:nvPr/>
        </p:nvSpPr>
        <p:spPr>
          <a:xfrm>
            <a:off x="2051503" y="2736627"/>
            <a:ext cx="878021" cy="645525"/>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문의내용</a:t>
            </a:r>
            <a:r>
              <a:rPr lang="ko-KR" altLang="en-US" sz="800" dirty="0">
                <a:solidFill>
                  <a:schemeClr val="tx1"/>
                </a:solidFill>
                <a:latin typeface="Nanum Gothic" panose="020D0604000000000000" pitchFamily="34" charset="-127"/>
                <a:ea typeface="Nanum Gothic" panose="020D0604000000000000" pitchFamily="34" charset="-127"/>
              </a:rPr>
              <a:t>       </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상품명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옵션명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문의자명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채널문의번호</a:t>
            </a:r>
          </a:p>
        </p:txBody>
      </p:sp>
      <p:sp>
        <p:nvSpPr>
          <p:cNvPr id="54" name="직사각형 53"/>
          <p:cNvSpPr/>
          <p:nvPr/>
        </p:nvSpPr>
        <p:spPr>
          <a:xfrm>
            <a:off x="128462" y="2641852"/>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2">
                    <a:lumMod val="60000"/>
                    <a:lumOff val="40000"/>
                  </a:schemeClr>
                </a:solidFill>
                <a:latin typeface="Nanum Gothic" panose="020D0604000000000000" pitchFamily="34" charset="-127"/>
                <a:ea typeface="Nanum Gothic" panose="020D0604000000000000" pitchFamily="34" charset="-127"/>
              </a:rPr>
              <a:t>문의관리</a:t>
            </a: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2051503"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64"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0469"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65" name="직사각형 64"/>
          <p:cNvSpPr/>
          <p:nvPr/>
        </p:nvSpPr>
        <p:spPr>
          <a:xfrm>
            <a:off x="3057124"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66"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6090" y="1690418"/>
            <a:ext cx="136776" cy="1543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7" name="표 66"/>
          <p:cNvGraphicFramePr>
            <a:graphicFrameLocks noGrp="1"/>
          </p:cNvGraphicFramePr>
          <p:nvPr/>
        </p:nvGraphicFramePr>
        <p:xfrm>
          <a:off x="7419015" y="935669"/>
          <a:ext cx="2462043" cy="1054087"/>
        </p:xfrm>
        <a:graphic>
          <a:graphicData uri="http://schemas.openxmlformats.org/drawingml/2006/table">
            <a:tbl>
              <a:tblPr firstRow="1" bandRow="1">
                <a:tableStyleId>{5C22544A-7EE6-4342-B048-85BDC9FD1C3A}</a:tableStyleId>
              </a:tblPr>
              <a:tblGrid>
                <a:gridCol w="1224693">
                  <a:extLst>
                    <a:ext uri="{9D8B030D-6E8A-4147-A177-3AD203B41FA5}">
                      <a16:colId xmlns:a16="http://schemas.microsoft.com/office/drawing/2014/main" val="20000"/>
                    </a:ext>
                  </a:extLst>
                </a:gridCol>
                <a:gridCol w="1237350">
                  <a:extLst>
                    <a:ext uri="{9D8B030D-6E8A-4147-A177-3AD203B41FA5}">
                      <a16:colId xmlns:a16="http://schemas.microsoft.com/office/drawing/2014/main" val="20001"/>
                    </a:ext>
                  </a:extLst>
                </a:gridCol>
              </a:tblGrid>
              <a:tr h="148222">
                <a:tc>
                  <a:txBody>
                    <a:bodyPr/>
                    <a:lstStyle/>
                    <a:p>
                      <a:pPr marL="0" marR="0" lvl="0" indent="0" algn="ctr" defTabSz="742950" rtl="0" eaLnBrk="1" fontAlgn="auto" latinLnBrk="1" hangingPunct="1">
                        <a:lnSpc>
                          <a:spcPct val="100000"/>
                        </a:lnSpc>
                        <a:spcBef>
                          <a:spcPts val="0"/>
                        </a:spcBef>
                        <a:spcAft>
                          <a:spcPts val="0"/>
                        </a:spcAft>
                        <a:buClrTx/>
                        <a:buSzTx/>
                        <a:buFontTx/>
                        <a:buNone/>
                        <a:defRPr/>
                      </a:pPr>
                      <a:r>
                        <a:rPr lang="ko-KR" altLang="en-US" sz="800" b="0" u="none" dirty="0">
                          <a:solidFill>
                            <a:schemeClr val="bg1"/>
                          </a:solidFill>
                          <a:latin typeface="Nanum Gothic" panose="020D0604000000000000" pitchFamily="34" charset="-127"/>
                          <a:ea typeface="Nanum Gothic" panose="020D0604000000000000" pitchFamily="34" charset="-127"/>
                        </a:rPr>
                        <a:t>등록된 문의 관리</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defRPr/>
                      </a:pPr>
                      <a:r>
                        <a:rPr lang="ko-KR" altLang="en-US" sz="800" b="0" u="none" dirty="0" err="1">
                          <a:solidFill>
                            <a:schemeClr val="bg1"/>
                          </a:solidFill>
                          <a:latin typeface="Nanum Gothic" panose="020D0604000000000000" pitchFamily="34" charset="-127"/>
                          <a:ea typeface="Nanum Gothic" panose="020D0604000000000000" pitchFamily="34" charset="-127"/>
                        </a:rPr>
                        <a:t>문의글</a:t>
                      </a:r>
                      <a:r>
                        <a:rPr lang="ko-KR" altLang="en-US" sz="800" b="0" u="none" dirty="0">
                          <a:solidFill>
                            <a:schemeClr val="bg1"/>
                          </a:solidFill>
                          <a:latin typeface="Nanum Gothic" panose="020D0604000000000000" pitchFamily="34" charset="-127"/>
                          <a:ea typeface="Nanum Gothic" panose="020D0604000000000000" pitchFamily="34" charset="-127"/>
                        </a:rPr>
                        <a:t> 답변 </a:t>
                      </a:r>
                      <a:r>
                        <a:rPr lang="ko-KR" altLang="en-US" sz="800" b="0" u="none" dirty="0" err="1">
                          <a:solidFill>
                            <a:schemeClr val="bg1"/>
                          </a:solidFill>
                          <a:latin typeface="Nanum Gothic" panose="020D0604000000000000" pitchFamily="34" charset="-127"/>
                          <a:ea typeface="Nanum Gothic" panose="020D0604000000000000" pitchFamily="34" charset="-127"/>
                        </a:rPr>
                        <a:t>등록시</a:t>
                      </a:r>
                      <a:endParaRPr lang="ko-KR" altLang="en-US" sz="800" b="0" u="none" dirty="0">
                        <a:solidFill>
                          <a:schemeClr val="bg1"/>
                        </a:solidFill>
                        <a:latin typeface="Nanum Gothic" panose="020D0604000000000000" pitchFamily="34" charset="-127"/>
                        <a:ea typeface="Nanum Gothic" panose="020D0604000000000000" pitchFamily="34" charset="-127"/>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0000"/>
                  </a:ext>
                </a:extLst>
              </a:tr>
              <a:tr h="494407">
                <a:tc>
                  <a:txBody>
                    <a:bodyPr/>
                    <a:lstStyle/>
                    <a:p>
                      <a:pPr algn="l" fontAlgn="ctr"/>
                      <a:r>
                        <a:rPr lang="en-US" altLang="ko-KR" sz="800" b="0" i="0" u="none" strike="noStrike" dirty="0">
                          <a:solidFill>
                            <a:srgbClr val="000000"/>
                          </a:solidFill>
                          <a:effectLst/>
                          <a:latin typeface="Malgun Gothic" panose="020B0503020000020004" charset="-127"/>
                          <a:ea typeface="Malgun Gothic" panose="020B0503020000020004" charset="-127"/>
                        </a:rPr>
                        <a:t>1</a:t>
                      </a:r>
                      <a:r>
                        <a:rPr lang="ko-KR" altLang="en-US" sz="800" b="0" i="0" u="none" strike="noStrike" dirty="0">
                          <a:solidFill>
                            <a:srgbClr val="000000"/>
                          </a:solidFill>
                          <a:effectLst/>
                          <a:latin typeface="Malgun Gothic" panose="020B0503020000020004" charset="-127"/>
                          <a:ea typeface="Malgun Gothic" panose="020B0503020000020004" charset="-127"/>
                        </a:rPr>
                        <a:t>안 </a:t>
                      </a:r>
                      <a:r>
                        <a:rPr lang="en-US" altLang="ko-KR" sz="800" b="0" i="0" u="none" strike="noStrike" dirty="0">
                          <a:solidFill>
                            <a:srgbClr val="000000"/>
                          </a:solidFill>
                          <a:effectLst/>
                          <a:latin typeface="Malgun Gothic" panose="020B0503020000020004" charset="-127"/>
                          <a:ea typeface="Malgun Gothic" panose="020B0503020000020004" charset="-127"/>
                        </a:rPr>
                        <a:t>:</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API </a:t>
                      </a:r>
                      <a:r>
                        <a:rPr lang="ko-KR" altLang="en-US" sz="800" b="0" i="0" u="none" strike="noStrike" dirty="0">
                          <a:solidFill>
                            <a:srgbClr val="000000"/>
                          </a:solidFill>
                          <a:effectLst/>
                          <a:latin typeface="Malgun Gothic" panose="020B0503020000020004" charset="-127"/>
                          <a:ea typeface="Malgun Gothic" panose="020B0503020000020004" charset="-127"/>
                        </a:rPr>
                        <a:t>로 각 </a:t>
                      </a:r>
                      <a:r>
                        <a:rPr lang="ko-KR" altLang="en-US" sz="800" b="0" i="0" u="none" strike="noStrike" dirty="0" err="1">
                          <a:solidFill>
                            <a:srgbClr val="000000"/>
                          </a:solidFill>
                          <a:effectLst/>
                          <a:latin typeface="Malgun Gothic" panose="020B0503020000020004" charset="-127"/>
                          <a:ea typeface="Malgun Gothic" panose="020B0503020000020004" charset="-127"/>
                        </a:rPr>
                        <a:t>채널사별</a:t>
                      </a:r>
                      <a:r>
                        <a:rPr lang="ko-KR" altLang="en-US" sz="800" b="0" i="0" u="none" strike="noStrike" dirty="0">
                          <a:solidFill>
                            <a:srgbClr val="000000"/>
                          </a:solidFill>
                          <a:effectLst/>
                          <a:latin typeface="Malgun Gothic" panose="020B0503020000020004" charset="-127"/>
                          <a:ea typeface="Malgun Gothic" panose="020B0503020000020004" charset="-127"/>
                        </a:rPr>
                        <a:t> 고객 문의 정보를 수집</a:t>
                      </a:r>
                      <a:endParaRPr lang="en-US" altLang="ko-KR" sz="800" b="0" i="0" u="none" strike="noStrike" dirty="0">
                        <a:solidFill>
                          <a:srgbClr val="000000"/>
                        </a:solidFill>
                        <a:effectLst/>
                        <a:latin typeface="Malgun Gothic" panose="020B0503020000020004" charset="-127"/>
                        <a:ea typeface="Malgun Gothic" panose="020B0503020000020004" charset="-127"/>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l" fontAlgn="ctr">
                        <a:buNone/>
                      </a:pPr>
                      <a:r>
                        <a:rPr lang="en-US" altLang="ko-KR" sz="800" b="0" i="0" u="none" strike="noStrike" dirty="0">
                          <a:solidFill>
                            <a:srgbClr val="000000"/>
                          </a:solidFill>
                          <a:effectLst/>
                          <a:latin typeface="Malgun Gothic" panose="020B0503020000020004" charset="-127"/>
                          <a:ea typeface="Malgun Gothic" panose="020B0503020000020004" charset="-127"/>
                        </a:rPr>
                        <a:t>1. </a:t>
                      </a:r>
                      <a:r>
                        <a:rPr lang="ko-KR" altLang="en-US" sz="800" b="0" i="0" u="none" strike="noStrike" dirty="0">
                          <a:solidFill>
                            <a:srgbClr val="000000"/>
                          </a:solidFill>
                          <a:effectLst/>
                          <a:latin typeface="Malgun Gothic" panose="020B0503020000020004" charset="-127"/>
                          <a:ea typeface="Malgun Gothic" panose="020B0503020000020004" charset="-127"/>
                        </a:rPr>
                        <a:t>티브리지에서 관리자가 입력한 답변 </a:t>
                      </a:r>
                      <a:r>
                        <a:rPr lang="en-US" altLang="ko-KR" sz="800" b="0" i="0" u="none" strike="noStrike" dirty="0">
                          <a:solidFill>
                            <a:srgbClr val="000000"/>
                          </a:solidFill>
                          <a:effectLst/>
                          <a:latin typeface="Malgun Gothic" panose="020B0503020000020004" charset="-127"/>
                          <a:ea typeface="Malgun Gothic" panose="020B0503020000020004" charset="-127"/>
                        </a:rPr>
                        <a:t>API</a:t>
                      </a:r>
                      <a:r>
                        <a:rPr lang="ko-KR" altLang="en-US" sz="800" b="0" i="0" u="none" strike="noStrike" dirty="0">
                          <a:solidFill>
                            <a:srgbClr val="000000"/>
                          </a:solidFill>
                          <a:effectLst/>
                          <a:latin typeface="Malgun Gothic" panose="020B0503020000020004" charset="-127"/>
                          <a:ea typeface="Malgun Gothic" panose="020B0503020000020004" charset="-127"/>
                        </a:rPr>
                        <a:t>로 각 </a:t>
                      </a:r>
                      <a:r>
                        <a:rPr lang="ko-KR" altLang="en-US" sz="800" b="0" i="0" u="none" strike="noStrike" dirty="0" err="1">
                          <a:solidFill>
                            <a:srgbClr val="000000"/>
                          </a:solidFill>
                          <a:effectLst/>
                          <a:latin typeface="Malgun Gothic" panose="020B0503020000020004" charset="-127"/>
                          <a:ea typeface="Malgun Gothic" panose="020B0503020000020004" charset="-127"/>
                        </a:rPr>
                        <a:t>채널사</a:t>
                      </a:r>
                      <a:r>
                        <a:rPr lang="ko-KR" altLang="en-US" sz="800" b="0" i="0" u="none" strike="noStrike" dirty="0">
                          <a:solidFill>
                            <a:srgbClr val="000000"/>
                          </a:solidFill>
                          <a:effectLst/>
                          <a:latin typeface="Malgun Gothic" panose="020B0503020000020004" charset="-127"/>
                          <a:ea typeface="Malgun Gothic" panose="020B0503020000020004" charset="-127"/>
                        </a:rPr>
                        <a:t> 전송</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algn="l" fontAlgn="ctr"/>
                      <a:r>
                        <a:rPr lang="en-US" altLang="ko-KR" sz="800" b="0" i="0" u="none" strike="noStrike" dirty="0">
                          <a:solidFill>
                            <a:srgbClr val="000000"/>
                          </a:solidFill>
                          <a:effectLst/>
                          <a:latin typeface="Malgun Gothic" panose="020B0503020000020004" charset="-127"/>
                          <a:ea typeface="Malgun Gothic" panose="020B0503020000020004" charset="-127"/>
                        </a:rPr>
                        <a:t>2</a:t>
                      </a:r>
                      <a:r>
                        <a:rPr lang="ko-KR" altLang="en-US" sz="800" b="0" i="0" u="none" strike="noStrike" dirty="0">
                          <a:solidFill>
                            <a:srgbClr val="000000"/>
                          </a:solidFill>
                          <a:effectLst/>
                          <a:latin typeface="Malgun Gothic" panose="020B0503020000020004" charset="-127"/>
                          <a:ea typeface="Malgun Gothic" panose="020B0503020000020004" charset="-127"/>
                        </a:rPr>
                        <a:t>안 </a:t>
                      </a:r>
                      <a:r>
                        <a:rPr lang="en-US" altLang="ko-KR" sz="800" b="0" i="0" u="none" strike="noStrike" dirty="0">
                          <a:solidFill>
                            <a:srgbClr val="000000"/>
                          </a:solidFill>
                          <a:effectLst/>
                          <a:latin typeface="Malgun Gothic" panose="020B0503020000020004" charset="-127"/>
                          <a:ea typeface="Malgun Gothic" panose="020B0503020000020004" charset="-127"/>
                        </a:rPr>
                        <a:t>:</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1</a:t>
                      </a:r>
                      <a:r>
                        <a:rPr lang="ko-KR" altLang="en-US" sz="800" b="0" i="0" u="none" strike="noStrike" dirty="0">
                          <a:solidFill>
                            <a:srgbClr val="000000"/>
                          </a:solidFill>
                          <a:effectLst/>
                          <a:latin typeface="Malgun Gothic" panose="020B0503020000020004" charset="-127"/>
                          <a:ea typeface="Malgun Gothic" panose="020B0503020000020004" charset="-127"/>
                        </a:rPr>
                        <a:t>안이 안되는 </a:t>
                      </a:r>
                      <a:r>
                        <a:rPr lang="ko-KR" altLang="en-US" sz="800" b="0" i="0" u="none" strike="noStrike" dirty="0" err="1">
                          <a:solidFill>
                            <a:srgbClr val="000000"/>
                          </a:solidFill>
                          <a:effectLst/>
                          <a:latin typeface="Malgun Gothic" panose="020B0503020000020004" charset="-127"/>
                          <a:ea typeface="Malgun Gothic" panose="020B0503020000020004" charset="-127"/>
                        </a:rPr>
                        <a:t>채널사는</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ko-KR" altLang="en-US" sz="800" b="0" i="0" u="none" strike="noStrike" dirty="0" err="1">
                          <a:solidFill>
                            <a:srgbClr val="000000"/>
                          </a:solidFill>
                          <a:effectLst/>
                          <a:latin typeface="Malgun Gothic" panose="020B0503020000020004" charset="-127"/>
                          <a:ea typeface="Malgun Gothic" panose="020B0503020000020004" charset="-127"/>
                        </a:rPr>
                        <a:t>문의정보</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ko-KR" altLang="en-US" sz="800" b="0" i="0" u="none" strike="noStrike" dirty="0" err="1">
                          <a:solidFill>
                            <a:srgbClr val="000000"/>
                          </a:solidFill>
                          <a:effectLst/>
                          <a:latin typeface="Malgun Gothic" panose="020B0503020000020004" charset="-127"/>
                          <a:ea typeface="Malgun Gothic" panose="020B0503020000020004" charset="-127"/>
                        </a:rPr>
                        <a:t>크롤링</a:t>
                      </a:r>
                      <a:r>
                        <a:rPr lang="ko-KR" altLang="en-US" sz="800" b="0" i="0" u="none" strike="noStrike" dirty="0">
                          <a:solidFill>
                            <a:srgbClr val="000000"/>
                          </a:solidFill>
                          <a:effectLst/>
                          <a:latin typeface="Malgun Gothic" panose="020B0503020000020004" charset="-127"/>
                          <a:ea typeface="Malgun Gothic" panose="020B0503020000020004" charset="-127"/>
                        </a:rPr>
                        <a:t> </a:t>
                      </a:r>
                      <a:r>
                        <a:rPr lang="en-US" altLang="ko-KR" sz="800" b="0" i="0" u="none" strike="noStrike" dirty="0">
                          <a:solidFill>
                            <a:srgbClr val="000000"/>
                          </a:solidFill>
                          <a:effectLst/>
                          <a:latin typeface="Malgun Gothic" panose="020B0503020000020004" charset="-127"/>
                          <a:ea typeface="Malgun Gothic" panose="020B0503020000020004" charset="-127"/>
                        </a:rPr>
                        <a:t>(</a:t>
                      </a:r>
                      <a:r>
                        <a:rPr lang="ko-KR" altLang="en-US" sz="800" b="0" i="0" u="none" strike="noStrike" dirty="0">
                          <a:solidFill>
                            <a:srgbClr val="000000"/>
                          </a:solidFill>
                          <a:effectLst/>
                          <a:latin typeface="Malgun Gothic" panose="020B0503020000020004" charset="-127"/>
                          <a:ea typeface="Malgun Gothic" panose="020B0503020000020004" charset="-127"/>
                        </a:rPr>
                        <a:t>특정 주기로</a:t>
                      </a:r>
                      <a:r>
                        <a:rPr lang="en-US" altLang="ko-KR" sz="800" b="0" i="0" u="none" strike="noStrike" dirty="0">
                          <a:solidFill>
                            <a:srgbClr val="000000"/>
                          </a:solidFill>
                          <a:effectLst/>
                          <a:latin typeface="Malgun Gothic" panose="020B0503020000020004" charset="-127"/>
                          <a:ea typeface="Malgun Gothic" panose="020B0503020000020004" charset="-127"/>
                        </a:rPr>
                        <a:t>)</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l" fontAlgn="ctr">
                        <a:buNone/>
                      </a:pPr>
                      <a:r>
                        <a:rPr lang="en-US" altLang="ko-KR" sz="800" b="0" i="0" u="none" strike="noStrike" dirty="0">
                          <a:solidFill>
                            <a:srgbClr val="000000"/>
                          </a:solidFill>
                          <a:effectLst/>
                          <a:latin typeface="Malgun Gothic" panose="020B0503020000020004" charset="-127"/>
                          <a:ea typeface="Malgun Gothic" panose="020B0503020000020004" charset="-127"/>
                        </a:rPr>
                        <a:t>2. </a:t>
                      </a:r>
                      <a:r>
                        <a:rPr lang="ko-KR" altLang="en-US" sz="800" b="0" i="0" u="none" strike="noStrike" dirty="0" err="1">
                          <a:solidFill>
                            <a:srgbClr val="000000"/>
                          </a:solidFill>
                          <a:effectLst/>
                          <a:latin typeface="Malgun Gothic" panose="020B0503020000020004" charset="-127"/>
                          <a:ea typeface="Malgun Gothic" panose="020B0503020000020004" charset="-127"/>
                        </a:rPr>
                        <a:t>크롤링으로</a:t>
                      </a:r>
                      <a:r>
                        <a:rPr lang="ko-KR" altLang="en-US" sz="800" b="0" i="0" u="none" strike="noStrike" dirty="0">
                          <a:solidFill>
                            <a:srgbClr val="000000"/>
                          </a:solidFill>
                          <a:effectLst/>
                          <a:latin typeface="Malgun Gothic" panose="020B0503020000020004" charset="-127"/>
                          <a:ea typeface="Malgun Gothic" panose="020B0503020000020004" charset="-127"/>
                        </a:rPr>
                        <a:t> 가져온 케이스도 각 </a:t>
                      </a:r>
                      <a:r>
                        <a:rPr lang="ko-KR" altLang="en-US" sz="800" b="0" i="0" u="none" strike="noStrike" dirty="0" err="1">
                          <a:solidFill>
                            <a:srgbClr val="000000"/>
                          </a:solidFill>
                          <a:effectLst/>
                          <a:latin typeface="Malgun Gothic" panose="020B0503020000020004" charset="-127"/>
                          <a:ea typeface="Malgun Gothic" panose="020B0503020000020004" charset="-127"/>
                        </a:rPr>
                        <a:t>채널사에</a:t>
                      </a:r>
                      <a:r>
                        <a:rPr lang="ko-KR" altLang="en-US" sz="800" b="0" i="0" u="none" strike="noStrike" dirty="0">
                          <a:solidFill>
                            <a:srgbClr val="000000"/>
                          </a:solidFill>
                          <a:effectLst/>
                          <a:latin typeface="Malgun Gothic" panose="020B0503020000020004" charset="-127"/>
                          <a:ea typeface="Malgun Gothic" panose="020B0503020000020004" charset="-127"/>
                        </a:rPr>
                        <a:t> 전송</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68" name="그림 67"/>
          <p:cNvPicPr>
            <a:picLocks noChangeAspect="1"/>
          </p:cNvPicPr>
          <p:nvPr/>
        </p:nvPicPr>
        <p:blipFill>
          <a:blip r:embed="rId4" cstate="print"/>
          <a:stretch>
            <a:fillRect/>
          </a:stretch>
        </p:blipFill>
        <p:spPr>
          <a:xfrm rot="10800000" flipV="1">
            <a:off x="3656854" y="5923247"/>
            <a:ext cx="5174237" cy="152103"/>
          </a:xfrm>
          <a:prstGeom prst="rect">
            <a:avLst/>
          </a:prstGeom>
        </p:spPr>
      </p:pic>
      <p:pic>
        <p:nvPicPr>
          <p:cNvPr id="69" name="그림 68"/>
          <p:cNvPicPr>
            <a:picLocks noChangeAspect="1"/>
          </p:cNvPicPr>
          <p:nvPr/>
        </p:nvPicPr>
        <p:blipFill>
          <a:blip r:embed="rId5" cstate="print"/>
          <a:stretch>
            <a:fillRect/>
          </a:stretch>
        </p:blipFill>
        <p:spPr>
          <a:xfrm>
            <a:off x="8666474" y="4150190"/>
            <a:ext cx="157393" cy="1780515"/>
          </a:xfrm>
          <a:prstGeom prst="rect">
            <a:avLst/>
          </a:prstGeom>
        </p:spPr>
      </p:pic>
      <p:cxnSp>
        <p:nvCxnSpPr>
          <p:cNvPr id="4" name="직선 연결선[R] 3"/>
          <p:cNvCxnSpPr/>
          <p:nvPr/>
        </p:nvCxnSpPr>
        <p:spPr>
          <a:xfrm>
            <a:off x="3656856" y="3456214"/>
            <a:ext cx="0" cy="2628294"/>
          </a:xfrm>
          <a:prstGeom prst="line">
            <a:avLst/>
          </a:prstGeom>
          <a:ln w="3175">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70" name="표 69"/>
          <p:cNvGraphicFramePr>
            <a:graphicFrameLocks noGrp="1"/>
          </p:cNvGraphicFramePr>
          <p:nvPr/>
        </p:nvGraphicFramePr>
        <p:xfrm>
          <a:off x="7453089" y="2061003"/>
          <a:ext cx="2357214" cy="180096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ko-KR" altLang="en-US" sz="800" b="1" baseline="0" dirty="0">
                          <a:solidFill>
                            <a:schemeClr val="tx1"/>
                          </a:solidFill>
                          <a:latin typeface="Malgun Gothic" panose="020B0503020000020004" charset="-127"/>
                          <a:ea typeface="Malgun Gothic" panose="020B0503020000020004" charset="-127"/>
                          <a:sym typeface="Wingdings" panose="05000000000000000000" pitchFamily="2" charset="2"/>
                        </a:rPr>
                        <a:t>검색조건</a:t>
                      </a:r>
                      <a:endParaRPr lang="en-US" altLang="ko-KR" sz="800" b="1"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문의일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당일이 디폴트</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그외</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나머지 상품관리쪽과 동일기능으로 적용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디폴트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전체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검색어</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문의자명</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채널문의번호만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일치검색</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나머지는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포함검색</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답변상태가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답변대기</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답변 버튼 노출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답변등록</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레이어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답변상태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답변완료</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수정 버튼 노출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답변 등록 레이어 연결되고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입력값</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표기되어 수정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검색결과 전체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엑셀다운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엑셀내용</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목록에서 보이는 값 그대로 표기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71" name="직사각형 70"/>
          <p:cNvSpPr/>
          <p:nvPr/>
        </p:nvSpPr>
        <p:spPr>
          <a:xfrm>
            <a:off x="4016896"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주일</a:t>
            </a:r>
          </a:p>
        </p:txBody>
      </p:sp>
      <p:sp>
        <p:nvSpPr>
          <p:cNvPr id="72" name="직사각형 71"/>
          <p:cNvSpPr/>
          <p:nvPr/>
        </p:nvSpPr>
        <p:spPr>
          <a:xfrm>
            <a:off x="4477651"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1</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73" name="직사각형 72"/>
          <p:cNvSpPr/>
          <p:nvPr/>
        </p:nvSpPr>
        <p:spPr>
          <a:xfrm>
            <a:off x="4940118"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2">
                    <a:lumMod val="60000"/>
                    <a:lumOff val="40000"/>
                  </a:schemeClr>
                </a:solidFill>
                <a:latin typeface="Nanum Gothic" panose="020D0604000000000000" pitchFamily="34" charset="-127"/>
                <a:ea typeface="Nanum Gothic" panose="020D0604000000000000" pitchFamily="34" charset="-127"/>
              </a:rPr>
              <a:t>3</a:t>
            </a: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개월</a:t>
            </a:r>
          </a:p>
        </p:txBody>
      </p:sp>
      <p:sp>
        <p:nvSpPr>
          <p:cNvPr id="74" name="직사각형 73"/>
          <p:cNvSpPr/>
          <p:nvPr/>
        </p:nvSpPr>
        <p:spPr>
          <a:xfrm>
            <a:off x="1640632" y="4511235"/>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75" name="TextBox 74"/>
          <p:cNvSpPr txBox="1"/>
          <p:nvPr/>
        </p:nvSpPr>
        <p:spPr>
          <a:xfrm>
            <a:off x="1267854" y="5877852"/>
            <a:ext cx="2028962" cy="215444"/>
          </a:xfrm>
          <a:prstGeom prst="rect">
            <a:avLst/>
          </a:prstGeom>
          <a:noFill/>
        </p:spPr>
        <p:txBody>
          <a:bodyPr wrap="square" rtlCol="0">
            <a:spAutoFit/>
          </a:bodyPr>
          <a:lstStyle/>
          <a:p>
            <a:r>
              <a:rPr lang="ko-KR" altLang="en-US" sz="800" b="1" i="1" dirty="0">
                <a:solidFill>
                  <a:srgbClr val="C00000"/>
                </a:solidFill>
                <a:latin typeface="Nanum Gothic" panose="020D0604000000000000" pitchFamily="34" charset="-127"/>
                <a:ea typeface="Nanum Gothic" panose="020D0604000000000000" pitchFamily="34" charset="-127"/>
              </a:rPr>
              <a:t>채널문의번호까지 </a:t>
            </a:r>
            <a:r>
              <a:rPr lang="ko-KR" altLang="en-US" sz="800" b="1" i="1" dirty="0" err="1">
                <a:solidFill>
                  <a:srgbClr val="C00000"/>
                </a:solidFill>
                <a:latin typeface="Nanum Gothic" panose="020D0604000000000000" pitchFamily="34" charset="-127"/>
                <a:ea typeface="Nanum Gothic" panose="020D0604000000000000" pitchFamily="34" charset="-127"/>
              </a:rPr>
              <a:t>가로스크롤</a:t>
            </a:r>
            <a:r>
              <a:rPr lang="ko-KR" altLang="en-US" sz="800" b="1" i="1" dirty="0">
                <a:solidFill>
                  <a:srgbClr val="C00000"/>
                </a:solidFill>
                <a:latin typeface="Nanum Gothic" panose="020D0604000000000000" pitchFamily="34" charset="-127"/>
                <a:ea typeface="Nanum Gothic" panose="020D0604000000000000" pitchFamily="34" charset="-127"/>
              </a:rPr>
              <a:t> 없이 고정</a:t>
            </a:r>
          </a:p>
        </p:txBody>
      </p:sp>
      <p:sp>
        <p:nvSpPr>
          <p:cNvPr id="79" name="왼쪽 대괄호[L] 78"/>
          <p:cNvSpPr/>
          <p:nvPr/>
        </p:nvSpPr>
        <p:spPr>
          <a:xfrm>
            <a:off x="1237749" y="1690729"/>
            <a:ext cx="163984" cy="1141727"/>
          </a:xfrm>
          <a:prstGeom prst="leftBracket">
            <a:avLst/>
          </a:prstGeom>
          <a:ln w="31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83" name="직사각형 82"/>
          <p:cNvSpPr/>
          <p:nvPr/>
        </p:nvSpPr>
        <p:spPr>
          <a:xfrm>
            <a:off x="1572248" y="4091144"/>
            <a:ext cx="380874" cy="1019649"/>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86" name="타원 85"/>
          <p:cNvSpPr/>
          <p:nvPr/>
        </p:nvSpPr>
        <p:spPr>
          <a:xfrm>
            <a:off x="1139535" y="1823294"/>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80" name="타원 79"/>
          <p:cNvSpPr/>
          <p:nvPr/>
        </p:nvSpPr>
        <p:spPr>
          <a:xfrm>
            <a:off x="1456886" y="402744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91" name="타원 90"/>
          <p:cNvSpPr/>
          <p:nvPr/>
        </p:nvSpPr>
        <p:spPr>
          <a:xfrm>
            <a:off x="2756569" y="372620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 name="표 68"/>
          <p:cNvGraphicFramePr>
            <a:graphicFrameLocks noGrp="1"/>
          </p:cNvGraphicFramePr>
          <p:nvPr/>
        </p:nvGraphicFramePr>
        <p:xfrm>
          <a:off x="1280590" y="3682686"/>
          <a:ext cx="7378657" cy="873688"/>
        </p:xfrm>
        <a:graphic>
          <a:graphicData uri="http://schemas.openxmlformats.org/drawingml/2006/table">
            <a:tbl>
              <a:tblPr/>
              <a:tblGrid>
                <a:gridCol w="292989">
                  <a:extLst>
                    <a:ext uri="{9D8B030D-6E8A-4147-A177-3AD203B41FA5}">
                      <a16:colId xmlns:a16="http://schemas.microsoft.com/office/drawing/2014/main" val="20000"/>
                    </a:ext>
                  </a:extLst>
                </a:gridCol>
                <a:gridCol w="417293">
                  <a:extLst>
                    <a:ext uri="{9D8B030D-6E8A-4147-A177-3AD203B41FA5}">
                      <a16:colId xmlns:a16="http://schemas.microsoft.com/office/drawing/2014/main" val="20001"/>
                    </a:ext>
                  </a:extLst>
                </a:gridCol>
                <a:gridCol w="510134">
                  <a:extLst>
                    <a:ext uri="{9D8B030D-6E8A-4147-A177-3AD203B41FA5}">
                      <a16:colId xmlns:a16="http://schemas.microsoft.com/office/drawing/2014/main" val="20002"/>
                    </a:ext>
                  </a:extLst>
                </a:gridCol>
                <a:gridCol w="510134">
                  <a:extLst>
                    <a:ext uri="{9D8B030D-6E8A-4147-A177-3AD203B41FA5}">
                      <a16:colId xmlns:a16="http://schemas.microsoft.com/office/drawing/2014/main" val="20003"/>
                    </a:ext>
                  </a:extLst>
                </a:gridCol>
                <a:gridCol w="649409">
                  <a:extLst>
                    <a:ext uri="{9D8B030D-6E8A-4147-A177-3AD203B41FA5}">
                      <a16:colId xmlns:a16="http://schemas.microsoft.com/office/drawing/2014/main" val="20004"/>
                    </a:ext>
                  </a:extLst>
                </a:gridCol>
                <a:gridCol w="910172">
                  <a:extLst>
                    <a:ext uri="{9D8B030D-6E8A-4147-A177-3AD203B41FA5}">
                      <a16:colId xmlns:a16="http://schemas.microsoft.com/office/drawing/2014/main" val="20005"/>
                    </a:ext>
                  </a:extLst>
                </a:gridCol>
                <a:gridCol w="686155">
                  <a:extLst>
                    <a:ext uri="{9D8B030D-6E8A-4147-A177-3AD203B41FA5}">
                      <a16:colId xmlns:a16="http://schemas.microsoft.com/office/drawing/2014/main" val="20006"/>
                    </a:ext>
                  </a:extLst>
                </a:gridCol>
                <a:gridCol w="496179">
                  <a:extLst>
                    <a:ext uri="{9D8B030D-6E8A-4147-A177-3AD203B41FA5}">
                      <a16:colId xmlns:a16="http://schemas.microsoft.com/office/drawing/2014/main" val="20007"/>
                    </a:ext>
                  </a:extLst>
                </a:gridCol>
                <a:gridCol w="511073">
                  <a:extLst>
                    <a:ext uri="{9D8B030D-6E8A-4147-A177-3AD203B41FA5}">
                      <a16:colId xmlns:a16="http://schemas.microsoft.com/office/drawing/2014/main" val="20008"/>
                    </a:ext>
                  </a:extLst>
                </a:gridCol>
                <a:gridCol w="764816">
                  <a:extLst>
                    <a:ext uri="{9D8B030D-6E8A-4147-A177-3AD203B41FA5}">
                      <a16:colId xmlns:a16="http://schemas.microsoft.com/office/drawing/2014/main" val="20009"/>
                    </a:ext>
                  </a:extLst>
                </a:gridCol>
                <a:gridCol w="850593">
                  <a:extLst>
                    <a:ext uri="{9D8B030D-6E8A-4147-A177-3AD203B41FA5}">
                      <a16:colId xmlns:a16="http://schemas.microsoft.com/office/drawing/2014/main" val="20010"/>
                    </a:ext>
                  </a:extLst>
                </a:gridCol>
                <a:gridCol w="779710">
                  <a:extLst>
                    <a:ext uri="{9D8B030D-6E8A-4147-A177-3AD203B41FA5}">
                      <a16:colId xmlns:a16="http://schemas.microsoft.com/office/drawing/2014/main" val="20011"/>
                    </a:ext>
                  </a:extLst>
                </a:gridCol>
              </a:tblGrid>
              <a:tr h="188241">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답변상태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문의채널명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채널문의번호</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문의내용</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상품명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tx1"/>
                          </a:solidFill>
                          <a:effectLst/>
                          <a:latin typeface="Nanum Gothic" panose="020D0604000000000000" pitchFamily="34" charset="-127"/>
                          <a:ea typeface="Nanum Gothic" panose="020D0604000000000000" pitchFamily="34" charset="-127"/>
                        </a:rPr>
                        <a:t>옵션명</a:t>
                      </a:r>
                      <a:endParaRPr lang="ko-KR" altLang="en-US" sz="800" b="1"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ko-KR" altLang="en-US" sz="800" b="1" i="0" u="sng" strike="noStrike" dirty="0" err="1">
                          <a:solidFill>
                            <a:schemeClr val="bg1"/>
                          </a:solidFill>
                          <a:effectLst/>
                          <a:latin typeface="Nanum Gothic" panose="020D0604000000000000" pitchFamily="34" charset="-127"/>
                          <a:ea typeface="Nanum Gothic" panose="020D0604000000000000" pitchFamily="34" charset="-127"/>
                        </a:rPr>
                        <a:t>주문여부</a:t>
                      </a:r>
                      <a:endParaRPr lang="ko-KR" altLang="en-US" sz="800" b="1" i="0" u="sng"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sng" strike="noStrike" dirty="0" err="1">
                          <a:solidFill>
                            <a:schemeClr val="bg1"/>
                          </a:solidFill>
                          <a:effectLst/>
                          <a:latin typeface="Nanum Gothic" panose="020D0604000000000000" pitchFamily="34" charset="-127"/>
                          <a:ea typeface="Nanum Gothic" panose="020D0604000000000000" pitchFamily="34" charset="-127"/>
                        </a:rPr>
                        <a:t>문의자명</a:t>
                      </a:r>
                      <a:r>
                        <a:rPr lang="en-US" altLang="ko-KR" sz="800" b="1" i="0" u="sng" strike="noStrike" dirty="0">
                          <a:solidFill>
                            <a:schemeClr val="bg1"/>
                          </a:solidFill>
                          <a:effectLst/>
                          <a:latin typeface="Nanum Gothic" panose="020D0604000000000000" pitchFamily="34" charset="-127"/>
                          <a:ea typeface="Nanum Gothic" panose="020D0604000000000000" pitchFamily="34" charset="-127"/>
                        </a:rPr>
                        <a:t>(ID)</a:t>
                      </a:r>
                      <a:endParaRPr lang="ko-KR" altLang="en-US" sz="800" b="1" i="0" u="sng"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문의일시</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최종답변일시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09878">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답변대기</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쿠팡</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CP011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미사용 </a:t>
                      </a: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활불되나요</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에버랜드입장권</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chemeClr val="tx1"/>
                          </a:solidFill>
                          <a:effectLst/>
                          <a:latin typeface="Nanum Gothic" panose="020D0604000000000000" pitchFamily="34" charset="-127"/>
                          <a:ea typeface="Nanum Gothic" panose="020D0604000000000000" pitchFamily="34" charset="-127"/>
                        </a:rPr>
                        <a:t>주말권</a:t>
                      </a:r>
                      <a:endParaRPr lang="en-US" altLang="ko-KR" sz="800" b="0"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YES</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홍길동</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(HONG1)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2020-01-20</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답변완료</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티몬</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TM011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환불언제되요</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공연티켓</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chemeClr val="tx1"/>
                          </a:solidFill>
                          <a:effectLst/>
                          <a:latin typeface="Nanum Gothic" panose="020D0604000000000000" pitchFamily="34" charset="-127"/>
                          <a:ea typeface="Nanum Gothic" panose="020D0604000000000000" pitchFamily="34" charset="-127"/>
                        </a:rPr>
                        <a:t>당일권</a:t>
                      </a:r>
                      <a:endParaRPr lang="en-US" altLang="ko-KR" sz="800" b="0"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YES</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이이로</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(EEE)</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2020-01-19</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19:00:20</a:t>
                      </a: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2020-01-20</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241">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chemeClr val="tx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2">
                        <a:lumMod val="90000"/>
                      </a:schemeClr>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NO</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0" name="직사각형 69"/>
          <p:cNvSpPr/>
          <p:nvPr/>
        </p:nvSpPr>
        <p:spPr>
          <a:xfrm>
            <a:off x="1650403" y="3895946"/>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답변</a:t>
            </a:r>
          </a:p>
        </p:txBody>
      </p:sp>
      <p:sp>
        <p:nvSpPr>
          <p:cNvPr id="71" name="직사각형 70"/>
          <p:cNvSpPr/>
          <p:nvPr/>
        </p:nvSpPr>
        <p:spPr>
          <a:xfrm>
            <a:off x="1640632" y="4144387"/>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문의관리</a:t>
            </a:r>
          </a:p>
        </p:txBody>
      </p:sp>
      <p:sp>
        <p:nvSpPr>
          <p:cNvPr id="76" name="직사각형 75"/>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78" name="직사각형 77"/>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81" name="직사각형 80"/>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82" name="직사각형 81"/>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84" name="그룹 83"/>
          <p:cNvGrpSpPr/>
          <p:nvPr/>
        </p:nvGrpSpPr>
        <p:grpSpPr>
          <a:xfrm>
            <a:off x="1267854" y="669145"/>
            <a:ext cx="1931523" cy="207884"/>
            <a:chOff x="1267854" y="665402"/>
            <a:chExt cx="1931523" cy="207884"/>
          </a:xfrm>
        </p:grpSpPr>
        <p:sp>
          <p:nvSpPr>
            <p:cNvPr id="85" name="직사각형 84"/>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87" name="그룹 86"/>
            <p:cNvGrpSpPr/>
            <p:nvPr/>
          </p:nvGrpSpPr>
          <p:grpSpPr>
            <a:xfrm>
              <a:off x="2995760" y="665405"/>
              <a:ext cx="203617" cy="207881"/>
              <a:chOff x="2939843" y="5447120"/>
              <a:chExt cx="272722" cy="278432"/>
            </a:xfrm>
          </p:grpSpPr>
          <p:sp>
            <p:nvSpPr>
              <p:cNvPr id="88" name="직사각형 87"/>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89" name="타원 88"/>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90" name="직선 연결선 145"/>
              <p:cNvCxnSpPr>
                <a:stCxn id="89"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8" name="직사각형 97"/>
          <p:cNvSpPr/>
          <p:nvPr/>
        </p:nvSpPr>
        <p:spPr>
          <a:xfrm>
            <a:off x="6059261" y="691314"/>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99" name="직사각형 98"/>
          <p:cNvSpPr/>
          <p:nvPr/>
        </p:nvSpPr>
        <p:spPr>
          <a:xfrm>
            <a:off x="5176276" y="665365"/>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100" name="직사각형 99"/>
          <p:cNvSpPr/>
          <p:nvPr/>
        </p:nvSpPr>
        <p:spPr>
          <a:xfrm>
            <a:off x="6706391" y="691314"/>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101" name="직사각형 100"/>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104" name="직사각형 103"/>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07" name="직사각형 106"/>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8" name="TextBox 107"/>
          <p:cNvSpPr txBox="1"/>
          <p:nvPr/>
        </p:nvSpPr>
        <p:spPr>
          <a:xfrm>
            <a:off x="1191375" y="1085116"/>
            <a:ext cx="761747"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문의관리</a:t>
            </a:r>
          </a:p>
        </p:txBody>
      </p:sp>
      <p:sp>
        <p:nvSpPr>
          <p:cNvPr id="109" name="TextBox 108"/>
          <p:cNvSpPr txBox="1"/>
          <p:nvPr/>
        </p:nvSpPr>
        <p:spPr>
          <a:xfrm>
            <a:off x="1191375" y="1313869"/>
            <a:ext cx="3429144" cy="215444"/>
          </a:xfrm>
          <a:prstGeom prst="rect">
            <a:avLst/>
          </a:prstGeom>
          <a:noFill/>
        </p:spPr>
        <p:txBody>
          <a:bodyPr wrap="none" rtlCol="0">
            <a:spAutoFit/>
          </a:bodyPr>
          <a:lstStyle/>
          <a:p>
            <a:r>
              <a:rPr lang="en-US" altLang="ko-KR" sz="800" dirty="0">
                <a:latin typeface="Nanum Gothic" panose="020D0604000000000000" pitchFamily="34" charset="-127"/>
                <a:ea typeface="Nanum Gothic" panose="020D0604000000000000" pitchFamily="34" charset="-127"/>
              </a:rPr>
              <a:t>12</a:t>
            </a:r>
            <a:r>
              <a:rPr lang="ko-KR" altLang="en-US" sz="800" dirty="0">
                <a:latin typeface="Nanum Gothic" panose="020D0604000000000000" pitchFamily="34" charset="-127"/>
                <a:ea typeface="Nanum Gothic" panose="020D0604000000000000" pitchFamily="34" charset="-127"/>
              </a:rPr>
              <a:t>월</a:t>
            </a:r>
            <a:r>
              <a:rPr lang="en-US" altLang="ko-KR" sz="800" dirty="0">
                <a:latin typeface="Nanum Gothic" panose="020D0604000000000000" pitchFamily="34" charset="-127"/>
                <a:ea typeface="Nanum Gothic" panose="020D0604000000000000" pitchFamily="34" charset="-127"/>
              </a:rPr>
              <a:t>21</a:t>
            </a:r>
            <a:r>
              <a:rPr lang="ko-KR" altLang="en-US" sz="800" dirty="0">
                <a:latin typeface="Nanum Gothic" panose="020D0604000000000000" pitchFamily="34" charset="-127"/>
                <a:ea typeface="Nanum Gothic" panose="020D0604000000000000" pitchFamily="34" charset="-127"/>
              </a:rPr>
              <a:t>일 </a:t>
            </a:r>
            <a:r>
              <a:rPr lang="en-US" altLang="ko-KR" sz="800" dirty="0">
                <a:latin typeface="Nanum Gothic" panose="020D0604000000000000" pitchFamily="34" charset="-127"/>
                <a:ea typeface="Nanum Gothic" panose="020D0604000000000000" pitchFamily="34" charset="-127"/>
              </a:rPr>
              <a:t>09</a:t>
            </a:r>
            <a:r>
              <a:rPr lang="ko-KR" altLang="en-US" sz="800" dirty="0">
                <a:latin typeface="Nanum Gothic" panose="020D0604000000000000" pitchFamily="34" charset="-127"/>
                <a:ea typeface="Nanum Gothic" panose="020D0604000000000000" pitchFamily="34" charset="-127"/>
              </a:rPr>
              <a:t>시</a:t>
            </a:r>
            <a:r>
              <a:rPr lang="en-US" altLang="ko-KR" sz="800" dirty="0">
                <a:latin typeface="Nanum Gothic" panose="020D0604000000000000" pitchFamily="34" charset="-127"/>
                <a:ea typeface="Nanum Gothic" panose="020D0604000000000000" pitchFamily="34" charset="-127"/>
              </a:rPr>
              <a:t>00</a:t>
            </a:r>
            <a:r>
              <a:rPr lang="ko-KR" altLang="en-US" sz="800" dirty="0">
                <a:latin typeface="Nanum Gothic" panose="020D0604000000000000" pitchFamily="34" charset="-127"/>
                <a:ea typeface="Nanum Gothic" panose="020D0604000000000000" pitchFamily="34" charset="-127"/>
              </a:rPr>
              <a:t>분 기준으로 수집된 </a:t>
            </a:r>
            <a:r>
              <a:rPr lang="ko-KR" altLang="en-US" sz="800" dirty="0" err="1">
                <a:latin typeface="Nanum Gothic" panose="020D0604000000000000" pitchFamily="34" charset="-127"/>
                <a:ea typeface="Nanum Gothic" panose="020D0604000000000000" pitchFamily="34" charset="-127"/>
              </a:rPr>
              <a:t>문의목록입니다</a:t>
            </a:r>
            <a:r>
              <a:rPr lang="en-US" altLang="ko-KR" sz="800" dirty="0">
                <a:latin typeface="Nanum Gothic" panose="020D0604000000000000" pitchFamily="34" charset="-127"/>
                <a:ea typeface="Nanum Gothic" panose="020D0604000000000000" pitchFamily="34" charset="-127"/>
              </a:rPr>
              <a:t>.(5</a:t>
            </a:r>
            <a:r>
              <a:rPr lang="ko-KR" altLang="en-US" sz="800" dirty="0">
                <a:latin typeface="Nanum Gothic" panose="020D0604000000000000" pitchFamily="34" charset="-127"/>
                <a:ea typeface="Nanum Gothic" panose="020D0604000000000000" pitchFamily="34" charset="-127"/>
              </a:rPr>
              <a:t>분 단위 업데이트</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110" name="직사각형 109"/>
          <p:cNvSpPr/>
          <p:nvPr/>
        </p:nvSpPr>
        <p:spPr>
          <a:xfrm>
            <a:off x="4615071" y="1330313"/>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강제업데이트</a:t>
            </a:r>
          </a:p>
        </p:txBody>
      </p:sp>
      <p:graphicFrame>
        <p:nvGraphicFramePr>
          <p:cNvPr id="111" name="표 110"/>
          <p:cNvGraphicFramePr>
            <a:graphicFrameLocks noGrp="1"/>
          </p:cNvGraphicFramePr>
          <p:nvPr/>
        </p:nvGraphicFramePr>
        <p:xfrm>
          <a:off x="1280592" y="1634820"/>
          <a:ext cx="6048672" cy="1144603"/>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84032">
                  <a:extLst>
                    <a:ext uri="{9D8B030D-6E8A-4147-A177-3AD203B41FA5}">
                      <a16:colId xmlns:a16="http://schemas.microsoft.com/office/drawing/2014/main" val="20001"/>
                    </a:ext>
                  </a:extLst>
                </a:gridCol>
                <a:gridCol w="711608">
                  <a:extLst>
                    <a:ext uri="{9D8B030D-6E8A-4147-A177-3AD203B41FA5}">
                      <a16:colId xmlns:a16="http://schemas.microsoft.com/office/drawing/2014/main" val="20002"/>
                    </a:ext>
                  </a:extLst>
                </a:gridCol>
                <a:gridCol w="1992505">
                  <a:extLst>
                    <a:ext uri="{9D8B030D-6E8A-4147-A177-3AD203B41FA5}">
                      <a16:colId xmlns:a16="http://schemas.microsoft.com/office/drawing/2014/main" val="20003"/>
                    </a:ext>
                  </a:extLst>
                </a:gridCol>
                <a:gridCol w="640447">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문의일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889000" indent="0" algn="l" latinLnBrk="1"/>
                      <a:r>
                        <a:rPr lang="ko-KR" altLang="en-US" sz="800" b="0" dirty="0">
                          <a:solidFill>
                            <a:schemeClr val="tx1"/>
                          </a:solidFill>
                          <a:latin typeface="Nanum Gothic" panose="020D0604000000000000" pitchFamily="34" charset="-127"/>
                          <a:ea typeface="Nanum Gothic" panose="020D0604000000000000" pitchFamily="34" charset="-127"/>
                        </a:rPr>
                        <a:t> </a:t>
                      </a:r>
                      <a:r>
                        <a:rPr lang="en-US" altLang="ko-KR" sz="800" b="0" dirty="0">
                          <a:solidFill>
                            <a:schemeClr val="tx1"/>
                          </a:solidFill>
                          <a:latin typeface="Nanum Gothic" panose="020D0604000000000000" pitchFamily="34" charset="-127"/>
                          <a:ea typeface="Nanum Gothic" panose="020D0604000000000000" pitchFamily="34" charset="-127"/>
                        </a:rPr>
                        <a:t>~</a:t>
                      </a:r>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endParaRPr lang="ko-KR" altLang="en-US" sz="800" b="0" dirty="0">
                        <a:solidFill>
                          <a:schemeClr val="tx1"/>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ko-KR" altLang="en-US" sz="800" b="1" dirty="0">
                          <a:solidFill>
                            <a:schemeClr val="tx1"/>
                          </a:solidFill>
                          <a:latin typeface="Nanum Gothic" panose="020D0604000000000000" pitchFamily="34" charset="-127"/>
                          <a:ea typeface="Nanum Gothic" panose="020D0604000000000000" pitchFamily="34" charset="-127"/>
                        </a:rPr>
                        <a:t>판매채널</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5022">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답변상태</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marR="0" lvl="0" indent="0" algn="l" defTabSz="914400" rtl="0" eaLnBrk="1" fontAlgn="auto" latinLnBrk="1" hangingPunct="1">
                        <a:lnSpc>
                          <a:spcPct val="15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답변대기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답변완료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tc h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tcPr>
                </a:tc>
                <a:tc h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112" name="직사각형 111"/>
          <p:cNvSpPr/>
          <p:nvPr/>
        </p:nvSpPr>
        <p:spPr>
          <a:xfrm>
            <a:off x="2058755" y="1946121"/>
            <a:ext cx="142460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전체보기                          ▽</a:t>
            </a:r>
          </a:p>
        </p:txBody>
      </p:sp>
      <p:sp>
        <p:nvSpPr>
          <p:cNvPr id="121" name="직사각형 120"/>
          <p:cNvSpPr/>
          <p:nvPr/>
        </p:nvSpPr>
        <p:spPr>
          <a:xfrm>
            <a:off x="6749307" y="1897318"/>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122" name="직사각형 121"/>
          <p:cNvSpPr/>
          <p:nvPr/>
        </p:nvSpPr>
        <p:spPr>
          <a:xfrm>
            <a:off x="6747628" y="2316636"/>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123" name="직사각형 122"/>
          <p:cNvSpPr/>
          <p:nvPr/>
        </p:nvSpPr>
        <p:spPr>
          <a:xfrm>
            <a:off x="2990949" y="2521172"/>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24" name="직사각형 123"/>
          <p:cNvSpPr/>
          <p:nvPr/>
        </p:nvSpPr>
        <p:spPr>
          <a:xfrm>
            <a:off x="2051503" y="2521172"/>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문의내용</a:t>
            </a:r>
            <a:r>
              <a:rPr lang="ko-KR" altLang="en-US" sz="800" dirty="0">
                <a:solidFill>
                  <a:schemeClr val="tx1"/>
                </a:solidFill>
                <a:latin typeface="Nanum Gothic" panose="020D0604000000000000" pitchFamily="34" charset="-127"/>
                <a:ea typeface="Nanum Gothic" panose="020D0604000000000000" pitchFamily="34" charset="-127"/>
              </a:rPr>
              <a:t>       ▽</a:t>
            </a:r>
          </a:p>
        </p:txBody>
      </p:sp>
      <p:pic>
        <p:nvPicPr>
          <p:cNvPr id="126" name="그림 125"/>
          <p:cNvPicPr>
            <a:picLocks noChangeAspect="1"/>
          </p:cNvPicPr>
          <p:nvPr/>
        </p:nvPicPr>
        <p:blipFill>
          <a:blip r:embed="rId2" cstate="print"/>
          <a:stretch>
            <a:fillRect/>
          </a:stretch>
        </p:blipFill>
        <p:spPr>
          <a:xfrm>
            <a:off x="2781910" y="6428561"/>
            <a:ext cx="3000375" cy="301408"/>
          </a:xfrm>
          <a:prstGeom prst="rect">
            <a:avLst/>
          </a:prstGeom>
        </p:spPr>
      </p:pic>
      <p:sp>
        <p:nvSpPr>
          <p:cNvPr id="128" name="TextBox 127"/>
          <p:cNvSpPr txBox="1"/>
          <p:nvPr/>
        </p:nvSpPr>
        <p:spPr>
          <a:xfrm>
            <a:off x="1199203" y="3420360"/>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132" name="직사각형 131"/>
          <p:cNvSpPr/>
          <p:nvPr/>
        </p:nvSpPr>
        <p:spPr>
          <a:xfrm>
            <a:off x="2251108" y="3428517"/>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33" name="직사각형 132"/>
          <p:cNvSpPr/>
          <p:nvPr/>
        </p:nvSpPr>
        <p:spPr>
          <a:xfrm>
            <a:off x="1651210" y="3424751"/>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47" name="직사각형 46"/>
          <p:cNvSpPr/>
          <p:nvPr/>
        </p:nvSpPr>
        <p:spPr>
          <a:xfrm>
            <a:off x="1834094" y="4369911"/>
            <a:ext cx="5077977" cy="1959726"/>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100" b="1" dirty="0" err="1">
                <a:solidFill>
                  <a:schemeClr val="tx1"/>
                </a:solidFill>
                <a:latin typeface="Nanum Gothic" panose="020D0604000000000000" pitchFamily="34" charset="-127"/>
                <a:ea typeface="Nanum Gothic" panose="020D0604000000000000" pitchFamily="34" charset="-127"/>
              </a:rPr>
              <a:t>답변등록</a:t>
            </a:r>
            <a:r>
              <a:rPr lang="ko-KR" altLang="en-US" sz="1100" b="1" dirty="0">
                <a:solidFill>
                  <a:schemeClr val="tx1"/>
                </a:solidFill>
                <a:latin typeface="Nanum Gothic" panose="020D0604000000000000" pitchFamily="34" charset="-127"/>
                <a:ea typeface="Nanum Gothic" panose="020D0604000000000000" pitchFamily="34" charset="-127"/>
              </a:rPr>
              <a:t> 레이어</a:t>
            </a:r>
            <a:endParaRPr lang="en-US" altLang="ko-KR" sz="1100" b="1"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상품명 </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a:solidFill>
                  <a:srgbClr val="000000"/>
                </a:solidFill>
                <a:latin typeface="Nanum Gothic" panose="020D0604000000000000" pitchFamily="34" charset="-127"/>
                <a:ea typeface="Nanum Gothic" panose="020D0604000000000000" pitchFamily="34" charset="-127"/>
              </a:rPr>
              <a:t>에버랜드입장권  </a:t>
            </a:r>
            <a:r>
              <a:rPr lang="en-US" altLang="ko-KR" sz="800" dirty="0">
                <a:solidFill>
                  <a:srgbClr val="000000"/>
                </a:solidFill>
                <a:latin typeface="Nanum Gothic" panose="020D0604000000000000" pitchFamily="34" charset="-127"/>
                <a:ea typeface="Nanum Gothic" panose="020D0604000000000000" pitchFamily="34" charset="-127"/>
              </a:rPr>
              <a:t>[</a:t>
            </a:r>
            <a:r>
              <a:rPr lang="ko-KR" altLang="en-US" sz="800" dirty="0">
                <a:solidFill>
                  <a:srgbClr val="000000"/>
                </a:solidFill>
                <a:latin typeface="Nanum Gothic" panose="020D0604000000000000" pitchFamily="34" charset="-127"/>
                <a:ea typeface="Nanum Gothic" panose="020D0604000000000000" pitchFamily="34" charset="-127"/>
              </a:rPr>
              <a:t>상품바로가기</a:t>
            </a:r>
            <a:r>
              <a:rPr lang="en-US" altLang="ko-KR" sz="800" dirty="0">
                <a:solidFill>
                  <a:srgbClr val="000000"/>
                </a:solidFill>
                <a:latin typeface="Nanum Gothic" panose="020D0604000000000000" pitchFamily="34" charset="-127"/>
                <a:ea typeface="Nanum Gothic" panose="020D0604000000000000" pitchFamily="34" charset="-127"/>
              </a:rPr>
              <a:t>]</a:t>
            </a:r>
          </a:p>
          <a:p>
            <a:endParaRPr lang="en-US" altLang="ko-KR" sz="800" dirty="0">
              <a:solidFill>
                <a:srgbClr val="000000"/>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49" name="직사각형 48"/>
          <p:cNvSpPr/>
          <p:nvPr/>
        </p:nvSpPr>
        <p:spPr>
          <a:xfrm>
            <a:off x="1943517" y="4972563"/>
            <a:ext cx="4681959" cy="281424"/>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미사용 환불 되나요</a:t>
            </a:r>
            <a:r>
              <a:rPr lang="en-US" altLang="ko-KR" sz="800" dirty="0">
                <a:solidFill>
                  <a:schemeClr val="tx1"/>
                </a:solidFill>
                <a:latin typeface="Nanum Gothic" panose="020D0604000000000000" pitchFamily="34" charset="-127"/>
                <a:ea typeface="Nanum Gothic" panose="020D0604000000000000" pitchFamily="34" charset="-127"/>
              </a:rPr>
              <a:t>?</a:t>
            </a:r>
          </a:p>
          <a:p>
            <a:r>
              <a:rPr lang="ko-KR" altLang="en-US" sz="800" dirty="0">
                <a:solidFill>
                  <a:schemeClr val="tx1"/>
                </a:solidFill>
                <a:latin typeface="Nanum Gothic" panose="020D0604000000000000" pitchFamily="34" charset="-127"/>
                <a:ea typeface="Nanum Gothic" panose="020D0604000000000000" pitchFamily="34" charset="-127"/>
              </a:rPr>
              <a:t>빨리 답변 주세요</a:t>
            </a:r>
            <a:r>
              <a:rPr lang="en-US" altLang="ko-KR" sz="800" dirty="0">
                <a:solidFill>
                  <a:schemeClr val="tx1"/>
                </a:solidFill>
                <a:latin typeface="Nanum Gothic" panose="020D0604000000000000" pitchFamily="34" charset="-127"/>
                <a:ea typeface="Nanum Gothic" panose="020D0604000000000000" pitchFamily="34" charset="-127"/>
              </a:rPr>
              <a:t>.</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51" name="직사각형 50"/>
          <p:cNvSpPr/>
          <p:nvPr/>
        </p:nvSpPr>
        <p:spPr>
          <a:xfrm>
            <a:off x="1943518" y="5297400"/>
            <a:ext cx="4681959" cy="61604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b"/>
          <a:lstStyle/>
          <a:p>
            <a:pPr algn="r"/>
            <a:r>
              <a:rPr lang="en-US" altLang="ko-KR" sz="800" dirty="0">
                <a:solidFill>
                  <a:schemeClr val="tx1"/>
                </a:solidFill>
                <a:latin typeface="Nanum Gothic" panose="020D0604000000000000" pitchFamily="34" charset="-127"/>
                <a:ea typeface="Nanum Gothic" panose="020D0604000000000000" pitchFamily="34" charset="-127"/>
              </a:rPr>
              <a:t>0/100</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52" name="직사각형 51"/>
          <p:cNvSpPr/>
          <p:nvPr/>
        </p:nvSpPr>
        <p:spPr>
          <a:xfrm>
            <a:off x="3932271" y="6007718"/>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bg1"/>
                </a:solidFill>
                <a:latin typeface="Nanum Gothic" panose="020D0604000000000000" pitchFamily="34" charset="-127"/>
                <a:ea typeface="Nanum Gothic" panose="020D0604000000000000" pitchFamily="34" charset="-127"/>
              </a:rPr>
              <a:t>등록완료</a:t>
            </a:r>
            <a:endParaRPr lang="ko-KR" altLang="en-US" sz="800" b="1" dirty="0">
              <a:solidFill>
                <a:schemeClr val="bg1"/>
              </a:solidFill>
              <a:latin typeface="Nanum Gothic" panose="020D0604000000000000" pitchFamily="34" charset="-127"/>
              <a:ea typeface="Nanum Gothic" panose="020D0604000000000000" pitchFamily="34" charset="-127"/>
            </a:endParaRPr>
          </a:p>
        </p:txBody>
      </p:sp>
      <p:sp>
        <p:nvSpPr>
          <p:cNvPr id="53" name="TextBox 52"/>
          <p:cNvSpPr txBox="1"/>
          <p:nvPr/>
        </p:nvSpPr>
        <p:spPr>
          <a:xfrm>
            <a:off x="6579593" y="4457459"/>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cxnSp>
        <p:nvCxnSpPr>
          <p:cNvPr id="50" name="꺾인 연결선[E] 49"/>
          <p:cNvCxnSpPr>
            <a:stCxn id="70" idx="1"/>
            <a:endCxn id="47" idx="1"/>
          </p:cNvCxnSpPr>
          <p:nvPr/>
        </p:nvCxnSpPr>
        <p:spPr>
          <a:xfrm rot="10800000" flipH="1" flipV="1">
            <a:off x="1650402" y="3977718"/>
            <a:ext cx="183691" cy="1372055"/>
          </a:xfrm>
          <a:prstGeom prst="bentConnector3">
            <a:avLst>
              <a:gd name="adj1" fmla="val -124448"/>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9" name="직사각형 58"/>
          <p:cNvSpPr/>
          <p:nvPr/>
        </p:nvSpPr>
        <p:spPr>
          <a:xfrm>
            <a:off x="128461" y="366179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60" name="직사각형 59"/>
          <p:cNvSpPr/>
          <p:nvPr/>
        </p:nvSpPr>
        <p:spPr>
          <a:xfrm>
            <a:off x="128457" y="299047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1" name="직사각형 60"/>
          <p:cNvSpPr/>
          <p:nvPr/>
        </p:nvSpPr>
        <p:spPr>
          <a:xfrm>
            <a:off x="128457" y="332944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8" name="직사각형 57"/>
          <p:cNvSpPr/>
          <p:nvPr/>
        </p:nvSpPr>
        <p:spPr>
          <a:xfrm>
            <a:off x="4764666" y="1955028"/>
            <a:ext cx="1728192"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쿠팡</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위메프</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티몬</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62" name="직사각형 61"/>
          <p:cNvSpPr/>
          <p:nvPr/>
        </p:nvSpPr>
        <p:spPr>
          <a:xfrm>
            <a:off x="2051503" y="2736628"/>
            <a:ext cx="878021" cy="56440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문의내용</a:t>
            </a:r>
            <a:r>
              <a:rPr lang="ko-KR" altLang="en-US" sz="800" dirty="0">
                <a:solidFill>
                  <a:schemeClr val="tx1"/>
                </a:solidFill>
                <a:latin typeface="Nanum Gothic" panose="020D0604000000000000" pitchFamily="34" charset="-127"/>
                <a:ea typeface="Nanum Gothic" panose="020D0604000000000000" pitchFamily="34" charset="-127"/>
              </a:rPr>
              <a:t>       </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상품명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옵션명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문의자명</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54" name="직사각형 53"/>
          <p:cNvSpPr/>
          <p:nvPr/>
        </p:nvSpPr>
        <p:spPr>
          <a:xfrm>
            <a:off x="128462" y="2641852"/>
            <a:ext cx="1008115" cy="343273"/>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2">
                    <a:lumMod val="60000"/>
                    <a:lumOff val="40000"/>
                  </a:schemeClr>
                </a:solidFill>
                <a:latin typeface="Nanum Gothic" panose="020D0604000000000000" pitchFamily="34" charset="-127"/>
                <a:ea typeface="Nanum Gothic" panose="020D0604000000000000" pitchFamily="34" charset="-127"/>
              </a:rPr>
              <a:t>문의관리</a:t>
            </a: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55" name="직사각형 54"/>
          <p:cNvSpPr/>
          <p:nvPr/>
        </p:nvSpPr>
        <p:spPr>
          <a:xfrm>
            <a:off x="3971390"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전일</a:t>
            </a:r>
          </a:p>
        </p:txBody>
      </p:sp>
      <p:sp>
        <p:nvSpPr>
          <p:cNvPr id="56" name="직사각형 55"/>
          <p:cNvSpPr/>
          <p:nvPr/>
        </p:nvSpPr>
        <p:spPr>
          <a:xfrm>
            <a:off x="4432145"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전월</a:t>
            </a:r>
          </a:p>
        </p:txBody>
      </p:sp>
      <p:sp>
        <p:nvSpPr>
          <p:cNvPr id="57" name="직사각형 56"/>
          <p:cNvSpPr/>
          <p:nvPr/>
        </p:nvSpPr>
        <p:spPr>
          <a:xfrm>
            <a:off x="4894612" y="1675456"/>
            <a:ext cx="440953"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당월</a:t>
            </a:r>
          </a:p>
        </p:txBody>
      </p:sp>
      <p:sp>
        <p:nvSpPr>
          <p:cNvPr id="63" name="직사각형 62"/>
          <p:cNvSpPr/>
          <p:nvPr/>
        </p:nvSpPr>
        <p:spPr>
          <a:xfrm>
            <a:off x="2051503"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64"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0469" y="1690418"/>
            <a:ext cx="136776" cy="154317"/>
          </a:xfrm>
          <a:prstGeom prst="rect">
            <a:avLst/>
          </a:prstGeom>
          <a:noFill/>
          <a:extLst>
            <a:ext uri="{909E8E84-426E-40DD-AFC4-6F175D3DCCD1}">
              <a14:hiddenFill xmlns:a14="http://schemas.microsoft.com/office/drawing/2010/main">
                <a:solidFill>
                  <a:srgbClr val="FFFFFF"/>
                </a:solidFill>
              </a14:hiddenFill>
            </a:ext>
          </a:extLst>
        </p:spPr>
      </p:pic>
      <p:sp>
        <p:nvSpPr>
          <p:cNvPr id="65" name="직사각형 64"/>
          <p:cNvSpPr/>
          <p:nvPr/>
        </p:nvSpPr>
        <p:spPr>
          <a:xfrm>
            <a:off x="3057124" y="1663079"/>
            <a:ext cx="847874" cy="20899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108000" rtlCol="0" anchor="ctr"/>
          <a:lstStyle/>
          <a:p>
            <a:pPr algn="ctr"/>
            <a:r>
              <a:rPr lang="en-US" altLang="ko-KR" sz="900" dirty="0">
                <a:solidFill>
                  <a:schemeClr val="tx1"/>
                </a:solidFill>
              </a:rPr>
              <a:t>2020-01-01</a:t>
            </a:r>
            <a:endParaRPr lang="ko-KR" altLang="en-US" sz="900" dirty="0">
              <a:solidFill>
                <a:schemeClr val="tx1"/>
              </a:solidFill>
            </a:endParaRPr>
          </a:p>
        </p:txBody>
      </p:sp>
      <p:pic>
        <p:nvPicPr>
          <p:cNvPr id="66" name="Picture 2" descr="C:\Users\Junice\Dropbox\5. Abydos KISA 전자계약\아이콘백\calendar48.png"/>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6090" y="1690418"/>
            <a:ext cx="136776" cy="1543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2" name="표 71"/>
          <p:cNvGraphicFramePr>
            <a:graphicFrameLocks noGrp="1"/>
          </p:cNvGraphicFramePr>
          <p:nvPr/>
        </p:nvGraphicFramePr>
        <p:xfrm>
          <a:off x="7453089" y="840892"/>
          <a:ext cx="2357214" cy="157920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상품명 표기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해당채널사의 상품상세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새창</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문의내용</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표기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4</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캐릭터 기준 최대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100</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자 입력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101</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자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입력시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자동 삭제되고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100</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자 유지</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입력값</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실시간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카운팅</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표기 </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5</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4</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번에 입력한 값이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1</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자 이상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있을때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활성화</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레이어 닫히고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답변상태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답변완료로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변경</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입력값은</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API</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로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채널사에</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전달</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73" name="직사각형 72"/>
          <p:cNvSpPr/>
          <p:nvPr/>
        </p:nvSpPr>
        <p:spPr>
          <a:xfrm>
            <a:off x="2251107" y="4787219"/>
            <a:ext cx="739841" cy="150809"/>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74" name="타원 73"/>
          <p:cNvSpPr/>
          <p:nvPr/>
        </p:nvSpPr>
        <p:spPr>
          <a:xfrm>
            <a:off x="2135746" y="4723516"/>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75" name="타원 74"/>
          <p:cNvSpPr/>
          <p:nvPr/>
        </p:nvSpPr>
        <p:spPr>
          <a:xfrm>
            <a:off x="3590418" y="471817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79" name="타원 78"/>
          <p:cNvSpPr/>
          <p:nvPr/>
        </p:nvSpPr>
        <p:spPr>
          <a:xfrm>
            <a:off x="1858736" y="501328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
        <p:nvSpPr>
          <p:cNvPr id="80" name="타원 79"/>
          <p:cNvSpPr/>
          <p:nvPr/>
        </p:nvSpPr>
        <p:spPr>
          <a:xfrm>
            <a:off x="1869140" y="549209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4</a:t>
            </a:r>
            <a:endParaRPr lang="ko-KR" altLang="en-US" sz="900" b="1" dirty="0">
              <a:latin typeface="나눔고딕" pitchFamily="50" charset="-127"/>
              <a:ea typeface="나눔고딕" pitchFamily="50" charset="-127"/>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1947969" cy="461665"/>
          </a:xfrm>
          <a:prstGeom prst="rect">
            <a:avLst/>
          </a:prstGeom>
          <a:noFill/>
        </p:spPr>
        <p:txBody>
          <a:bodyPr wrap="none" rtlCol="0">
            <a:spAutoFit/>
          </a:bodyPr>
          <a:lstStyle/>
          <a:p>
            <a:r>
              <a:rPr lang="en-US" altLang="ko-KR" sz="2400" b="1" dirty="0">
                <a:solidFill>
                  <a:srgbClr val="4B4C58"/>
                </a:solidFill>
                <a:latin typeface="Nanum Gothic" panose="020D0604000000000000" pitchFamily="34" charset="-127"/>
                <a:ea typeface="Nanum Gothic" panose="020D0604000000000000" pitchFamily="34" charset="-127"/>
              </a:rPr>
              <a:t>[PC]</a:t>
            </a:r>
            <a:r>
              <a:rPr lang="ko-KR" altLang="en-US" sz="2400" b="1" dirty="0">
                <a:solidFill>
                  <a:srgbClr val="4B4C58"/>
                </a:solidFill>
                <a:latin typeface="Nanum Gothic" panose="020D0604000000000000" pitchFamily="34" charset="-127"/>
                <a:ea typeface="Nanum Gothic" panose="020D0604000000000000" pitchFamily="34" charset="-127"/>
              </a:rPr>
              <a:t>공지사항</a:t>
            </a:r>
            <a:endParaRPr lang="en-US" altLang="ko-KR" sz="2400" b="1" dirty="0">
              <a:solidFill>
                <a:srgbClr val="4B4C58"/>
              </a:solidFill>
              <a:latin typeface="Nanum Gothic" panose="020D0604000000000000" pitchFamily="34" charset="-127"/>
              <a:ea typeface="Nanum Gothic" panose="020D0604000000000000" pitchFamily="34" charset="-127"/>
            </a:endParaRPr>
          </a:p>
        </p:txBody>
      </p:sp>
      <p:sp>
        <p:nvSpPr>
          <p:cNvPr id="5" name="TextBox 4"/>
          <p:cNvSpPr txBox="1"/>
          <p:nvPr/>
        </p:nvSpPr>
        <p:spPr>
          <a:xfrm>
            <a:off x="374438" y="2670820"/>
            <a:ext cx="1901483" cy="276999"/>
          </a:xfrm>
          <a:prstGeom prst="rect">
            <a:avLst/>
          </a:prstGeom>
          <a:noFill/>
        </p:spPr>
        <p:txBody>
          <a:bodyPr wrap="none" rtlCol="0">
            <a:spAutoFit/>
          </a:bodyPr>
          <a:lstStyle/>
          <a:p>
            <a:r>
              <a:rPr lang="ko-KR" altLang="en-US" sz="1200" dirty="0" err="1">
                <a:solidFill>
                  <a:srgbClr val="E72F14"/>
                </a:solidFill>
                <a:latin typeface="Nanum Gothic" panose="020D0604000000000000" pitchFamily="34" charset="-127"/>
                <a:ea typeface="Nanum Gothic" panose="020D0604000000000000" pitchFamily="34" charset="-127"/>
              </a:rPr>
              <a:t>티켓통합</a:t>
            </a:r>
            <a:r>
              <a:rPr lang="ko-KR" altLang="en-US" sz="1200" dirty="0">
                <a:solidFill>
                  <a:srgbClr val="E72F14"/>
                </a:solidFill>
                <a:latin typeface="Nanum Gothic" panose="020D0604000000000000" pitchFamily="34" charset="-127"/>
                <a:ea typeface="Nanum Gothic" panose="020D0604000000000000" pitchFamily="34" charset="-127"/>
              </a:rPr>
              <a:t> 솔루션 티브리지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공지사항</a:t>
            </a: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7" name="직사각형 1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6" name="TextBox 35"/>
          <p:cNvSpPr txBox="1"/>
          <p:nvPr/>
        </p:nvSpPr>
        <p:spPr>
          <a:xfrm>
            <a:off x="1191375" y="1085116"/>
            <a:ext cx="761747"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공지사항</a:t>
            </a:r>
          </a:p>
        </p:txBody>
      </p:sp>
      <p:sp>
        <p:nvSpPr>
          <p:cNvPr id="37" name="TextBox 36"/>
          <p:cNvSpPr txBox="1"/>
          <p:nvPr/>
        </p:nvSpPr>
        <p:spPr>
          <a:xfrm>
            <a:off x="1191375" y="1313869"/>
            <a:ext cx="1869423"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티브리시</a:t>
            </a:r>
            <a:r>
              <a:rPr lang="ko-KR" altLang="en-US" sz="800" dirty="0">
                <a:latin typeface="Nanum Gothic" panose="020D0604000000000000" pitchFamily="34" charset="-127"/>
                <a:ea typeface="Nanum Gothic" panose="020D0604000000000000" pitchFamily="34" charset="-127"/>
              </a:rPr>
              <a:t> 서비스 이용 전체 공지입니다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39" name="표 38"/>
          <p:cNvGraphicFramePr>
            <a:graphicFrameLocks noGrp="1"/>
          </p:cNvGraphicFramePr>
          <p:nvPr/>
        </p:nvGraphicFramePr>
        <p:xfrm>
          <a:off x="1280592" y="1634820"/>
          <a:ext cx="6048672" cy="3540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4688145">
                  <a:extLst>
                    <a:ext uri="{9D8B030D-6E8A-4147-A177-3AD203B41FA5}">
                      <a16:colId xmlns:a16="http://schemas.microsoft.com/office/drawing/2014/main" val="20001"/>
                    </a:ext>
                  </a:extLst>
                </a:gridCol>
                <a:gridCol w="640447">
                  <a:extLst>
                    <a:ext uri="{9D8B030D-6E8A-4147-A177-3AD203B41FA5}">
                      <a16:colId xmlns:a16="http://schemas.microsoft.com/office/drawing/2014/main" val="20002"/>
                    </a:ext>
                  </a:extLst>
                </a:gridCol>
              </a:tblGrid>
              <a:tr h="354020">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
        <p:nvSpPr>
          <p:cNvPr id="49" name="직사각형 48"/>
          <p:cNvSpPr/>
          <p:nvPr/>
        </p:nvSpPr>
        <p:spPr>
          <a:xfrm>
            <a:off x="6749771" y="1683176"/>
            <a:ext cx="524577" cy="234519"/>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51" name="직사각형 50"/>
          <p:cNvSpPr/>
          <p:nvPr/>
        </p:nvSpPr>
        <p:spPr>
          <a:xfrm>
            <a:off x="2072680" y="169197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pic>
        <p:nvPicPr>
          <p:cNvPr id="53" name="그림 52"/>
          <p:cNvPicPr>
            <a:picLocks noChangeAspect="1"/>
          </p:cNvPicPr>
          <p:nvPr/>
        </p:nvPicPr>
        <p:blipFill>
          <a:blip r:embed="rId2" cstate="print"/>
          <a:stretch>
            <a:fillRect/>
          </a:stretch>
        </p:blipFill>
        <p:spPr>
          <a:xfrm>
            <a:off x="2823975" y="5992111"/>
            <a:ext cx="3000375" cy="301408"/>
          </a:xfrm>
          <a:prstGeom prst="rect">
            <a:avLst/>
          </a:prstGeom>
        </p:spPr>
      </p:pic>
      <p:graphicFrame>
        <p:nvGraphicFramePr>
          <p:cNvPr id="54" name="표 53"/>
          <p:cNvGraphicFramePr>
            <a:graphicFrameLocks noGrp="1"/>
          </p:cNvGraphicFramePr>
          <p:nvPr/>
        </p:nvGraphicFramePr>
        <p:xfrm>
          <a:off x="1280592" y="2578458"/>
          <a:ext cx="6037138" cy="774601"/>
        </p:xfrm>
        <a:graphic>
          <a:graphicData uri="http://schemas.openxmlformats.org/drawingml/2006/table">
            <a:tbl>
              <a:tblPr/>
              <a:tblGrid>
                <a:gridCol w="504056">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gridCol w="1140594">
                  <a:extLst>
                    <a:ext uri="{9D8B030D-6E8A-4147-A177-3AD203B41FA5}">
                      <a16:colId xmlns:a16="http://schemas.microsoft.com/office/drawing/2014/main" val="20002"/>
                    </a:ext>
                  </a:extLst>
                </a:gridCol>
              </a:tblGrid>
              <a:tr h="188241">
                <a:tc>
                  <a:txBody>
                    <a:bodyPr/>
                    <a:lstStyle/>
                    <a:p>
                      <a:pPr marL="0" marR="0" indent="0" algn="ctr" defTabSz="914400" rtl="0" eaLnBrk="1" fontAlgn="ctr" latinLnBrk="1" hangingPunct="1">
                        <a:lnSpc>
                          <a:spcPct val="100000"/>
                        </a:lnSpc>
                        <a:spcBef>
                          <a:spcPts val="0"/>
                        </a:spcBef>
                        <a:spcAft>
                          <a:spcPts val="0"/>
                        </a:spcAft>
                        <a:buClrTx/>
                        <a:buSzTx/>
                        <a:buFontTx/>
                        <a:buNone/>
                        <a:defRPr/>
                      </a:pPr>
                      <a:r>
                        <a:rPr lang="en-US" altLang="ko-KR" sz="800" b="1" i="0" u="none" strike="noStrike" dirty="0">
                          <a:solidFill>
                            <a:schemeClr val="bg1"/>
                          </a:solidFill>
                          <a:effectLst/>
                          <a:latin typeface="Nanum Gothic" panose="020D0604000000000000" pitchFamily="34" charset="-127"/>
                          <a:ea typeface="Nanum Gothic" panose="020D0604000000000000" pitchFamily="34" charset="-127"/>
                        </a:rPr>
                        <a:t>NO</a:t>
                      </a: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 </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제목</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최초등록일시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09878">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수수료가 변경되었습니다</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2020-01-19</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19:00:20</a:t>
                      </a: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241">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3</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5" name="TextBox 54"/>
          <p:cNvSpPr txBox="1"/>
          <p:nvPr/>
        </p:nvSpPr>
        <p:spPr>
          <a:xfrm>
            <a:off x="1199203" y="2284514"/>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57" name="직사각형 56"/>
          <p:cNvSpPr/>
          <p:nvPr/>
        </p:nvSpPr>
        <p:spPr>
          <a:xfrm>
            <a:off x="1651210" y="2288905"/>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32" name="직사각형 31"/>
          <p:cNvSpPr/>
          <p:nvPr/>
        </p:nvSpPr>
        <p:spPr>
          <a:xfrm>
            <a:off x="2230140" y="3512331"/>
            <a:ext cx="5077977" cy="1959726"/>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100" b="1" dirty="0">
                <a:solidFill>
                  <a:schemeClr val="tx1"/>
                </a:solidFill>
                <a:latin typeface="Nanum Gothic" panose="020D0604000000000000" pitchFamily="34" charset="-127"/>
                <a:ea typeface="Nanum Gothic" panose="020D0604000000000000" pitchFamily="34" charset="-127"/>
              </a:rPr>
              <a:t>수수료가 변경되었습니다</a:t>
            </a:r>
            <a:r>
              <a:rPr lang="en-US" altLang="ko-KR" sz="1100" b="1" dirty="0">
                <a:solidFill>
                  <a:schemeClr val="tx1"/>
                </a:solidFill>
                <a:latin typeface="Nanum Gothic" panose="020D0604000000000000" pitchFamily="34" charset="-127"/>
                <a:ea typeface="Nanum Gothic" panose="020D0604000000000000" pitchFamily="34" charset="-127"/>
              </a:rPr>
              <a:t>.</a:t>
            </a:r>
            <a:r>
              <a:rPr lang="ko-KR" altLang="en-US" sz="1100" b="1" dirty="0">
                <a:solidFill>
                  <a:schemeClr val="tx1"/>
                </a:solidFill>
                <a:latin typeface="Nanum Gothic" panose="020D0604000000000000" pitchFamily="34" charset="-127"/>
                <a:ea typeface="Nanum Gothic" panose="020D0604000000000000" pitchFamily="34" charset="-127"/>
              </a:rPr>
              <a:t> </a:t>
            </a:r>
            <a:endParaRPr lang="en-US" altLang="ko-KR" sz="1100" b="1"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 </a:t>
            </a:r>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rgbClr val="000000"/>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38" name="직사각형 37"/>
          <p:cNvSpPr/>
          <p:nvPr/>
        </p:nvSpPr>
        <p:spPr>
          <a:xfrm>
            <a:off x="4328317" y="5150138"/>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확인</a:t>
            </a:r>
          </a:p>
        </p:txBody>
      </p:sp>
      <p:sp>
        <p:nvSpPr>
          <p:cNvPr id="40" name="직사각형 39"/>
          <p:cNvSpPr/>
          <p:nvPr/>
        </p:nvSpPr>
        <p:spPr>
          <a:xfrm>
            <a:off x="2366861" y="4005858"/>
            <a:ext cx="4778955" cy="1004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800" dirty="0">
                <a:solidFill>
                  <a:schemeClr val="tx1"/>
                </a:solidFill>
                <a:latin typeface="Nanum Gothic" panose="020D0604000000000000" pitchFamily="34" charset="-127"/>
                <a:ea typeface="Nanum Gothic" panose="020D0604000000000000" pitchFamily="34" charset="-127"/>
              </a:rPr>
              <a:t>수수료가 변경되었습니다</a:t>
            </a:r>
            <a:r>
              <a:rPr lang="en-US" altLang="ko-KR"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어쩌구저꺼구</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공지사항에 등록한 상세 내용을 표기 합니다</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endParaRPr lang="en-US" altLang="ko-KR" sz="800" dirty="0">
              <a:solidFill>
                <a:schemeClr val="tx1"/>
              </a:solidFill>
              <a:latin typeface="Nanum Gothic" panose="020D0604000000000000" pitchFamily="34" charset="-127"/>
              <a:ea typeface="Nanum Gothic" panose="020D0604000000000000" pitchFamily="34" charset="-127"/>
            </a:endParaRPr>
          </a:p>
          <a:p>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41" name="그룹 40"/>
          <p:cNvGrpSpPr/>
          <p:nvPr/>
        </p:nvGrpSpPr>
        <p:grpSpPr>
          <a:xfrm>
            <a:off x="7018826" y="4005859"/>
            <a:ext cx="126990" cy="1004918"/>
            <a:chOff x="6958012" y="2342683"/>
            <a:chExt cx="114233" cy="1131627"/>
          </a:xfrm>
        </p:grpSpPr>
        <p:sp>
          <p:nvSpPr>
            <p:cNvPr id="42" name="직사각형 41"/>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43" name="직사각형 42"/>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sp>
        <p:nvSpPr>
          <p:cNvPr id="44" name="직사각형 43"/>
          <p:cNvSpPr/>
          <p:nvPr/>
        </p:nvSpPr>
        <p:spPr>
          <a:xfrm>
            <a:off x="1757971" y="2756442"/>
            <a:ext cx="917447" cy="194480"/>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ko-KR" altLang="en-US" sz="800">
              <a:solidFill>
                <a:schemeClr val="tx1"/>
              </a:solidFill>
            </a:endParaRPr>
          </a:p>
        </p:txBody>
      </p:sp>
      <p:cxnSp>
        <p:nvCxnSpPr>
          <p:cNvPr id="45" name="꺾인 연결선[E] 44"/>
          <p:cNvCxnSpPr/>
          <p:nvPr/>
        </p:nvCxnSpPr>
        <p:spPr>
          <a:xfrm rot="16200000" flipH="1">
            <a:off x="1589759" y="3187538"/>
            <a:ext cx="867384" cy="394151"/>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011308" y="3569587"/>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sp>
        <p:nvSpPr>
          <p:cNvPr id="50" name="직사각형 49"/>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a:t>
            </a:r>
          </a:p>
        </p:txBody>
      </p:sp>
      <p:sp>
        <p:nvSpPr>
          <p:cNvPr id="52" name="직사각형 51"/>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58" name="직사각형 57"/>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63" name="직사각형 62"/>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4" name="직사각형 63"/>
          <p:cNvSpPr/>
          <p:nvPr/>
        </p:nvSpPr>
        <p:spPr>
          <a:xfrm>
            <a:off x="128453" y="329447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5" name="직사각형 64"/>
          <p:cNvSpPr/>
          <p:nvPr/>
        </p:nvSpPr>
        <p:spPr>
          <a:xfrm>
            <a:off x="128461" y="3647782"/>
            <a:ext cx="1008115" cy="343273"/>
          </a:xfrm>
          <a:prstGeom prst="rect">
            <a:avLst/>
          </a:prstGeom>
          <a:solidFill>
            <a:schemeClr val="bg1">
              <a:lumMod val="95000"/>
            </a:schemeClr>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공지사항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graphicFrame>
        <p:nvGraphicFramePr>
          <p:cNvPr id="66" name="표 65"/>
          <p:cNvGraphicFramePr>
            <a:graphicFrameLocks noGrp="1"/>
          </p:cNvGraphicFramePr>
          <p:nvPr/>
        </p:nvGraphicFramePr>
        <p:xfrm>
          <a:off x="7453089" y="836962"/>
          <a:ext cx="2357214" cy="152928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총판사</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시설사</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로그인시 검색 및 조회만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제목 기준 포함 검색</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등록일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최신순으로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나열</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입력한 공지사항 내용 보기 레이어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레이어 내 ＇확인</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버튼 </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‘X’</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레이어 닫힘</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4</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공지사항 제목 표기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5</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공지사항 내용 표기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67" name="타원 66"/>
          <p:cNvSpPr/>
          <p:nvPr/>
        </p:nvSpPr>
        <p:spPr>
          <a:xfrm>
            <a:off x="1978313" y="1603463"/>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68" name="타원 67"/>
          <p:cNvSpPr/>
          <p:nvPr/>
        </p:nvSpPr>
        <p:spPr>
          <a:xfrm>
            <a:off x="1177751" y="2608002"/>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69" name="타원 68"/>
          <p:cNvSpPr/>
          <p:nvPr/>
        </p:nvSpPr>
        <p:spPr>
          <a:xfrm>
            <a:off x="2613337" y="2610600"/>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sp>
        <p:nvSpPr>
          <p:cNvPr id="70" name="타원 69"/>
          <p:cNvSpPr/>
          <p:nvPr/>
        </p:nvSpPr>
        <p:spPr>
          <a:xfrm>
            <a:off x="3927076" y="364783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4</a:t>
            </a:r>
            <a:endParaRPr lang="ko-KR" altLang="en-US" sz="900" b="1" dirty="0">
              <a:latin typeface="나눔고딕" pitchFamily="50" charset="-127"/>
              <a:ea typeface="나눔고딕" pitchFamily="50" charset="-127"/>
            </a:endParaRPr>
          </a:p>
        </p:txBody>
      </p:sp>
      <p:sp>
        <p:nvSpPr>
          <p:cNvPr id="71" name="타원 70"/>
          <p:cNvSpPr/>
          <p:nvPr/>
        </p:nvSpPr>
        <p:spPr>
          <a:xfrm>
            <a:off x="4422535" y="4120895"/>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5</a:t>
            </a:r>
            <a:endParaRPr lang="ko-KR" altLang="en-US" sz="900" b="1" dirty="0">
              <a:latin typeface="나눔고딕" pitchFamily="50" charset="-127"/>
              <a:ea typeface="나눔고딕" pitchFamily="50" charset="-127"/>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latin typeface="Nanum Gothic" panose="020D0604000000000000" pitchFamily="34" charset="-127"/>
                <a:ea typeface="Nanum Gothic" panose="020D0604000000000000" pitchFamily="34" charset="-127"/>
              </a:rPr>
              <a:t>공지사항 </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solidFill>
                  <a:srgbClr val="C00000"/>
                </a:solidFill>
                <a:latin typeface="Nanum Gothic" panose="020D0604000000000000" pitchFamily="34" charset="-127"/>
                <a:ea typeface="Nanum Gothic" panose="020D0604000000000000" pitchFamily="34" charset="-127"/>
              </a:rPr>
              <a:t>마스터 로그인시</a:t>
            </a:r>
            <a:r>
              <a:rPr lang="en-US" altLang="ko-KR" dirty="0">
                <a:solidFill>
                  <a:srgbClr val="C00000"/>
                </a:solidFill>
                <a:latin typeface="Nanum Gothic" panose="020D0604000000000000" pitchFamily="34" charset="-127"/>
                <a:ea typeface="Nanum Gothic" panose="020D0604000000000000" pitchFamily="34" charset="-127"/>
              </a:rPr>
              <a:t>)</a:t>
            </a:r>
            <a:endParaRPr lang="ko-KR" altLang="en-US" dirty="0">
              <a:solidFill>
                <a:srgbClr val="C00000"/>
              </a:solidFill>
              <a:latin typeface="Nanum Gothic" panose="020D0604000000000000" pitchFamily="34" charset="-127"/>
              <a:ea typeface="Nanum Gothic" panose="020D0604000000000000" pitchFamily="34" charset="-127"/>
            </a:endParaRP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r>
              <a:rPr lang="ko-KR" altLang="en-US" sz="800" dirty="0">
                <a:solidFill>
                  <a:schemeClr val="tx1"/>
                </a:solidFill>
                <a:latin typeface="Nanum Gothic" panose="020D0604000000000000" pitchFamily="34" charset="-127"/>
                <a:ea typeface="Nanum Gothic" panose="020D0604000000000000" pitchFamily="34" charset="-127"/>
              </a:rPr>
              <a:t>▽</a:t>
            </a:r>
            <a:endPar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6" name="TextBox 35"/>
          <p:cNvSpPr txBox="1"/>
          <p:nvPr/>
        </p:nvSpPr>
        <p:spPr>
          <a:xfrm>
            <a:off x="1191375" y="1085116"/>
            <a:ext cx="761747"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공지사항</a:t>
            </a:r>
          </a:p>
        </p:txBody>
      </p:sp>
      <p:sp>
        <p:nvSpPr>
          <p:cNvPr id="37" name="TextBox 36"/>
          <p:cNvSpPr txBox="1"/>
          <p:nvPr/>
        </p:nvSpPr>
        <p:spPr>
          <a:xfrm>
            <a:off x="1191375" y="1313869"/>
            <a:ext cx="1869423"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티브리시</a:t>
            </a:r>
            <a:r>
              <a:rPr lang="ko-KR" altLang="en-US" sz="800" dirty="0">
                <a:latin typeface="Nanum Gothic" panose="020D0604000000000000" pitchFamily="34" charset="-127"/>
                <a:ea typeface="Nanum Gothic" panose="020D0604000000000000" pitchFamily="34" charset="-127"/>
              </a:rPr>
              <a:t> 서비스 이용 전체 공지입니다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39" name="표 38"/>
          <p:cNvGraphicFramePr>
            <a:graphicFrameLocks noGrp="1"/>
          </p:cNvGraphicFramePr>
          <p:nvPr/>
        </p:nvGraphicFramePr>
        <p:xfrm>
          <a:off x="1280592" y="1634820"/>
          <a:ext cx="6048672" cy="3540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4688145">
                  <a:extLst>
                    <a:ext uri="{9D8B030D-6E8A-4147-A177-3AD203B41FA5}">
                      <a16:colId xmlns:a16="http://schemas.microsoft.com/office/drawing/2014/main" val="20001"/>
                    </a:ext>
                  </a:extLst>
                </a:gridCol>
                <a:gridCol w="640447">
                  <a:extLst>
                    <a:ext uri="{9D8B030D-6E8A-4147-A177-3AD203B41FA5}">
                      <a16:colId xmlns:a16="http://schemas.microsoft.com/office/drawing/2014/main" val="20002"/>
                    </a:ext>
                  </a:extLst>
                </a:gridCol>
              </a:tblGrid>
              <a:tr h="354020">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
        <p:nvSpPr>
          <p:cNvPr id="49" name="직사각형 48"/>
          <p:cNvSpPr/>
          <p:nvPr/>
        </p:nvSpPr>
        <p:spPr>
          <a:xfrm>
            <a:off x="6749771" y="1683176"/>
            <a:ext cx="524577" cy="234519"/>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51" name="직사각형 50"/>
          <p:cNvSpPr/>
          <p:nvPr/>
        </p:nvSpPr>
        <p:spPr>
          <a:xfrm>
            <a:off x="2072680" y="169197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graphicFrame>
        <p:nvGraphicFramePr>
          <p:cNvPr id="54" name="표 53"/>
          <p:cNvGraphicFramePr>
            <a:graphicFrameLocks noGrp="1"/>
          </p:cNvGraphicFramePr>
          <p:nvPr/>
        </p:nvGraphicFramePr>
        <p:xfrm>
          <a:off x="1280592" y="2578458"/>
          <a:ext cx="6037141" cy="813326"/>
        </p:xfrm>
        <a:graphic>
          <a:graphicData uri="http://schemas.openxmlformats.org/drawingml/2006/table">
            <a:tbl>
              <a:tblPr/>
              <a:tblGrid>
                <a:gridCol w="504056">
                  <a:extLst>
                    <a:ext uri="{9D8B030D-6E8A-4147-A177-3AD203B41FA5}">
                      <a16:colId xmlns:a16="http://schemas.microsoft.com/office/drawing/2014/main" val="20000"/>
                    </a:ext>
                  </a:extLst>
                </a:gridCol>
                <a:gridCol w="2016226">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gridCol w="792088">
                  <a:extLst>
                    <a:ext uri="{9D8B030D-6E8A-4147-A177-3AD203B41FA5}">
                      <a16:colId xmlns:a16="http://schemas.microsoft.com/office/drawing/2014/main" val="20005"/>
                    </a:ext>
                  </a:extLst>
                </a:gridCol>
                <a:gridCol w="420515">
                  <a:extLst>
                    <a:ext uri="{9D8B030D-6E8A-4147-A177-3AD203B41FA5}">
                      <a16:colId xmlns:a16="http://schemas.microsoft.com/office/drawing/2014/main" val="20006"/>
                    </a:ext>
                  </a:extLst>
                </a:gridCol>
              </a:tblGrid>
              <a:tr h="188241">
                <a:tc>
                  <a:txBody>
                    <a:bodyPr/>
                    <a:lstStyle/>
                    <a:p>
                      <a:pPr marL="0" marR="0" indent="0" algn="ctr" defTabSz="914400" rtl="0" eaLnBrk="1" fontAlgn="ctr" latinLnBrk="1" hangingPunct="1">
                        <a:lnSpc>
                          <a:spcPct val="100000"/>
                        </a:lnSpc>
                        <a:spcBef>
                          <a:spcPts val="0"/>
                        </a:spcBef>
                        <a:spcAft>
                          <a:spcPts val="0"/>
                        </a:spcAft>
                        <a:buClrTx/>
                        <a:buSzTx/>
                        <a:buFontTx/>
                        <a:buNone/>
                        <a:defRPr/>
                      </a:pPr>
                      <a:r>
                        <a:rPr lang="en-US" altLang="ko-KR" sz="800" b="1" i="0" u="none" strike="noStrike" dirty="0">
                          <a:solidFill>
                            <a:schemeClr val="bg1"/>
                          </a:solidFill>
                          <a:effectLst/>
                          <a:latin typeface="Nanum Gothic" panose="020D0604000000000000" pitchFamily="34" charset="-127"/>
                          <a:ea typeface="Nanum Gothic" panose="020D0604000000000000" pitchFamily="34" charset="-127"/>
                        </a:rPr>
                        <a:t>NO</a:t>
                      </a: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 </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제목</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최초등록자</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최초등록일시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최종등록자</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최종등록일시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09878">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ctr"/>
                      <a:r>
                        <a:rPr lang="ko-KR" altLang="en-US" sz="800" b="0" i="0" u="sng" strike="noStrike" dirty="0">
                          <a:solidFill>
                            <a:srgbClr val="000000"/>
                          </a:solidFill>
                          <a:effectLst/>
                          <a:latin typeface="Nanum Gothic" panose="020D0604000000000000" pitchFamily="34" charset="-127"/>
                          <a:ea typeface="Nanum Gothic" panose="020D0604000000000000" pitchFamily="34" charset="-127"/>
                        </a:rPr>
                        <a:t>수수료가 변경되었습니다</a:t>
                      </a:r>
                      <a:r>
                        <a:rPr lang="en-US" altLang="ko-KR" sz="800" b="0" i="0" u="sng"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홍길동</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2020-01-19</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19:00:20</a:t>
                      </a: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홍길동</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2020-01-19</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 </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19:00:20</a:t>
                      </a:r>
                      <a:endParaRPr lang="ko-KR" altLang="en-US"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241">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3</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5" name="TextBox 54"/>
          <p:cNvSpPr txBox="1"/>
          <p:nvPr/>
        </p:nvSpPr>
        <p:spPr>
          <a:xfrm>
            <a:off x="1199203" y="2284514"/>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57" name="직사각형 56"/>
          <p:cNvSpPr/>
          <p:nvPr/>
        </p:nvSpPr>
        <p:spPr>
          <a:xfrm>
            <a:off x="1651210" y="2288905"/>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32" name="직사각형 31"/>
          <p:cNvSpPr/>
          <p:nvPr/>
        </p:nvSpPr>
        <p:spPr>
          <a:xfrm>
            <a:off x="1280593" y="3701522"/>
            <a:ext cx="3741285" cy="222692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공지사항 등록</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38" name="직사각형 37"/>
          <p:cNvSpPr/>
          <p:nvPr/>
        </p:nvSpPr>
        <p:spPr>
          <a:xfrm>
            <a:off x="2747741" y="5626369"/>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등록</a:t>
            </a:r>
          </a:p>
        </p:txBody>
      </p:sp>
      <p:sp>
        <p:nvSpPr>
          <p:cNvPr id="40" name="직사각형 39"/>
          <p:cNvSpPr/>
          <p:nvPr/>
        </p:nvSpPr>
        <p:spPr>
          <a:xfrm>
            <a:off x="1417313" y="4482089"/>
            <a:ext cx="3463679" cy="1004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800" dirty="0">
                <a:solidFill>
                  <a:schemeClr val="bg1">
                    <a:lumMod val="65000"/>
                  </a:schemeClr>
                </a:solidFill>
                <a:latin typeface="Nanum Gothic" panose="020D0604000000000000" pitchFamily="34" charset="-127"/>
                <a:ea typeface="Nanum Gothic" panose="020D0604000000000000" pitchFamily="34" charset="-127"/>
              </a:rPr>
              <a:t>공지사항에 들어갈 내용을 입력하세요</a:t>
            </a:r>
            <a:r>
              <a:rPr lang="en-US" altLang="ko-KR" sz="800" dirty="0">
                <a:solidFill>
                  <a:schemeClr val="bg1">
                    <a:lumMod val="65000"/>
                  </a:schemeClr>
                </a:solidFill>
                <a:latin typeface="Nanum Gothic" panose="020D0604000000000000" pitchFamily="34" charset="-127"/>
                <a:ea typeface="Nanum Gothic" panose="020D0604000000000000" pitchFamily="34" charset="-127"/>
              </a:rPr>
              <a:t>.</a:t>
            </a:r>
          </a:p>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grpSp>
        <p:nvGrpSpPr>
          <p:cNvPr id="41" name="그룹 40"/>
          <p:cNvGrpSpPr/>
          <p:nvPr/>
        </p:nvGrpSpPr>
        <p:grpSpPr>
          <a:xfrm>
            <a:off x="4791378" y="4482090"/>
            <a:ext cx="126990" cy="1004918"/>
            <a:chOff x="6958012" y="2342683"/>
            <a:chExt cx="114233" cy="1131627"/>
          </a:xfrm>
        </p:grpSpPr>
        <p:sp>
          <p:nvSpPr>
            <p:cNvPr id="42" name="직사각형 41"/>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43" name="직사각형 42"/>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cxnSp>
        <p:nvCxnSpPr>
          <p:cNvPr id="45" name="꺾인 연결선[E] 44"/>
          <p:cNvCxnSpPr>
            <a:stCxn id="47" idx="1"/>
            <a:endCxn id="32" idx="0"/>
          </p:cNvCxnSpPr>
          <p:nvPr/>
        </p:nvCxnSpPr>
        <p:spPr>
          <a:xfrm rot="10800000" flipV="1">
            <a:off x="3151236" y="2441760"/>
            <a:ext cx="3385940" cy="1259761"/>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7" name="직사각형 46"/>
          <p:cNvSpPr/>
          <p:nvPr/>
        </p:nvSpPr>
        <p:spPr>
          <a:xfrm>
            <a:off x="6537176" y="2342931"/>
            <a:ext cx="756134" cy="197659"/>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공지사항 등록</a:t>
            </a:r>
          </a:p>
        </p:txBody>
      </p:sp>
      <p:sp>
        <p:nvSpPr>
          <p:cNvPr id="48" name="직사각형 47"/>
          <p:cNvSpPr/>
          <p:nvPr/>
        </p:nvSpPr>
        <p:spPr>
          <a:xfrm>
            <a:off x="1407700" y="4077072"/>
            <a:ext cx="3510668" cy="2845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bg1">
                    <a:lumMod val="65000"/>
                  </a:schemeClr>
                </a:solidFill>
                <a:latin typeface="Nanum Gothic" panose="020D0604000000000000" pitchFamily="34" charset="-127"/>
                <a:ea typeface="Nanum Gothic" panose="020D0604000000000000" pitchFamily="34" charset="-127"/>
              </a:rPr>
              <a:t>제목을 입력하세요</a:t>
            </a:r>
            <a:r>
              <a:rPr lang="en-US" altLang="ko-KR" sz="800" dirty="0">
                <a:solidFill>
                  <a:schemeClr val="bg1">
                    <a:lumMod val="65000"/>
                  </a:schemeClr>
                </a:solidFill>
                <a:latin typeface="Nanum Gothic" panose="020D0604000000000000" pitchFamily="34" charset="-127"/>
                <a:ea typeface="Nanum Gothic" panose="020D0604000000000000" pitchFamily="34" charset="-127"/>
              </a:rPr>
              <a:t>.</a:t>
            </a:r>
          </a:p>
        </p:txBody>
      </p:sp>
      <p:sp>
        <p:nvSpPr>
          <p:cNvPr id="46" name="TextBox 45"/>
          <p:cNvSpPr txBox="1"/>
          <p:nvPr/>
        </p:nvSpPr>
        <p:spPr>
          <a:xfrm>
            <a:off x="4711243" y="3722352"/>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sp>
        <p:nvSpPr>
          <p:cNvPr id="52" name="직사각형 51"/>
          <p:cNvSpPr/>
          <p:nvPr/>
        </p:nvSpPr>
        <p:spPr>
          <a:xfrm>
            <a:off x="6966030" y="2795006"/>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62" name="직사각형 61"/>
          <p:cNvSpPr/>
          <p:nvPr/>
        </p:nvSpPr>
        <p:spPr>
          <a:xfrm>
            <a:off x="5160433" y="3722353"/>
            <a:ext cx="3737932" cy="222692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공지사항 수정</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6665694" y="5647200"/>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수정</a:t>
            </a:r>
          </a:p>
        </p:txBody>
      </p:sp>
      <p:sp>
        <p:nvSpPr>
          <p:cNvPr id="64" name="직사각형 63"/>
          <p:cNvSpPr/>
          <p:nvPr/>
        </p:nvSpPr>
        <p:spPr>
          <a:xfrm>
            <a:off x="5297153" y="4502920"/>
            <a:ext cx="3463679" cy="1004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800" dirty="0">
                <a:solidFill>
                  <a:schemeClr val="tx1"/>
                </a:solidFill>
                <a:latin typeface="Nanum Gothic" panose="020D0604000000000000" pitchFamily="34" charset="-127"/>
                <a:ea typeface="Nanum Gothic" panose="020D0604000000000000" pitchFamily="34" charset="-127"/>
              </a:rPr>
              <a:t>수수료가 </a:t>
            </a:r>
            <a:r>
              <a:rPr lang="ko-KR" altLang="en-US" sz="800" dirty="0" err="1">
                <a:solidFill>
                  <a:schemeClr val="tx1"/>
                </a:solidFill>
                <a:latin typeface="Nanum Gothic" panose="020D0604000000000000" pitchFamily="34" charset="-127"/>
                <a:ea typeface="Nanum Gothic" panose="020D0604000000000000" pitchFamily="34" charset="-127"/>
              </a:rPr>
              <a:t>이번달부터</a:t>
            </a:r>
            <a:r>
              <a:rPr lang="ko-KR" altLang="en-US" sz="800" dirty="0">
                <a:solidFill>
                  <a:schemeClr val="tx1"/>
                </a:solidFill>
                <a:latin typeface="Nanum Gothic" panose="020D0604000000000000" pitchFamily="34" charset="-127"/>
                <a:ea typeface="Nanum Gothic" panose="020D0604000000000000" pitchFamily="34" charset="-127"/>
              </a:rPr>
              <a:t> 변경되었습니다</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a:t>
            </a:r>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ㅇㅁㄹㅇㄹㅁ</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ㅁㅇㄹㅁㅇㄹ</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err="1">
                <a:solidFill>
                  <a:schemeClr val="tx1"/>
                </a:solidFill>
                <a:latin typeface="Nanum Gothic" panose="020D0604000000000000" pitchFamily="34" charset="-127"/>
                <a:ea typeface="Nanum Gothic" panose="020D0604000000000000" pitchFamily="34" charset="-127"/>
              </a:rPr>
              <a:t>ㅁㅇㄹㅁㅁㅇㄹ</a:t>
            </a:r>
            <a:endParaRPr lang="en-US" altLang="ko-KR" sz="800" dirty="0">
              <a:solidFill>
                <a:schemeClr val="tx1"/>
              </a:solidFill>
              <a:latin typeface="Nanum Gothic" panose="020D0604000000000000" pitchFamily="34" charset="-127"/>
              <a:ea typeface="Nanum Gothic" panose="020D0604000000000000" pitchFamily="34" charset="-127"/>
            </a:endParaRPr>
          </a:p>
          <a:p>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ㅁㅇㄹㅁㅇㄹ</a:t>
            </a: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65" name="그룹 64"/>
          <p:cNvGrpSpPr/>
          <p:nvPr/>
        </p:nvGrpSpPr>
        <p:grpSpPr>
          <a:xfrm>
            <a:off x="8671218" y="4502921"/>
            <a:ext cx="126990" cy="1004918"/>
            <a:chOff x="6958012" y="2342683"/>
            <a:chExt cx="114233" cy="1131627"/>
          </a:xfrm>
        </p:grpSpPr>
        <p:sp>
          <p:nvSpPr>
            <p:cNvPr id="66" name="직사각형 65"/>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67" name="직사각형 66"/>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sp>
        <p:nvSpPr>
          <p:cNvPr id="68" name="직사각형 67"/>
          <p:cNvSpPr/>
          <p:nvPr/>
        </p:nvSpPr>
        <p:spPr>
          <a:xfrm>
            <a:off x="5287540" y="4097903"/>
            <a:ext cx="3510668" cy="2845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수수료가 변경되었습니다</a:t>
            </a:r>
            <a:r>
              <a:rPr lang="en-US" altLang="ko-KR" sz="800" dirty="0">
                <a:solidFill>
                  <a:schemeClr val="tx1"/>
                </a:solidFill>
                <a:latin typeface="Nanum Gothic" panose="020D0604000000000000" pitchFamily="34" charset="-127"/>
                <a:ea typeface="Nanum Gothic" panose="020D0604000000000000" pitchFamily="34" charset="-127"/>
              </a:rPr>
              <a:t>.</a:t>
            </a:r>
          </a:p>
        </p:txBody>
      </p:sp>
      <p:sp>
        <p:nvSpPr>
          <p:cNvPr id="69" name="TextBox 68"/>
          <p:cNvSpPr txBox="1"/>
          <p:nvPr/>
        </p:nvSpPr>
        <p:spPr>
          <a:xfrm>
            <a:off x="8572644" y="3743183"/>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cxnSp>
        <p:nvCxnSpPr>
          <p:cNvPr id="70" name="꺾인 연결선[E] 69"/>
          <p:cNvCxnSpPr>
            <a:stCxn id="52" idx="3"/>
          </p:cNvCxnSpPr>
          <p:nvPr/>
        </p:nvCxnSpPr>
        <p:spPr>
          <a:xfrm>
            <a:off x="7244281" y="2876779"/>
            <a:ext cx="228999" cy="792651"/>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직사각형 52"/>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61" name="직사각형 60"/>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a:t>
            </a:r>
          </a:p>
        </p:txBody>
      </p:sp>
      <p:sp>
        <p:nvSpPr>
          <p:cNvPr id="71" name="직사각형 70"/>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72" name="직사각형 71"/>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3" name="직사각형 72"/>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4" name="직사각형 73"/>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75" name="직사각형 74"/>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6" name="직사각형 75"/>
          <p:cNvSpPr/>
          <p:nvPr/>
        </p:nvSpPr>
        <p:spPr>
          <a:xfrm>
            <a:off x="128453" y="3294474"/>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28461" y="3647782"/>
            <a:ext cx="1008115" cy="343273"/>
          </a:xfrm>
          <a:prstGeom prst="rect">
            <a:avLst/>
          </a:prstGeom>
          <a:solidFill>
            <a:schemeClr val="bg1">
              <a:lumMod val="95000"/>
            </a:schemeClr>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공지사항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78" name="직사각형 77"/>
          <p:cNvSpPr/>
          <p:nvPr/>
        </p:nvSpPr>
        <p:spPr>
          <a:xfrm>
            <a:off x="5417604" y="2562570"/>
            <a:ext cx="1875706" cy="1004442"/>
          </a:xfrm>
          <a:prstGeom prst="rect">
            <a:avLst/>
          </a:prstGeom>
          <a:noFill/>
          <a:ln w="31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79" name="타원 78"/>
          <p:cNvSpPr/>
          <p:nvPr/>
        </p:nvSpPr>
        <p:spPr>
          <a:xfrm>
            <a:off x="6447073" y="2216051"/>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1</a:t>
            </a:r>
            <a:endParaRPr lang="ko-KR" altLang="en-US" sz="900" b="1" dirty="0">
              <a:latin typeface="나눔고딕" pitchFamily="50" charset="-127"/>
              <a:ea typeface="나눔고딕" pitchFamily="50" charset="-127"/>
            </a:endParaRPr>
          </a:p>
        </p:txBody>
      </p:sp>
      <p:sp>
        <p:nvSpPr>
          <p:cNvPr id="80" name="타원 79"/>
          <p:cNvSpPr/>
          <p:nvPr/>
        </p:nvSpPr>
        <p:spPr>
          <a:xfrm>
            <a:off x="5327501" y="328112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2</a:t>
            </a:r>
            <a:endParaRPr lang="ko-KR" altLang="en-US" sz="900" b="1" dirty="0">
              <a:latin typeface="나눔고딕" pitchFamily="50" charset="-127"/>
              <a:ea typeface="나눔고딕" pitchFamily="50" charset="-127"/>
            </a:endParaRPr>
          </a:p>
        </p:txBody>
      </p:sp>
      <p:sp>
        <p:nvSpPr>
          <p:cNvPr id="81" name="타원 80"/>
          <p:cNvSpPr/>
          <p:nvPr/>
        </p:nvSpPr>
        <p:spPr>
          <a:xfrm>
            <a:off x="7025965" y="2905788"/>
            <a:ext cx="180206" cy="18020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900" b="1" dirty="0">
                <a:latin typeface="나눔고딕" pitchFamily="50" charset="-127"/>
                <a:ea typeface="나눔고딕" pitchFamily="50" charset="-127"/>
              </a:rPr>
              <a:t>3</a:t>
            </a:r>
            <a:endParaRPr lang="ko-KR" altLang="en-US" sz="900" b="1" dirty="0">
              <a:latin typeface="나눔고딕" pitchFamily="50" charset="-127"/>
              <a:ea typeface="나눔고딕" pitchFamily="50" charset="-127"/>
            </a:endParaRPr>
          </a:p>
        </p:txBody>
      </p:sp>
      <p:graphicFrame>
        <p:nvGraphicFramePr>
          <p:cNvPr id="82" name="표 81"/>
          <p:cNvGraphicFramePr>
            <a:graphicFrameLocks noGrp="1"/>
          </p:cNvGraphicFramePr>
          <p:nvPr/>
        </p:nvGraphicFramePr>
        <p:xfrm>
          <a:off x="7453089" y="836962"/>
          <a:ext cx="2357214" cy="1019520"/>
        </p:xfrm>
        <a:graphic>
          <a:graphicData uri="http://schemas.openxmlformats.org/drawingml/2006/table">
            <a:tbl>
              <a:tblPr firstRow="1" bandRow="1">
                <a:tableStyleId>{5940675A-B579-460E-94D1-54222C63F5DA}</a:tableStyleId>
              </a:tblPr>
              <a:tblGrid>
                <a:gridCol w="19697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140794">
                <a:tc>
                  <a:txBody>
                    <a:bodyPr/>
                    <a:lstStyle/>
                    <a:p>
                      <a:pPr algn="ctr" latinLnBrk="1"/>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 로그인시 등록</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수정 가능</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0"/>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1</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로그인시만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등록 레이어 연결</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2</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최종등록자</a:t>
                      </a:r>
                      <a:r>
                        <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rPr>
                        <a:t>, </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최종등록일시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794">
                <a:tc>
                  <a:txBody>
                    <a:bodyPr/>
                    <a:lstStyle/>
                    <a:p>
                      <a:pPr algn="ctr" latinLnBrk="1"/>
                      <a:r>
                        <a:rPr lang="en-US" altLang="ko-KR" sz="800" b="1" dirty="0">
                          <a:solidFill>
                            <a:srgbClr val="C00000"/>
                          </a:solidFill>
                          <a:latin typeface="Malgun Gothic" panose="020B0503020000020004" charset="-127"/>
                          <a:ea typeface="Malgun Gothic" panose="020B0503020000020004" charset="-127"/>
                        </a:rPr>
                        <a:t>3</a:t>
                      </a:r>
                      <a:endParaRPr lang="ko-KR" altLang="en-US" sz="800" b="1" dirty="0">
                        <a:solidFill>
                          <a:srgbClr val="C00000"/>
                        </a:solidFill>
                        <a:latin typeface="Malgun Gothic" panose="020B0503020000020004" charset="-127"/>
                        <a:ea typeface="Malgun Gothic" panose="020B0503020000020004" charset="-127"/>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마스터 </a:t>
                      </a: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로그인시만</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노출</a:t>
                      </a:r>
                      <a:endParaRPr lang="en-US" altLang="ko-KR" sz="800" b="0" baseline="0" dirty="0">
                        <a:solidFill>
                          <a:schemeClr val="tx1"/>
                        </a:solidFill>
                        <a:latin typeface="Malgun Gothic" panose="020B0503020000020004" charset="-127"/>
                        <a:ea typeface="Malgun Gothic" panose="020B0503020000020004" charset="-127"/>
                        <a:sym typeface="Wingdings" panose="05000000000000000000"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defRPr/>
                      </a:pPr>
                      <a:r>
                        <a:rPr lang="ko-KR" altLang="en-US" sz="800" b="0" baseline="0" dirty="0" err="1">
                          <a:solidFill>
                            <a:schemeClr val="tx1"/>
                          </a:solidFill>
                          <a:latin typeface="Malgun Gothic" panose="020B0503020000020004" charset="-127"/>
                          <a:ea typeface="Malgun Gothic" panose="020B0503020000020004" charset="-127"/>
                          <a:sym typeface="Wingdings" panose="05000000000000000000" pitchFamily="2" charset="2"/>
                        </a:rPr>
                        <a:t>클릭시</a:t>
                      </a:r>
                      <a:r>
                        <a:rPr lang="ko-KR" altLang="en-US" sz="800" b="0" baseline="0" dirty="0">
                          <a:solidFill>
                            <a:schemeClr val="tx1"/>
                          </a:solidFill>
                          <a:latin typeface="Malgun Gothic" panose="020B0503020000020004" charset="-127"/>
                          <a:ea typeface="Malgun Gothic" panose="020B0503020000020004" charset="-127"/>
                          <a:sym typeface="Wingdings" panose="05000000000000000000" pitchFamily="2" charset="2"/>
                        </a:rPr>
                        <a:t> 수정 레이어 연결</a:t>
                      </a: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488" y="2853253"/>
            <a:ext cx="7183377" cy="461665"/>
          </a:xfrm>
          <a:prstGeom prst="rect">
            <a:avLst/>
          </a:prstGeom>
          <a:noFill/>
        </p:spPr>
        <p:txBody>
          <a:bodyPr wrap="none" rtlCol="0">
            <a:spAutoFit/>
          </a:bodyPr>
          <a:lstStyle/>
          <a:p>
            <a:r>
              <a:rPr lang="en-US" altLang="ko-KR" sz="2400" b="1" dirty="0">
                <a:solidFill>
                  <a:srgbClr val="4B4C58"/>
                </a:solidFill>
                <a:latin typeface="Nanum Gothic" panose="020D0604000000000000" pitchFamily="34" charset="-127"/>
                <a:ea typeface="Nanum Gothic" panose="020D0604000000000000" pitchFamily="34" charset="-127"/>
              </a:rPr>
              <a:t>[PC]</a:t>
            </a:r>
            <a:r>
              <a:rPr lang="ko-KR" altLang="en-US" sz="2400" b="1" dirty="0">
                <a:solidFill>
                  <a:srgbClr val="4B4C58"/>
                </a:solidFill>
                <a:latin typeface="Nanum Gothic" panose="020D0604000000000000" pitchFamily="34" charset="-127"/>
                <a:ea typeface="Nanum Gothic" panose="020D0604000000000000" pitchFamily="34" charset="-127"/>
              </a:rPr>
              <a:t> 마스터 전용 메뉴 </a:t>
            </a:r>
            <a:r>
              <a:rPr lang="en-US" altLang="ko-KR" sz="2400" b="1" dirty="0">
                <a:solidFill>
                  <a:srgbClr val="4B4C58"/>
                </a:solidFill>
                <a:latin typeface="Nanum Gothic" panose="020D0604000000000000" pitchFamily="34" charset="-127"/>
                <a:ea typeface="Nanum Gothic" panose="020D0604000000000000" pitchFamily="34" charset="-127"/>
              </a:rPr>
              <a:t>:</a:t>
            </a:r>
            <a:r>
              <a:rPr lang="ko-KR" altLang="en-US" sz="2400" b="1" dirty="0">
                <a:solidFill>
                  <a:srgbClr val="4B4C58"/>
                </a:solidFill>
                <a:latin typeface="Nanum Gothic" panose="020D0604000000000000" pitchFamily="34" charset="-127"/>
                <a:ea typeface="Nanum Gothic" panose="020D0604000000000000" pitchFamily="34" charset="-127"/>
              </a:rPr>
              <a:t> 카테고리관리</a:t>
            </a:r>
            <a:r>
              <a:rPr lang="en-US" altLang="ko-KR" sz="2400" b="1" dirty="0">
                <a:solidFill>
                  <a:srgbClr val="4B4C58"/>
                </a:solidFill>
                <a:latin typeface="Nanum Gothic" panose="020D0604000000000000" pitchFamily="34" charset="-127"/>
                <a:ea typeface="Nanum Gothic" panose="020D0604000000000000" pitchFamily="34" charset="-127"/>
              </a:rPr>
              <a:t>,</a:t>
            </a:r>
            <a:r>
              <a:rPr lang="ko-KR" altLang="en-US" sz="2400" b="1" dirty="0">
                <a:solidFill>
                  <a:srgbClr val="4B4C58"/>
                </a:solidFill>
                <a:latin typeface="Nanum Gothic" panose="020D0604000000000000" pitchFamily="34" charset="-127"/>
                <a:ea typeface="Nanum Gothic" panose="020D0604000000000000" pitchFamily="34" charset="-127"/>
              </a:rPr>
              <a:t> 회원</a:t>
            </a:r>
            <a:r>
              <a:rPr lang="en-US" altLang="ko-KR" sz="2400" b="1" dirty="0">
                <a:solidFill>
                  <a:srgbClr val="4B4C58"/>
                </a:solidFill>
                <a:latin typeface="Nanum Gothic" panose="020D0604000000000000" pitchFamily="34" charset="-127"/>
                <a:ea typeface="Nanum Gothic" panose="020D0604000000000000" pitchFamily="34" charset="-127"/>
              </a:rPr>
              <a:t>/</a:t>
            </a:r>
            <a:r>
              <a:rPr lang="ko-KR" altLang="en-US" sz="2400" b="1" dirty="0">
                <a:solidFill>
                  <a:srgbClr val="4B4C58"/>
                </a:solidFill>
                <a:latin typeface="Nanum Gothic" panose="020D0604000000000000" pitchFamily="34" charset="-127"/>
                <a:ea typeface="Nanum Gothic" panose="020D0604000000000000" pitchFamily="34" charset="-127"/>
              </a:rPr>
              <a:t>권한 관리</a:t>
            </a:r>
            <a:endParaRPr lang="en-US" altLang="ko-KR" sz="2400" b="1" dirty="0">
              <a:solidFill>
                <a:srgbClr val="4B4C58"/>
              </a:solidFill>
              <a:latin typeface="Nanum Gothic" panose="020D0604000000000000" pitchFamily="34" charset="-127"/>
              <a:ea typeface="Nanum Gothic" panose="020D0604000000000000" pitchFamily="34" charset="-127"/>
            </a:endParaRPr>
          </a:p>
        </p:txBody>
      </p:sp>
      <p:sp>
        <p:nvSpPr>
          <p:cNvPr id="5" name="TextBox 4"/>
          <p:cNvSpPr txBox="1"/>
          <p:nvPr/>
        </p:nvSpPr>
        <p:spPr>
          <a:xfrm>
            <a:off x="374438" y="2670820"/>
            <a:ext cx="1901483" cy="276999"/>
          </a:xfrm>
          <a:prstGeom prst="rect">
            <a:avLst/>
          </a:prstGeom>
          <a:noFill/>
        </p:spPr>
        <p:txBody>
          <a:bodyPr wrap="none" rtlCol="0">
            <a:spAutoFit/>
          </a:bodyPr>
          <a:lstStyle/>
          <a:p>
            <a:r>
              <a:rPr lang="ko-KR" altLang="en-US" sz="1200" dirty="0" err="1">
                <a:solidFill>
                  <a:srgbClr val="E72F14"/>
                </a:solidFill>
                <a:latin typeface="Nanum Gothic" panose="020D0604000000000000" pitchFamily="34" charset="-127"/>
                <a:ea typeface="Nanum Gothic" panose="020D0604000000000000" pitchFamily="34" charset="-127"/>
              </a:rPr>
              <a:t>티켓통합</a:t>
            </a:r>
            <a:r>
              <a:rPr lang="ko-KR" altLang="en-US" sz="1200" dirty="0">
                <a:solidFill>
                  <a:srgbClr val="E72F14"/>
                </a:solidFill>
                <a:latin typeface="Nanum Gothic" panose="020D0604000000000000" pitchFamily="34" charset="-127"/>
                <a:ea typeface="Nanum Gothic" panose="020D0604000000000000" pitchFamily="34" charset="-127"/>
              </a:rPr>
              <a:t> 솔루션 티브리지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카테고리 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티브리지</a:t>
            </a:r>
            <a:r>
              <a:rPr lang="ko-KR" altLang="en-US" dirty="0">
                <a:latin typeface="Nanum Gothic" panose="020D0604000000000000" pitchFamily="34" charset="-127"/>
                <a:ea typeface="Nanum Gothic" panose="020D0604000000000000" pitchFamily="34" charset="-127"/>
              </a:rPr>
              <a:t> 카테고리 </a:t>
            </a: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6" name="직사각형 15"/>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17" name="직사각형 16"/>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0" name="직사각형 29"/>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33" name="직사각형 32"/>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34" name="직사각형 33"/>
          <p:cNvSpPr/>
          <p:nvPr/>
        </p:nvSpPr>
        <p:spPr>
          <a:xfrm>
            <a:off x="128461" y="431321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35" name="직사각형 34"/>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39" name="직사각형 38"/>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40" name="직사각형 39"/>
          <p:cNvSpPr/>
          <p:nvPr/>
        </p:nvSpPr>
        <p:spPr>
          <a:xfrm>
            <a:off x="128457" y="398086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32" name="직사각형 31"/>
          <p:cNvSpPr/>
          <p:nvPr/>
        </p:nvSpPr>
        <p:spPr>
          <a:xfrm>
            <a:off x="2936776" y="1917695"/>
            <a:ext cx="4431859" cy="959284"/>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300"/>
              </a:spcBef>
            </a:pPr>
            <a:endParaRPr lang="ko-KR" altLang="en-US" sz="800" b="1" dirty="0">
              <a:solidFill>
                <a:srgbClr val="C00000"/>
              </a:solidFill>
              <a:latin typeface="Nanum Gothic" panose="020D0604000000000000" pitchFamily="34" charset="-127"/>
              <a:ea typeface="Nanum Gothic" panose="020D0604000000000000" pitchFamily="34" charset="-127"/>
            </a:endParaRPr>
          </a:p>
        </p:txBody>
      </p:sp>
      <p:sp>
        <p:nvSpPr>
          <p:cNvPr id="37" name="직사각형 36"/>
          <p:cNvSpPr/>
          <p:nvPr/>
        </p:nvSpPr>
        <p:spPr>
          <a:xfrm>
            <a:off x="1277525" y="2089713"/>
            <a:ext cx="1611193" cy="2379345"/>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a:spcBef>
                <a:spcPts val="300"/>
              </a:spcBef>
            </a:pPr>
            <a:r>
              <a:rPr lang="ko-KR" altLang="en-US" sz="900" b="1" dirty="0" err="1">
                <a:solidFill>
                  <a:schemeClr val="tx1"/>
                </a:solidFill>
                <a:latin typeface="Nanum Gothic" panose="020D0604000000000000" pitchFamily="34" charset="-127"/>
                <a:ea typeface="Nanum Gothic" panose="020D0604000000000000" pitchFamily="34" charset="-127"/>
              </a:rPr>
              <a:t>티브리지</a:t>
            </a:r>
            <a:r>
              <a:rPr lang="ko-KR" altLang="en-US" sz="900" b="1" dirty="0">
                <a:solidFill>
                  <a:schemeClr val="tx1"/>
                </a:solidFill>
                <a:latin typeface="Nanum Gothic" panose="020D0604000000000000" pitchFamily="34" charset="-127"/>
                <a:ea typeface="Nanum Gothic" panose="020D0604000000000000" pitchFamily="34" charset="-127"/>
              </a:rPr>
              <a:t> 카테고리</a:t>
            </a:r>
            <a:endParaRPr lang="en-US" altLang="ko-KR" sz="900" b="1" dirty="0">
              <a:solidFill>
                <a:schemeClr val="tx1"/>
              </a:solidFill>
              <a:latin typeface="Nanum Gothic" panose="020D0604000000000000" pitchFamily="34" charset="-127"/>
              <a:ea typeface="Nanum Gothic" panose="020D0604000000000000" pitchFamily="34" charset="-127"/>
            </a:endParaRPr>
          </a:p>
          <a:p>
            <a:pPr>
              <a:spcBef>
                <a:spcPts val="300"/>
              </a:spcBef>
            </a:pP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티켓</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패스</a:t>
            </a:r>
            <a:endParaRPr lang="en-US" altLang="ko-KR" sz="800" dirty="0">
              <a:solidFill>
                <a:schemeClr val="tx1"/>
              </a:solidFill>
              <a:latin typeface="Nanum Gothic" panose="020D0604000000000000" pitchFamily="34" charset="-127"/>
              <a:ea typeface="Nanum Gothic" panose="020D0604000000000000" pitchFamily="34" charset="-127"/>
            </a:endParaRPr>
          </a:p>
          <a:p>
            <a:pPr marL="9715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대분류명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22860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중분류명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40513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소분류명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53657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53657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228600">
              <a:spcBef>
                <a:spcPts val="300"/>
              </a:spcBef>
            </a:pPr>
            <a:endParaRPr lang="en-US" altLang="ko-KR" sz="800" dirty="0">
              <a:solidFill>
                <a:schemeClr val="tx1"/>
              </a:solidFill>
              <a:latin typeface="Nanum Gothic" panose="020D0604000000000000" pitchFamily="34" charset="-127"/>
              <a:ea typeface="Nanum Gothic" panose="020D0604000000000000" pitchFamily="34" charset="-127"/>
            </a:endParaRPr>
          </a:p>
          <a:p>
            <a:pPr>
              <a:spcBef>
                <a:spcPts val="300"/>
              </a:spcBef>
            </a:pPr>
            <a:endParaRPr lang="en-US" altLang="ko-KR" sz="800" dirty="0">
              <a:solidFill>
                <a:schemeClr val="tx1"/>
              </a:solidFill>
              <a:latin typeface="Nanum Gothic" panose="020D0604000000000000" pitchFamily="34" charset="-127"/>
              <a:ea typeface="Nanum Gothic" panose="020D0604000000000000" pitchFamily="34" charset="-127"/>
            </a:endParaRPr>
          </a:p>
          <a:p>
            <a:pPr>
              <a:spcBef>
                <a:spcPts val="300"/>
              </a:spcBef>
            </a:pP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숙박</a:t>
            </a:r>
            <a:endParaRPr lang="ko-KR" altLang="en-US" sz="800" dirty="0">
              <a:solidFill>
                <a:srgbClr val="C00000"/>
              </a:solidFill>
              <a:latin typeface="Nanum Gothic" panose="020D0604000000000000" pitchFamily="34" charset="-127"/>
              <a:ea typeface="Nanum Gothic" panose="020D0604000000000000" pitchFamily="34" charset="-127"/>
            </a:endParaRPr>
          </a:p>
        </p:txBody>
      </p:sp>
      <p:sp>
        <p:nvSpPr>
          <p:cNvPr id="52" name="Rectangle 189"/>
          <p:cNvSpPr>
            <a:spLocks noChangeArrowheads="1"/>
          </p:cNvSpPr>
          <p:nvPr/>
        </p:nvSpPr>
        <p:spPr bwMode="auto">
          <a:xfrm>
            <a:off x="6480598" y="1711937"/>
            <a:ext cx="42762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700" dirty="0">
                <a:solidFill>
                  <a:schemeClr val="bg1"/>
                </a:solidFill>
                <a:latin typeface="Nanum Gothic" panose="020D0604000000000000" pitchFamily="34" charset="-127"/>
                <a:ea typeface="Nanum Gothic" panose="020D0604000000000000" pitchFamily="34" charset="-127"/>
              </a:rPr>
              <a:t>+</a:t>
            </a:r>
            <a:r>
              <a:rPr lang="ko-KR" altLang="en-US" sz="700" dirty="0" err="1">
                <a:solidFill>
                  <a:schemeClr val="bg1"/>
                </a:solidFill>
                <a:latin typeface="Nanum Gothic" panose="020D0604000000000000" pitchFamily="34" charset="-127"/>
                <a:ea typeface="Nanum Gothic" panose="020D0604000000000000" pitchFamily="34" charset="-127"/>
              </a:rPr>
              <a:t>분류추가</a:t>
            </a:r>
            <a:endParaRPr lang="ko-KR" altLang="en-US" sz="700" dirty="0">
              <a:solidFill>
                <a:schemeClr val="bg1"/>
              </a:solidFill>
              <a:latin typeface="Nanum Gothic" panose="020D0604000000000000" pitchFamily="34" charset="-127"/>
              <a:ea typeface="Nanum Gothic" panose="020D0604000000000000" pitchFamily="34" charset="-127"/>
            </a:endParaRPr>
          </a:p>
        </p:txBody>
      </p:sp>
      <p:sp>
        <p:nvSpPr>
          <p:cNvPr id="53" name="Rectangle 189"/>
          <p:cNvSpPr>
            <a:spLocks noChangeArrowheads="1"/>
          </p:cNvSpPr>
          <p:nvPr/>
        </p:nvSpPr>
        <p:spPr bwMode="auto">
          <a:xfrm>
            <a:off x="1629625" y="1711728"/>
            <a:ext cx="289719"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위로</a:t>
            </a:r>
          </a:p>
        </p:txBody>
      </p:sp>
      <p:sp>
        <p:nvSpPr>
          <p:cNvPr id="54" name="Rectangle 189"/>
          <p:cNvSpPr>
            <a:spLocks noChangeArrowheads="1"/>
          </p:cNvSpPr>
          <p:nvPr/>
        </p:nvSpPr>
        <p:spPr bwMode="auto">
          <a:xfrm>
            <a:off x="1268544" y="1711728"/>
            <a:ext cx="328300"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아래로</a:t>
            </a:r>
          </a:p>
        </p:txBody>
      </p:sp>
      <p:sp>
        <p:nvSpPr>
          <p:cNvPr id="55" name="Rectangle 189"/>
          <p:cNvSpPr>
            <a:spLocks noChangeArrowheads="1"/>
          </p:cNvSpPr>
          <p:nvPr/>
        </p:nvSpPr>
        <p:spPr bwMode="auto">
          <a:xfrm>
            <a:off x="6941007" y="1711937"/>
            <a:ext cx="42762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700" dirty="0">
                <a:solidFill>
                  <a:schemeClr val="bg1"/>
                </a:solidFill>
                <a:latin typeface="Nanum Gothic" panose="020D0604000000000000" pitchFamily="34" charset="-127"/>
                <a:ea typeface="Nanum Gothic" panose="020D0604000000000000" pitchFamily="34" charset="-127"/>
              </a:rPr>
              <a:t>-</a:t>
            </a:r>
            <a:r>
              <a:rPr lang="ko-KR" altLang="en-US" sz="700" dirty="0" err="1">
                <a:solidFill>
                  <a:schemeClr val="bg1"/>
                </a:solidFill>
                <a:latin typeface="Nanum Gothic" panose="020D0604000000000000" pitchFamily="34" charset="-127"/>
                <a:ea typeface="Nanum Gothic" panose="020D0604000000000000" pitchFamily="34" charset="-127"/>
              </a:rPr>
              <a:t>분류삭제</a:t>
            </a:r>
            <a:endParaRPr lang="ko-KR" altLang="en-US" sz="700" dirty="0">
              <a:solidFill>
                <a:schemeClr val="bg1"/>
              </a:solidFill>
              <a:latin typeface="Nanum Gothic" panose="020D0604000000000000" pitchFamily="34" charset="-127"/>
              <a:ea typeface="Nanum Gothic" panose="020D0604000000000000" pitchFamily="34" charset="-127"/>
            </a:endParaRPr>
          </a:p>
        </p:txBody>
      </p:sp>
      <p:sp>
        <p:nvSpPr>
          <p:cNvPr id="60" name="TextBox 59"/>
          <p:cNvSpPr txBox="1"/>
          <p:nvPr/>
        </p:nvSpPr>
        <p:spPr>
          <a:xfrm>
            <a:off x="1191375" y="1085116"/>
            <a:ext cx="1382110"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티브리지</a:t>
            </a:r>
            <a:r>
              <a:rPr lang="ko-KR" altLang="en-US" sz="1200" b="1" dirty="0">
                <a:latin typeface="Nanum Gothic" panose="020D0604000000000000" pitchFamily="34" charset="-127"/>
                <a:ea typeface="Nanum Gothic" panose="020D0604000000000000" pitchFamily="34" charset="-127"/>
              </a:rPr>
              <a:t> 카테고리</a:t>
            </a:r>
          </a:p>
        </p:txBody>
      </p:sp>
      <p:sp>
        <p:nvSpPr>
          <p:cNvPr id="61" name="TextBox 60"/>
          <p:cNvSpPr txBox="1"/>
          <p:nvPr/>
        </p:nvSpPr>
        <p:spPr>
          <a:xfrm>
            <a:off x="1191375" y="1313869"/>
            <a:ext cx="3531736"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티브리지</a:t>
            </a:r>
            <a:r>
              <a:rPr lang="ko-KR" altLang="en-US" sz="800" dirty="0">
                <a:latin typeface="Nanum Gothic" panose="020D0604000000000000" pitchFamily="34" charset="-127"/>
                <a:ea typeface="Nanum Gothic" panose="020D0604000000000000" pitchFamily="34" charset="-127"/>
              </a:rPr>
              <a:t> 카테고리를 생성</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삭제 하고 </a:t>
            </a:r>
            <a:r>
              <a:rPr lang="ko-KR" altLang="en-US" sz="800" dirty="0" err="1">
                <a:latin typeface="Nanum Gothic" panose="020D0604000000000000" pitchFamily="34" charset="-127"/>
                <a:ea typeface="Nanum Gothic" panose="020D0604000000000000" pitchFamily="34" charset="-127"/>
              </a:rPr>
              <a:t>채널사</a:t>
            </a:r>
            <a:r>
              <a:rPr lang="ko-KR" altLang="en-US" sz="800" dirty="0">
                <a:latin typeface="Nanum Gothic" panose="020D0604000000000000" pitchFamily="34" charset="-127"/>
                <a:ea typeface="Nanum Gothic" panose="020D0604000000000000" pitchFamily="34" charset="-127"/>
              </a:rPr>
              <a:t> 노출카테고리를 매칭 관리 합니다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49" name="표 48"/>
          <p:cNvGraphicFramePr>
            <a:graphicFrameLocks noGrp="1"/>
          </p:cNvGraphicFramePr>
          <p:nvPr/>
        </p:nvGraphicFramePr>
        <p:xfrm>
          <a:off x="3001363" y="2061473"/>
          <a:ext cx="4052894" cy="467512"/>
        </p:xfrm>
        <a:graphic>
          <a:graphicData uri="http://schemas.openxmlformats.org/drawingml/2006/table">
            <a:tbl>
              <a:tblPr firstRow="1" bandRow="1">
                <a:tableStyleId>{5C22544A-7EE6-4342-B048-85BDC9FD1C3A}</a:tableStyleId>
              </a:tblPr>
              <a:tblGrid>
                <a:gridCol w="614981">
                  <a:extLst>
                    <a:ext uri="{9D8B030D-6E8A-4147-A177-3AD203B41FA5}">
                      <a16:colId xmlns:a16="http://schemas.microsoft.com/office/drawing/2014/main" val="20000"/>
                    </a:ext>
                  </a:extLst>
                </a:gridCol>
                <a:gridCol w="3437913">
                  <a:extLst>
                    <a:ext uri="{9D8B030D-6E8A-4147-A177-3AD203B41FA5}">
                      <a16:colId xmlns:a16="http://schemas.microsoft.com/office/drawing/2014/main" val="20001"/>
                    </a:ext>
                  </a:extLst>
                </a:gridCol>
              </a:tblGrid>
              <a:tr h="233756">
                <a:tc>
                  <a:txBody>
                    <a:bodyPr/>
                    <a:lstStyle/>
                    <a:p>
                      <a:pPr algn="ctr" latinLnBrk="1"/>
                      <a:r>
                        <a:rPr lang="ko-KR" altLang="en-US" sz="700" b="1" dirty="0" err="1">
                          <a:solidFill>
                            <a:schemeClr val="tx1">
                              <a:lumMod val="75000"/>
                              <a:lumOff val="25000"/>
                            </a:schemeClr>
                          </a:solidFill>
                          <a:latin typeface="+mn-ea"/>
                          <a:ea typeface="+mn-ea"/>
                        </a:rPr>
                        <a:t>대분류명</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b="1"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33756">
                <a:tc>
                  <a:txBody>
                    <a:bodyPr/>
                    <a:lstStyle/>
                    <a:p>
                      <a:pPr algn="ctr" latinLnBrk="1"/>
                      <a:r>
                        <a:rPr lang="ko-KR" altLang="en-US" sz="700" b="1" dirty="0">
                          <a:solidFill>
                            <a:schemeClr val="tx1">
                              <a:lumMod val="75000"/>
                              <a:lumOff val="25000"/>
                            </a:schemeClr>
                          </a:solidFill>
                          <a:latin typeface="+mn-ea"/>
                          <a:ea typeface="+mn-ea"/>
                        </a:rPr>
                        <a:t>사용여부</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dirty="0">
                          <a:solidFill>
                            <a:schemeClr val="tx1"/>
                          </a:solidFill>
                          <a:latin typeface="Nanum Gothic" panose="020D0604000000000000" pitchFamily="34" charset="-127"/>
                          <a:ea typeface="Nanum Gothic" panose="020D0604000000000000" pitchFamily="34" charset="-127"/>
                        </a:rPr>
                        <a:t>● 사용함     ○ </a:t>
                      </a:r>
                      <a:r>
                        <a:rPr lang="ko-KR" altLang="en-US" sz="700" b="0" dirty="0" err="1">
                          <a:solidFill>
                            <a:schemeClr val="tx1"/>
                          </a:solidFill>
                          <a:latin typeface="Nanum Gothic" panose="020D0604000000000000" pitchFamily="34" charset="-127"/>
                          <a:ea typeface="Nanum Gothic" panose="020D0604000000000000" pitchFamily="34" charset="-127"/>
                        </a:rPr>
                        <a:t>사용안함</a:t>
                      </a:r>
                      <a:endParaRPr lang="ko-KR" altLang="en-US" sz="700" b="1"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51" name="직사각형 50"/>
          <p:cNvSpPr/>
          <p:nvPr/>
        </p:nvSpPr>
        <p:spPr>
          <a:xfrm>
            <a:off x="3658471" y="2088240"/>
            <a:ext cx="869862" cy="17312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p>
            <a:r>
              <a:rPr lang="ko-KR" altLang="en-US" sz="700" dirty="0" err="1">
                <a:solidFill>
                  <a:schemeClr val="tx1"/>
                </a:solidFill>
                <a:latin typeface="Nanum Gothic" panose="020D0604000000000000" pitchFamily="34" charset="-127"/>
                <a:ea typeface="Nanum Gothic" panose="020D0604000000000000" pitchFamily="34" charset="-127"/>
              </a:rPr>
              <a:t>대분류명</a:t>
            </a:r>
            <a:r>
              <a:rPr lang="en-US" altLang="ko-KR" sz="700" dirty="0">
                <a:solidFill>
                  <a:schemeClr val="tx1"/>
                </a:solidFill>
                <a:latin typeface="Nanum Gothic" panose="020D0604000000000000" pitchFamily="34" charset="-127"/>
                <a:ea typeface="Nanum Gothic" panose="020D0604000000000000" pitchFamily="34" charset="-127"/>
              </a:rPr>
              <a:t>1</a:t>
            </a:r>
          </a:p>
        </p:txBody>
      </p:sp>
      <p:sp>
        <p:nvSpPr>
          <p:cNvPr id="62" name="Rectangle 189"/>
          <p:cNvSpPr>
            <a:spLocks noChangeArrowheads="1"/>
          </p:cNvSpPr>
          <p:nvPr/>
        </p:nvSpPr>
        <p:spPr bwMode="auto">
          <a:xfrm>
            <a:off x="4514809" y="2606298"/>
            <a:ext cx="60565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ko-KR" altLang="en-US" sz="700" dirty="0">
                <a:solidFill>
                  <a:schemeClr val="bg1"/>
                </a:solidFill>
                <a:latin typeface="Nanum Gothic" panose="020D0604000000000000" pitchFamily="34" charset="-127"/>
                <a:ea typeface="Nanum Gothic" panose="020D0604000000000000" pitchFamily="34" charset="-127"/>
              </a:rPr>
              <a:t>등록</a:t>
            </a:r>
          </a:p>
        </p:txBody>
      </p:sp>
      <p:sp>
        <p:nvSpPr>
          <p:cNvPr id="64" name="Rectangle 189"/>
          <p:cNvSpPr>
            <a:spLocks noChangeArrowheads="1"/>
          </p:cNvSpPr>
          <p:nvPr/>
        </p:nvSpPr>
        <p:spPr bwMode="auto">
          <a:xfrm>
            <a:off x="5176276" y="2606298"/>
            <a:ext cx="467546" cy="151008"/>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취소</a:t>
            </a:r>
          </a:p>
        </p:txBody>
      </p:sp>
      <p:sp>
        <p:nvSpPr>
          <p:cNvPr id="79" name="Rectangle 189"/>
          <p:cNvSpPr>
            <a:spLocks noChangeArrowheads="1"/>
          </p:cNvSpPr>
          <p:nvPr/>
        </p:nvSpPr>
        <p:spPr bwMode="auto">
          <a:xfrm>
            <a:off x="1277525" y="1918077"/>
            <a:ext cx="1611193" cy="171426"/>
          </a:xfrm>
          <a:prstGeom prst="rect">
            <a:avLst/>
          </a:prstGeom>
          <a:solidFill>
            <a:schemeClr val="bg1">
              <a:lumMod val="95000"/>
            </a:schemeClr>
          </a:solidFill>
          <a:ln w="9525">
            <a:solidFill>
              <a:schemeClr val="bg1">
                <a:lumMod val="85000"/>
              </a:schemeClr>
            </a:solidFill>
            <a:miter lim="800000"/>
          </a:ln>
          <a:effectLst/>
        </p:spPr>
        <p:txBody>
          <a:bodyPr wrap="none" anchor="ctr"/>
          <a:lstStyle/>
          <a:p>
            <a:r>
              <a:rPr lang="ko-KR" altLang="en-US" sz="800" dirty="0">
                <a:latin typeface="Nanum Gothic" panose="020D0604000000000000" pitchFamily="34" charset="-127"/>
                <a:ea typeface="Nanum Gothic" panose="020D0604000000000000" pitchFamily="34" charset="-127"/>
              </a:rPr>
              <a:t> ☐ 사용하는 카테고리만 보기</a:t>
            </a:r>
          </a:p>
        </p:txBody>
      </p:sp>
      <p:pic>
        <p:nvPicPr>
          <p:cNvPr id="9" name="그림 8"/>
          <p:cNvPicPr>
            <a:picLocks noChangeAspect="1"/>
          </p:cNvPicPr>
          <p:nvPr/>
        </p:nvPicPr>
        <p:blipFill>
          <a:blip r:embed="rId2" cstate="print">
            <a:duotone>
              <a:schemeClr val="accent1">
                <a:shade val="45000"/>
                <a:satMod val="135000"/>
              </a:schemeClr>
              <a:prstClr val="white"/>
            </a:duotone>
          </a:blip>
          <a:stretch>
            <a:fillRect/>
          </a:stretch>
        </p:blipFill>
        <p:spPr>
          <a:xfrm>
            <a:off x="1401367" y="1928189"/>
            <a:ext cx="104198" cy="101767"/>
          </a:xfrm>
          <a:prstGeom prst="rect">
            <a:avLst/>
          </a:prstGeom>
        </p:spPr>
      </p:pic>
      <p:sp>
        <p:nvSpPr>
          <p:cNvPr id="80" name="Rectangle 189"/>
          <p:cNvSpPr>
            <a:spLocks noChangeArrowheads="1"/>
          </p:cNvSpPr>
          <p:nvPr/>
        </p:nvSpPr>
        <p:spPr bwMode="auto">
          <a:xfrm>
            <a:off x="2288705" y="1718687"/>
            <a:ext cx="600014"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엑셀다운로드</a:t>
            </a:r>
          </a:p>
        </p:txBody>
      </p:sp>
      <p:sp>
        <p:nvSpPr>
          <p:cNvPr id="81" name="직사각형 80"/>
          <p:cNvSpPr/>
          <p:nvPr/>
        </p:nvSpPr>
        <p:spPr>
          <a:xfrm>
            <a:off x="128458" y="3643974"/>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chemeClr val="tx1"/>
                </a:solidFill>
                <a:latin typeface="Nanum Gothic" panose="020D0604000000000000" pitchFamily="34" charset="-127"/>
                <a:ea typeface="Nanum Gothic" panose="020D0604000000000000" pitchFamily="34" charset="-127"/>
              </a:rPr>
              <a:t> 채널사카테고리            </a:t>
            </a:r>
          </a:p>
        </p:txBody>
      </p:sp>
      <p:sp>
        <p:nvSpPr>
          <p:cNvPr id="82" name="직사각형 81"/>
          <p:cNvSpPr/>
          <p:nvPr/>
        </p:nvSpPr>
        <p:spPr>
          <a:xfrm>
            <a:off x="128461" y="3306652"/>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rgbClr val="0070C0"/>
                </a:solidFill>
                <a:latin typeface="Nanum Gothic" panose="020D0604000000000000" pitchFamily="34" charset="-127"/>
                <a:ea typeface="Nanum Gothic" panose="020D0604000000000000" pitchFamily="34" charset="-127"/>
              </a:rPr>
              <a:t> 티브리지카테고리</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41" name="직사각형 40"/>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카테고리 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티브리지</a:t>
            </a:r>
            <a:r>
              <a:rPr lang="ko-KR" altLang="en-US" dirty="0">
                <a:latin typeface="Nanum Gothic" panose="020D0604000000000000" pitchFamily="34" charset="-127"/>
                <a:ea typeface="Nanum Gothic" panose="020D0604000000000000" pitchFamily="34" charset="-127"/>
              </a:rPr>
              <a:t> 카테고리 </a:t>
            </a: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7" name="직사각형 36"/>
          <p:cNvSpPr/>
          <p:nvPr/>
        </p:nvSpPr>
        <p:spPr>
          <a:xfrm>
            <a:off x="1277525" y="2087444"/>
            <a:ext cx="1611193" cy="259537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a:spcBef>
                <a:spcPts val="300"/>
              </a:spcBef>
            </a:pPr>
            <a:r>
              <a:rPr lang="ko-KR" altLang="en-US" sz="900" b="1" dirty="0" err="1">
                <a:solidFill>
                  <a:schemeClr val="tx1"/>
                </a:solidFill>
                <a:latin typeface="Nanum Gothic" panose="020D0604000000000000" pitchFamily="34" charset="-127"/>
                <a:ea typeface="Nanum Gothic" panose="020D0604000000000000" pitchFamily="34" charset="-127"/>
              </a:rPr>
              <a:t>티브리지</a:t>
            </a:r>
            <a:r>
              <a:rPr lang="ko-KR" altLang="en-US" sz="900" b="1" dirty="0">
                <a:solidFill>
                  <a:schemeClr val="tx1"/>
                </a:solidFill>
                <a:latin typeface="Nanum Gothic" panose="020D0604000000000000" pitchFamily="34" charset="-127"/>
                <a:ea typeface="Nanum Gothic" panose="020D0604000000000000" pitchFamily="34" charset="-127"/>
              </a:rPr>
              <a:t> 카테고리</a:t>
            </a:r>
            <a:endParaRPr lang="en-US" altLang="ko-KR" sz="900" b="1" dirty="0">
              <a:solidFill>
                <a:schemeClr val="tx1"/>
              </a:solidFill>
              <a:latin typeface="Nanum Gothic" panose="020D0604000000000000" pitchFamily="34" charset="-127"/>
              <a:ea typeface="Nanum Gothic" panose="020D0604000000000000" pitchFamily="34" charset="-127"/>
            </a:endParaRPr>
          </a:p>
          <a:p>
            <a:pPr>
              <a:spcBef>
                <a:spcPts val="300"/>
              </a:spcBef>
            </a:pP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티켓</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패스</a:t>
            </a:r>
            <a:endParaRPr lang="en-US" altLang="ko-KR" sz="800" dirty="0">
              <a:solidFill>
                <a:schemeClr val="tx1"/>
              </a:solidFill>
              <a:latin typeface="Nanum Gothic" panose="020D0604000000000000" pitchFamily="34" charset="-127"/>
              <a:ea typeface="Nanum Gothic" panose="020D0604000000000000" pitchFamily="34" charset="-127"/>
            </a:endParaRPr>
          </a:p>
          <a:p>
            <a:pPr marL="9715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대분류명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1841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중분류명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26860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소분류명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9715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대분류명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1841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중분류명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26860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소분류명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3</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4</a:t>
            </a:r>
          </a:p>
          <a:p>
            <a:pPr marL="228600">
              <a:spcBef>
                <a:spcPts val="300"/>
              </a:spcBef>
            </a:pPr>
            <a:endParaRPr lang="en-US" altLang="ko-KR" sz="800" dirty="0">
              <a:solidFill>
                <a:schemeClr val="tx1"/>
              </a:solidFill>
              <a:latin typeface="Nanum Gothic" panose="020D0604000000000000" pitchFamily="34" charset="-127"/>
              <a:ea typeface="Nanum Gothic" panose="020D0604000000000000" pitchFamily="34" charset="-127"/>
            </a:endParaRPr>
          </a:p>
          <a:p>
            <a:pPr>
              <a:spcBef>
                <a:spcPts val="300"/>
              </a:spcBef>
            </a:pPr>
            <a:endParaRPr lang="en-US" altLang="ko-KR" sz="800" dirty="0">
              <a:solidFill>
                <a:schemeClr val="tx1"/>
              </a:solidFill>
              <a:latin typeface="Nanum Gothic" panose="020D0604000000000000" pitchFamily="34" charset="-127"/>
              <a:ea typeface="Nanum Gothic" panose="020D0604000000000000" pitchFamily="34" charset="-127"/>
            </a:endParaRPr>
          </a:p>
          <a:p>
            <a:pPr>
              <a:spcBef>
                <a:spcPts val="300"/>
              </a:spcBef>
            </a:pP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숙박</a:t>
            </a:r>
            <a:endParaRPr lang="ko-KR" altLang="en-US" sz="800" dirty="0">
              <a:solidFill>
                <a:srgbClr val="C00000"/>
              </a:solidFill>
              <a:latin typeface="Nanum Gothic" panose="020D0604000000000000" pitchFamily="34" charset="-127"/>
              <a:ea typeface="Nanum Gothic" panose="020D0604000000000000" pitchFamily="34" charset="-127"/>
            </a:endParaRPr>
          </a:p>
        </p:txBody>
      </p:sp>
      <p:sp>
        <p:nvSpPr>
          <p:cNvPr id="53" name="Rectangle 189"/>
          <p:cNvSpPr>
            <a:spLocks noChangeArrowheads="1"/>
          </p:cNvSpPr>
          <p:nvPr/>
        </p:nvSpPr>
        <p:spPr bwMode="auto">
          <a:xfrm>
            <a:off x="1629625" y="1711728"/>
            <a:ext cx="289719"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위로</a:t>
            </a:r>
          </a:p>
        </p:txBody>
      </p:sp>
      <p:sp>
        <p:nvSpPr>
          <p:cNvPr id="54" name="Rectangle 189"/>
          <p:cNvSpPr>
            <a:spLocks noChangeArrowheads="1"/>
          </p:cNvSpPr>
          <p:nvPr/>
        </p:nvSpPr>
        <p:spPr bwMode="auto">
          <a:xfrm>
            <a:off x="1268544" y="1711728"/>
            <a:ext cx="328300"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아래로</a:t>
            </a:r>
          </a:p>
        </p:txBody>
      </p:sp>
      <p:sp>
        <p:nvSpPr>
          <p:cNvPr id="60" name="TextBox 59"/>
          <p:cNvSpPr txBox="1"/>
          <p:nvPr/>
        </p:nvSpPr>
        <p:spPr>
          <a:xfrm>
            <a:off x="1191375" y="1085116"/>
            <a:ext cx="1382110"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티브리지</a:t>
            </a:r>
            <a:r>
              <a:rPr lang="ko-KR" altLang="en-US" sz="1200" b="1" dirty="0">
                <a:latin typeface="Nanum Gothic" panose="020D0604000000000000" pitchFamily="34" charset="-127"/>
                <a:ea typeface="Nanum Gothic" panose="020D0604000000000000" pitchFamily="34" charset="-127"/>
              </a:rPr>
              <a:t> 카테고리</a:t>
            </a:r>
          </a:p>
        </p:txBody>
      </p:sp>
      <p:sp>
        <p:nvSpPr>
          <p:cNvPr id="61" name="TextBox 60"/>
          <p:cNvSpPr txBox="1"/>
          <p:nvPr/>
        </p:nvSpPr>
        <p:spPr>
          <a:xfrm>
            <a:off x="1191375" y="1313869"/>
            <a:ext cx="3531736"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티브리지</a:t>
            </a:r>
            <a:r>
              <a:rPr lang="ko-KR" altLang="en-US" sz="800" dirty="0">
                <a:latin typeface="Nanum Gothic" panose="020D0604000000000000" pitchFamily="34" charset="-127"/>
                <a:ea typeface="Nanum Gothic" panose="020D0604000000000000" pitchFamily="34" charset="-127"/>
              </a:rPr>
              <a:t> 카테고리를 생성</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삭제 하고 </a:t>
            </a:r>
            <a:r>
              <a:rPr lang="ko-KR" altLang="en-US" sz="800" dirty="0" err="1">
                <a:latin typeface="Nanum Gothic" panose="020D0604000000000000" pitchFamily="34" charset="-127"/>
                <a:ea typeface="Nanum Gothic" panose="020D0604000000000000" pitchFamily="34" charset="-127"/>
              </a:rPr>
              <a:t>채널사</a:t>
            </a:r>
            <a:r>
              <a:rPr lang="ko-KR" altLang="en-US" sz="800" dirty="0">
                <a:latin typeface="Nanum Gothic" panose="020D0604000000000000" pitchFamily="34" charset="-127"/>
                <a:ea typeface="Nanum Gothic" panose="020D0604000000000000" pitchFamily="34" charset="-127"/>
              </a:rPr>
              <a:t> 노출카테고리를 매칭 관리 합니다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46" name="Rectangle 189"/>
          <p:cNvSpPr>
            <a:spLocks noChangeArrowheads="1"/>
          </p:cNvSpPr>
          <p:nvPr/>
        </p:nvSpPr>
        <p:spPr bwMode="auto">
          <a:xfrm>
            <a:off x="1277525" y="1918077"/>
            <a:ext cx="1611193" cy="171426"/>
          </a:xfrm>
          <a:prstGeom prst="rect">
            <a:avLst/>
          </a:prstGeom>
          <a:solidFill>
            <a:schemeClr val="bg1">
              <a:lumMod val="95000"/>
            </a:schemeClr>
          </a:solidFill>
          <a:ln w="9525">
            <a:solidFill>
              <a:schemeClr val="bg1">
                <a:lumMod val="85000"/>
              </a:schemeClr>
            </a:solidFill>
            <a:miter lim="800000"/>
          </a:ln>
          <a:effectLst/>
        </p:spPr>
        <p:txBody>
          <a:bodyPr wrap="none" anchor="ctr"/>
          <a:lstStyle/>
          <a:p>
            <a:r>
              <a:rPr lang="ko-KR" altLang="en-US" sz="800" dirty="0">
                <a:latin typeface="Nanum Gothic" panose="020D0604000000000000" pitchFamily="34" charset="-127"/>
                <a:ea typeface="Nanum Gothic" panose="020D0604000000000000" pitchFamily="34" charset="-127"/>
              </a:rPr>
              <a:t> ☐ 사용하는 카테고리만 보기</a:t>
            </a:r>
          </a:p>
        </p:txBody>
      </p:sp>
      <p:sp>
        <p:nvSpPr>
          <p:cNvPr id="47" name="직사각형 46"/>
          <p:cNvSpPr/>
          <p:nvPr/>
        </p:nvSpPr>
        <p:spPr>
          <a:xfrm>
            <a:off x="2936776" y="1917694"/>
            <a:ext cx="4431859" cy="25194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300"/>
              </a:spcBef>
            </a:pPr>
            <a:endParaRPr lang="ko-KR" altLang="en-US" sz="800" b="1" dirty="0">
              <a:solidFill>
                <a:srgbClr val="C00000"/>
              </a:solidFill>
              <a:latin typeface="Nanum Gothic" panose="020D0604000000000000" pitchFamily="34" charset="-127"/>
              <a:ea typeface="Nanum Gothic" panose="020D0604000000000000" pitchFamily="34" charset="-127"/>
            </a:endParaRPr>
          </a:p>
        </p:txBody>
      </p:sp>
      <p:sp>
        <p:nvSpPr>
          <p:cNvPr id="48" name="Rectangle 189"/>
          <p:cNvSpPr>
            <a:spLocks noChangeArrowheads="1"/>
          </p:cNvSpPr>
          <p:nvPr/>
        </p:nvSpPr>
        <p:spPr bwMode="auto">
          <a:xfrm>
            <a:off x="6480598" y="1711937"/>
            <a:ext cx="42762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700" dirty="0">
                <a:solidFill>
                  <a:schemeClr val="bg1"/>
                </a:solidFill>
                <a:latin typeface="Nanum Gothic" panose="020D0604000000000000" pitchFamily="34" charset="-127"/>
                <a:ea typeface="Nanum Gothic" panose="020D0604000000000000" pitchFamily="34" charset="-127"/>
              </a:rPr>
              <a:t>+</a:t>
            </a:r>
            <a:r>
              <a:rPr lang="ko-KR" altLang="en-US" sz="700" dirty="0" err="1">
                <a:solidFill>
                  <a:schemeClr val="bg1"/>
                </a:solidFill>
                <a:latin typeface="Nanum Gothic" panose="020D0604000000000000" pitchFamily="34" charset="-127"/>
                <a:ea typeface="Nanum Gothic" panose="020D0604000000000000" pitchFamily="34" charset="-127"/>
              </a:rPr>
              <a:t>분류추가</a:t>
            </a:r>
            <a:endParaRPr lang="ko-KR" altLang="en-US" sz="700" dirty="0">
              <a:solidFill>
                <a:schemeClr val="bg1"/>
              </a:solidFill>
              <a:latin typeface="Nanum Gothic" panose="020D0604000000000000" pitchFamily="34" charset="-127"/>
              <a:ea typeface="Nanum Gothic" panose="020D0604000000000000" pitchFamily="34" charset="-127"/>
            </a:endParaRPr>
          </a:p>
        </p:txBody>
      </p:sp>
      <p:sp>
        <p:nvSpPr>
          <p:cNvPr id="50" name="Rectangle 189"/>
          <p:cNvSpPr>
            <a:spLocks noChangeArrowheads="1"/>
          </p:cNvSpPr>
          <p:nvPr/>
        </p:nvSpPr>
        <p:spPr bwMode="auto">
          <a:xfrm>
            <a:off x="6941007" y="1711937"/>
            <a:ext cx="42762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700" dirty="0">
                <a:solidFill>
                  <a:schemeClr val="bg1"/>
                </a:solidFill>
                <a:latin typeface="Nanum Gothic" panose="020D0604000000000000" pitchFamily="34" charset="-127"/>
                <a:ea typeface="Nanum Gothic" panose="020D0604000000000000" pitchFamily="34" charset="-127"/>
              </a:rPr>
              <a:t>-</a:t>
            </a:r>
            <a:r>
              <a:rPr lang="ko-KR" altLang="en-US" sz="700" dirty="0" err="1">
                <a:solidFill>
                  <a:schemeClr val="bg1"/>
                </a:solidFill>
                <a:latin typeface="Nanum Gothic" panose="020D0604000000000000" pitchFamily="34" charset="-127"/>
                <a:ea typeface="Nanum Gothic" panose="020D0604000000000000" pitchFamily="34" charset="-127"/>
              </a:rPr>
              <a:t>분류삭제</a:t>
            </a:r>
            <a:endParaRPr lang="ko-KR" altLang="en-US" sz="700" dirty="0">
              <a:solidFill>
                <a:schemeClr val="bg1"/>
              </a:solidFill>
              <a:latin typeface="Nanum Gothic" panose="020D0604000000000000" pitchFamily="34" charset="-127"/>
              <a:ea typeface="Nanum Gothic" panose="020D0604000000000000" pitchFamily="34" charset="-127"/>
            </a:endParaRPr>
          </a:p>
        </p:txBody>
      </p:sp>
      <p:graphicFrame>
        <p:nvGraphicFramePr>
          <p:cNvPr id="56" name="표 55"/>
          <p:cNvGraphicFramePr>
            <a:graphicFrameLocks noGrp="1"/>
          </p:cNvGraphicFramePr>
          <p:nvPr/>
        </p:nvGraphicFramePr>
        <p:xfrm>
          <a:off x="3001363" y="2061473"/>
          <a:ext cx="4255893" cy="701268"/>
        </p:xfrm>
        <a:graphic>
          <a:graphicData uri="http://schemas.openxmlformats.org/drawingml/2006/table">
            <a:tbl>
              <a:tblPr firstRow="1" bandRow="1">
                <a:tableStyleId>{5C22544A-7EE6-4342-B048-85BDC9FD1C3A}</a:tableStyleId>
              </a:tblPr>
              <a:tblGrid>
                <a:gridCol w="614981">
                  <a:extLst>
                    <a:ext uri="{9D8B030D-6E8A-4147-A177-3AD203B41FA5}">
                      <a16:colId xmlns:a16="http://schemas.microsoft.com/office/drawing/2014/main" val="20000"/>
                    </a:ext>
                  </a:extLst>
                </a:gridCol>
                <a:gridCol w="3640912">
                  <a:extLst>
                    <a:ext uri="{9D8B030D-6E8A-4147-A177-3AD203B41FA5}">
                      <a16:colId xmlns:a16="http://schemas.microsoft.com/office/drawing/2014/main" val="20001"/>
                    </a:ext>
                  </a:extLst>
                </a:gridCol>
              </a:tblGrid>
              <a:tr h="233756">
                <a:tc>
                  <a:txBody>
                    <a:bodyPr/>
                    <a:lstStyle/>
                    <a:p>
                      <a:pPr algn="ctr" latinLnBrk="1"/>
                      <a:r>
                        <a:rPr lang="ko-KR" altLang="en-US" sz="700" b="1" dirty="0" err="1">
                          <a:solidFill>
                            <a:schemeClr val="tx1">
                              <a:lumMod val="75000"/>
                              <a:lumOff val="25000"/>
                            </a:schemeClr>
                          </a:solidFill>
                          <a:latin typeface="+mn-ea"/>
                          <a:ea typeface="+mn-ea"/>
                        </a:rPr>
                        <a:t>상위분류명</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u="none" dirty="0">
                          <a:solidFill>
                            <a:schemeClr val="tx1">
                              <a:lumMod val="75000"/>
                              <a:lumOff val="25000"/>
                            </a:schemeClr>
                          </a:solidFill>
                          <a:latin typeface="+mn-ea"/>
                          <a:ea typeface="+mn-ea"/>
                        </a:rPr>
                        <a:t>티켓</a:t>
                      </a:r>
                      <a:r>
                        <a:rPr lang="en-US" altLang="ko-KR" sz="700" b="0" u="none" dirty="0">
                          <a:solidFill>
                            <a:schemeClr val="tx1">
                              <a:lumMod val="75000"/>
                              <a:lumOff val="25000"/>
                            </a:schemeClr>
                          </a:solidFill>
                          <a:latin typeface="+mn-ea"/>
                          <a:ea typeface="+mn-ea"/>
                        </a:rPr>
                        <a:t>/</a:t>
                      </a:r>
                      <a:r>
                        <a:rPr lang="ko-KR" altLang="en-US" sz="700" b="0" u="none" dirty="0">
                          <a:solidFill>
                            <a:schemeClr val="tx1">
                              <a:lumMod val="75000"/>
                              <a:lumOff val="25000"/>
                            </a:schemeClr>
                          </a:solidFill>
                          <a:latin typeface="+mn-ea"/>
                          <a:ea typeface="+mn-ea"/>
                        </a:rPr>
                        <a:t>패스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국내여행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티켓</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33756">
                <a:tc>
                  <a:txBody>
                    <a:bodyPr/>
                    <a:lstStyle/>
                    <a:p>
                      <a:pPr algn="ctr" latinLnBrk="1"/>
                      <a:r>
                        <a:rPr lang="ko-KR" altLang="en-US" sz="700" b="1" dirty="0" err="1">
                          <a:solidFill>
                            <a:schemeClr val="tx1">
                              <a:lumMod val="75000"/>
                              <a:lumOff val="25000"/>
                            </a:schemeClr>
                          </a:solidFill>
                          <a:latin typeface="+mn-ea"/>
                          <a:ea typeface="+mn-ea"/>
                        </a:rPr>
                        <a:t>세분류명</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endParaRPr lang="ko-KR" altLang="en-US" sz="700" b="0"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33756">
                <a:tc>
                  <a:txBody>
                    <a:bodyPr/>
                    <a:lstStyle/>
                    <a:p>
                      <a:pPr algn="ctr" latinLnBrk="1"/>
                      <a:r>
                        <a:rPr lang="ko-KR" altLang="en-US" sz="700" b="1" dirty="0">
                          <a:solidFill>
                            <a:schemeClr val="tx1">
                              <a:lumMod val="75000"/>
                              <a:lumOff val="25000"/>
                            </a:schemeClr>
                          </a:solidFill>
                          <a:latin typeface="+mn-ea"/>
                          <a:ea typeface="+mn-ea"/>
                        </a:rPr>
                        <a:t>사용여부</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dirty="0">
                          <a:solidFill>
                            <a:schemeClr val="tx1"/>
                          </a:solidFill>
                          <a:latin typeface="Nanum Gothic" panose="020D0604000000000000" pitchFamily="34" charset="-127"/>
                          <a:ea typeface="Nanum Gothic" panose="020D0604000000000000" pitchFamily="34" charset="-127"/>
                        </a:rPr>
                        <a:t>● 사용함     ○ </a:t>
                      </a:r>
                      <a:r>
                        <a:rPr lang="ko-KR" altLang="en-US" sz="700" b="0" dirty="0" err="1">
                          <a:solidFill>
                            <a:schemeClr val="tx1"/>
                          </a:solidFill>
                          <a:latin typeface="Nanum Gothic" panose="020D0604000000000000" pitchFamily="34" charset="-127"/>
                          <a:ea typeface="Nanum Gothic" panose="020D0604000000000000" pitchFamily="34" charset="-127"/>
                        </a:rPr>
                        <a:t>사용안함</a:t>
                      </a:r>
                      <a:endParaRPr lang="ko-KR" altLang="en-US" sz="700" b="1"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8" name="Rectangle 189"/>
          <p:cNvSpPr>
            <a:spLocks noChangeArrowheads="1"/>
          </p:cNvSpPr>
          <p:nvPr/>
        </p:nvSpPr>
        <p:spPr bwMode="auto">
          <a:xfrm>
            <a:off x="4514809" y="4149080"/>
            <a:ext cx="60565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ko-KR" altLang="en-US" sz="700" dirty="0">
                <a:solidFill>
                  <a:schemeClr val="bg1"/>
                </a:solidFill>
                <a:latin typeface="Nanum Gothic" panose="020D0604000000000000" pitchFamily="34" charset="-127"/>
                <a:ea typeface="Nanum Gothic" panose="020D0604000000000000" pitchFamily="34" charset="-127"/>
              </a:rPr>
              <a:t>등록</a:t>
            </a:r>
          </a:p>
        </p:txBody>
      </p:sp>
      <p:sp>
        <p:nvSpPr>
          <p:cNvPr id="59" name="Rectangle 189"/>
          <p:cNvSpPr>
            <a:spLocks noChangeArrowheads="1"/>
          </p:cNvSpPr>
          <p:nvPr/>
        </p:nvSpPr>
        <p:spPr bwMode="auto">
          <a:xfrm>
            <a:off x="5176276" y="4149080"/>
            <a:ext cx="467546" cy="151008"/>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취소</a:t>
            </a:r>
          </a:p>
        </p:txBody>
      </p:sp>
      <p:sp>
        <p:nvSpPr>
          <p:cNvPr id="65" name="Rectangle 189"/>
          <p:cNvSpPr>
            <a:spLocks noChangeArrowheads="1"/>
          </p:cNvSpPr>
          <p:nvPr/>
        </p:nvSpPr>
        <p:spPr bwMode="auto">
          <a:xfrm>
            <a:off x="2288705" y="1718687"/>
            <a:ext cx="600014"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엑셀다운로드</a:t>
            </a:r>
          </a:p>
        </p:txBody>
      </p:sp>
      <p:graphicFrame>
        <p:nvGraphicFramePr>
          <p:cNvPr id="66" name="표 65"/>
          <p:cNvGraphicFramePr>
            <a:graphicFrameLocks noGrp="1"/>
          </p:cNvGraphicFramePr>
          <p:nvPr/>
        </p:nvGraphicFramePr>
        <p:xfrm>
          <a:off x="2995760" y="3125672"/>
          <a:ext cx="4261496" cy="583528"/>
        </p:xfrm>
        <a:graphic>
          <a:graphicData uri="http://schemas.openxmlformats.org/drawingml/2006/table">
            <a:tbl>
              <a:tblPr firstRow="1" bandRow="1">
                <a:tableStyleId>{5C22544A-7EE6-4342-B048-85BDC9FD1C3A}</a:tableStyleId>
              </a:tblPr>
              <a:tblGrid>
                <a:gridCol w="614981">
                  <a:extLst>
                    <a:ext uri="{9D8B030D-6E8A-4147-A177-3AD203B41FA5}">
                      <a16:colId xmlns:a16="http://schemas.microsoft.com/office/drawing/2014/main" val="20000"/>
                    </a:ext>
                  </a:extLst>
                </a:gridCol>
                <a:gridCol w="3646515">
                  <a:extLst>
                    <a:ext uri="{9D8B030D-6E8A-4147-A177-3AD203B41FA5}">
                      <a16:colId xmlns:a16="http://schemas.microsoft.com/office/drawing/2014/main" val="20001"/>
                    </a:ext>
                  </a:extLst>
                </a:gridCol>
              </a:tblGrid>
              <a:tr h="349772">
                <a:tc>
                  <a:txBody>
                    <a:bodyPr/>
                    <a:lstStyle/>
                    <a:p>
                      <a:pPr algn="ctr" latinLnBrk="1"/>
                      <a:r>
                        <a:rPr lang="ko-KR" altLang="en-US" sz="700" b="1" dirty="0" err="1">
                          <a:solidFill>
                            <a:schemeClr val="tx1">
                              <a:lumMod val="75000"/>
                              <a:lumOff val="25000"/>
                            </a:schemeClr>
                          </a:solidFill>
                          <a:latin typeface="+mn-ea"/>
                          <a:ea typeface="+mn-ea"/>
                        </a:rPr>
                        <a:t>쿠팡</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u="none" dirty="0" err="1">
                          <a:solidFill>
                            <a:schemeClr val="tx1">
                              <a:lumMod val="75000"/>
                              <a:lumOff val="25000"/>
                            </a:schemeClr>
                          </a:solidFill>
                          <a:latin typeface="+mn-ea"/>
                          <a:ea typeface="+mn-ea"/>
                        </a:rPr>
                        <a:t>여행티켓</a:t>
                      </a:r>
                      <a:r>
                        <a:rPr lang="ko-KR" altLang="en-US" sz="700" b="0" u="none" dirty="0">
                          <a:solidFill>
                            <a:schemeClr val="tx1">
                              <a:lumMod val="75000"/>
                              <a:lumOff val="25000"/>
                            </a:schemeClr>
                          </a:solidFill>
                          <a:latin typeface="+mn-ea"/>
                          <a:ea typeface="+mn-ea"/>
                        </a:rPr>
                        <a:t>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국내여행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티켓</a:t>
                      </a:r>
                      <a:r>
                        <a:rPr lang="en-US" altLang="ko-KR" sz="700" b="0" u="none" dirty="0">
                          <a:solidFill>
                            <a:schemeClr val="tx1">
                              <a:lumMod val="75000"/>
                              <a:lumOff val="25000"/>
                            </a:schemeClr>
                          </a:solidFill>
                          <a:latin typeface="+mn-ea"/>
                          <a:ea typeface="+mn-ea"/>
                        </a:rPr>
                        <a:t>/</a:t>
                      </a:r>
                      <a:r>
                        <a:rPr lang="ko-KR" altLang="en-US" sz="700" b="0" u="none" dirty="0">
                          <a:solidFill>
                            <a:schemeClr val="tx1">
                              <a:lumMod val="75000"/>
                              <a:lumOff val="25000"/>
                            </a:schemeClr>
                          </a:solidFill>
                          <a:latin typeface="+mn-ea"/>
                          <a:ea typeface="+mn-ea"/>
                        </a:rPr>
                        <a:t>패스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테마파크  </a:t>
                      </a:r>
                      <a:r>
                        <a:rPr lang="en-US" altLang="ko-KR" sz="700" b="0" u="none" dirty="0">
                          <a:solidFill>
                            <a:schemeClr val="tx1">
                              <a:lumMod val="75000"/>
                              <a:lumOff val="25000"/>
                            </a:schemeClr>
                          </a:solidFill>
                          <a:latin typeface="+mn-ea"/>
                          <a:ea typeface="+mn-ea"/>
                        </a:rPr>
                        <a:t>(10%)</a:t>
                      </a: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700" b="0" u="none" dirty="0" err="1">
                          <a:solidFill>
                            <a:schemeClr val="tx1">
                              <a:lumMod val="75000"/>
                              <a:lumOff val="25000"/>
                            </a:schemeClr>
                          </a:solidFill>
                          <a:latin typeface="+mn-ea"/>
                          <a:ea typeface="+mn-ea"/>
                        </a:rPr>
                        <a:t>여행티켓</a:t>
                      </a:r>
                      <a:r>
                        <a:rPr lang="ko-KR" altLang="en-US" sz="700" b="0" u="none" dirty="0">
                          <a:solidFill>
                            <a:schemeClr val="tx1">
                              <a:lumMod val="75000"/>
                              <a:lumOff val="25000"/>
                            </a:schemeClr>
                          </a:solidFill>
                          <a:latin typeface="+mn-ea"/>
                          <a:ea typeface="+mn-ea"/>
                        </a:rPr>
                        <a:t>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국내여행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티켓</a:t>
                      </a:r>
                      <a:r>
                        <a:rPr lang="en-US" altLang="ko-KR" sz="700" b="0" u="none" dirty="0">
                          <a:solidFill>
                            <a:schemeClr val="tx1">
                              <a:lumMod val="75000"/>
                              <a:lumOff val="25000"/>
                            </a:schemeClr>
                          </a:solidFill>
                          <a:latin typeface="+mn-ea"/>
                          <a:ea typeface="+mn-ea"/>
                        </a:rPr>
                        <a:t>/</a:t>
                      </a:r>
                      <a:r>
                        <a:rPr lang="ko-KR" altLang="en-US" sz="700" b="0" u="none" dirty="0">
                          <a:solidFill>
                            <a:schemeClr val="tx1">
                              <a:lumMod val="75000"/>
                              <a:lumOff val="25000"/>
                            </a:schemeClr>
                          </a:solidFill>
                          <a:latin typeface="+mn-ea"/>
                          <a:ea typeface="+mn-ea"/>
                        </a:rPr>
                        <a:t>패스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워터파크  </a:t>
                      </a:r>
                      <a:r>
                        <a:rPr lang="en-US" altLang="ko-KR" sz="700" b="0" u="none" dirty="0">
                          <a:solidFill>
                            <a:schemeClr val="tx1">
                              <a:lumMod val="75000"/>
                              <a:lumOff val="25000"/>
                            </a:schemeClr>
                          </a:solidFill>
                          <a:latin typeface="+mn-ea"/>
                          <a:ea typeface="+mn-ea"/>
                        </a:rPr>
                        <a:t>(11%)</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33756">
                <a:tc>
                  <a:txBody>
                    <a:bodyPr/>
                    <a:lstStyle/>
                    <a:p>
                      <a:pPr algn="ctr" latinLnBrk="1"/>
                      <a:r>
                        <a:rPr lang="ko-KR" altLang="en-US" sz="700" b="1" dirty="0" err="1">
                          <a:solidFill>
                            <a:schemeClr val="tx1">
                              <a:lumMod val="75000"/>
                              <a:lumOff val="25000"/>
                            </a:schemeClr>
                          </a:solidFill>
                          <a:latin typeface="+mn-ea"/>
                          <a:ea typeface="+mn-ea"/>
                        </a:rPr>
                        <a:t>티몬</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u="none" dirty="0" err="1">
                          <a:solidFill>
                            <a:schemeClr val="tx1">
                              <a:lumMod val="75000"/>
                              <a:lumOff val="25000"/>
                            </a:schemeClr>
                          </a:solidFill>
                          <a:latin typeface="+mn-ea"/>
                          <a:ea typeface="+mn-ea"/>
                        </a:rPr>
                        <a:t>티몬대분류명</a:t>
                      </a:r>
                      <a:r>
                        <a:rPr lang="ko-KR" altLang="en-US" sz="700" b="0" u="none" dirty="0">
                          <a:solidFill>
                            <a:schemeClr val="tx1">
                              <a:lumMod val="75000"/>
                              <a:lumOff val="25000"/>
                            </a:schemeClr>
                          </a:solidFill>
                          <a:latin typeface="+mn-ea"/>
                          <a:ea typeface="+mn-ea"/>
                        </a:rPr>
                        <a:t>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a:t>
                      </a:r>
                      <a:r>
                        <a:rPr lang="ko-KR" altLang="en-US" sz="700" b="0" u="none" dirty="0" err="1">
                          <a:solidFill>
                            <a:schemeClr val="tx1">
                              <a:lumMod val="75000"/>
                              <a:lumOff val="25000"/>
                            </a:schemeClr>
                          </a:solidFill>
                          <a:latin typeface="+mn-ea"/>
                          <a:ea typeface="+mn-ea"/>
                        </a:rPr>
                        <a:t>티몬중분류명</a:t>
                      </a:r>
                      <a:r>
                        <a:rPr lang="ko-KR" altLang="en-US" sz="700" b="0" u="none" dirty="0">
                          <a:solidFill>
                            <a:schemeClr val="tx1">
                              <a:lumMod val="75000"/>
                              <a:lumOff val="25000"/>
                            </a:schemeClr>
                          </a:solidFill>
                          <a:latin typeface="+mn-ea"/>
                          <a:ea typeface="+mn-ea"/>
                        </a:rPr>
                        <a:t> </a:t>
                      </a:r>
                      <a:r>
                        <a:rPr lang="en-US" altLang="ko-KR" sz="700" b="0" u="none" dirty="0">
                          <a:solidFill>
                            <a:schemeClr val="tx1">
                              <a:lumMod val="75000"/>
                              <a:lumOff val="25000"/>
                            </a:schemeClr>
                          </a:solidFill>
                          <a:latin typeface="+mn-ea"/>
                          <a:ea typeface="+mn-ea"/>
                        </a:rPr>
                        <a:t>(9%)</a:t>
                      </a:r>
                      <a:endParaRPr lang="ko-KR" altLang="en-US" sz="700" b="0"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67" name="직사각형 66"/>
          <p:cNvSpPr/>
          <p:nvPr/>
        </p:nvSpPr>
        <p:spPr>
          <a:xfrm>
            <a:off x="2936769" y="2910072"/>
            <a:ext cx="1578040" cy="200055"/>
          </a:xfrm>
          <a:prstGeom prst="rect">
            <a:avLst/>
          </a:prstGeom>
        </p:spPr>
        <p:txBody>
          <a:bodyPr wrap="square">
            <a:spAutoFit/>
          </a:bodyPr>
          <a:lstStyle/>
          <a:p>
            <a:r>
              <a:rPr lang="ko-KR" altLang="en-US" sz="700" b="1" dirty="0">
                <a:latin typeface="Malgun Gothic" panose="020B0503020000020004" charset="-127"/>
              </a:rPr>
              <a:t>▣ </a:t>
            </a:r>
            <a:r>
              <a:rPr lang="ko-KR" altLang="en-US" sz="700" b="1" dirty="0" err="1">
                <a:latin typeface="Malgun Gothic" panose="020B0503020000020004" charset="-127"/>
              </a:rPr>
              <a:t>채널사별</a:t>
            </a:r>
            <a:r>
              <a:rPr lang="ko-KR" altLang="en-US" sz="700" b="1" dirty="0">
                <a:latin typeface="Malgun Gothic" panose="020B0503020000020004" charset="-127"/>
              </a:rPr>
              <a:t> 카테고리 매칭</a:t>
            </a:r>
            <a:endParaRPr lang="ko-KR" altLang="en-US" sz="700" b="1" dirty="0"/>
          </a:p>
        </p:txBody>
      </p:sp>
      <p:sp>
        <p:nvSpPr>
          <p:cNvPr id="68" name="직사각형 67"/>
          <p:cNvSpPr/>
          <p:nvPr/>
        </p:nvSpPr>
        <p:spPr>
          <a:xfrm>
            <a:off x="6765841" y="2942427"/>
            <a:ext cx="458044" cy="116982"/>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700" dirty="0" err="1">
                <a:solidFill>
                  <a:schemeClr val="tx2">
                    <a:lumMod val="60000"/>
                    <a:lumOff val="40000"/>
                  </a:schemeClr>
                </a:solidFill>
                <a:latin typeface="Nanum Gothic" panose="020D0604000000000000" pitchFamily="34" charset="-127"/>
                <a:ea typeface="Nanum Gothic" panose="020D0604000000000000" pitchFamily="34" charset="-127"/>
              </a:rPr>
              <a:t>매칭관리</a:t>
            </a:r>
            <a:endParaRPr lang="ko-KR" altLang="en-US" sz="700"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69" name="직사각형 68"/>
          <p:cNvSpPr/>
          <p:nvPr/>
        </p:nvSpPr>
        <p:spPr>
          <a:xfrm>
            <a:off x="3648197" y="2324545"/>
            <a:ext cx="869862" cy="17312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p>
            <a:r>
              <a:rPr lang="ko-KR" altLang="en-US" sz="700" dirty="0" err="1">
                <a:solidFill>
                  <a:schemeClr val="tx1"/>
                </a:solidFill>
                <a:latin typeface="Nanum Gothic" panose="020D0604000000000000" pitchFamily="34" charset="-127"/>
                <a:ea typeface="Nanum Gothic" panose="020D0604000000000000" pitchFamily="34" charset="-127"/>
              </a:rPr>
              <a:t>테마파트</a:t>
            </a:r>
            <a:endParaRPr lang="en-US" altLang="ko-KR" sz="700" dirty="0">
              <a:solidFill>
                <a:schemeClr val="tx1"/>
              </a:solidFill>
              <a:latin typeface="Nanum Gothic" panose="020D0604000000000000" pitchFamily="34" charset="-127"/>
              <a:ea typeface="Nanum Gothic" panose="020D0604000000000000" pitchFamily="34" charset="-127"/>
            </a:endParaRPr>
          </a:p>
        </p:txBody>
      </p:sp>
      <p:sp>
        <p:nvSpPr>
          <p:cNvPr id="44" name="직사각형 43"/>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45" name="직사각형 44"/>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49" name="직사각형 48"/>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51" name="직사각형 50"/>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2" name="직사각형 51"/>
          <p:cNvSpPr/>
          <p:nvPr/>
        </p:nvSpPr>
        <p:spPr>
          <a:xfrm>
            <a:off x="128461" y="431321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55" name="직사각형 54"/>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57" name="직사각형 56"/>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128457" y="398086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128458" y="3643974"/>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chemeClr val="tx1"/>
                </a:solidFill>
                <a:latin typeface="Nanum Gothic" panose="020D0604000000000000" pitchFamily="34" charset="-127"/>
                <a:ea typeface="Nanum Gothic" panose="020D0604000000000000" pitchFamily="34" charset="-127"/>
              </a:rPr>
              <a:t> 채널사카테고리            </a:t>
            </a:r>
          </a:p>
        </p:txBody>
      </p:sp>
      <p:sp>
        <p:nvSpPr>
          <p:cNvPr id="64" name="직사각형 63"/>
          <p:cNvSpPr/>
          <p:nvPr/>
        </p:nvSpPr>
        <p:spPr>
          <a:xfrm>
            <a:off x="128461" y="3306652"/>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rgbClr val="0070C0"/>
                </a:solidFill>
                <a:latin typeface="Nanum Gothic" panose="020D0604000000000000" pitchFamily="34" charset="-127"/>
                <a:ea typeface="Nanum Gothic" panose="020D0604000000000000" pitchFamily="34" charset="-127"/>
              </a:rPr>
              <a:t> 티브리지카테고리</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75" name="직사각형 74"/>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카테고리 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티브리지</a:t>
            </a:r>
            <a:r>
              <a:rPr lang="ko-KR" altLang="en-US" dirty="0">
                <a:latin typeface="Nanum Gothic" panose="020D0604000000000000" pitchFamily="34" charset="-127"/>
                <a:ea typeface="Nanum Gothic" panose="020D0604000000000000" pitchFamily="34" charset="-127"/>
              </a:rPr>
              <a:t> 카테고리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채널사별</a:t>
            </a:r>
            <a:r>
              <a:rPr lang="ko-KR" altLang="en-US" dirty="0">
                <a:latin typeface="Nanum Gothic" panose="020D0604000000000000" pitchFamily="34" charset="-127"/>
                <a:ea typeface="Nanum Gothic" panose="020D0604000000000000" pitchFamily="34" charset="-127"/>
              </a:rPr>
              <a:t> 카테고리 매칭</a:t>
            </a: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7" name="직사각형 36"/>
          <p:cNvSpPr/>
          <p:nvPr/>
        </p:nvSpPr>
        <p:spPr>
          <a:xfrm>
            <a:off x="1277525" y="2087444"/>
            <a:ext cx="1611193" cy="259537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a:spcBef>
                <a:spcPts val="300"/>
              </a:spcBef>
            </a:pPr>
            <a:r>
              <a:rPr lang="ko-KR" altLang="en-US" sz="900" b="1" dirty="0" err="1">
                <a:solidFill>
                  <a:schemeClr val="tx1"/>
                </a:solidFill>
                <a:latin typeface="Nanum Gothic" panose="020D0604000000000000" pitchFamily="34" charset="-127"/>
                <a:ea typeface="Nanum Gothic" panose="020D0604000000000000" pitchFamily="34" charset="-127"/>
              </a:rPr>
              <a:t>티브리지</a:t>
            </a:r>
            <a:r>
              <a:rPr lang="ko-KR" altLang="en-US" sz="900" b="1" dirty="0">
                <a:solidFill>
                  <a:schemeClr val="tx1"/>
                </a:solidFill>
                <a:latin typeface="Nanum Gothic" panose="020D0604000000000000" pitchFamily="34" charset="-127"/>
                <a:ea typeface="Nanum Gothic" panose="020D0604000000000000" pitchFamily="34" charset="-127"/>
              </a:rPr>
              <a:t> 카테고리</a:t>
            </a:r>
            <a:endParaRPr lang="en-US" altLang="ko-KR" sz="900" b="1" dirty="0">
              <a:solidFill>
                <a:schemeClr val="tx1"/>
              </a:solidFill>
              <a:latin typeface="Nanum Gothic" panose="020D0604000000000000" pitchFamily="34" charset="-127"/>
              <a:ea typeface="Nanum Gothic" panose="020D0604000000000000" pitchFamily="34" charset="-127"/>
            </a:endParaRPr>
          </a:p>
          <a:p>
            <a:pPr>
              <a:spcBef>
                <a:spcPts val="300"/>
              </a:spcBef>
            </a:pP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티켓</a:t>
            </a: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패스</a:t>
            </a:r>
            <a:endParaRPr lang="en-US" altLang="ko-KR" sz="800" dirty="0">
              <a:solidFill>
                <a:schemeClr val="tx1"/>
              </a:solidFill>
              <a:latin typeface="Nanum Gothic" panose="020D0604000000000000" pitchFamily="34" charset="-127"/>
              <a:ea typeface="Nanum Gothic" panose="020D0604000000000000" pitchFamily="34" charset="-127"/>
            </a:endParaRPr>
          </a:p>
          <a:p>
            <a:pPr marL="9715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대분류명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1841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중분류명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26860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소분류명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1</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9715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대분류명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1841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중분류명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268605">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소분류명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2</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3</a:t>
            </a:r>
          </a:p>
          <a:p>
            <a:pPr marL="400050">
              <a:spcBef>
                <a:spcPts val="300"/>
              </a:spcBef>
            </a:pPr>
            <a:r>
              <a:rPr lang="ko-KR" altLang="en-US" sz="800" dirty="0" err="1">
                <a:solidFill>
                  <a:schemeClr val="tx1"/>
                </a:solidFill>
                <a:latin typeface="Nanum Gothic" panose="020D0604000000000000" pitchFamily="34" charset="-127"/>
                <a:ea typeface="Nanum Gothic" panose="020D0604000000000000" pitchFamily="34" charset="-127"/>
              </a:rPr>
              <a:t>ㅡ</a:t>
            </a:r>
            <a:r>
              <a:rPr lang="ko-KR" altLang="en-US" sz="800" dirty="0">
                <a:solidFill>
                  <a:schemeClr val="tx1"/>
                </a:solidFill>
                <a:latin typeface="Nanum Gothic" panose="020D0604000000000000" pitchFamily="34" charset="-127"/>
                <a:ea typeface="Nanum Gothic" panose="020D0604000000000000" pitchFamily="34" charset="-127"/>
              </a:rPr>
              <a:t> </a:t>
            </a:r>
            <a:r>
              <a:rPr lang="ko-KR" altLang="en-US" sz="800" dirty="0" err="1">
                <a:solidFill>
                  <a:schemeClr val="tx1"/>
                </a:solidFill>
                <a:latin typeface="Nanum Gothic" panose="020D0604000000000000" pitchFamily="34" charset="-127"/>
                <a:ea typeface="Nanum Gothic" panose="020D0604000000000000" pitchFamily="34" charset="-127"/>
              </a:rPr>
              <a:t>세분류명</a:t>
            </a:r>
            <a:r>
              <a:rPr lang="ko-KR" altLang="en-US" sz="800" dirty="0">
                <a:solidFill>
                  <a:schemeClr val="tx1"/>
                </a:solidFill>
                <a:latin typeface="Nanum Gothic" panose="020D0604000000000000" pitchFamily="34" charset="-127"/>
                <a:ea typeface="Nanum Gothic" panose="020D0604000000000000" pitchFamily="34" charset="-127"/>
              </a:rPr>
              <a:t> </a:t>
            </a:r>
            <a:r>
              <a:rPr lang="en-US" altLang="ko-KR" sz="800" dirty="0">
                <a:solidFill>
                  <a:schemeClr val="tx1"/>
                </a:solidFill>
                <a:latin typeface="Nanum Gothic" panose="020D0604000000000000" pitchFamily="34" charset="-127"/>
                <a:ea typeface="Nanum Gothic" panose="020D0604000000000000" pitchFamily="34" charset="-127"/>
              </a:rPr>
              <a:t>4</a:t>
            </a:r>
          </a:p>
          <a:p>
            <a:pPr marL="228600">
              <a:spcBef>
                <a:spcPts val="300"/>
              </a:spcBef>
            </a:pPr>
            <a:endParaRPr lang="en-US" altLang="ko-KR" sz="800" dirty="0">
              <a:solidFill>
                <a:schemeClr val="tx1"/>
              </a:solidFill>
              <a:latin typeface="Nanum Gothic" panose="020D0604000000000000" pitchFamily="34" charset="-127"/>
              <a:ea typeface="Nanum Gothic" panose="020D0604000000000000" pitchFamily="34" charset="-127"/>
            </a:endParaRPr>
          </a:p>
          <a:p>
            <a:pPr>
              <a:spcBef>
                <a:spcPts val="300"/>
              </a:spcBef>
            </a:pPr>
            <a:endParaRPr lang="en-US" altLang="ko-KR" sz="800" dirty="0">
              <a:solidFill>
                <a:schemeClr val="tx1"/>
              </a:solidFill>
              <a:latin typeface="Nanum Gothic" panose="020D0604000000000000" pitchFamily="34" charset="-127"/>
              <a:ea typeface="Nanum Gothic" panose="020D0604000000000000" pitchFamily="34" charset="-127"/>
            </a:endParaRPr>
          </a:p>
          <a:p>
            <a:pPr>
              <a:spcBef>
                <a:spcPts val="300"/>
              </a:spcBef>
            </a:pPr>
            <a:r>
              <a:rPr lang="en-US" altLang="ko-KR" sz="800" dirty="0">
                <a:solidFill>
                  <a:schemeClr val="tx1"/>
                </a:solidFill>
                <a:latin typeface="Nanum Gothic" panose="020D0604000000000000" pitchFamily="34" charset="-127"/>
                <a:ea typeface="Nanum Gothic" panose="020D0604000000000000" pitchFamily="34" charset="-127"/>
              </a:rPr>
              <a:t>+</a:t>
            </a:r>
            <a:r>
              <a:rPr lang="ko-KR" altLang="en-US" sz="800" dirty="0">
                <a:solidFill>
                  <a:schemeClr val="tx1"/>
                </a:solidFill>
                <a:latin typeface="Nanum Gothic" panose="020D0604000000000000" pitchFamily="34" charset="-127"/>
                <a:ea typeface="Nanum Gothic" panose="020D0604000000000000" pitchFamily="34" charset="-127"/>
              </a:rPr>
              <a:t> 숙박</a:t>
            </a:r>
            <a:endParaRPr lang="ko-KR" altLang="en-US" sz="800" dirty="0">
              <a:solidFill>
                <a:srgbClr val="C00000"/>
              </a:solidFill>
              <a:latin typeface="Nanum Gothic" panose="020D0604000000000000" pitchFamily="34" charset="-127"/>
              <a:ea typeface="Nanum Gothic" panose="020D0604000000000000" pitchFamily="34" charset="-127"/>
            </a:endParaRPr>
          </a:p>
        </p:txBody>
      </p:sp>
      <p:sp>
        <p:nvSpPr>
          <p:cNvPr id="53" name="Rectangle 189"/>
          <p:cNvSpPr>
            <a:spLocks noChangeArrowheads="1"/>
          </p:cNvSpPr>
          <p:nvPr/>
        </p:nvSpPr>
        <p:spPr bwMode="auto">
          <a:xfrm>
            <a:off x="1629625" y="1711728"/>
            <a:ext cx="289719"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위로</a:t>
            </a:r>
          </a:p>
        </p:txBody>
      </p:sp>
      <p:sp>
        <p:nvSpPr>
          <p:cNvPr id="54" name="Rectangle 189"/>
          <p:cNvSpPr>
            <a:spLocks noChangeArrowheads="1"/>
          </p:cNvSpPr>
          <p:nvPr/>
        </p:nvSpPr>
        <p:spPr bwMode="auto">
          <a:xfrm>
            <a:off x="1268544" y="1711728"/>
            <a:ext cx="328300"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아래로</a:t>
            </a:r>
          </a:p>
        </p:txBody>
      </p:sp>
      <p:sp>
        <p:nvSpPr>
          <p:cNvPr id="60" name="TextBox 59"/>
          <p:cNvSpPr txBox="1"/>
          <p:nvPr/>
        </p:nvSpPr>
        <p:spPr>
          <a:xfrm>
            <a:off x="1191375" y="1085116"/>
            <a:ext cx="1382110"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티브리지</a:t>
            </a:r>
            <a:r>
              <a:rPr lang="ko-KR" altLang="en-US" sz="1200" b="1" dirty="0">
                <a:latin typeface="Nanum Gothic" panose="020D0604000000000000" pitchFamily="34" charset="-127"/>
                <a:ea typeface="Nanum Gothic" panose="020D0604000000000000" pitchFamily="34" charset="-127"/>
              </a:rPr>
              <a:t> 카테고리</a:t>
            </a:r>
          </a:p>
        </p:txBody>
      </p:sp>
      <p:sp>
        <p:nvSpPr>
          <p:cNvPr id="61" name="TextBox 60"/>
          <p:cNvSpPr txBox="1"/>
          <p:nvPr/>
        </p:nvSpPr>
        <p:spPr>
          <a:xfrm>
            <a:off x="1191375" y="1313869"/>
            <a:ext cx="3531736"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티브리지</a:t>
            </a:r>
            <a:r>
              <a:rPr lang="ko-KR" altLang="en-US" sz="800" dirty="0">
                <a:latin typeface="Nanum Gothic" panose="020D0604000000000000" pitchFamily="34" charset="-127"/>
                <a:ea typeface="Nanum Gothic" panose="020D0604000000000000" pitchFamily="34" charset="-127"/>
              </a:rPr>
              <a:t> 카테고리를 생성</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삭제 하고 </a:t>
            </a:r>
            <a:r>
              <a:rPr lang="ko-KR" altLang="en-US" sz="800" dirty="0" err="1">
                <a:latin typeface="Nanum Gothic" panose="020D0604000000000000" pitchFamily="34" charset="-127"/>
                <a:ea typeface="Nanum Gothic" panose="020D0604000000000000" pitchFamily="34" charset="-127"/>
              </a:rPr>
              <a:t>채널사</a:t>
            </a:r>
            <a:r>
              <a:rPr lang="ko-KR" altLang="en-US" sz="800" dirty="0">
                <a:latin typeface="Nanum Gothic" panose="020D0604000000000000" pitchFamily="34" charset="-127"/>
                <a:ea typeface="Nanum Gothic" panose="020D0604000000000000" pitchFamily="34" charset="-127"/>
              </a:rPr>
              <a:t> 노출카테고리를 매칭 관리 합니다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sp>
        <p:nvSpPr>
          <p:cNvPr id="46" name="Rectangle 189"/>
          <p:cNvSpPr>
            <a:spLocks noChangeArrowheads="1"/>
          </p:cNvSpPr>
          <p:nvPr/>
        </p:nvSpPr>
        <p:spPr bwMode="auto">
          <a:xfrm>
            <a:off x="1277525" y="1918077"/>
            <a:ext cx="1611193" cy="171426"/>
          </a:xfrm>
          <a:prstGeom prst="rect">
            <a:avLst/>
          </a:prstGeom>
          <a:solidFill>
            <a:schemeClr val="bg1">
              <a:lumMod val="95000"/>
            </a:schemeClr>
          </a:solidFill>
          <a:ln w="9525">
            <a:solidFill>
              <a:schemeClr val="bg1">
                <a:lumMod val="85000"/>
              </a:schemeClr>
            </a:solidFill>
            <a:miter lim="800000"/>
          </a:ln>
          <a:effectLst/>
        </p:spPr>
        <p:txBody>
          <a:bodyPr wrap="none" anchor="ctr"/>
          <a:lstStyle/>
          <a:p>
            <a:r>
              <a:rPr lang="ko-KR" altLang="en-US" sz="800" dirty="0">
                <a:latin typeface="Nanum Gothic" panose="020D0604000000000000" pitchFamily="34" charset="-127"/>
                <a:ea typeface="Nanum Gothic" panose="020D0604000000000000" pitchFamily="34" charset="-127"/>
              </a:rPr>
              <a:t> ☐ 사용하는 카테고리만 보기</a:t>
            </a:r>
          </a:p>
        </p:txBody>
      </p:sp>
      <p:sp>
        <p:nvSpPr>
          <p:cNvPr id="47" name="직사각형 46"/>
          <p:cNvSpPr/>
          <p:nvPr/>
        </p:nvSpPr>
        <p:spPr>
          <a:xfrm>
            <a:off x="2936776" y="1917694"/>
            <a:ext cx="4431859" cy="25194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300"/>
              </a:spcBef>
            </a:pPr>
            <a:endParaRPr lang="ko-KR" altLang="en-US" sz="800" b="1" dirty="0">
              <a:solidFill>
                <a:srgbClr val="C00000"/>
              </a:solidFill>
              <a:latin typeface="Nanum Gothic" panose="020D0604000000000000" pitchFamily="34" charset="-127"/>
              <a:ea typeface="Nanum Gothic" panose="020D0604000000000000" pitchFamily="34" charset="-127"/>
            </a:endParaRPr>
          </a:p>
        </p:txBody>
      </p:sp>
      <p:sp>
        <p:nvSpPr>
          <p:cNvPr id="48" name="Rectangle 189"/>
          <p:cNvSpPr>
            <a:spLocks noChangeArrowheads="1"/>
          </p:cNvSpPr>
          <p:nvPr/>
        </p:nvSpPr>
        <p:spPr bwMode="auto">
          <a:xfrm>
            <a:off x="6480598" y="1711937"/>
            <a:ext cx="42762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700" dirty="0">
                <a:solidFill>
                  <a:schemeClr val="bg1"/>
                </a:solidFill>
                <a:latin typeface="Nanum Gothic" panose="020D0604000000000000" pitchFamily="34" charset="-127"/>
                <a:ea typeface="Nanum Gothic" panose="020D0604000000000000" pitchFamily="34" charset="-127"/>
              </a:rPr>
              <a:t>+</a:t>
            </a:r>
            <a:r>
              <a:rPr lang="ko-KR" altLang="en-US" sz="700" dirty="0" err="1">
                <a:solidFill>
                  <a:schemeClr val="bg1"/>
                </a:solidFill>
                <a:latin typeface="Nanum Gothic" panose="020D0604000000000000" pitchFamily="34" charset="-127"/>
                <a:ea typeface="Nanum Gothic" panose="020D0604000000000000" pitchFamily="34" charset="-127"/>
              </a:rPr>
              <a:t>분류추가</a:t>
            </a:r>
            <a:endParaRPr lang="ko-KR" altLang="en-US" sz="700" dirty="0">
              <a:solidFill>
                <a:schemeClr val="bg1"/>
              </a:solidFill>
              <a:latin typeface="Nanum Gothic" panose="020D0604000000000000" pitchFamily="34" charset="-127"/>
              <a:ea typeface="Nanum Gothic" panose="020D0604000000000000" pitchFamily="34" charset="-127"/>
            </a:endParaRPr>
          </a:p>
        </p:txBody>
      </p:sp>
      <p:sp>
        <p:nvSpPr>
          <p:cNvPr id="50" name="Rectangle 189"/>
          <p:cNvSpPr>
            <a:spLocks noChangeArrowheads="1"/>
          </p:cNvSpPr>
          <p:nvPr/>
        </p:nvSpPr>
        <p:spPr bwMode="auto">
          <a:xfrm>
            <a:off x="6941007" y="1711937"/>
            <a:ext cx="427628" cy="144000"/>
          </a:xfrm>
          <a:prstGeom prst="rect">
            <a:avLst/>
          </a:prstGeom>
          <a:solidFill>
            <a:schemeClr val="accent1">
              <a:lumMod val="75000"/>
            </a:schemeClr>
          </a:solidFill>
          <a:ln w="9525">
            <a:solidFill>
              <a:srgbClr val="808080"/>
            </a:solidFill>
            <a:miter lim="800000"/>
          </a:ln>
          <a:effectLst/>
        </p:spPr>
        <p:txBody>
          <a:bodyPr wrap="none" anchor="ctr"/>
          <a:lstStyle/>
          <a:p>
            <a:pPr algn="ctr"/>
            <a:r>
              <a:rPr lang="en-US" altLang="ko-KR" sz="700" dirty="0">
                <a:solidFill>
                  <a:schemeClr val="bg1"/>
                </a:solidFill>
                <a:latin typeface="Nanum Gothic" panose="020D0604000000000000" pitchFamily="34" charset="-127"/>
                <a:ea typeface="Nanum Gothic" panose="020D0604000000000000" pitchFamily="34" charset="-127"/>
              </a:rPr>
              <a:t>-</a:t>
            </a:r>
            <a:r>
              <a:rPr lang="ko-KR" altLang="en-US" sz="700" dirty="0" err="1">
                <a:solidFill>
                  <a:schemeClr val="bg1"/>
                </a:solidFill>
                <a:latin typeface="Nanum Gothic" panose="020D0604000000000000" pitchFamily="34" charset="-127"/>
                <a:ea typeface="Nanum Gothic" panose="020D0604000000000000" pitchFamily="34" charset="-127"/>
              </a:rPr>
              <a:t>분류삭제</a:t>
            </a:r>
            <a:endParaRPr lang="ko-KR" altLang="en-US" sz="700" dirty="0">
              <a:solidFill>
                <a:schemeClr val="bg1"/>
              </a:solidFill>
              <a:latin typeface="Nanum Gothic" panose="020D0604000000000000" pitchFamily="34" charset="-127"/>
              <a:ea typeface="Nanum Gothic" panose="020D0604000000000000" pitchFamily="34" charset="-127"/>
            </a:endParaRPr>
          </a:p>
        </p:txBody>
      </p:sp>
      <p:sp>
        <p:nvSpPr>
          <p:cNvPr id="65" name="Rectangle 189"/>
          <p:cNvSpPr>
            <a:spLocks noChangeArrowheads="1"/>
          </p:cNvSpPr>
          <p:nvPr/>
        </p:nvSpPr>
        <p:spPr bwMode="auto">
          <a:xfrm>
            <a:off x="2288705" y="1718687"/>
            <a:ext cx="600014"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엑셀다운로드</a:t>
            </a:r>
          </a:p>
        </p:txBody>
      </p:sp>
      <p:graphicFrame>
        <p:nvGraphicFramePr>
          <p:cNvPr id="66" name="표 65"/>
          <p:cNvGraphicFramePr>
            <a:graphicFrameLocks noGrp="1"/>
          </p:cNvGraphicFramePr>
          <p:nvPr/>
        </p:nvGraphicFramePr>
        <p:xfrm>
          <a:off x="2995760" y="3125672"/>
          <a:ext cx="4261496" cy="583528"/>
        </p:xfrm>
        <a:graphic>
          <a:graphicData uri="http://schemas.openxmlformats.org/drawingml/2006/table">
            <a:tbl>
              <a:tblPr firstRow="1" bandRow="1">
                <a:tableStyleId>{5C22544A-7EE6-4342-B048-85BDC9FD1C3A}</a:tableStyleId>
              </a:tblPr>
              <a:tblGrid>
                <a:gridCol w="614981">
                  <a:extLst>
                    <a:ext uri="{9D8B030D-6E8A-4147-A177-3AD203B41FA5}">
                      <a16:colId xmlns:a16="http://schemas.microsoft.com/office/drawing/2014/main" val="20000"/>
                    </a:ext>
                  </a:extLst>
                </a:gridCol>
                <a:gridCol w="3646515">
                  <a:extLst>
                    <a:ext uri="{9D8B030D-6E8A-4147-A177-3AD203B41FA5}">
                      <a16:colId xmlns:a16="http://schemas.microsoft.com/office/drawing/2014/main" val="20001"/>
                    </a:ext>
                  </a:extLst>
                </a:gridCol>
              </a:tblGrid>
              <a:tr h="349772">
                <a:tc>
                  <a:txBody>
                    <a:bodyPr/>
                    <a:lstStyle/>
                    <a:p>
                      <a:pPr algn="ctr" latinLnBrk="1"/>
                      <a:r>
                        <a:rPr lang="ko-KR" altLang="en-US" sz="700" b="1" dirty="0" err="1">
                          <a:solidFill>
                            <a:schemeClr val="tx1">
                              <a:lumMod val="75000"/>
                              <a:lumOff val="25000"/>
                            </a:schemeClr>
                          </a:solidFill>
                          <a:latin typeface="+mn-ea"/>
                          <a:ea typeface="+mn-ea"/>
                        </a:rPr>
                        <a:t>쿠팡</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u="none" dirty="0" err="1">
                          <a:solidFill>
                            <a:schemeClr val="tx1">
                              <a:lumMod val="75000"/>
                              <a:lumOff val="25000"/>
                            </a:schemeClr>
                          </a:solidFill>
                          <a:latin typeface="+mn-ea"/>
                          <a:ea typeface="+mn-ea"/>
                        </a:rPr>
                        <a:t>여행티켓</a:t>
                      </a:r>
                      <a:r>
                        <a:rPr lang="ko-KR" altLang="en-US" sz="700" b="0" u="none" dirty="0">
                          <a:solidFill>
                            <a:schemeClr val="tx1">
                              <a:lumMod val="75000"/>
                              <a:lumOff val="25000"/>
                            </a:schemeClr>
                          </a:solidFill>
                          <a:latin typeface="+mn-ea"/>
                          <a:ea typeface="+mn-ea"/>
                        </a:rPr>
                        <a:t>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국내여행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티켓</a:t>
                      </a:r>
                      <a:r>
                        <a:rPr lang="en-US" altLang="ko-KR" sz="700" b="0" u="none" dirty="0">
                          <a:solidFill>
                            <a:schemeClr val="tx1">
                              <a:lumMod val="75000"/>
                              <a:lumOff val="25000"/>
                            </a:schemeClr>
                          </a:solidFill>
                          <a:latin typeface="+mn-ea"/>
                          <a:ea typeface="+mn-ea"/>
                        </a:rPr>
                        <a:t>/</a:t>
                      </a:r>
                      <a:r>
                        <a:rPr lang="ko-KR" altLang="en-US" sz="700" b="0" u="none" dirty="0">
                          <a:solidFill>
                            <a:schemeClr val="tx1">
                              <a:lumMod val="75000"/>
                              <a:lumOff val="25000"/>
                            </a:schemeClr>
                          </a:solidFill>
                          <a:latin typeface="+mn-ea"/>
                          <a:ea typeface="+mn-ea"/>
                        </a:rPr>
                        <a:t>패스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테마파크</a:t>
                      </a:r>
                      <a:endParaRPr lang="en-US" altLang="ko-KR" sz="700" b="0" u="none" dirty="0">
                        <a:solidFill>
                          <a:schemeClr val="tx1">
                            <a:lumMod val="75000"/>
                            <a:lumOff val="25000"/>
                          </a:schemeClr>
                        </a:solidFill>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defRPr/>
                      </a:pPr>
                      <a:r>
                        <a:rPr lang="ko-KR" altLang="en-US" sz="700" b="0" u="none" dirty="0" err="1">
                          <a:solidFill>
                            <a:schemeClr val="tx1">
                              <a:lumMod val="75000"/>
                              <a:lumOff val="25000"/>
                            </a:schemeClr>
                          </a:solidFill>
                          <a:latin typeface="+mn-ea"/>
                          <a:ea typeface="+mn-ea"/>
                        </a:rPr>
                        <a:t>여행티켓</a:t>
                      </a:r>
                      <a:r>
                        <a:rPr lang="ko-KR" altLang="en-US" sz="700" b="0" u="none" dirty="0">
                          <a:solidFill>
                            <a:schemeClr val="tx1">
                              <a:lumMod val="75000"/>
                              <a:lumOff val="25000"/>
                            </a:schemeClr>
                          </a:solidFill>
                          <a:latin typeface="+mn-ea"/>
                          <a:ea typeface="+mn-ea"/>
                        </a:rPr>
                        <a:t>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국내여행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티켓</a:t>
                      </a:r>
                      <a:r>
                        <a:rPr lang="en-US" altLang="ko-KR" sz="700" b="0" u="none" dirty="0">
                          <a:solidFill>
                            <a:schemeClr val="tx1">
                              <a:lumMod val="75000"/>
                              <a:lumOff val="25000"/>
                            </a:schemeClr>
                          </a:solidFill>
                          <a:latin typeface="+mn-ea"/>
                          <a:ea typeface="+mn-ea"/>
                        </a:rPr>
                        <a:t>/</a:t>
                      </a:r>
                      <a:r>
                        <a:rPr lang="ko-KR" altLang="en-US" sz="700" b="0" u="none" dirty="0">
                          <a:solidFill>
                            <a:schemeClr val="tx1">
                              <a:lumMod val="75000"/>
                              <a:lumOff val="25000"/>
                            </a:schemeClr>
                          </a:solidFill>
                          <a:latin typeface="+mn-ea"/>
                          <a:ea typeface="+mn-ea"/>
                        </a:rPr>
                        <a:t>패스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워터파크</a:t>
                      </a:r>
                      <a:endParaRPr lang="en-US" altLang="ko-KR" sz="700" b="0"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33756">
                <a:tc>
                  <a:txBody>
                    <a:bodyPr/>
                    <a:lstStyle/>
                    <a:p>
                      <a:pPr algn="ctr" latinLnBrk="1"/>
                      <a:r>
                        <a:rPr lang="ko-KR" altLang="en-US" sz="700" b="1" dirty="0" err="1">
                          <a:solidFill>
                            <a:schemeClr val="tx1">
                              <a:lumMod val="75000"/>
                              <a:lumOff val="25000"/>
                            </a:schemeClr>
                          </a:solidFill>
                          <a:latin typeface="+mn-ea"/>
                          <a:ea typeface="+mn-ea"/>
                        </a:rPr>
                        <a:t>티몬</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u="none" dirty="0" err="1">
                          <a:solidFill>
                            <a:schemeClr val="tx1">
                              <a:lumMod val="75000"/>
                              <a:lumOff val="25000"/>
                            </a:schemeClr>
                          </a:solidFill>
                          <a:latin typeface="+mn-ea"/>
                          <a:ea typeface="+mn-ea"/>
                        </a:rPr>
                        <a:t>티몬대분류명</a:t>
                      </a:r>
                      <a:r>
                        <a:rPr lang="ko-KR" altLang="en-US" sz="700" b="0" u="none" dirty="0">
                          <a:solidFill>
                            <a:schemeClr val="tx1">
                              <a:lumMod val="75000"/>
                              <a:lumOff val="25000"/>
                            </a:schemeClr>
                          </a:solidFill>
                          <a:latin typeface="+mn-ea"/>
                          <a:ea typeface="+mn-ea"/>
                        </a:rPr>
                        <a:t>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a:t>
                      </a:r>
                      <a:r>
                        <a:rPr lang="ko-KR" altLang="en-US" sz="700" b="0" u="none" dirty="0" err="1">
                          <a:solidFill>
                            <a:schemeClr val="tx1">
                              <a:lumMod val="75000"/>
                              <a:lumOff val="25000"/>
                            </a:schemeClr>
                          </a:solidFill>
                          <a:latin typeface="+mn-ea"/>
                          <a:ea typeface="+mn-ea"/>
                        </a:rPr>
                        <a:t>티몬중분류명</a:t>
                      </a:r>
                      <a:r>
                        <a:rPr lang="ko-KR" altLang="en-US" sz="700" b="0" u="none" dirty="0">
                          <a:solidFill>
                            <a:schemeClr val="tx1">
                              <a:lumMod val="75000"/>
                              <a:lumOff val="25000"/>
                            </a:schemeClr>
                          </a:solidFill>
                          <a:latin typeface="+mn-ea"/>
                          <a:ea typeface="+mn-ea"/>
                        </a:rPr>
                        <a:t> </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67" name="직사각형 66"/>
          <p:cNvSpPr/>
          <p:nvPr/>
        </p:nvSpPr>
        <p:spPr>
          <a:xfrm>
            <a:off x="2936769" y="2910072"/>
            <a:ext cx="1578040" cy="200055"/>
          </a:xfrm>
          <a:prstGeom prst="rect">
            <a:avLst/>
          </a:prstGeom>
        </p:spPr>
        <p:txBody>
          <a:bodyPr wrap="square">
            <a:spAutoFit/>
          </a:bodyPr>
          <a:lstStyle/>
          <a:p>
            <a:r>
              <a:rPr lang="ko-KR" altLang="en-US" sz="700" b="1" dirty="0">
                <a:latin typeface="Malgun Gothic" panose="020B0503020000020004" charset="-127"/>
              </a:rPr>
              <a:t>▣ </a:t>
            </a:r>
            <a:r>
              <a:rPr lang="ko-KR" altLang="en-US" sz="700" b="1" dirty="0" err="1">
                <a:latin typeface="Malgun Gothic" panose="020B0503020000020004" charset="-127"/>
              </a:rPr>
              <a:t>채널사별</a:t>
            </a:r>
            <a:r>
              <a:rPr lang="ko-KR" altLang="en-US" sz="700" b="1" dirty="0">
                <a:latin typeface="Malgun Gothic" panose="020B0503020000020004" charset="-127"/>
              </a:rPr>
              <a:t> 카테고리 매칭</a:t>
            </a:r>
            <a:endParaRPr lang="ko-KR" altLang="en-US" sz="700" b="1" dirty="0"/>
          </a:p>
        </p:txBody>
      </p:sp>
      <p:sp>
        <p:nvSpPr>
          <p:cNvPr id="68" name="직사각형 67"/>
          <p:cNvSpPr/>
          <p:nvPr/>
        </p:nvSpPr>
        <p:spPr>
          <a:xfrm>
            <a:off x="6765841" y="2942427"/>
            <a:ext cx="458044" cy="116982"/>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bIns="72000" rtlCol="0" anchor="ctr" anchorCtr="1"/>
          <a:lstStyle/>
          <a:p>
            <a:pPr algn="ctr">
              <a:lnSpc>
                <a:spcPct val="150000"/>
              </a:lnSpc>
            </a:pPr>
            <a:r>
              <a:rPr lang="ko-KR" altLang="en-US" sz="700" dirty="0" err="1">
                <a:solidFill>
                  <a:schemeClr val="tx2">
                    <a:lumMod val="60000"/>
                    <a:lumOff val="40000"/>
                  </a:schemeClr>
                </a:solidFill>
                <a:latin typeface="Nanum Gothic" panose="020D0604000000000000" pitchFamily="34" charset="-127"/>
                <a:ea typeface="Nanum Gothic" panose="020D0604000000000000" pitchFamily="34" charset="-127"/>
              </a:rPr>
              <a:t>매칭관리</a:t>
            </a:r>
            <a:endParaRPr lang="ko-KR" altLang="en-US" sz="700"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49" name="직사각형 48"/>
          <p:cNvSpPr/>
          <p:nvPr/>
        </p:nvSpPr>
        <p:spPr>
          <a:xfrm>
            <a:off x="1352600" y="3363964"/>
            <a:ext cx="5871285" cy="3305396"/>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err="1">
                <a:solidFill>
                  <a:schemeClr val="tx1"/>
                </a:solidFill>
                <a:latin typeface="Nanum Gothic" panose="020D0604000000000000" pitchFamily="34" charset="-127"/>
                <a:ea typeface="Nanum Gothic" panose="020D0604000000000000" pitchFamily="34" charset="-127"/>
              </a:rPr>
              <a:t>채널사별</a:t>
            </a:r>
            <a:r>
              <a:rPr lang="ko-KR" altLang="en-US" sz="1100" b="1" dirty="0">
                <a:solidFill>
                  <a:schemeClr val="tx1"/>
                </a:solidFill>
                <a:latin typeface="Nanum Gothic" panose="020D0604000000000000" pitchFamily="34" charset="-127"/>
                <a:ea typeface="Nanum Gothic" panose="020D0604000000000000" pitchFamily="34" charset="-127"/>
              </a:rPr>
              <a:t> 카테고리 매칭</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51" name="직사각형 50"/>
          <p:cNvSpPr/>
          <p:nvPr/>
        </p:nvSpPr>
        <p:spPr>
          <a:xfrm>
            <a:off x="3953704" y="6376450"/>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매칭</a:t>
            </a:r>
          </a:p>
        </p:txBody>
      </p:sp>
      <p:sp>
        <p:nvSpPr>
          <p:cNvPr id="52" name="TextBox 51"/>
          <p:cNvSpPr txBox="1"/>
          <p:nvPr/>
        </p:nvSpPr>
        <p:spPr>
          <a:xfrm>
            <a:off x="6868431" y="3384795"/>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sp>
        <p:nvSpPr>
          <p:cNvPr id="63" name="직사각형 62"/>
          <p:cNvSpPr/>
          <p:nvPr/>
        </p:nvSpPr>
        <p:spPr>
          <a:xfrm>
            <a:off x="2602477" y="4013561"/>
            <a:ext cx="1043108" cy="100789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900" b="1" dirty="0" err="1">
                <a:solidFill>
                  <a:schemeClr val="tx1"/>
                </a:solidFill>
                <a:latin typeface="Nanum Gothic" panose="020D0604000000000000" pitchFamily="34" charset="-127"/>
                <a:ea typeface="Nanum Gothic" panose="020D0604000000000000" pitchFamily="34" charset="-127"/>
              </a:rPr>
              <a:t>대분류선택</a:t>
            </a:r>
            <a:endParaRPr lang="ko-KR" altLang="en-US" sz="400" b="1" dirty="0">
              <a:solidFill>
                <a:schemeClr val="tx1"/>
              </a:solidFill>
              <a:latin typeface="Nanum Gothic" panose="020D0604000000000000" pitchFamily="34" charset="-127"/>
              <a:ea typeface="Nanum Gothic" panose="020D0604000000000000" pitchFamily="34" charset="-127"/>
            </a:endParaRPr>
          </a:p>
        </p:txBody>
      </p:sp>
      <p:sp>
        <p:nvSpPr>
          <p:cNvPr id="64" name="직사각형 63"/>
          <p:cNvSpPr/>
          <p:nvPr/>
        </p:nvSpPr>
        <p:spPr>
          <a:xfrm>
            <a:off x="3738051" y="4013560"/>
            <a:ext cx="1043108" cy="100789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900" b="1" dirty="0" err="1">
                <a:solidFill>
                  <a:schemeClr val="tx1"/>
                </a:solidFill>
                <a:latin typeface="Nanum Gothic" panose="020D0604000000000000" pitchFamily="34" charset="-127"/>
                <a:ea typeface="Nanum Gothic" panose="020D0604000000000000" pitchFamily="34" charset="-127"/>
              </a:rPr>
              <a:t>중분류선택</a:t>
            </a:r>
            <a:endParaRPr lang="ko-KR" altLang="en-US" sz="400" b="1" dirty="0">
              <a:solidFill>
                <a:schemeClr val="tx1"/>
              </a:solidFill>
              <a:latin typeface="Nanum Gothic" panose="020D0604000000000000" pitchFamily="34" charset="-127"/>
              <a:ea typeface="Nanum Gothic" panose="020D0604000000000000" pitchFamily="34" charset="-127"/>
            </a:endParaRPr>
          </a:p>
        </p:txBody>
      </p:sp>
      <p:sp>
        <p:nvSpPr>
          <p:cNvPr id="69" name="직사각형 68"/>
          <p:cNvSpPr/>
          <p:nvPr/>
        </p:nvSpPr>
        <p:spPr>
          <a:xfrm>
            <a:off x="4916776" y="4013560"/>
            <a:ext cx="1043108" cy="100789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900" b="1" dirty="0" err="1">
                <a:solidFill>
                  <a:schemeClr val="tx1"/>
                </a:solidFill>
                <a:latin typeface="Nanum Gothic" panose="020D0604000000000000" pitchFamily="34" charset="-127"/>
                <a:ea typeface="Nanum Gothic" panose="020D0604000000000000" pitchFamily="34" charset="-127"/>
              </a:rPr>
              <a:t>소분류선택</a:t>
            </a:r>
            <a:endParaRPr lang="ko-KR" altLang="en-US" sz="400" b="1" dirty="0">
              <a:solidFill>
                <a:schemeClr val="tx1"/>
              </a:solidFill>
              <a:latin typeface="Nanum Gothic" panose="020D0604000000000000" pitchFamily="34" charset="-127"/>
              <a:ea typeface="Nanum Gothic" panose="020D0604000000000000" pitchFamily="34" charset="-127"/>
            </a:endParaRPr>
          </a:p>
        </p:txBody>
      </p:sp>
      <p:sp>
        <p:nvSpPr>
          <p:cNvPr id="71" name="직사각형 70"/>
          <p:cNvSpPr/>
          <p:nvPr/>
        </p:nvSpPr>
        <p:spPr>
          <a:xfrm>
            <a:off x="6059805" y="4013559"/>
            <a:ext cx="1043108" cy="100789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900" b="1" dirty="0" err="1">
                <a:solidFill>
                  <a:schemeClr val="tx1"/>
                </a:solidFill>
                <a:latin typeface="Nanum Gothic" panose="020D0604000000000000" pitchFamily="34" charset="-127"/>
                <a:ea typeface="Nanum Gothic" panose="020D0604000000000000" pitchFamily="34" charset="-127"/>
              </a:rPr>
              <a:t>세분류선택</a:t>
            </a:r>
            <a:endParaRPr lang="ko-KR" altLang="en-US" sz="400" b="1" dirty="0">
              <a:solidFill>
                <a:schemeClr val="tx1"/>
              </a:solidFill>
              <a:latin typeface="Nanum Gothic" panose="020D0604000000000000" pitchFamily="34" charset="-127"/>
              <a:ea typeface="Nanum Gothic" panose="020D0604000000000000" pitchFamily="34" charset="-127"/>
            </a:endParaRPr>
          </a:p>
        </p:txBody>
      </p:sp>
      <p:sp>
        <p:nvSpPr>
          <p:cNvPr id="72" name="직사각형 71"/>
          <p:cNvSpPr/>
          <p:nvPr/>
        </p:nvSpPr>
        <p:spPr>
          <a:xfrm>
            <a:off x="1487834" y="5265974"/>
            <a:ext cx="5615080" cy="1000123"/>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900" b="1" dirty="0" err="1">
                <a:solidFill>
                  <a:schemeClr val="tx1"/>
                </a:solidFill>
                <a:latin typeface="Nanum Gothic" panose="020D0604000000000000" pitchFamily="34" charset="-127"/>
                <a:ea typeface="Nanum Gothic" panose="020D0604000000000000" pitchFamily="34" charset="-127"/>
              </a:rPr>
              <a:t>선택채널</a:t>
            </a:r>
            <a:r>
              <a:rPr lang="en-US" altLang="ko-KR" sz="900" b="1" dirty="0">
                <a:solidFill>
                  <a:schemeClr val="tx1"/>
                </a:solidFill>
                <a:latin typeface="Nanum Gothic" panose="020D0604000000000000" pitchFamily="34" charset="-127"/>
                <a:ea typeface="Nanum Gothic" panose="020D0604000000000000" pitchFamily="34" charset="-127"/>
              </a:rPr>
              <a:t>/</a:t>
            </a:r>
            <a:r>
              <a:rPr lang="ko-KR" altLang="en-US" sz="900" b="1" dirty="0">
                <a:solidFill>
                  <a:schemeClr val="tx1"/>
                </a:solidFill>
                <a:latin typeface="Nanum Gothic" panose="020D0604000000000000" pitchFamily="34" charset="-127"/>
                <a:ea typeface="Nanum Gothic" panose="020D0604000000000000" pitchFamily="34" charset="-127"/>
              </a:rPr>
              <a:t>카테고리 </a:t>
            </a:r>
            <a:r>
              <a:rPr lang="en-US" altLang="ko-KR" sz="900" b="1" dirty="0">
                <a:solidFill>
                  <a:schemeClr val="tx1"/>
                </a:solidFill>
                <a:latin typeface="Nanum Gothic" panose="020D0604000000000000" pitchFamily="34" charset="-127"/>
                <a:ea typeface="Nanum Gothic" panose="020D0604000000000000" pitchFamily="34" charset="-127"/>
              </a:rPr>
              <a:t>(</a:t>
            </a:r>
            <a:r>
              <a:rPr lang="ko-KR" altLang="en-US" sz="900" b="1" dirty="0">
                <a:solidFill>
                  <a:schemeClr val="tx1"/>
                </a:solidFill>
                <a:latin typeface="Nanum Gothic" panose="020D0604000000000000" pitchFamily="34" charset="-127"/>
                <a:ea typeface="Nanum Gothic" panose="020D0604000000000000" pitchFamily="34" charset="-127"/>
              </a:rPr>
              <a:t> </a:t>
            </a:r>
            <a:r>
              <a:rPr lang="en-US" altLang="ko-KR" sz="900" b="1" dirty="0">
                <a:solidFill>
                  <a:schemeClr val="tx1"/>
                </a:solidFill>
                <a:latin typeface="Nanum Gothic" panose="020D0604000000000000" pitchFamily="34" charset="-127"/>
                <a:ea typeface="Nanum Gothic" panose="020D0604000000000000" pitchFamily="34" charset="-127"/>
              </a:rPr>
              <a:t>N </a:t>
            </a:r>
            <a:r>
              <a:rPr lang="ko-KR" altLang="en-US" sz="900" b="1" dirty="0">
                <a:solidFill>
                  <a:schemeClr val="tx1"/>
                </a:solidFill>
                <a:latin typeface="Nanum Gothic" panose="020D0604000000000000" pitchFamily="34" charset="-127"/>
                <a:ea typeface="Nanum Gothic" panose="020D0604000000000000" pitchFamily="34" charset="-127"/>
              </a:rPr>
              <a:t>개</a:t>
            </a:r>
            <a:r>
              <a:rPr lang="en-US" altLang="ko-KR" sz="900" b="1" dirty="0">
                <a:solidFill>
                  <a:schemeClr val="tx1"/>
                </a:solidFill>
                <a:latin typeface="Nanum Gothic" panose="020D0604000000000000" pitchFamily="34" charset="-127"/>
                <a:ea typeface="Nanum Gothic" panose="020D0604000000000000" pitchFamily="34" charset="-127"/>
              </a:rPr>
              <a:t>)</a:t>
            </a:r>
            <a:endParaRPr lang="ko-KR" altLang="en-US" sz="400" b="1" dirty="0">
              <a:solidFill>
                <a:schemeClr val="tx1"/>
              </a:solidFill>
              <a:latin typeface="Nanum Gothic" panose="020D0604000000000000" pitchFamily="34" charset="-127"/>
              <a:ea typeface="Nanum Gothic" panose="020D0604000000000000" pitchFamily="34" charset="-127"/>
            </a:endParaRPr>
          </a:p>
        </p:txBody>
      </p:sp>
      <p:sp>
        <p:nvSpPr>
          <p:cNvPr id="3" name="삼각형 2"/>
          <p:cNvSpPr/>
          <p:nvPr/>
        </p:nvSpPr>
        <p:spPr>
          <a:xfrm rot="10800000">
            <a:off x="4222661" y="5090836"/>
            <a:ext cx="252781" cy="116213"/>
          </a:xfrm>
          <a:prstGeom prst="triangle">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kumimoji="1" lang="ko-KR" altLang="en-US" sz="800">
              <a:solidFill>
                <a:schemeClr val="tx1"/>
              </a:solidFill>
            </a:endParaRPr>
          </a:p>
        </p:txBody>
      </p:sp>
      <p:sp>
        <p:nvSpPr>
          <p:cNvPr id="4" name="직사각형 3"/>
          <p:cNvSpPr/>
          <p:nvPr/>
        </p:nvSpPr>
        <p:spPr>
          <a:xfrm>
            <a:off x="1487833" y="5597340"/>
            <a:ext cx="2691763" cy="215444"/>
          </a:xfrm>
          <a:prstGeom prst="rect">
            <a:avLst/>
          </a:prstGeom>
        </p:spPr>
        <p:txBody>
          <a:bodyPr wrap="none">
            <a:spAutoFit/>
          </a:bodyPr>
          <a:lstStyle/>
          <a:p>
            <a:r>
              <a:rPr lang="ko-KR" altLang="en-US" sz="800" dirty="0" err="1">
                <a:solidFill>
                  <a:schemeClr val="tx1">
                    <a:lumMod val="75000"/>
                    <a:lumOff val="25000"/>
                  </a:schemeClr>
                </a:solidFill>
                <a:latin typeface="+mn-ea"/>
              </a:rPr>
              <a:t>쿠팡</a:t>
            </a:r>
            <a:r>
              <a:rPr lang="ko-KR" altLang="en-US" sz="800" dirty="0">
                <a:solidFill>
                  <a:schemeClr val="tx1">
                    <a:lumMod val="75000"/>
                    <a:lumOff val="25000"/>
                  </a:schemeClr>
                </a:solidFill>
                <a:latin typeface="+mn-ea"/>
              </a:rPr>
              <a:t> </a:t>
            </a:r>
            <a:r>
              <a:rPr lang="en-US" altLang="ko-KR" sz="800" dirty="0">
                <a:solidFill>
                  <a:schemeClr val="tx1">
                    <a:lumMod val="75000"/>
                    <a:lumOff val="25000"/>
                  </a:schemeClr>
                </a:solidFill>
                <a:latin typeface="+mn-ea"/>
              </a:rPr>
              <a:t>&gt;</a:t>
            </a:r>
            <a:r>
              <a:rPr lang="ko-KR" altLang="en-US" sz="800" dirty="0">
                <a:solidFill>
                  <a:schemeClr val="tx1">
                    <a:lumMod val="75000"/>
                    <a:lumOff val="25000"/>
                  </a:schemeClr>
                </a:solidFill>
                <a:latin typeface="+mn-ea"/>
              </a:rPr>
              <a:t> </a:t>
            </a:r>
            <a:r>
              <a:rPr lang="ko-KR" altLang="en-US" sz="800" dirty="0" err="1">
                <a:solidFill>
                  <a:schemeClr val="tx1">
                    <a:lumMod val="75000"/>
                    <a:lumOff val="25000"/>
                  </a:schemeClr>
                </a:solidFill>
                <a:latin typeface="+mn-ea"/>
              </a:rPr>
              <a:t>여행티켓</a:t>
            </a:r>
            <a:r>
              <a:rPr lang="ko-KR" altLang="en-US" sz="800" dirty="0">
                <a:solidFill>
                  <a:schemeClr val="tx1">
                    <a:lumMod val="75000"/>
                    <a:lumOff val="25000"/>
                  </a:schemeClr>
                </a:solidFill>
                <a:latin typeface="+mn-ea"/>
              </a:rPr>
              <a:t> </a:t>
            </a:r>
            <a:r>
              <a:rPr lang="en-US" altLang="ko-KR" sz="800" dirty="0">
                <a:solidFill>
                  <a:schemeClr val="tx1">
                    <a:lumMod val="75000"/>
                    <a:lumOff val="25000"/>
                  </a:schemeClr>
                </a:solidFill>
                <a:latin typeface="+mn-ea"/>
              </a:rPr>
              <a:t>&gt;</a:t>
            </a:r>
            <a:r>
              <a:rPr lang="ko-KR" altLang="en-US" sz="800" dirty="0">
                <a:solidFill>
                  <a:schemeClr val="tx1">
                    <a:lumMod val="75000"/>
                    <a:lumOff val="25000"/>
                  </a:schemeClr>
                </a:solidFill>
                <a:latin typeface="+mn-ea"/>
              </a:rPr>
              <a:t> 국내여행 </a:t>
            </a:r>
            <a:r>
              <a:rPr lang="en-US" altLang="ko-KR" sz="800" dirty="0">
                <a:solidFill>
                  <a:schemeClr val="tx1">
                    <a:lumMod val="75000"/>
                    <a:lumOff val="25000"/>
                  </a:schemeClr>
                </a:solidFill>
                <a:latin typeface="+mn-ea"/>
              </a:rPr>
              <a:t>&gt;</a:t>
            </a:r>
            <a:r>
              <a:rPr lang="ko-KR" altLang="en-US" sz="800" dirty="0">
                <a:solidFill>
                  <a:schemeClr val="tx1">
                    <a:lumMod val="75000"/>
                    <a:lumOff val="25000"/>
                  </a:schemeClr>
                </a:solidFill>
                <a:latin typeface="+mn-ea"/>
              </a:rPr>
              <a:t> 티켓</a:t>
            </a:r>
            <a:r>
              <a:rPr lang="en-US" altLang="ko-KR" sz="800" dirty="0">
                <a:solidFill>
                  <a:schemeClr val="tx1">
                    <a:lumMod val="75000"/>
                    <a:lumOff val="25000"/>
                  </a:schemeClr>
                </a:solidFill>
                <a:latin typeface="+mn-ea"/>
              </a:rPr>
              <a:t>/</a:t>
            </a:r>
            <a:r>
              <a:rPr lang="ko-KR" altLang="en-US" sz="800" dirty="0">
                <a:solidFill>
                  <a:schemeClr val="tx1">
                    <a:lumMod val="75000"/>
                    <a:lumOff val="25000"/>
                  </a:schemeClr>
                </a:solidFill>
                <a:latin typeface="+mn-ea"/>
              </a:rPr>
              <a:t>패스 </a:t>
            </a:r>
            <a:r>
              <a:rPr lang="en-US" altLang="ko-KR" sz="800" dirty="0">
                <a:solidFill>
                  <a:schemeClr val="tx1">
                    <a:lumMod val="75000"/>
                    <a:lumOff val="25000"/>
                  </a:schemeClr>
                </a:solidFill>
                <a:latin typeface="+mn-ea"/>
              </a:rPr>
              <a:t>&gt;</a:t>
            </a:r>
            <a:r>
              <a:rPr lang="ko-KR" altLang="en-US" sz="800" dirty="0">
                <a:solidFill>
                  <a:schemeClr val="tx1">
                    <a:lumMod val="75000"/>
                    <a:lumOff val="25000"/>
                  </a:schemeClr>
                </a:solidFill>
                <a:latin typeface="+mn-ea"/>
              </a:rPr>
              <a:t> 테마파크 </a:t>
            </a:r>
            <a:endParaRPr lang="en-US" altLang="ko-KR" sz="800" dirty="0">
              <a:solidFill>
                <a:schemeClr val="tx1">
                  <a:lumMod val="75000"/>
                  <a:lumOff val="25000"/>
                </a:schemeClr>
              </a:solidFill>
              <a:latin typeface="+mn-ea"/>
            </a:endParaRPr>
          </a:p>
        </p:txBody>
      </p:sp>
      <p:sp>
        <p:nvSpPr>
          <p:cNvPr id="73" name="직사각형 72"/>
          <p:cNvSpPr/>
          <p:nvPr/>
        </p:nvSpPr>
        <p:spPr>
          <a:xfrm>
            <a:off x="1487833" y="4017246"/>
            <a:ext cx="1043108" cy="100789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900" b="1" dirty="0" err="1">
                <a:solidFill>
                  <a:schemeClr val="tx1"/>
                </a:solidFill>
                <a:latin typeface="Nanum Gothic" panose="020D0604000000000000" pitchFamily="34" charset="-127"/>
                <a:ea typeface="Nanum Gothic" panose="020D0604000000000000" pitchFamily="34" charset="-127"/>
              </a:rPr>
              <a:t>채널사</a:t>
            </a:r>
            <a:r>
              <a:rPr lang="ko-KR" altLang="en-US" sz="900" b="1" dirty="0">
                <a:solidFill>
                  <a:schemeClr val="tx1"/>
                </a:solidFill>
                <a:latin typeface="Nanum Gothic" panose="020D0604000000000000" pitchFamily="34" charset="-127"/>
                <a:ea typeface="Nanum Gothic" panose="020D0604000000000000" pitchFamily="34" charset="-127"/>
              </a:rPr>
              <a:t> 선택</a:t>
            </a:r>
            <a:endParaRPr lang="ko-KR" altLang="en-US" sz="400" b="1" dirty="0">
              <a:solidFill>
                <a:schemeClr val="tx1"/>
              </a:solidFill>
              <a:latin typeface="Nanum Gothic" panose="020D0604000000000000" pitchFamily="34" charset="-127"/>
              <a:ea typeface="Nanum Gothic" panose="020D0604000000000000" pitchFamily="34" charset="-127"/>
            </a:endParaRPr>
          </a:p>
        </p:txBody>
      </p:sp>
      <p:grpSp>
        <p:nvGrpSpPr>
          <p:cNvPr id="74" name="그룹 73"/>
          <p:cNvGrpSpPr/>
          <p:nvPr/>
        </p:nvGrpSpPr>
        <p:grpSpPr>
          <a:xfrm>
            <a:off x="2411189" y="4001420"/>
            <a:ext cx="126990" cy="1004918"/>
            <a:chOff x="6958012" y="2342683"/>
            <a:chExt cx="114233" cy="1131627"/>
          </a:xfrm>
        </p:grpSpPr>
        <p:sp>
          <p:nvSpPr>
            <p:cNvPr id="75" name="직사각형 74"/>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76" name="직사각형 75"/>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graphicFrame>
        <p:nvGraphicFramePr>
          <p:cNvPr id="77" name="표 76"/>
          <p:cNvGraphicFramePr>
            <a:graphicFrameLocks noGrp="1"/>
          </p:cNvGraphicFramePr>
          <p:nvPr/>
        </p:nvGraphicFramePr>
        <p:xfrm>
          <a:off x="3001363" y="2061473"/>
          <a:ext cx="4255893" cy="701268"/>
        </p:xfrm>
        <a:graphic>
          <a:graphicData uri="http://schemas.openxmlformats.org/drawingml/2006/table">
            <a:tbl>
              <a:tblPr firstRow="1" bandRow="1">
                <a:tableStyleId>{5C22544A-7EE6-4342-B048-85BDC9FD1C3A}</a:tableStyleId>
              </a:tblPr>
              <a:tblGrid>
                <a:gridCol w="614981">
                  <a:extLst>
                    <a:ext uri="{9D8B030D-6E8A-4147-A177-3AD203B41FA5}">
                      <a16:colId xmlns:a16="http://schemas.microsoft.com/office/drawing/2014/main" val="20000"/>
                    </a:ext>
                  </a:extLst>
                </a:gridCol>
                <a:gridCol w="3640912">
                  <a:extLst>
                    <a:ext uri="{9D8B030D-6E8A-4147-A177-3AD203B41FA5}">
                      <a16:colId xmlns:a16="http://schemas.microsoft.com/office/drawing/2014/main" val="20001"/>
                    </a:ext>
                  </a:extLst>
                </a:gridCol>
              </a:tblGrid>
              <a:tr h="233756">
                <a:tc>
                  <a:txBody>
                    <a:bodyPr/>
                    <a:lstStyle/>
                    <a:p>
                      <a:pPr algn="ctr" latinLnBrk="1"/>
                      <a:r>
                        <a:rPr lang="ko-KR" altLang="en-US" sz="700" b="1" dirty="0" err="1">
                          <a:solidFill>
                            <a:schemeClr val="tx1">
                              <a:lumMod val="75000"/>
                              <a:lumOff val="25000"/>
                            </a:schemeClr>
                          </a:solidFill>
                          <a:latin typeface="+mn-ea"/>
                          <a:ea typeface="+mn-ea"/>
                        </a:rPr>
                        <a:t>상위분류명</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u="none" dirty="0">
                          <a:solidFill>
                            <a:schemeClr val="tx1">
                              <a:lumMod val="75000"/>
                              <a:lumOff val="25000"/>
                            </a:schemeClr>
                          </a:solidFill>
                          <a:latin typeface="+mn-ea"/>
                          <a:ea typeface="+mn-ea"/>
                        </a:rPr>
                        <a:t>티켓</a:t>
                      </a:r>
                      <a:r>
                        <a:rPr lang="en-US" altLang="ko-KR" sz="700" b="0" u="none" dirty="0">
                          <a:solidFill>
                            <a:schemeClr val="tx1">
                              <a:lumMod val="75000"/>
                              <a:lumOff val="25000"/>
                            </a:schemeClr>
                          </a:solidFill>
                          <a:latin typeface="+mn-ea"/>
                          <a:ea typeface="+mn-ea"/>
                        </a:rPr>
                        <a:t>/</a:t>
                      </a:r>
                      <a:r>
                        <a:rPr lang="ko-KR" altLang="en-US" sz="700" b="0" u="none" dirty="0">
                          <a:solidFill>
                            <a:schemeClr val="tx1">
                              <a:lumMod val="75000"/>
                              <a:lumOff val="25000"/>
                            </a:schemeClr>
                          </a:solidFill>
                          <a:latin typeface="+mn-ea"/>
                          <a:ea typeface="+mn-ea"/>
                        </a:rPr>
                        <a:t>패스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국내여행 </a:t>
                      </a:r>
                      <a:r>
                        <a:rPr lang="en-US" altLang="ko-KR" sz="700" b="0" u="none" dirty="0">
                          <a:solidFill>
                            <a:schemeClr val="tx1">
                              <a:lumMod val="75000"/>
                              <a:lumOff val="25000"/>
                            </a:schemeClr>
                          </a:solidFill>
                          <a:latin typeface="+mn-ea"/>
                          <a:ea typeface="+mn-ea"/>
                        </a:rPr>
                        <a:t>&gt;</a:t>
                      </a:r>
                      <a:r>
                        <a:rPr lang="ko-KR" altLang="en-US" sz="700" b="0" u="none" dirty="0">
                          <a:solidFill>
                            <a:schemeClr val="tx1">
                              <a:lumMod val="75000"/>
                              <a:lumOff val="25000"/>
                            </a:schemeClr>
                          </a:solidFill>
                          <a:latin typeface="+mn-ea"/>
                          <a:ea typeface="+mn-ea"/>
                        </a:rPr>
                        <a:t> 티켓</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33756">
                <a:tc>
                  <a:txBody>
                    <a:bodyPr/>
                    <a:lstStyle/>
                    <a:p>
                      <a:pPr algn="ctr" latinLnBrk="1"/>
                      <a:r>
                        <a:rPr lang="ko-KR" altLang="en-US" sz="700" b="1" dirty="0" err="1">
                          <a:solidFill>
                            <a:schemeClr val="tx1">
                              <a:lumMod val="75000"/>
                              <a:lumOff val="25000"/>
                            </a:schemeClr>
                          </a:solidFill>
                          <a:latin typeface="+mn-ea"/>
                          <a:ea typeface="+mn-ea"/>
                        </a:rPr>
                        <a:t>세분류명</a:t>
                      </a:r>
                      <a:endParaRPr lang="ko-KR" altLang="en-US" sz="700" b="1"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endParaRPr lang="ko-KR" altLang="en-US" sz="700" b="0"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33756">
                <a:tc>
                  <a:txBody>
                    <a:bodyPr/>
                    <a:lstStyle/>
                    <a:p>
                      <a:pPr algn="ctr" latinLnBrk="1"/>
                      <a:r>
                        <a:rPr lang="ko-KR" altLang="en-US" sz="700" b="1" dirty="0">
                          <a:solidFill>
                            <a:schemeClr val="tx1">
                              <a:lumMod val="75000"/>
                              <a:lumOff val="25000"/>
                            </a:schemeClr>
                          </a:solidFill>
                          <a:latin typeface="+mn-ea"/>
                          <a:ea typeface="+mn-ea"/>
                        </a:rPr>
                        <a:t>사용여부</a:t>
                      </a: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lang="ko-KR" altLang="en-US" sz="700" b="0" dirty="0">
                          <a:solidFill>
                            <a:schemeClr val="tx1"/>
                          </a:solidFill>
                          <a:latin typeface="Nanum Gothic" panose="020D0604000000000000" pitchFamily="34" charset="-127"/>
                          <a:ea typeface="Nanum Gothic" panose="020D0604000000000000" pitchFamily="34" charset="-127"/>
                        </a:rPr>
                        <a:t>● 사용함     ○ </a:t>
                      </a:r>
                      <a:r>
                        <a:rPr lang="ko-KR" altLang="en-US" sz="700" b="0" dirty="0" err="1">
                          <a:solidFill>
                            <a:schemeClr val="tx1"/>
                          </a:solidFill>
                          <a:latin typeface="Nanum Gothic" panose="020D0604000000000000" pitchFamily="34" charset="-127"/>
                          <a:ea typeface="Nanum Gothic" panose="020D0604000000000000" pitchFamily="34" charset="-127"/>
                        </a:rPr>
                        <a:t>사용안함</a:t>
                      </a:r>
                      <a:endParaRPr lang="ko-KR" altLang="en-US" sz="700" b="1" u="none" dirty="0">
                        <a:solidFill>
                          <a:schemeClr val="tx1">
                            <a:lumMod val="75000"/>
                            <a:lumOff val="25000"/>
                          </a:schemeClr>
                        </a:solidFill>
                        <a:latin typeface="+mn-ea"/>
                        <a:ea typeface="+mn-ea"/>
                      </a:endParaRPr>
                    </a:p>
                  </a:txBody>
                  <a:tcPr marL="36000" marR="36000" marT="18000" marB="1800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78" name="직사각형 77"/>
          <p:cNvSpPr/>
          <p:nvPr/>
        </p:nvSpPr>
        <p:spPr>
          <a:xfrm>
            <a:off x="3648197" y="2324545"/>
            <a:ext cx="869862" cy="17312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p>
            <a:r>
              <a:rPr lang="ko-KR" altLang="en-US" sz="700" dirty="0" err="1">
                <a:solidFill>
                  <a:schemeClr val="tx1"/>
                </a:solidFill>
                <a:latin typeface="Nanum Gothic" panose="020D0604000000000000" pitchFamily="34" charset="-127"/>
                <a:ea typeface="Nanum Gothic" panose="020D0604000000000000" pitchFamily="34" charset="-127"/>
              </a:rPr>
              <a:t>테마파트</a:t>
            </a:r>
            <a:endParaRPr lang="en-US" altLang="ko-KR" sz="700" dirty="0">
              <a:solidFill>
                <a:schemeClr val="tx1"/>
              </a:solidFill>
              <a:latin typeface="Nanum Gothic" panose="020D0604000000000000" pitchFamily="34" charset="-127"/>
              <a:ea typeface="Nanum Gothic" panose="020D0604000000000000" pitchFamily="34" charset="-127"/>
            </a:endParaRPr>
          </a:p>
        </p:txBody>
      </p:sp>
      <p:sp>
        <p:nvSpPr>
          <p:cNvPr id="6" name="직사각형 5"/>
          <p:cNvSpPr/>
          <p:nvPr/>
        </p:nvSpPr>
        <p:spPr>
          <a:xfrm>
            <a:off x="1426660" y="3789040"/>
            <a:ext cx="2502608" cy="215444"/>
          </a:xfrm>
          <a:prstGeom prst="rect">
            <a:avLst/>
          </a:prstGeom>
        </p:spPr>
        <p:txBody>
          <a:bodyPr wrap="none">
            <a:spAutoFit/>
          </a:bodyPr>
          <a:lstStyle/>
          <a:p>
            <a:r>
              <a:rPr lang="ko-KR" altLang="en-US" sz="800" b="1" dirty="0">
                <a:solidFill>
                  <a:schemeClr val="tx1">
                    <a:lumMod val="75000"/>
                    <a:lumOff val="25000"/>
                  </a:schemeClr>
                </a:solidFill>
                <a:latin typeface="+mn-ea"/>
              </a:rPr>
              <a:t>분류명 </a:t>
            </a:r>
            <a:r>
              <a:rPr lang="en-US" altLang="ko-KR" sz="800" b="1" dirty="0">
                <a:solidFill>
                  <a:schemeClr val="tx1">
                    <a:lumMod val="75000"/>
                    <a:lumOff val="25000"/>
                  </a:schemeClr>
                </a:solidFill>
                <a:latin typeface="+mn-ea"/>
              </a:rPr>
              <a:t>:</a:t>
            </a:r>
            <a:r>
              <a:rPr lang="ko-KR" altLang="en-US" sz="800" b="1" dirty="0">
                <a:solidFill>
                  <a:schemeClr val="tx1">
                    <a:lumMod val="75000"/>
                    <a:lumOff val="25000"/>
                  </a:schemeClr>
                </a:solidFill>
                <a:latin typeface="+mn-ea"/>
              </a:rPr>
              <a:t> 티켓</a:t>
            </a:r>
            <a:r>
              <a:rPr lang="en-US" altLang="ko-KR" sz="800" b="1" dirty="0">
                <a:solidFill>
                  <a:schemeClr val="tx1">
                    <a:lumMod val="75000"/>
                    <a:lumOff val="25000"/>
                  </a:schemeClr>
                </a:solidFill>
                <a:latin typeface="+mn-ea"/>
              </a:rPr>
              <a:t>/</a:t>
            </a:r>
            <a:r>
              <a:rPr lang="ko-KR" altLang="en-US" sz="800" b="1" dirty="0">
                <a:solidFill>
                  <a:schemeClr val="tx1">
                    <a:lumMod val="75000"/>
                    <a:lumOff val="25000"/>
                  </a:schemeClr>
                </a:solidFill>
                <a:latin typeface="+mn-ea"/>
              </a:rPr>
              <a:t>패스 </a:t>
            </a:r>
            <a:r>
              <a:rPr lang="en-US" altLang="ko-KR" sz="800" b="1" dirty="0">
                <a:solidFill>
                  <a:schemeClr val="tx1">
                    <a:lumMod val="75000"/>
                    <a:lumOff val="25000"/>
                  </a:schemeClr>
                </a:solidFill>
                <a:latin typeface="+mn-ea"/>
              </a:rPr>
              <a:t>&gt;</a:t>
            </a:r>
            <a:r>
              <a:rPr lang="ko-KR" altLang="en-US" sz="800" b="1" dirty="0">
                <a:solidFill>
                  <a:schemeClr val="tx1">
                    <a:lumMod val="75000"/>
                    <a:lumOff val="25000"/>
                  </a:schemeClr>
                </a:solidFill>
                <a:latin typeface="+mn-ea"/>
              </a:rPr>
              <a:t> 국내여행 </a:t>
            </a:r>
            <a:r>
              <a:rPr lang="en-US" altLang="ko-KR" sz="800" b="1" dirty="0">
                <a:solidFill>
                  <a:schemeClr val="tx1">
                    <a:lumMod val="75000"/>
                    <a:lumOff val="25000"/>
                  </a:schemeClr>
                </a:solidFill>
                <a:latin typeface="+mn-ea"/>
              </a:rPr>
              <a:t>&gt;</a:t>
            </a:r>
            <a:r>
              <a:rPr lang="ko-KR" altLang="en-US" sz="800" b="1" dirty="0">
                <a:solidFill>
                  <a:schemeClr val="tx1">
                    <a:lumMod val="75000"/>
                    <a:lumOff val="25000"/>
                  </a:schemeClr>
                </a:solidFill>
                <a:latin typeface="+mn-ea"/>
              </a:rPr>
              <a:t> 티켓 </a:t>
            </a:r>
            <a:r>
              <a:rPr lang="en-US" altLang="ko-KR" sz="800" b="1" dirty="0">
                <a:solidFill>
                  <a:schemeClr val="tx1">
                    <a:lumMod val="75000"/>
                    <a:lumOff val="25000"/>
                  </a:schemeClr>
                </a:solidFill>
                <a:latin typeface="+mn-ea"/>
              </a:rPr>
              <a:t>&gt;</a:t>
            </a:r>
            <a:r>
              <a:rPr lang="ko-KR" altLang="en-US" sz="800" b="1" dirty="0">
                <a:solidFill>
                  <a:schemeClr val="tx1">
                    <a:lumMod val="75000"/>
                    <a:lumOff val="25000"/>
                  </a:schemeClr>
                </a:solidFill>
                <a:latin typeface="+mn-ea"/>
              </a:rPr>
              <a:t> 테마파크</a:t>
            </a:r>
          </a:p>
        </p:txBody>
      </p:sp>
      <p:sp>
        <p:nvSpPr>
          <p:cNvPr id="79" name="Rectangle 189"/>
          <p:cNvSpPr>
            <a:spLocks noChangeArrowheads="1"/>
          </p:cNvSpPr>
          <p:nvPr/>
        </p:nvSpPr>
        <p:spPr bwMode="auto">
          <a:xfrm>
            <a:off x="4131224" y="5635245"/>
            <a:ext cx="328300" cy="144000"/>
          </a:xfrm>
          <a:prstGeom prst="rect">
            <a:avLst/>
          </a:prstGeom>
          <a:solidFill>
            <a:schemeClr val="bg1">
              <a:lumMod val="95000"/>
            </a:schemeClr>
          </a:solidFill>
          <a:ln w="9525">
            <a:solidFill>
              <a:srgbClr val="808080"/>
            </a:solidFill>
            <a:miter lim="800000"/>
          </a:ln>
          <a:effectLst/>
        </p:spPr>
        <p:txBody>
          <a:bodyPr wrap="none" anchor="ctr"/>
          <a:lstStyle/>
          <a:p>
            <a:pPr algn="ctr"/>
            <a:r>
              <a:rPr lang="ko-KR" altLang="en-US" sz="700" dirty="0">
                <a:latin typeface="Nanum Gothic" panose="020D0604000000000000" pitchFamily="34" charset="-127"/>
                <a:ea typeface="Nanum Gothic" panose="020D0604000000000000" pitchFamily="34" charset="-127"/>
              </a:rPr>
              <a:t>삭제</a:t>
            </a:r>
          </a:p>
        </p:txBody>
      </p:sp>
      <p:cxnSp>
        <p:nvCxnSpPr>
          <p:cNvPr id="80" name="꺾인 연결선[E] 79"/>
          <p:cNvCxnSpPr>
            <a:stCxn id="68" idx="1"/>
            <a:endCxn id="49" idx="0"/>
          </p:cNvCxnSpPr>
          <p:nvPr/>
        </p:nvCxnSpPr>
        <p:spPr>
          <a:xfrm rot="10800000" flipV="1">
            <a:off x="4288243" y="3000918"/>
            <a:ext cx="2477598" cy="363046"/>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81" name="그룹 80"/>
          <p:cNvGrpSpPr/>
          <p:nvPr/>
        </p:nvGrpSpPr>
        <p:grpSpPr>
          <a:xfrm>
            <a:off x="3515470" y="4006736"/>
            <a:ext cx="126990" cy="1004918"/>
            <a:chOff x="6958012" y="2342683"/>
            <a:chExt cx="114233" cy="1131627"/>
          </a:xfrm>
        </p:grpSpPr>
        <p:sp>
          <p:nvSpPr>
            <p:cNvPr id="82" name="직사각형 81"/>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83" name="직사각형 82"/>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grpSp>
        <p:nvGrpSpPr>
          <p:cNvPr id="84" name="그룹 83"/>
          <p:cNvGrpSpPr/>
          <p:nvPr/>
        </p:nvGrpSpPr>
        <p:grpSpPr>
          <a:xfrm>
            <a:off x="4653358" y="4013351"/>
            <a:ext cx="126990" cy="1004918"/>
            <a:chOff x="6958012" y="2342683"/>
            <a:chExt cx="114233" cy="1131627"/>
          </a:xfrm>
        </p:grpSpPr>
        <p:sp>
          <p:nvSpPr>
            <p:cNvPr id="85" name="직사각형 84"/>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86" name="직사각형 85"/>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grpSp>
        <p:nvGrpSpPr>
          <p:cNvPr id="87" name="그룹 86"/>
          <p:cNvGrpSpPr/>
          <p:nvPr/>
        </p:nvGrpSpPr>
        <p:grpSpPr>
          <a:xfrm>
            <a:off x="5829885" y="4008318"/>
            <a:ext cx="126990" cy="1004918"/>
            <a:chOff x="6958012" y="2342683"/>
            <a:chExt cx="114233" cy="1131627"/>
          </a:xfrm>
        </p:grpSpPr>
        <p:sp>
          <p:nvSpPr>
            <p:cNvPr id="88" name="직사각형 87"/>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89" name="직사각형 88"/>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grpSp>
        <p:nvGrpSpPr>
          <p:cNvPr id="90" name="그룹 89"/>
          <p:cNvGrpSpPr/>
          <p:nvPr/>
        </p:nvGrpSpPr>
        <p:grpSpPr>
          <a:xfrm>
            <a:off x="6994863" y="4015354"/>
            <a:ext cx="126990" cy="1004918"/>
            <a:chOff x="6958012" y="2342683"/>
            <a:chExt cx="114233" cy="1131627"/>
          </a:xfrm>
        </p:grpSpPr>
        <p:sp>
          <p:nvSpPr>
            <p:cNvPr id="91" name="직사각형 90"/>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92" name="직사각형 91"/>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grpSp>
        <p:nvGrpSpPr>
          <p:cNvPr id="93" name="그룹 92"/>
          <p:cNvGrpSpPr/>
          <p:nvPr/>
        </p:nvGrpSpPr>
        <p:grpSpPr>
          <a:xfrm>
            <a:off x="7002252" y="5265973"/>
            <a:ext cx="126990" cy="1004918"/>
            <a:chOff x="6958012" y="2342683"/>
            <a:chExt cx="114233" cy="1131627"/>
          </a:xfrm>
        </p:grpSpPr>
        <p:sp>
          <p:nvSpPr>
            <p:cNvPr id="94" name="직사각형 93"/>
            <p:cNvSpPr/>
            <p:nvPr/>
          </p:nvSpPr>
          <p:spPr>
            <a:xfrm>
              <a:off x="6958012" y="2342683"/>
              <a:ext cx="114233" cy="113162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ko-KR" altLang="en-US" sz="700" dirty="0">
                  <a:solidFill>
                    <a:schemeClr val="tx1"/>
                  </a:solidFill>
                  <a:latin typeface="Malgun Gothic" panose="020B0503020000020004" charset="-127"/>
                  <a:ea typeface="Malgun Gothic" panose="020B0503020000020004" charset="-127"/>
                </a:rPr>
                <a:t>△</a:t>
              </a: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endParaRPr lang="en-US" altLang="ko-KR" sz="700" dirty="0">
                <a:solidFill>
                  <a:schemeClr val="tx1"/>
                </a:solidFill>
                <a:latin typeface="Malgun Gothic" panose="020B0503020000020004" charset="-127"/>
                <a:ea typeface="Malgun Gothic" panose="020B0503020000020004" charset="-127"/>
              </a:endParaRPr>
            </a:p>
            <a:p>
              <a:pPr algn="ctr"/>
              <a:r>
                <a:rPr lang="ko-KR" altLang="en-US" sz="700" dirty="0">
                  <a:solidFill>
                    <a:schemeClr val="tx1"/>
                  </a:solidFill>
                  <a:latin typeface="Malgun Gothic" panose="020B0503020000020004" charset="-127"/>
                  <a:ea typeface="Malgun Gothic" panose="020B0503020000020004" charset="-127"/>
                </a:rPr>
                <a:t>▽</a:t>
              </a:r>
            </a:p>
          </p:txBody>
        </p:sp>
        <p:sp>
          <p:nvSpPr>
            <p:cNvPr id="95" name="직사각형 94"/>
            <p:cNvSpPr/>
            <p:nvPr/>
          </p:nvSpPr>
          <p:spPr>
            <a:xfrm>
              <a:off x="6981041" y="2472224"/>
              <a:ext cx="68174" cy="736861"/>
            </a:xfrm>
            <a:prstGeom prst="rect">
              <a:avLst/>
            </a:prstGeom>
            <a:solidFill>
              <a:schemeClr val="accent3">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700" dirty="0">
                <a:solidFill>
                  <a:schemeClr val="tx1"/>
                </a:solidFill>
                <a:latin typeface="Malgun Gothic" panose="020B0503020000020004" charset="-127"/>
                <a:ea typeface="Malgun Gothic" panose="020B0503020000020004" charset="-127"/>
              </a:endParaRPr>
            </a:p>
          </p:txBody>
        </p:sp>
      </p:grpSp>
      <p:sp>
        <p:nvSpPr>
          <p:cNvPr id="101" name="직사각형 100"/>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102" name="직사각형 101"/>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103" name="직사각형 102"/>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104" name="직사각형 103"/>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05" name="직사각형 104"/>
          <p:cNvSpPr/>
          <p:nvPr/>
        </p:nvSpPr>
        <p:spPr>
          <a:xfrm>
            <a:off x="128461" y="431321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106" name="직사각형 105"/>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7" name="직사각형 106"/>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08" name="직사각형 107"/>
          <p:cNvSpPr/>
          <p:nvPr/>
        </p:nvSpPr>
        <p:spPr>
          <a:xfrm>
            <a:off x="128457" y="3980861"/>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09" name="직사각형 108"/>
          <p:cNvSpPr/>
          <p:nvPr/>
        </p:nvSpPr>
        <p:spPr>
          <a:xfrm>
            <a:off x="128458" y="3643974"/>
            <a:ext cx="995774" cy="34327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chemeClr val="tx1"/>
                </a:solidFill>
                <a:latin typeface="Nanum Gothic" panose="020D0604000000000000" pitchFamily="34" charset="-127"/>
                <a:ea typeface="Nanum Gothic" panose="020D0604000000000000" pitchFamily="34" charset="-127"/>
              </a:rPr>
              <a:t> 채널사카테고리            </a:t>
            </a:r>
          </a:p>
        </p:txBody>
      </p:sp>
      <p:sp>
        <p:nvSpPr>
          <p:cNvPr id="110" name="직사각형 109"/>
          <p:cNvSpPr/>
          <p:nvPr/>
        </p:nvSpPr>
        <p:spPr>
          <a:xfrm>
            <a:off x="128461" y="3306652"/>
            <a:ext cx="1008111" cy="343273"/>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rgbClr val="0070C0"/>
                </a:solidFill>
                <a:latin typeface="Nanum Gothic" panose="020D0604000000000000" pitchFamily="34" charset="-127"/>
                <a:ea typeface="Nanum Gothic" panose="020D0604000000000000" pitchFamily="34" charset="-127"/>
              </a:rPr>
              <a:t> 티브리지카테고리</a:t>
            </a:r>
            <a:r>
              <a:rPr lang="en-US" altLang="ko-KR" sz="900" b="1" dirty="0">
                <a:solidFill>
                  <a:srgbClr val="0070C0"/>
                </a:solidFill>
                <a:latin typeface="Nanum Gothic" panose="020D0604000000000000" pitchFamily="34" charset="-127"/>
                <a:ea typeface="Nanum Gothic" panose="020D0604000000000000" pitchFamily="34" charset="-127"/>
              </a:rPr>
              <a:t>&gt;</a:t>
            </a:r>
            <a:endParaRPr lang="ko-KR" altLang="en-US" sz="900" b="1" dirty="0">
              <a:solidFill>
                <a:srgbClr val="0070C0"/>
              </a:solidFill>
              <a:latin typeface="Nanum Gothic" panose="020D0604000000000000" pitchFamily="34" charset="-127"/>
              <a:ea typeface="Nanum Gothic" panose="020D0604000000000000" pitchFamily="34" charset="-127"/>
            </a:endParaRPr>
          </a:p>
        </p:txBody>
      </p:sp>
      <p:sp>
        <p:nvSpPr>
          <p:cNvPr id="111" name="직사각형 110"/>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카테고리 관리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채널사</a:t>
            </a:r>
            <a:r>
              <a:rPr lang="ko-KR" altLang="en-US" dirty="0">
                <a:latin typeface="Nanum Gothic" panose="020D0604000000000000" pitchFamily="34" charset="-127"/>
                <a:ea typeface="Nanum Gothic" panose="020D0604000000000000" pitchFamily="34" charset="-127"/>
              </a:rPr>
              <a:t> 카테고리</a:t>
            </a: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60" name="TextBox 59"/>
          <p:cNvSpPr txBox="1"/>
          <p:nvPr/>
        </p:nvSpPr>
        <p:spPr>
          <a:xfrm>
            <a:off x="1191375" y="1085116"/>
            <a:ext cx="1237839" cy="276999"/>
          </a:xfrm>
          <a:prstGeom prst="rect">
            <a:avLst/>
          </a:prstGeom>
          <a:noFill/>
        </p:spPr>
        <p:txBody>
          <a:bodyPr wrap="none" rtlCol="0">
            <a:spAutoFit/>
          </a:bodyPr>
          <a:lstStyle/>
          <a:p>
            <a:r>
              <a:rPr lang="ko-KR" altLang="en-US" sz="1200" b="1" dirty="0" err="1">
                <a:latin typeface="Nanum Gothic" panose="020D0604000000000000" pitchFamily="34" charset="-127"/>
                <a:ea typeface="Nanum Gothic" panose="020D0604000000000000" pitchFamily="34" charset="-127"/>
              </a:rPr>
              <a:t>채널사</a:t>
            </a:r>
            <a:r>
              <a:rPr lang="ko-KR" altLang="en-US" sz="1200" b="1" dirty="0">
                <a:latin typeface="Nanum Gothic" panose="020D0604000000000000" pitchFamily="34" charset="-127"/>
                <a:ea typeface="Nanum Gothic" panose="020D0604000000000000" pitchFamily="34" charset="-127"/>
              </a:rPr>
              <a:t> 카테고리</a:t>
            </a:r>
          </a:p>
        </p:txBody>
      </p:sp>
      <p:sp>
        <p:nvSpPr>
          <p:cNvPr id="61" name="TextBox 60"/>
          <p:cNvSpPr txBox="1"/>
          <p:nvPr/>
        </p:nvSpPr>
        <p:spPr>
          <a:xfrm>
            <a:off x="1191375" y="1313869"/>
            <a:ext cx="3058851" cy="215444"/>
          </a:xfrm>
          <a:prstGeom prst="rect">
            <a:avLst/>
          </a:prstGeom>
          <a:noFill/>
        </p:spPr>
        <p:txBody>
          <a:bodyPr wrap="none" rtlCol="0">
            <a:spAutoFit/>
          </a:bodyPr>
          <a:lstStyle/>
          <a:p>
            <a:r>
              <a:rPr lang="ko-KR" altLang="en-US" sz="800" dirty="0" err="1">
                <a:latin typeface="Nanum Gothic" panose="020D0604000000000000" pitchFamily="34" charset="-127"/>
                <a:ea typeface="Nanum Gothic" panose="020D0604000000000000" pitchFamily="34" charset="-127"/>
              </a:rPr>
              <a:t>채널사별</a:t>
            </a:r>
            <a:r>
              <a:rPr lang="ko-KR" altLang="en-US" sz="800" dirty="0">
                <a:latin typeface="Nanum Gothic" panose="020D0604000000000000" pitchFamily="34" charset="-127"/>
                <a:ea typeface="Nanum Gothic" panose="020D0604000000000000" pitchFamily="34" charset="-127"/>
              </a:rPr>
              <a:t> 전시카테고리를 관리할 수 있습니다</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엑셀업로드만 가능</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41" name="표 40"/>
          <p:cNvGraphicFramePr>
            <a:graphicFrameLocks noGrp="1"/>
          </p:cNvGraphicFramePr>
          <p:nvPr/>
        </p:nvGraphicFramePr>
        <p:xfrm>
          <a:off x="1257364" y="2057575"/>
          <a:ext cx="6060366" cy="1008403"/>
        </p:xfrm>
        <a:graphic>
          <a:graphicData uri="http://schemas.openxmlformats.org/drawingml/2006/table">
            <a:tbl>
              <a:tblPr/>
              <a:tblGrid>
                <a:gridCol w="916176">
                  <a:extLst>
                    <a:ext uri="{9D8B030D-6E8A-4147-A177-3AD203B41FA5}">
                      <a16:colId xmlns:a16="http://schemas.microsoft.com/office/drawing/2014/main" val="20000"/>
                    </a:ext>
                  </a:extLst>
                </a:gridCol>
                <a:gridCol w="979260">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gridCol w="852562">
                  <a:extLst>
                    <a:ext uri="{9D8B030D-6E8A-4147-A177-3AD203B41FA5}">
                      <a16:colId xmlns:a16="http://schemas.microsoft.com/office/drawing/2014/main" val="20005"/>
                    </a:ext>
                  </a:extLst>
                </a:gridCol>
              </a:tblGrid>
              <a:tr h="188241">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채널사명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채널사아이디</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카테고리수</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최종 등록자</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최종 등록일</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66086">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쿠팡</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COUP</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276225" indent="0" algn="l"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24</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티브리지</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2020-01-01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9026">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티몬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TMON</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276225" indent="0" algn="l"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티브리지</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2020-01-01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5050">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3" name="TextBox 42"/>
          <p:cNvSpPr txBox="1"/>
          <p:nvPr/>
        </p:nvSpPr>
        <p:spPr>
          <a:xfrm>
            <a:off x="1199203" y="1769749"/>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46" name="직사각형 45"/>
          <p:cNvSpPr/>
          <p:nvPr/>
        </p:nvSpPr>
        <p:spPr>
          <a:xfrm>
            <a:off x="6537176" y="1786048"/>
            <a:ext cx="792089"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신규등록</a:t>
            </a:r>
          </a:p>
        </p:txBody>
      </p:sp>
      <p:sp>
        <p:nvSpPr>
          <p:cNvPr id="57" name="직사각형 56"/>
          <p:cNvSpPr/>
          <p:nvPr/>
        </p:nvSpPr>
        <p:spPr>
          <a:xfrm>
            <a:off x="6609184" y="2298579"/>
            <a:ext cx="458271" cy="17163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58" name="직사각형 57"/>
          <p:cNvSpPr/>
          <p:nvPr/>
        </p:nvSpPr>
        <p:spPr>
          <a:xfrm>
            <a:off x="6609184" y="2560730"/>
            <a:ext cx="458271" cy="17163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59" name="직사각형 58"/>
          <p:cNvSpPr/>
          <p:nvPr/>
        </p:nvSpPr>
        <p:spPr>
          <a:xfrm>
            <a:off x="3656856" y="2298579"/>
            <a:ext cx="674295" cy="17163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엑셀다운로드</a:t>
            </a:r>
          </a:p>
        </p:txBody>
      </p:sp>
      <p:sp>
        <p:nvSpPr>
          <p:cNvPr id="63" name="직사각형 62"/>
          <p:cNvSpPr/>
          <p:nvPr/>
        </p:nvSpPr>
        <p:spPr>
          <a:xfrm>
            <a:off x="3656856" y="2560730"/>
            <a:ext cx="674295" cy="17163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엑셀다운로드</a:t>
            </a:r>
          </a:p>
        </p:txBody>
      </p:sp>
      <p:sp>
        <p:nvSpPr>
          <p:cNvPr id="65" name="직사각형 64"/>
          <p:cNvSpPr/>
          <p:nvPr/>
        </p:nvSpPr>
        <p:spPr>
          <a:xfrm>
            <a:off x="2777849" y="3576655"/>
            <a:ext cx="2944753" cy="158468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err="1">
                <a:solidFill>
                  <a:schemeClr val="tx1"/>
                </a:solidFill>
                <a:latin typeface="Nanum Gothic" panose="020D0604000000000000" pitchFamily="34" charset="-127"/>
                <a:ea typeface="Nanum Gothic" panose="020D0604000000000000" pitchFamily="34" charset="-127"/>
              </a:rPr>
              <a:t>채널사</a:t>
            </a:r>
            <a:r>
              <a:rPr lang="ko-KR" altLang="en-US" sz="1100" b="1" dirty="0">
                <a:solidFill>
                  <a:schemeClr val="tx1"/>
                </a:solidFill>
                <a:latin typeface="Nanum Gothic" panose="020D0604000000000000" pitchFamily="34" charset="-127"/>
                <a:ea typeface="Nanum Gothic" panose="020D0604000000000000" pitchFamily="34" charset="-127"/>
              </a:rPr>
              <a:t> 카테고리 신규등록</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66" name="직사각형 65"/>
          <p:cNvSpPr/>
          <p:nvPr/>
        </p:nvSpPr>
        <p:spPr>
          <a:xfrm>
            <a:off x="3887950" y="4809650"/>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등록</a:t>
            </a:r>
          </a:p>
        </p:txBody>
      </p:sp>
      <p:sp>
        <p:nvSpPr>
          <p:cNvPr id="67" name="TextBox 66"/>
          <p:cNvSpPr txBox="1"/>
          <p:nvPr/>
        </p:nvSpPr>
        <p:spPr>
          <a:xfrm>
            <a:off x="5354380" y="3597484"/>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68" name="표 67"/>
          <p:cNvGraphicFramePr>
            <a:graphicFrameLocks noGrp="1"/>
          </p:cNvGraphicFramePr>
          <p:nvPr/>
        </p:nvGraphicFramePr>
        <p:xfrm>
          <a:off x="2885587" y="3914916"/>
          <a:ext cx="2692999" cy="76661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72919">
                  <a:extLst>
                    <a:ext uri="{9D8B030D-6E8A-4147-A177-3AD203B41FA5}">
                      <a16:colId xmlns:a16="http://schemas.microsoft.com/office/drawing/2014/main" val="20001"/>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err="1">
                          <a:solidFill>
                            <a:schemeClr val="tx1">
                              <a:lumMod val="75000"/>
                              <a:lumOff val="25000"/>
                            </a:schemeClr>
                          </a:solidFill>
                          <a:latin typeface="Nanum Gothic" panose="020D0604000000000000" pitchFamily="34" charset="-127"/>
                          <a:ea typeface="Nanum Gothic" panose="020D0604000000000000" pitchFamily="34" charset="-127"/>
                        </a:rPr>
                        <a:t>채널사명</a:t>
                      </a:r>
                      <a:endPar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err="1">
                          <a:solidFill>
                            <a:schemeClr val="tx1">
                              <a:lumMod val="75000"/>
                              <a:lumOff val="25000"/>
                            </a:schemeClr>
                          </a:solidFill>
                          <a:latin typeface="Nanum Gothic" panose="020D0604000000000000" pitchFamily="34" charset="-127"/>
                          <a:ea typeface="Nanum Gothic" panose="020D0604000000000000" pitchFamily="34" charset="-127"/>
                        </a:rPr>
                        <a:t>채널사</a:t>
                      </a: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 아이디</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카테고리 </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69" name="직사각형 68"/>
          <p:cNvSpPr/>
          <p:nvPr/>
        </p:nvSpPr>
        <p:spPr>
          <a:xfrm>
            <a:off x="3679965" y="4204990"/>
            <a:ext cx="103712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70" name="직사각형 69"/>
          <p:cNvSpPr/>
          <p:nvPr/>
        </p:nvSpPr>
        <p:spPr>
          <a:xfrm>
            <a:off x="4765223" y="4206095"/>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중복확인</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4" name="직사각형 73"/>
          <p:cNvSpPr/>
          <p:nvPr/>
        </p:nvSpPr>
        <p:spPr>
          <a:xfrm>
            <a:off x="3679965" y="3938563"/>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75" name="직사각형 74"/>
          <p:cNvSpPr/>
          <p:nvPr/>
        </p:nvSpPr>
        <p:spPr>
          <a:xfrm>
            <a:off x="3695413" y="4461385"/>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업로드</a:t>
            </a:r>
          </a:p>
        </p:txBody>
      </p:sp>
      <p:sp>
        <p:nvSpPr>
          <p:cNvPr id="76" name="직사각형 75"/>
          <p:cNvSpPr/>
          <p:nvPr/>
        </p:nvSpPr>
        <p:spPr>
          <a:xfrm>
            <a:off x="4345468" y="4461384"/>
            <a:ext cx="891870"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양식다운로드</a:t>
            </a:r>
          </a:p>
        </p:txBody>
      </p:sp>
      <p:cxnSp>
        <p:nvCxnSpPr>
          <p:cNvPr id="77" name="꺾인 연결선[E] 76"/>
          <p:cNvCxnSpPr>
            <a:stCxn id="46" idx="1"/>
            <a:endCxn id="65" idx="0"/>
          </p:cNvCxnSpPr>
          <p:nvPr/>
        </p:nvCxnSpPr>
        <p:spPr>
          <a:xfrm rot="10800000" flipV="1">
            <a:off x="4250226" y="1887809"/>
            <a:ext cx="2286950" cy="1688846"/>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8" name="직사각형 77"/>
          <p:cNvSpPr/>
          <p:nvPr/>
        </p:nvSpPr>
        <p:spPr>
          <a:xfrm>
            <a:off x="128461" y="4296925"/>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81" name="직사각형 80"/>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82" name="직사각형 81"/>
          <p:cNvSpPr/>
          <p:nvPr/>
        </p:nvSpPr>
        <p:spPr>
          <a:xfrm>
            <a:off x="128457" y="396457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회원</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권한관리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84" name="직사각형 83"/>
          <p:cNvSpPr/>
          <p:nvPr/>
        </p:nvSpPr>
        <p:spPr>
          <a:xfrm>
            <a:off x="128461" y="3285985"/>
            <a:ext cx="1008111" cy="343273"/>
          </a:xfrm>
          <a:prstGeom prst="rect">
            <a:avLst/>
          </a:prstGeom>
          <a:solidFill>
            <a:srgbClr val="FFFFFF"/>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chemeClr val="tx1"/>
                </a:solidFill>
                <a:latin typeface="Nanum Gothic" panose="020D0604000000000000" pitchFamily="34" charset="-127"/>
                <a:ea typeface="Nanum Gothic" panose="020D0604000000000000" pitchFamily="34" charset="-127"/>
              </a:rPr>
              <a:t> 티브리지카테고리</a:t>
            </a:r>
          </a:p>
        </p:txBody>
      </p:sp>
      <p:sp>
        <p:nvSpPr>
          <p:cNvPr id="83" name="직사각형 82"/>
          <p:cNvSpPr/>
          <p:nvPr/>
        </p:nvSpPr>
        <p:spPr>
          <a:xfrm>
            <a:off x="128458" y="3627689"/>
            <a:ext cx="995774" cy="343273"/>
          </a:xfrm>
          <a:prstGeom prst="rect">
            <a:avLst/>
          </a:prstGeom>
          <a:solidFill>
            <a:schemeClr val="bg1"/>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72000" rtlCol="0" anchor="t"/>
          <a:lstStyle/>
          <a:p>
            <a:pPr>
              <a:lnSpc>
                <a:spcPct val="200000"/>
              </a:lnSpc>
            </a:pPr>
            <a:r>
              <a:rPr lang="ko-KR" altLang="en-US" sz="900" b="1" dirty="0">
                <a:solidFill>
                  <a:schemeClr val="tx2">
                    <a:lumMod val="60000"/>
                    <a:lumOff val="40000"/>
                  </a:schemeClr>
                </a:solidFill>
                <a:latin typeface="Nanum Gothic" panose="020D0604000000000000" pitchFamily="34" charset="-127"/>
                <a:ea typeface="Nanum Gothic" panose="020D0604000000000000" pitchFamily="34" charset="-127"/>
              </a:rPr>
              <a:t> 채널사카테고리 </a:t>
            </a:r>
            <a:r>
              <a:rPr lang="en-US" altLang="ko-KR" sz="900" b="1" dirty="0">
                <a:solidFill>
                  <a:schemeClr val="tx2">
                    <a:lumMod val="60000"/>
                    <a:lumOff val="40000"/>
                  </a:schemeClr>
                </a:solidFill>
                <a:latin typeface="Nanum Gothic" panose="020D0604000000000000" pitchFamily="34" charset="-127"/>
                <a:ea typeface="Nanum Gothic" panose="020D0604000000000000" pitchFamily="34" charset="-127"/>
              </a:rPr>
              <a:t>&gt;</a:t>
            </a:r>
            <a:r>
              <a:rPr lang="ko-KR" altLang="en-US" sz="900" b="1" dirty="0">
                <a:solidFill>
                  <a:schemeClr val="tx2">
                    <a:lumMod val="60000"/>
                    <a:lumOff val="40000"/>
                  </a:schemeClr>
                </a:solidFill>
                <a:latin typeface="Nanum Gothic" panose="020D0604000000000000" pitchFamily="34" charset="-127"/>
                <a:ea typeface="Nanum Gothic" panose="020D0604000000000000" pitchFamily="34" charset="-127"/>
              </a:rPr>
              <a:t>            </a:t>
            </a:r>
          </a:p>
        </p:txBody>
      </p:sp>
      <p:graphicFrame>
        <p:nvGraphicFramePr>
          <p:cNvPr id="47" name="표 46"/>
          <p:cNvGraphicFramePr>
            <a:graphicFrameLocks noGrp="1"/>
          </p:cNvGraphicFramePr>
          <p:nvPr/>
        </p:nvGraphicFramePr>
        <p:xfrm>
          <a:off x="2746808" y="5560129"/>
          <a:ext cx="5663555" cy="1008403"/>
        </p:xfrm>
        <a:graphic>
          <a:graphicData uri="http://schemas.openxmlformats.org/drawingml/2006/table">
            <a:tbl>
              <a:tblPr/>
              <a:tblGrid>
                <a:gridCol w="996353">
                  <a:extLst>
                    <a:ext uri="{9D8B030D-6E8A-4147-A177-3AD203B41FA5}">
                      <a16:colId xmlns:a16="http://schemas.microsoft.com/office/drawing/2014/main" val="20000"/>
                    </a:ext>
                  </a:extLst>
                </a:gridCol>
                <a:gridCol w="1064958">
                  <a:extLst>
                    <a:ext uri="{9D8B030D-6E8A-4147-A177-3AD203B41FA5}">
                      <a16:colId xmlns:a16="http://schemas.microsoft.com/office/drawing/2014/main" val="20001"/>
                    </a:ext>
                  </a:extLst>
                </a:gridCol>
                <a:gridCol w="1566193">
                  <a:extLst>
                    <a:ext uri="{9D8B030D-6E8A-4147-A177-3AD203B41FA5}">
                      <a16:colId xmlns:a16="http://schemas.microsoft.com/office/drawing/2014/main" val="20002"/>
                    </a:ext>
                  </a:extLst>
                </a:gridCol>
                <a:gridCol w="939716">
                  <a:extLst>
                    <a:ext uri="{9D8B030D-6E8A-4147-A177-3AD203B41FA5}">
                      <a16:colId xmlns:a16="http://schemas.microsoft.com/office/drawing/2014/main" val="20003"/>
                    </a:ext>
                  </a:extLst>
                </a:gridCol>
                <a:gridCol w="1096335">
                  <a:extLst>
                    <a:ext uri="{9D8B030D-6E8A-4147-A177-3AD203B41FA5}">
                      <a16:colId xmlns:a16="http://schemas.microsoft.com/office/drawing/2014/main" val="20004"/>
                    </a:ext>
                  </a:extLst>
                </a:gridCol>
              </a:tblGrid>
              <a:tr h="188241">
                <a:tc>
                  <a:txBody>
                    <a:bodyPr/>
                    <a:lstStyle/>
                    <a:p>
                      <a:pPr algn="ctr" fontAlgn="ctr"/>
                      <a:r>
                        <a:rPr lang="en-US" altLang="ko-KR" sz="800" b="1" i="0" u="none" strike="noStrike" dirty="0">
                          <a:solidFill>
                            <a:schemeClr val="bg1"/>
                          </a:solidFill>
                          <a:effectLst/>
                          <a:latin typeface="Nanum Gothic" panose="020D0604000000000000" pitchFamily="34" charset="-127"/>
                          <a:ea typeface="Nanum Gothic" panose="020D0604000000000000" pitchFamily="34" charset="-127"/>
                        </a:rPr>
                        <a:t>1depth</a:t>
                      </a: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카테고리명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dirty="0">
                          <a:solidFill>
                            <a:schemeClr val="bg1"/>
                          </a:solidFill>
                          <a:effectLst/>
                          <a:latin typeface="Nanum Gothic" panose="020D0604000000000000" pitchFamily="34" charset="-127"/>
                          <a:ea typeface="Nanum Gothic" panose="020D0604000000000000" pitchFamily="34" charset="-127"/>
                        </a:rPr>
                        <a:t>2depth</a:t>
                      </a: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카테고리명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dirty="0">
                          <a:solidFill>
                            <a:schemeClr val="bg1"/>
                          </a:solidFill>
                          <a:effectLst/>
                          <a:latin typeface="Nanum Gothic" panose="020D0604000000000000" pitchFamily="34" charset="-127"/>
                          <a:ea typeface="Nanum Gothic" panose="020D0604000000000000" pitchFamily="34" charset="-127"/>
                        </a:rPr>
                        <a:t>3depth</a:t>
                      </a: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카테고리명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en-US" altLang="ko-KR" sz="800" b="1" i="0" u="none" strike="noStrike" dirty="0">
                          <a:solidFill>
                            <a:schemeClr val="bg1"/>
                          </a:solidFill>
                          <a:effectLst/>
                          <a:latin typeface="Nanum Gothic" panose="020D0604000000000000" pitchFamily="34" charset="-127"/>
                          <a:ea typeface="Nanum Gothic" panose="020D0604000000000000" pitchFamily="34" charset="-127"/>
                        </a:rPr>
                        <a:t>4depth  </a:t>
                      </a: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카테고리명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수수료율</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66086">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티켓</a:t>
                      </a: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패스</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국내여행</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276225" indent="0" algn="l"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테마파크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테마파크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7%</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9026">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276225" indent="0" algn="l"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5050">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8" name="TextBox 47"/>
          <p:cNvSpPr txBox="1"/>
          <p:nvPr/>
        </p:nvSpPr>
        <p:spPr>
          <a:xfrm>
            <a:off x="2700020" y="5344685"/>
            <a:ext cx="819455"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엑셀 양식 예시</a:t>
            </a:r>
          </a:p>
        </p:txBody>
      </p:sp>
      <p:sp>
        <p:nvSpPr>
          <p:cNvPr id="49" name="직사각형 48"/>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50" name="직사각형 49"/>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51" name="직사각형 50"/>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52" name="직사각형 51"/>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53" name="직사각형 52"/>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54" name="직사각형 53"/>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회원</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권한관리</a:t>
            </a:r>
            <a:r>
              <a:rPr lang="ko-KR" altLang="en-US" dirty="0">
                <a:latin typeface="Nanum Gothic" panose="020D0604000000000000" pitchFamily="34" charset="-127"/>
                <a:ea typeface="Nanum Gothic" panose="020D0604000000000000" pitchFamily="34" charset="-127"/>
              </a:rPr>
              <a:t> </a:t>
            </a: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3" name="직사각형 32"/>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34" name="직사각형 33"/>
          <p:cNvSpPr/>
          <p:nvPr/>
        </p:nvSpPr>
        <p:spPr>
          <a:xfrm>
            <a:off x="128461" y="363462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pic>
        <p:nvPicPr>
          <p:cNvPr id="53" name="그림 52"/>
          <p:cNvPicPr>
            <a:picLocks noChangeAspect="1"/>
          </p:cNvPicPr>
          <p:nvPr/>
        </p:nvPicPr>
        <p:blipFill>
          <a:blip r:embed="rId2" cstate="print"/>
          <a:stretch>
            <a:fillRect/>
          </a:stretch>
        </p:blipFill>
        <p:spPr>
          <a:xfrm>
            <a:off x="2823975" y="5992111"/>
            <a:ext cx="3000375" cy="301408"/>
          </a:xfrm>
          <a:prstGeom prst="rect">
            <a:avLst/>
          </a:prstGeom>
        </p:spPr>
      </p:pic>
      <p:sp>
        <p:nvSpPr>
          <p:cNvPr id="39" name="직사각형 38"/>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40" name="직사각형 39"/>
          <p:cNvSpPr/>
          <p:nvPr/>
        </p:nvSpPr>
        <p:spPr>
          <a:xfrm>
            <a:off x="128457" y="3282858"/>
            <a:ext cx="1008115" cy="343273"/>
          </a:xfrm>
          <a:prstGeom prst="rect">
            <a:avLst/>
          </a:prstGeom>
          <a:solidFill>
            <a:schemeClr val="bg1">
              <a:lumMod val="95000"/>
            </a:schemeClr>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회원</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a:t>
            </a:r>
            <a:r>
              <a:rPr lang="ko-KR" altLang="en-US" sz="1000" b="1" dirty="0" err="1">
                <a:solidFill>
                  <a:schemeClr val="tx2">
                    <a:lumMod val="60000"/>
                    <a:lumOff val="40000"/>
                  </a:schemeClr>
                </a:solidFill>
                <a:latin typeface="Nanum Gothic" panose="020D0604000000000000" pitchFamily="34" charset="-127"/>
                <a:ea typeface="Nanum Gothic" panose="020D0604000000000000" pitchFamily="34" charset="-127"/>
              </a:rPr>
              <a:t>권한관리</a:t>
            </a: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36" name="TextBox 35"/>
          <p:cNvSpPr txBox="1"/>
          <p:nvPr/>
        </p:nvSpPr>
        <p:spPr>
          <a:xfrm>
            <a:off x="1191375" y="1085116"/>
            <a:ext cx="1107996"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회원</a:t>
            </a:r>
            <a:r>
              <a:rPr lang="en-US" altLang="ko-KR" sz="1200" b="1" dirty="0">
                <a:latin typeface="Nanum Gothic" panose="020D0604000000000000" pitchFamily="34" charset="-127"/>
                <a:ea typeface="Nanum Gothic" panose="020D0604000000000000" pitchFamily="34" charset="-127"/>
              </a:rPr>
              <a:t>/</a:t>
            </a:r>
            <a:r>
              <a:rPr lang="ko-KR" altLang="en-US" sz="1200" b="1" dirty="0" err="1">
                <a:latin typeface="Nanum Gothic" panose="020D0604000000000000" pitchFamily="34" charset="-127"/>
                <a:ea typeface="Nanum Gothic" panose="020D0604000000000000" pitchFamily="34" charset="-127"/>
              </a:rPr>
              <a:t>권한관리</a:t>
            </a:r>
            <a:endParaRPr lang="ko-KR" altLang="en-US" sz="1200" b="1" dirty="0">
              <a:latin typeface="Nanum Gothic" panose="020D0604000000000000" pitchFamily="34" charset="-127"/>
              <a:ea typeface="Nanum Gothic" panose="020D0604000000000000" pitchFamily="34" charset="-127"/>
            </a:endParaRPr>
          </a:p>
        </p:txBody>
      </p:sp>
      <p:sp>
        <p:nvSpPr>
          <p:cNvPr id="37" name="TextBox 36"/>
          <p:cNvSpPr txBox="1"/>
          <p:nvPr/>
        </p:nvSpPr>
        <p:spPr>
          <a:xfrm>
            <a:off x="1191375" y="1313869"/>
            <a:ext cx="3013967"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회원가입내역을 확인하고 </a:t>
            </a:r>
            <a:r>
              <a:rPr lang="ko-KR" altLang="en-US" sz="800" dirty="0" err="1">
                <a:latin typeface="Nanum Gothic" panose="020D0604000000000000" pitchFamily="34" charset="-127"/>
                <a:ea typeface="Nanum Gothic" panose="020D0604000000000000" pitchFamily="34" charset="-127"/>
              </a:rPr>
              <a:t>승인처리</a:t>
            </a:r>
            <a:r>
              <a:rPr lang="ko-KR" altLang="en-US" sz="800" dirty="0">
                <a:latin typeface="Nanum Gothic" panose="020D0604000000000000" pitchFamily="34" charset="-127"/>
                <a:ea typeface="Nanum Gothic" panose="020D0604000000000000" pitchFamily="34" charset="-127"/>
              </a:rPr>
              <a:t> 및 </a:t>
            </a:r>
            <a:r>
              <a:rPr lang="ko-KR" altLang="en-US" sz="800" dirty="0" err="1">
                <a:latin typeface="Nanum Gothic" panose="020D0604000000000000" pitchFamily="34" charset="-127"/>
                <a:ea typeface="Nanum Gothic" panose="020D0604000000000000" pitchFamily="34" charset="-127"/>
              </a:rPr>
              <a:t>권한관리를</a:t>
            </a:r>
            <a:r>
              <a:rPr lang="ko-KR" altLang="en-US" sz="800" dirty="0">
                <a:latin typeface="Nanum Gothic" panose="020D0604000000000000" pitchFamily="34" charset="-127"/>
                <a:ea typeface="Nanum Gothic" panose="020D0604000000000000" pitchFamily="34" charset="-127"/>
              </a:rPr>
              <a:t> 할 수 있습니다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43" name="표 42"/>
          <p:cNvGraphicFramePr>
            <a:graphicFrameLocks noGrp="1"/>
          </p:cNvGraphicFramePr>
          <p:nvPr/>
        </p:nvGraphicFramePr>
        <p:xfrm>
          <a:off x="1280592" y="1628800"/>
          <a:ext cx="6048673" cy="85958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7865">
                  <a:extLst>
                    <a:ext uri="{9D8B030D-6E8A-4147-A177-3AD203B41FA5}">
                      <a16:colId xmlns:a16="http://schemas.microsoft.com/office/drawing/2014/main" val="20003"/>
                    </a:ext>
                  </a:extLst>
                </a:gridCol>
                <a:gridCol w="640448">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상태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승인대기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승인완료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총판사</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시설사</a:t>
                      </a:r>
                      <a:r>
                        <a:rPr lang="ko-KR" altLang="en-US" sz="800" b="0" dirty="0">
                          <a:solidFill>
                            <a:schemeClr val="tx1"/>
                          </a:solidFill>
                          <a:latin typeface="Nanum Gothic" panose="020D0604000000000000" pitchFamily="34" charset="-127"/>
                          <a:ea typeface="Nanum Gothic" panose="020D0604000000000000" pitchFamily="34" charset="-127"/>
                        </a:rPr>
                        <a:t>      ○ 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u="none"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59" name="직사각형 58"/>
          <p:cNvSpPr/>
          <p:nvPr/>
        </p:nvSpPr>
        <p:spPr>
          <a:xfrm>
            <a:off x="2995760" y="224218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6749307" y="1799373"/>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61" name="직사각형 60"/>
          <p:cNvSpPr/>
          <p:nvPr/>
        </p:nvSpPr>
        <p:spPr>
          <a:xfrm>
            <a:off x="6747628" y="2218691"/>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graphicFrame>
        <p:nvGraphicFramePr>
          <p:cNvPr id="62" name="표 61"/>
          <p:cNvGraphicFramePr>
            <a:graphicFrameLocks noGrp="1"/>
          </p:cNvGraphicFramePr>
          <p:nvPr/>
        </p:nvGraphicFramePr>
        <p:xfrm>
          <a:off x="1257365" y="3593148"/>
          <a:ext cx="7920880" cy="987980"/>
        </p:xfrm>
        <a:graphic>
          <a:graphicData uri="http://schemas.openxmlformats.org/drawingml/2006/table">
            <a:tbl>
              <a:tblPr/>
              <a:tblGrid>
                <a:gridCol w="264819">
                  <a:extLst>
                    <a:ext uri="{9D8B030D-6E8A-4147-A177-3AD203B41FA5}">
                      <a16:colId xmlns:a16="http://schemas.microsoft.com/office/drawing/2014/main" val="20000"/>
                    </a:ext>
                  </a:extLst>
                </a:gridCol>
                <a:gridCol w="421573">
                  <a:extLst>
                    <a:ext uri="{9D8B030D-6E8A-4147-A177-3AD203B41FA5}">
                      <a16:colId xmlns:a16="http://schemas.microsoft.com/office/drawing/2014/main" val="20001"/>
                    </a:ext>
                  </a:extLst>
                </a:gridCol>
                <a:gridCol w="433342">
                  <a:extLst>
                    <a:ext uri="{9D8B030D-6E8A-4147-A177-3AD203B41FA5}">
                      <a16:colId xmlns:a16="http://schemas.microsoft.com/office/drawing/2014/main" val="20002"/>
                    </a:ext>
                  </a:extLst>
                </a:gridCol>
                <a:gridCol w="441833">
                  <a:extLst>
                    <a:ext uri="{9D8B030D-6E8A-4147-A177-3AD203B41FA5}">
                      <a16:colId xmlns:a16="http://schemas.microsoft.com/office/drawing/2014/main" val="20003"/>
                    </a:ext>
                  </a:extLst>
                </a:gridCol>
                <a:gridCol w="626322">
                  <a:extLst>
                    <a:ext uri="{9D8B030D-6E8A-4147-A177-3AD203B41FA5}">
                      <a16:colId xmlns:a16="http://schemas.microsoft.com/office/drawing/2014/main" val="20004"/>
                    </a:ext>
                  </a:extLst>
                </a:gridCol>
                <a:gridCol w="366557">
                  <a:extLst>
                    <a:ext uri="{9D8B030D-6E8A-4147-A177-3AD203B41FA5}">
                      <a16:colId xmlns:a16="http://schemas.microsoft.com/office/drawing/2014/main" val="20005"/>
                    </a:ext>
                  </a:extLst>
                </a:gridCol>
                <a:gridCol w="559078">
                  <a:extLst>
                    <a:ext uri="{9D8B030D-6E8A-4147-A177-3AD203B41FA5}">
                      <a16:colId xmlns:a16="http://schemas.microsoft.com/office/drawing/2014/main" val="20006"/>
                    </a:ext>
                  </a:extLst>
                </a:gridCol>
                <a:gridCol w="439363">
                  <a:extLst>
                    <a:ext uri="{9D8B030D-6E8A-4147-A177-3AD203B41FA5}">
                      <a16:colId xmlns:a16="http://schemas.microsoft.com/office/drawing/2014/main" val="20007"/>
                    </a:ext>
                  </a:extLst>
                </a:gridCol>
                <a:gridCol w="643449">
                  <a:extLst>
                    <a:ext uri="{9D8B030D-6E8A-4147-A177-3AD203B41FA5}">
                      <a16:colId xmlns:a16="http://schemas.microsoft.com/office/drawing/2014/main" val="20008"/>
                    </a:ext>
                  </a:extLst>
                </a:gridCol>
                <a:gridCol w="430972">
                  <a:extLst>
                    <a:ext uri="{9D8B030D-6E8A-4147-A177-3AD203B41FA5}">
                      <a16:colId xmlns:a16="http://schemas.microsoft.com/office/drawing/2014/main" val="20009"/>
                    </a:ext>
                  </a:extLst>
                </a:gridCol>
                <a:gridCol w="484988">
                  <a:extLst>
                    <a:ext uri="{9D8B030D-6E8A-4147-A177-3AD203B41FA5}">
                      <a16:colId xmlns:a16="http://schemas.microsoft.com/office/drawing/2014/main" val="20010"/>
                    </a:ext>
                  </a:extLst>
                </a:gridCol>
                <a:gridCol w="432320">
                  <a:extLst>
                    <a:ext uri="{9D8B030D-6E8A-4147-A177-3AD203B41FA5}">
                      <a16:colId xmlns:a16="http://schemas.microsoft.com/office/drawing/2014/main" val="20011"/>
                    </a:ext>
                  </a:extLst>
                </a:gridCol>
                <a:gridCol w="672562">
                  <a:extLst>
                    <a:ext uri="{9D8B030D-6E8A-4147-A177-3AD203B41FA5}">
                      <a16:colId xmlns:a16="http://schemas.microsoft.com/office/drawing/2014/main" val="20012"/>
                    </a:ext>
                  </a:extLst>
                </a:gridCol>
                <a:gridCol w="816453">
                  <a:extLst>
                    <a:ext uri="{9D8B030D-6E8A-4147-A177-3AD203B41FA5}">
                      <a16:colId xmlns:a16="http://schemas.microsoft.com/office/drawing/2014/main" val="20013"/>
                    </a:ext>
                  </a:extLst>
                </a:gridCol>
                <a:gridCol w="887249">
                  <a:extLst>
                    <a:ext uri="{9D8B030D-6E8A-4147-A177-3AD203B41FA5}">
                      <a16:colId xmlns:a16="http://schemas.microsoft.com/office/drawing/2014/main" val="20014"/>
                    </a:ext>
                  </a:extLst>
                </a:gridCol>
              </a:tblGrid>
              <a:tr h="188241">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ㅁ</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상태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아이디</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회사명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권한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총판사명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대표자명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사업자번호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계좌정보</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제휴담당자명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휴대포번호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sng" strike="noStrike" dirty="0">
                          <a:solidFill>
                            <a:schemeClr val="bg1"/>
                          </a:solidFill>
                          <a:effectLst/>
                          <a:latin typeface="Nanum Gothic" panose="020D0604000000000000" pitchFamily="34" charset="-127"/>
                          <a:ea typeface="Nanum Gothic" panose="020D0604000000000000" pitchFamily="34" charset="-127"/>
                        </a:rPr>
                        <a:t>이메일</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66086">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ㅁ</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승인대기</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tbrige01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우수여행사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총판사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이나나</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111-11-11111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김가가</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err="1">
                          <a:solidFill>
                            <a:srgbClr val="000000"/>
                          </a:solidFill>
                          <a:effectLst/>
                          <a:latin typeface="Nanum Gothic" panose="020D0604000000000000" pitchFamily="34" charset="-127"/>
                          <a:ea typeface="Nanum Gothic" panose="020D0604000000000000" pitchFamily="34" charset="-127"/>
                        </a:rPr>
                        <a:t>gaga@naver.com</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241">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ㅁ</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승인완료</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ever33</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시설사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우수여행사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222-22-22222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이화자</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err="1">
                          <a:solidFill>
                            <a:srgbClr val="000000"/>
                          </a:solidFill>
                          <a:effectLst/>
                          <a:latin typeface="Nanum Gothic" panose="020D0604000000000000" pitchFamily="34" charset="-127"/>
                          <a:ea typeface="Nanum Gothic" panose="020D0604000000000000" pitchFamily="34" charset="-127"/>
                        </a:rPr>
                        <a:t>gaga@naver.com</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5050">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ㅁ</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승인완료</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master</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티브리지</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마스터</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sng"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err="1">
                          <a:solidFill>
                            <a:srgbClr val="000000"/>
                          </a:solidFill>
                          <a:effectLst/>
                          <a:latin typeface="Nanum Gothic" panose="020D0604000000000000" pitchFamily="34" charset="-127"/>
                          <a:ea typeface="Nanum Gothic" panose="020D0604000000000000" pitchFamily="34" charset="-127"/>
                        </a:rPr>
                        <a:t>nono@gmail.com</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3" name="직사각형 62"/>
          <p:cNvSpPr/>
          <p:nvPr/>
        </p:nvSpPr>
        <p:spPr>
          <a:xfrm>
            <a:off x="1607738" y="3833891"/>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64" name="TextBox 63"/>
          <p:cNvSpPr txBox="1"/>
          <p:nvPr/>
        </p:nvSpPr>
        <p:spPr>
          <a:xfrm>
            <a:off x="1199203" y="3305322"/>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69" name="직사각형 68"/>
          <p:cNvSpPr/>
          <p:nvPr/>
        </p:nvSpPr>
        <p:spPr>
          <a:xfrm>
            <a:off x="2251108" y="3313479"/>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0" name="직사각형 69"/>
          <p:cNvSpPr/>
          <p:nvPr/>
        </p:nvSpPr>
        <p:spPr>
          <a:xfrm>
            <a:off x="2056314" y="2242186"/>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회사명          ▽</a:t>
            </a:r>
          </a:p>
        </p:txBody>
      </p:sp>
      <p:sp>
        <p:nvSpPr>
          <p:cNvPr id="71" name="직사각형 70"/>
          <p:cNvSpPr/>
          <p:nvPr/>
        </p:nvSpPr>
        <p:spPr>
          <a:xfrm>
            <a:off x="1651210" y="3309713"/>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38" name="직사각형 37"/>
          <p:cNvSpPr/>
          <p:nvPr/>
        </p:nvSpPr>
        <p:spPr>
          <a:xfrm>
            <a:off x="6746204" y="3321621"/>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직접등록</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42" name="직사각형 41"/>
          <p:cNvSpPr/>
          <p:nvPr/>
        </p:nvSpPr>
        <p:spPr>
          <a:xfrm>
            <a:off x="2066006" y="2454814"/>
            <a:ext cx="878021" cy="76152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회사명          </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아이디</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err="1">
                <a:solidFill>
                  <a:schemeClr val="tx1"/>
                </a:solidFill>
                <a:latin typeface="Nanum Gothic" panose="020D0604000000000000" pitchFamily="34" charset="-127"/>
                <a:ea typeface="Nanum Gothic" panose="020D0604000000000000" pitchFamily="34" charset="-127"/>
              </a:rPr>
              <a:t>총판사명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대표자명</a:t>
            </a:r>
            <a:endParaRPr lang="en-US" altLang="ko-KR" sz="800" dirty="0">
              <a:solidFill>
                <a:schemeClr val="tx1"/>
              </a:solidFill>
              <a:latin typeface="Nanum Gothic" panose="020D0604000000000000" pitchFamily="34" charset="-127"/>
              <a:ea typeface="Nanum Gothic" panose="020D0604000000000000" pitchFamily="34" charset="-127"/>
            </a:endParaRPr>
          </a:p>
          <a:p>
            <a:r>
              <a:rPr lang="ko-KR" altLang="en-US" sz="800" dirty="0">
                <a:solidFill>
                  <a:schemeClr val="tx1"/>
                </a:solidFill>
                <a:latin typeface="Nanum Gothic" panose="020D0604000000000000" pitchFamily="34" charset="-127"/>
                <a:ea typeface="Nanum Gothic" panose="020D0604000000000000" pitchFamily="34" charset="-127"/>
              </a:rPr>
              <a:t>제휴담당자명</a:t>
            </a:r>
          </a:p>
        </p:txBody>
      </p:sp>
      <p:sp>
        <p:nvSpPr>
          <p:cNvPr id="46" name="직사각형 45"/>
          <p:cNvSpPr/>
          <p:nvPr/>
        </p:nvSpPr>
        <p:spPr>
          <a:xfrm>
            <a:off x="2031933" y="1955418"/>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48" name="직사각형 47"/>
          <p:cNvSpPr/>
          <p:nvPr/>
        </p:nvSpPr>
        <p:spPr>
          <a:xfrm>
            <a:off x="3230818" y="1956969"/>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49" name="직사각형 48"/>
          <p:cNvSpPr/>
          <p:nvPr/>
        </p:nvSpPr>
        <p:spPr>
          <a:xfrm>
            <a:off x="1607738" y="4085123"/>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50" name="직사각형 49"/>
          <p:cNvSpPr/>
          <p:nvPr/>
        </p:nvSpPr>
        <p:spPr>
          <a:xfrm>
            <a:off x="6136618" y="3324297"/>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승인처리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51" name="직사각형 50"/>
          <p:cNvSpPr/>
          <p:nvPr/>
        </p:nvSpPr>
        <p:spPr>
          <a:xfrm>
            <a:off x="1606247" y="4342098"/>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sp>
        <p:nvSpPr>
          <p:cNvPr id="55" name="직사각형 54"/>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56" name="직사각형 55"/>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57" name="직사각형 56"/>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58" name="직사각형 57"/>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65" name="직사각형 64"/>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nvGraphicFramePr>
        <p:xfrm>
          <a:off x="1280592" y="2842042"/>
          <a:ext cx="7920880" cy="454327"/>
        </p:xfrm>
        <a:graphic>
          <a:graphicData uri="http://schemas.openxmlformats.org/drawingml/2006/table">
            <a:tbl>
              <a:tblPr/>
              <a:tblGrid>
                <a:gridCol w="264819">
                  <a:extLst>
                    <a:ext uri="{9D8B030D-6E8A-4147-A177-3AD203B41FA5}">
                      <a16:colId xmlns:a16="http://schemas.microsoft.com/office/drawing/2014/main" val="20000"/>
                    </a:ext>
                  </a:extLst>
                </a:gridCol>
                <a:gridCol w="421573">
                  <a:extLst>
                    <a:ext uri="{9D8B030D-6E8A-4147-A177-3AD203B41FA5}">
                      <a16:colId xmlns:a16="http://schemas.microsoft.com/office/drawing/2014/main" val="20001"/>
                    </a:ext>
                  </a:extLst>
                </a:gridCol>
                <a:gridCol w="433342">
                  <a:extLst>
                    <a:ext uri="{9D8B030D-6E8A-4147-A177-3AD203B41FA5}">
                      <a16:colId xmlns:a16="http://schemas.microsoft.com/office/drawing/2014/main" val="20002"/>
                    </a:ext>
                  </a:extLst>
                </a:gridCol>
                <a:gridCol w="441833">
                  <a:extLst>
                    <a:ext uri="{9D8B030D-6E8A-4147-A177-3AD203B41FA5}">
                      <a16:colId xmlns:a16="http://schemas.microsoft.com/office/drawing/2014/main" val="20003"/>
                    </a:ext>
                  </a:extLst>
                </a:gridCol>
                <a:gridCol w="626322">
                  <a:extLst>
                    <a:ext uri="{9D8B030D-6E8A-4147-A177-3AD203B41FA5}">
                      <a16:colId xmlns:a16="http://schemas.microsoft.com/office/drawing/2014/main" val="20004"/>
                    </a:ext>
                  </a:extLst>
                </a:gridCol>
                <a:gridCol w="366557">
                  <a:extLst>
                    <a:ext uri="{9D8B030D-6E8A-4147-A177-3AD203B41FA5}">
                      <a16:colId xmlns:a16="http://schemas.microsoft.com/office/drawing/2014/main" val="20005"/>
                    </a:ext>
                  </a:extLst>
                </a:gridCol>
                <a:gridCol w="559078">
                  <a:extLst>
                    <a:ext uri="{9D8B030D-6E8A-4147-A177-3AD203B41FA5}">
                      <a16:colId xmlns:a16="http://schemas.microsoft.com/office/drawing/2014/main" val="20006"/>
                    </a:ext>
                  </a:extLst>
                </a:gridCol>
                <a:gridCol w="439363">
                  <a:extLst>
                    <a:ext uri="{9D8B030D-6E8A-4147-A177-3AD203B41FA5}">
                      <a16:colId xmlns:a16="http://schemas.microsoft.com/office/drawing/2014/main" val="20007"/>
                    </a:ext>
                  </a:extLst>
                </a:gridCol>
                <a:gridCol w="643449">
                  <a:extLst>
                    <a:ext uri="{9D8B030D-6E8A-4147-A177-3AD203B41FA5}">
                      <a16:colId xmlns:a16="http://schemas.microsoft.com/office/drawing/2014/main" val="20008"/>
                    </a:ext>
                  </a:extLst>
                </a:gridCol>
                <a:gridCol w="430972">
                  <a:extLst>
                    <a:ext uri="{9D8B030D-6E8A-4147-A177-3AD203B41FA5}">
                      <a16:colId xmlns:a16="http://schemas.microsoft.com/office/drawing/2014/main" val="20009"/>
                    </a:ext>
                  </a:extLst>
                </a:gridCol>
                <a:gridCol w="484988">
                  <a:extLst>
                    <a:ext uri="{9D8B030D-6E8A-4147-A177-3AD203B41FA5}">
                      <a16:colId xmlns:a16="http://schemas.microsoft.com/office/drawing/2014/main" val="20010"/>
                    </a:ext>
                  </a:extLst>
                </a:gridCol>
                <a:gridCol w="432320">
                  <a:extLst>
                    <a:ext uri="{9D8B030D-6E8A-4147-A177-3AD203B41FA5}">
                      <a16:colId xmlns:a16="http://schemas.microsoft.com/office/drawing/2014/main" val="20011"/>
                    </a:ext>
                  </a:extLst>
                </a:gridCol>
                <a:gridCol w="672562">
                  <a:extLst>
                    <a:ext uri="{9D8B030D-6E8A-4147-A177-3AD203B41FA5}">
                      <a16:colId xmlns:a16="http://schemas.microsoft.com/office/drawing/2014/main" val="20012"/>
                    </a:ext>
                  </a:extLst>
                </a:gridCol>
                <a:gridCol w="816453">
                  <a:extLst>
                    <a:ext uri="{9D8B030D-6E8A-4147-A177-3AD203B41FA5}">
                      <a16:colId xmlns:a16="http://schemas.microsoft.com/office/drawing/2014/main" val="20013"/>
                    </a:ext>
                  </a:extLst>
                </a:gridCol>
                <a:gridCol w="887249">
                  <a:extLst>
                    <a:ext uri="{9D8B030D-6E8A-4147-A177-3AD203B41FA5}">
                      <a16:colId xmlns:a16="http://schemas.microsoft.com/office/drawing/2014/main" val="20014"/>
                    </a:ext>
                  </a:extLst>
                </a:gridCol>
              </a:tblGrid>
              <a:tr h="188241">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ㅁ</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상태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아이디</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회사명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권한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총판사명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대표자명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사업자번호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계좌정보</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제휴담당자명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휴대포번호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sng" strike="noStrike" dirty="0">
                          <a:solidFill>
                            <a:schemeClr val="bg1"/>
                          </a:solidFill>
                          <a:effectLst/>
                          <a:latin typeface="Nanum Gothic" panose="020D0604000000000000" pitchFamily="34" charset="-127"/>
                          <a:ea typeface="Nanum Gothic" panose="020D0604000000000000" pitchFamily="34" charset="-127"/>
                        </a:rPr>
                        <a:t>이메일</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66086">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ㅁ</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승인대기</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tbrige01</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우수여행사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총판사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이나나</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111-11-11111</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김가가</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err="1">
                          <a:solidFill>
                            <a:srgbClr val="000000"/>
                          </a:solidFill>
                          <a:effectLst/>
                          <a:latin typeface="Nanum Gothic" panose="020D0604000000000000" pitchFamily="34" charset="-127"/>
                          <a:ea typeface="Nanum Gothic" panose="020D0604000000000000" pitchFamily="34" charset="-127"/>
                        </a:rPr>
                        <a:t>gaga@naver.com</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회원</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권한관리</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직정등록</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총판사</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a:t>
            </a: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6" name="TextBox 35"/>
          <p:cNvSpPr txBox="1"/>
          <p:nvPr/>
        </p:nvSpPr>
        <p:spPr>
          <a:xfrm>
            <a:off x="1191375" y="1085116"/>
            <a:ext cx="1107996"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회원</a:t>
            </a:r>
            <a:r>
              <a:rPr lang="en-US" altLang="ko-KR" sz="1200" b="1" dirty="0">
                <a:latin typeface="Nanum Gothic" panose="020D0604000000000000" pitchFamily="34" charset="-127"/>
                <a:ea typeface="Nanum Gothic" panose="020D0604000000000000" pitchFamily="34" charset="-127"/>
              </a:rPr>
              <a:t>/</a:t>
            </a:r>
            <a:r>
              <a:rPr lang="ko-KR" altLang="en-US" sz="1200" b="1" dirty="0" err="1">
                <a:latin typeface="Nanum Gothic" panose="020D0604000000000000" pitchFamily="34" charset="-127"/>
                <a:ea typeface="Nanum Gothic" panose="020D0604000000000000" pitchFamily="34" charset="-127"/>
              </a:rPr>
              <a:t>권한관리</a:t>
            </a:r>
            <a:endParaRPr lang="ko-KR" altLang="en-US" sz="1200" b="1" dirty="0">
              <a:latin typeface="Nanum Gothic" panose="020D0604000000000000" pitchFamily="34" charset="-127"/>
              <a:ea typeface="Nanum Gothic" panose="020D0604000000000000" pitchFamily="34" charset="-127"/>
            </a:endParaRPr>
          </a:p>
        </p:txBody>
      </p:sp>
      <p:sp>
        <p:nvSpPr>
          <p:cNvPr id="37" name="TextBox 36"/>
          <p:cNvSpPr txBox="1"/>
          <p:nvPr/>
        </p:nvSpPr>
        <p:spPr>
          <a:xfrm>
            <a:off x="1191375" y="1313869"/>
            <a:ext cx="3013967"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회원가입내역을 확인하고 </a:t>
            </a:r>
            <a:r>
              <a:rPr lang="ko-KR" altLang="en-US" sz="800" dirty="0" err="1">
                <a:latin typeface="Nanum Gothic" panose="020D0604000000000000" pitchFamily="34" charset="-127"/>
                <a:ea typeface="Nanum Gothic" panose="020D0604000000000000" pitchFamily="34" charset="-127"/>
              </a:rPr>
              <a:t>승인처리</a:t>
            </a:r>
            <a:r>
              <a:rPr lang="ko-KR" altLang="en-US" sz="800" dirty="0">
                <a:latin typeface="Nanum Gothic" panose="020D0604000000000000" pitchFamily="34" charset="-127"/>
                <a:ea typeface="Nanum Gothic" panose="020D0604000000000000" pitchFamily="34" charset="-127"/>
              </a:rPr>
              <a:t> 및 </a:t>
            </a:r>
            <a:r>
              <a:rPr lang="ko-KR" altLang="en-US" sz="800" dirty="0" err="1">
                <a:latin typeface="Nanum Gothic" panose="020D0604000000000000" pitchFamily="34" charset="-127"/>
                <a:ea typeface="Nanum Gothic" panose="020D0604000000000000" pitchFamily="34" charset="-127"/>
              </a:rPr>
              <a:t>권한관리를</a:t>
            </a:r>
            <a:r>
              <a:rPr lang="ko-KR" altLang="en-US" sz="800" dirty="0">
                <a:latin typeface="Nanum Gothic" panose="020D0604000000000000" pitchFamily="34" charset="-127"/>
                <a:ea typeface="Nanum Gothic" panose="020D0604000000000000" pitchFamily="34" charset="-127"/>
              </a:rPr>
              <a:t> 할 수 있습니다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43" name="표 42"/>
          <p:cNvGraphicFramePr>
            <a:graphicFrameLocks noGrp="1"/>
          </p:cNvGraphicFramePr>
          <p:nvPr/>
        </p:nvGraphicFramePr>
        <p:xfrm>
          <a:off x="1280592" y="1628800"/>
          <a:ext cx="6048673" cy="85958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7865">
                  <a:extLst>
                    <a:ext uri="{9D8B030D-6E8A-4147-A177-3AD203B41FA5}">
                      <a16:colId xmlns:a16="http://schemas.microsoft.com/office/drawing/2014/main" val="20003"/>
                    </a:ext>
                  </a:extLst>
                </a:gridCol>
                <a:gridCol w="640448">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상태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승인대기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승인완료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총판사</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시설사</a:t>
                      </a:r>
                      <a:r>
                        <a:rPr lang="ko-KR" altLang="en-US" sz="800" b="0" dirty="0">
                          <a:solidFill>
                            <a:schemeClr val="tx1"/>
                          </a:solidFill>
                          <a:latin typeface="Nanum Gothic" panose="020D0604000000000000" pitchFamily="34" charset="-127"/>
                          <a:ea typeface="Nanum Gothic" panose="020D0604000000000000" pitchFamily="34" charset="-127"/>
                        </a:rPr>
                        <a:t>      ○ 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u="none"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59" name="직사각형 58"/>
          <p:cNvSpPr/>
          <p:nvPr/>
        </p:nvSpPr>
        <p:spPr>
          <a:xfrm>
            <a:off x="2995760" y="224218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6749307" y="1799373"/>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61" name="직사각형 60"/>
          <p:cNvSpPr/>
          <p:nvPr/>
        </p:nvSpPr>
        <p:spPr>
          <a:xfrm>
            <a:off x="6747628" y="2218691"/>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64" name="TextBox 63"/>
          <p:cNvSpPr txBox="1"/>
          <p:nvPr/>
        </p:nvSpPr>
        <p:spPr>
          <a:xfrm>
            <a:off x="1199203" y="2561489"/>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69" name="직사각형 68"/>
          <p:cNvSpPr/>
          <p:nvPr/>
        </p:nvSpPr>
        <p:spPr>
          <a:xfrm>
            <a:off x="2251108" y="2569646"/>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0" name="직사각형 69"/>
          <p:cNvSpPr/>
          <p:nvPr/>
        </p:nvSpPr>
        <p:spPr>
          <a:xfrm>
            <a:off x="2056314" y="2242186"/>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회사명          ▽</a:t>
            </a:r>
          </a:p>
        </p:txBody>
      </p:sp>
      <p:sp>
        <p:nvSpPr>
          <p:cNvPr id="71" name="직사각형 70"/>
          <p:cNvSpPr/>
          <p:nvPr/>
        </p:nvSpPr>
        <p:spPr>
          <a:xfrm>
            <a:off x="1651210" y="2565880"/>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38" name="직사각형 37"/>
          <p:cNvSpPr/>
          <p:nvPr/>
        </p:nvSpPr>
        <p:spPr>
          <a:xfrm>
            <a:off x="6746204" y="2577788"/>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직접등록</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46" name="직사각형 45"/>
          <p:cNvSpPr/>
          <p:nvPr/>
        </p:nvSpPr>
        <p:spPr>
          <a:xfrm>
            <a:off x="2031933" y="1955418"/>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48" name="직사각형 47"/>
          <p:cNvSpPr/>
          <p:nvPr/>
        </p:nvSpPr>
        <p:spPr>
          <a:xfrm>
            <a:off x="3230818" y="1956969"/>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50" name="직사각형 49"/>
          <p:cNvSpPr/>
          <p:nvPr/>
        </p:nvSpPr>
        <p:spPr>
          <a:xfrm>
            <a:off x="6136618" y="2580465"/>
            <a:ext cx="583061" cy="192078"/>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승인처리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58" name="직사각형 57"/>
          <p:cNvSpPr/>
          <p:nvPr/>
        </p:nvSpPr>
        <p:spPr>
          <a:xfrm>
            <a:off x="4429644" y="3419728"/>
            <a:ext cx="2944753" cy="3645591"/>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회원직접등록</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65" name="직사각형 64"/>
          <p:cNvSpPr/>
          <p:nvPr/>
        </p:nvSpPr>
        <p:spPr>
          <a:xfrm>
            <a:off x="5539745" y="6821314"/>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등록</a:t>
            </a:r>
          </a:p>
        </p:txBody>
      </p:sp>
      <p:sp>
        <p:nvSpPr>
          <p:cNvPr id="74" name="TextBox 73"/>
          <p:cNvSpPr txBox="1"/>
          <p:nvPr/>
        </p:nvSpPr>
        <p:spPr>
          <a:xfrm>
            <a:off x="7006175" y="3440558"/>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75" name="표 74"/>
          <p:cNvGraphicFramePr>
            <a:graphicFrameLocks noGrp="1"/>
          </p:cNvGraphicFramePr>
          <p:nvPr/>
        </p:nvGraphicFramePr>
        <p:xfrm>
          <a:off x="4537382" y="3757990"/>
          <a:ext cx="2692999" cy="302695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72919">
                  <a:extLst>
                    <a:ext uri="{9D8B030D-6E8A-4147-A177-3AD203B41FA5}">
                      <a16:colId xmlns:a16="http://schemas.microsoft.com/office/drawing/2014/main" val="20001"/>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a:t>
                      </a:r>
                      <a:r>
                        <a:rPr lang="ko-KR" altLang="en-US" sz="800" b="0" dirty="0" err="1">
                          <a:solidFill>
                            <a:schemeClr val="tx1"/>
                          </a:solidFill>
                          <a:latin typeface="Nanum Gothic" panose="020D0604000000000000" pitchFamily="34" charset="-127"/>
                          <a:ea typeface="Nanum Gothic" panose="020D0604000000000000" pitchFamily="34" charset="-127"/>
                        </a:rPr>
                        <a:t>총판사</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시설사</a:t>
                      </a:r>
                      <a:r>
                        <a:rPr lang="ko-KR" altLang="en-US" sz="800" b="0" dirty="0">
                          <a:solidFill>
                            <a:schemeClr val="tx1"/>
                          </a:solidFill>
                          <a:latin typeface="Nanum Gothic" panose="020D0604000000000000" pitchFamily="34" charset="-127"/>
                          <a:ea typeface="Nanum Gothic" panose="020D0604000000000000" pitchFamily="34" charset="-127"/>
                        </a:rPr>
                        <a:t>      ○ 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아이디</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비밀번호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회사명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대표자명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5553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사업자번호</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71581">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계좌정보</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제휴담당자명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휴대폰번호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이메일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bl>
          </a:graphicData>
        </a:graphic>
      </p:graphicFrame>
      <p:sp>
        <p:nvSpPr>
          <p:cNvPr id="84" name="직사각형 83"/>
          <p:cNvSpPr/>
          <p:nvPr/>
        </p:nvSpPr>
        <p:spPr>
          <a:xfrm>
            <a:off x="5326843" y="4542551"/>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85" name="직사각형 84"/>
          <p:cNvSpPr/>
          <p:nvPr/>
        </p:nvSpPr>
        <p:spPr>
          <a:xfrm>
            <a:off x="5329157" y="4809666"/>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87" name="직사각형 86"/>
          <p:cNvSpPr/>
          <p:nvPr/>
        </p:nvSpPr>
        <p:spPr>
          <a:xfrm>
            <a:off x="5330823" y="5323308"/>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업태선택</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89" name="직사각형 88"/>
          <p:cNvSpPr/>
          <p:nvPr/>
        </p:nvSpPr>
        <p:spPr>
          <a:xfrm>
            <a:off x="5326843" y="5070207"/>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91" name="직사각형 90"/>
          <p:cNvSpPr/>
          <p:nvPr/>
        </p:nvSpPr>
        <p:spPr>
          <a:xfrm>
            <a:off x="5324830" y="6059207"/>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92" name="직사각형 91"/>
          <p:cNvSpPr/>
          <p:nvPr/>
        </p:nvSpPr>
        <p:spPr>
          <a:xfrm>
            <a:off x="5324829" y="6306703"/>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93" name="직사각형 92"/>
          <p:cNvSpPr/>
          <p:nvPr/>
        </p:nvSpPr>
        <p:spPr>
          <a:xfrm>
            <a:off x="5326843" y="6573818"/>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10" name="직사각형 109"/>
          <p:cNvSpPr/>
          <p:nvPr/>
        </p:nvSpPr>
        <p:spPr>
          <a:xfrm>
            <a:off x="6239399" y="5322549"/>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업종선택</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150" name="직사각형 149"/>
          <p:cNvSpPr/>
          <p:nvPr/>
        </p:nvSpPr>
        <p:spPr>
          <a:xfrm>
            <a:off x="5329157" y="4035262"/>
            <a:ext cx="103712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52" name="직사각형 151"/>
          <p:cNvSpPr/>
          <p:nvPr/>
        </p:nvSpPr>
        <p:spPr>
          <a:xfrm>
            <a:off x="6414415" y="4036367"/>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중복확인</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56" name="직사각형 155"/>
          <p:cNvSpPr/>
          <p:nvPr/>
        </p:nvSpPr>
        <p:spPr>
          <a:xfrm>
            <a:off x="5337856" y="5773550"/>
            <a:ext cx="103712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57" name="직사각형 156"/>
          <p:cNvSpPr/>
          <p:nvPr/>
        </p:nvSpPr>
        <p:spPr>
          <a:xfrm>
            <a:off x="6423114" y="5774655"/>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계좌인증</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62" name="직사각형 161"/>
          <p:cNvSpPr/>
          <p:nvPr/>
        </p:nvSpPr>
        <p:spPr>
          <a:xfrm>
            <a:off x="5332847" y="4282010"/>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66" name="직사각형 165"/>
          <p:cNvSpPr/>
          <p:nvPr/>
        </p:nvSpPr>
        <p:spPr>
          <a:xfrm>
            <a:off x="1280592" y="3413548"/>
            <a:ext cx="2944753" cy="3651771"/>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회원정보수정</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167" name="직사각형 166"/>
          <p:cNvSpPr/>
          <p:nvPr/>
        </p:nvSpPr>
        <p:spPr>
          <a:xfrm>
            <a:off x="2390693" y="6822307"/>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수정</a:t>
            </a:r>
          </a:p>
        </p:txBody>
      </p:sp>
      <p:sp>
        <p:nvSpPr>
          <p:cNvPr id="168" name="TextBox 167"/>
          <p:cNvSpPr txBox="1"/>
          <p:nvPr/>
        </p:nvSpPr>
        <p:spPr>
          <a:xfrm>
            <a:off x="3857123" y="3434378"/>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169" name="표 168"/>
          <p:cNvGraphicFramePr>
            <a:graphicFrameLocks noGrp="1"/>
          </p:cNvGraphicFramePr>
          <p:nvPr/>
        </p:nvGraphicFramePr>
        <p:xfrm>
          <a:off x="1388330" y="3751810"/>
          <a:ext cx="2692999" cy="303313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72919">
                  <a:extLst>
                    <a:ext uri="{9D8B030D-6E8A-4147-A177-3AD203B41FA5}">
                      <a16:colId xmlns:a16="http://schemas.microsoft.com/office/drawing/2014/main" val="20001"/>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u="none" dirty="0" err="1">
                          <a:solidFill>
                            <a:schemeClr val="tx1">
                              <a:lumMod val="75000"/>
                              <a:lumOff val="25000"/>
                            </a:schemeClr>
                          </a:solidFill>
                          <a:latin typeface="Nanum Gothic" panose="020D0604000000000000" pitchFamily="34" charset="-127"/>
                          <a:ea typeface="Nanum Gothic" panose="020D0604000000000000" pitchFamily="34" charset="-127"/>
                        </a:rPr>
                        <a:t>총판사</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아이디</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tbrige01</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비밀번호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회사명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대표자명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5553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사업자번호</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77761">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계좌정보</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우리은행</a:t>
                      </a:r>
                      <a:endPar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p>
                      <a:pPr marL="9525" indent="0" algn="l" latinLnBrk="1"/>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000-0000-00000</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제휴담당자명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휴대폰번호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이메일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bl>
          </a:graphicData>
        </a:graphic>
      </p:graphicFrame>
      <p:sp>
        <p:nvSpPr>
          <p:cNvPr id="170" name="직사각형 169"/>
          <p:cNvSpPr/>
          <p:nvPr/>
        </p:nvSpPr>
        <p:spPr>
          <a:xfrm>
            <a:off x="2177791" y="4536371"/>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우수여행사</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171" name="직사각형 170"/>
          <p:cNvSpPr/>
          <p:nvPr/>
        </p:nvSpPr>
        <p:spPr>
          <a:xfrm>
            <a:off x="2180105" y="4803486"/>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이나나</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172" name="직사각형 171"/>
          <p:cNvSpPr/>
          <p:nvPr/>
        </p:nvSpPr>
        <p:spPr>
          <a:xfrm>
            <a:off x="2181771" y="5317128"/>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업태명</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173" name="직사각형 172"/>
          <p:cNvSpPr/>
          <p:nvPr/>
        </p:nvSpPr>
        <p:spPr>
          <a:xfrm>
            <a:off x="2177791" y="5064027"/>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Nanum Gothic" panose="020D0604000000000000" pitchFamily="34" charset="-127"/>
                <a:ea typeface="Nanum Gothic" panose="020D0604000000000000" pitchFamily="34" charset="-127"/>
              </a:rPr>
              <a:t>111-11-11111</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174" name="직사각형 173"/>
          <p:cNvSpPr/>
          <p:nvPr/>
        </p:nvSpPr>
        <p:spPr>
          <a:xfrm>
            <a:off x="2175778" y="6036262"/>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김가가</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175" name="직사각형 174"/>
          <p:cNvSpPr/>
          <p:nvPr/>
        </p:nvSpPr>
        <p:spPr>
          <a:xfrm>
            <a:off x="2175777" y="6283758"/>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ctr">
              <a:defRPr/>
            </a:pPr>
            <a:r>
              <a:rPr lang="en-US" altLang="ko-KR" sz="800" dirty="0">
                <a:solidFill>
                  <a:srgbClr val="000000"/>
                </a:solidFill>
                <a:latin typeface="Nanum Gothic" panose="020D0604000000000000" pitchFamily="34" charset="-127"/>
                <a:ea typeface="Nanum Gothic" panose="020D0604000000000000" pitchFamily="34" charset="-127"/>
              </a:rPr>
              <a:t>010-0000-0000</a:t>
            </a:r>
            <a:endParaRPr lang="ko-KR" altLang="en-US" sz="800" dirty="0">
              <a:solidFill>
                <a:srgbClr val="000000"/>
              </a:solidFill>
              <a:latin typeface="Nanum Gothic" panose="020D0604000000000000" pitchFamily="34" charset="-127"/>
              <a:ea typeface="Nanum Gothic" panose="020D0604000000000000" pitchFamily="34" charset="-127"/>
            </a:endParaRPr>
          </a:p>
        </p:txBody>
      </p:sp>
      <p:sp>
        <p:nvSpPr>
          <p:cNvPr id="176" name="직사각형 175"/>
          <p:cNvSpPr/>
          <p:nvPr/>
        </p:nvSpPr>
        <p:spPr>
          <a:xfrm>
            <a:off x="2177791" y="6550873"/>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ctr">
              <a:defRPr/>
            </a:pPr>
            <a:r>
              <a:rPr lang="en-US" altLang="ko-KR" sz="800" dirty="0" err="1">
                <a:solidFill>
                  <a:srgbClr val="000000"/>
                </a:solidFill>
                <a:latin typeface="Nanum Gothic" panose="020D0604000000000000" pitchFamily="34" charset="-127"/>
                <a:ea typeface="Nanum Gothic" panose="020D0604000000000000" pitchFamily="34" charset="-127"/>
              </a:rPr>
              <a:t>gaga@naver.com</a:t>
            </a:r>
            <a:endParaRPr lang="ko-KR" altLang="en-US" sz="800" dirty="0">
              <a:solidFill>
                <a:srgbClr val="000000"/>
              </a:solidFill>
              <a:latin typeface="Nanum Gothic" panose="020D0604000000000000" pitchFamily="34" charset="-127"/>
              <a:ea typeface="Nanum Gothic" panose="020D0604000000000000" pitchFamily="34" charset="-127"/>
            </a:endParaRPr>
          </a:p>
        </p:txBody>
      </p:sp>
      <p:sp>
        <p:nvSpPr>
          <p:cNvPr id="177" name="직사각형 176"/>
          <p:cNvSpPr/>
          <p:nvPr/>
        </p:nvSpPr>
        <p:spPr>
          <a:xfrm>
            <a:off x="3090347" y="5316369"/>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업종명</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181" name="직사각형 180"/>
          <p:cNvSpPr/>
          <p:nvPr/>
        </p:nvSpPr>
        <p:spPr>
          <a:xfrm>
            <a:off x="3353645" y="5676774"/>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계좌변경</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83" name="직사각형 182"/>
          <p:cNvSpPr/>
          <p:nvPr/>
        </p:nvSpPr>
        <p:spPr>
          <a:xfrm>
            <a:off x="2798816" y="4301759"/>
            <a:ext cx="720868" cy="181758"/>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임시번호발송</a:t>
            </a:r>
          </a:p>
        </p:txBody>
      </p:sp>
      <p:sp>
        <p:nvSpPr>
          <p:cNvPr id="184" name="직사각형 183"/>
          <p:cNvSpPr/>
          <p:nvPr/>
        </p:nvSpPr>
        <p:spPr>
          <a:xfrm>
            <a:off x="5342585" y="5584307"/>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은행명선택</a:t>
            </a:r>
            <a:r>
              <a:rPr lang="ko-KR" altLang="en-US" sz="800" dirty="0">
                <a:solidFill>
                  <a:schemeClr val="tx1"/>
                </a:solidFill>
                <a:latin typeface="Nanum Gothic" panose="020D0604000000000000" pitchFamily="34" charset="-127"/>
                <a:ea typeface="Nanum Gothic" panose="020D0604000000000000" pitchFamily="34" charset="-127"/>
              </a:rPr>
              <a:t>     ▽</a:t>
            </a:r>
          </a:p>
        </p:txBody>
      </p:sp>
      <p:cxnSp>
        <p:nvCxnSpPr>
          <p:cNvPr id="186" name="꺾인 연결선[E] 185"/>
          <p:cNvCxnSpPr>
            <a:stCxn id="38" idx="2"/>
            <a:endCxn id="58" idx="0"/>
          </p:cNvCxnSpPr>
          <p:nvPr/>
        </p:nvCxnSpPr>
        <p:spPr>
          <a:xfrm rot="5400000">
            <a:off x="6150669" y="2532661"/>
            <a:ext cx="638419" cy="1135714"/>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7" name="직사각형 186"/>
          <p:cNvSpPr/>
          <p:nvPr/>
        </p:nvSpPr>
        <p:spPr>
          <a:xfrm>
            <a:off x="1567184" y="3075408"/>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cxnSp>
        <p:nvCxnSpPr>
          <p:cNvPr id="188" name="꺾인 연결선[E] 187"/>
          <p:cNvCxnSpPr>
            <a:endCxn id="166" idx="0"/>
          </p:cNvCxnSpPr>
          <p:nvPr/>
        </p:nvCxnSpPr>
        <p:spPr>
          <a:xfrm>
            <a:off x="1808458" y="3148116"/>
            <a:ext cx="944511" cy="265432"/>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6" name="직사각형 75"/>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128461" y="363462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78" name="직사각형 77"/>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79" name="직사각형 78"/>
          <p:cNvSpPr/>
          <p:nvPr/>
        </p:nvSpPr>
        <p:spPr>
          <a:xfrm>
            <a:off x="128457" y="3282858"/>
            <a:ext cx="1008115" cy="343273"/>
          </a:xfrm>
          <a:prstGeom prst="rect">
            <a:avLst/>
          </a:prstGeom>
          <a:solidFill>
            <a:schemeClr val="bg1">
              <a:lumMod val="95000"/>
            </a:schemeClr>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회원</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a:t>
            </a:r>
            <a:r>
              <a:rPr lang="ko-KR" altLang="en-US" sz="1000" b="1" dirty="0" err="1">
                <a:solidFill>
                  <a:schemeClr val="tx2">
                    <a:lumMod val="60000"/>
                    <a:lumOff val="40000"/>
                  </a:schemeClr>
                </a:solidFill>
                <a:latin typeface="Nanum Gothic" panose="020D0604000000000000" pitchFamily="34" charset="-127"/>
                <a:ea typeface="Nanum Gothic" panose="020D0604000000000000" pitchFamily="34" charset="-127"/>
              </a:rPr>
              <a:t>권한관리</a:t>
            </a: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80" name="직사각형 79"/>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81" name="직사각형 80"/>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82" name="직사각형 81"/>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83" name="직사각형 82"/>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86" name="직사각형 85"/>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nvGraphicFramePr>
        <p:xfrm>
          <a:off x="1280592" y="2842042"/>
          <a:ext cx="7920880" cy="454327"/>
        </p:xfrm>
        <a:graphic>
          <a:graphicData uri="http://schemas.openxmlformats.org/drawingml/2006/table">
            <a:tbl>
              <a:tblPr/>
              <a:tblGrid>
                <a:gridCol w="264819">
                  <a:extLst>
                    <a:ext uri="{9D8B030D-6E8A-4147-A177-3AD203B41FA5}">
                      <a16:colId xmlns:a16="http://schemas.microsoft.com/office/drawing/2014/main" val="20000"/>
                    </a:ext>
                  </a:extLst>
                </a:gridCol>
                <a:gridCol w="421573">
                  <a:extLst>
                    <a:ext uri="{9D8B030D-6E8A-4147-A177-3AD203B41FA5}">
                      <a16:colId xmlns:a16="http://schemas.microsoft.com/office/drawing/2014/main" val="20001"/>
                    </a:ext>
                  </a:extLst>
                </a:gridCol>
                <a:gridCol w="433342">
                  <a:extLst>
                    <a:ext uri="{9D8B030D-6E8A-4147-A177-3AD203B41FA5}">
                      <a16:colId xmlns:a16="http://schemas.microsoft.com/office/drawing/2014/main" val="20002"/>
                    </a:ext>
                  </a:extLst>
                </a:gridCol>
                <a:gridCol w="441833">
                  <a:extLst>
                    <a:ext uri="{9D8B030D-6E8A-4147-A177-3AD203B41FA5}">
                      <a16:colId xmlns:a16="http://schemas.microsoft.com/office/drawing/2014/main" val="20003"/>
                    </a:ext>
                  </a:extLst>
                </a:gridCol>
                <a:gridCol w="626322">
                  <a:extLst>
                    <a:ext uri="{9D8B030D-6E8A-4147-A177-3AD203B41FA5}">
                      <a16:colId xmlns:a16="http://schemas.microsoft.com/office/drawing/2014/main" val="20004"/>
                    </a:ext>
                  </a:extLst>
                </a:gridCol>
                <a:gridCol w="366557">
                  <a:extLst>
                    <a:ext uri="{9D8B030D-6E8A-4147-A177-3AD203B41FA5}">
                      <a16:colId xmlns:a16="http://schemas.microsoft.com/office/drawing/2014/main" val="20005"/>
                    </a:ext>
                  </a:extLst>
                </a:gridCol>
                <a:gridCol w="559078">
                  <a:extLst>
                    <a:ext uri="{9D8B030D-6E8A-4147-A177-3AD203B41FA5}">
                      <a16:colId xmlns:a16="http://schemas.microsoft.com/office/drawing/2014/main" val="20006"/>
                    </a:ext>
                  </a:extLst>
                </a:gridCol>
                <a:gridCol w="439363">
                  <a:extLst>
                    <a:ext uri="{9D8B030D-6E8A-4147-A177-3AD203B41FA5}">
                      <a16:colId xmlns:a16="http://schemas.microsoft.com/office/drawing/2014/main" val="20007"/>
                    </a:ext>
                  </a:extLst>
                </a:gridCol>
                <a:gridCol w="643449">
                  <a:extLst>
                    <a:ext uri="{9D8B030D-6E8A-4147-A177-3AD203B41FA5}">
                      <a16:colId xmlns:a16="http://schemas.microsoft.com/office/drawing/2014/main" val="20008"/>
                    </a:ext>
                  </a:extLst>
                </a:gridCol>
                <a:gridCol w="430972">
                  <a:extLst>
                    <a:ext uri="{9D8B030D-6E8A-4147-A177-3AD203B41FA5}">
                      <a16:colId xmlns:a16="http://schemas.microsoft.com/office/drawing/2014/main" val="20009"/>
                    </a:ext>
                  </a:extLst>
                </a:gridCol>
                <a:gridCol w="484988">
                  <a:extLst>
                    <a:ext uri="{9D8B030D-6E8A-4147-A177-3AD203B41FA5}">
                      <a16:colId xmlns:a16="http://schemas.microsoft.com/office/drawing/2014/main" val="20010"/>
                    </a:ext>
                  </a:extLst>
                </a:gridCol>
                <a:gridCol w="432320">
                  <a:extLst>
                    <a:ext uri="{9D8B030D-6E8A-4147-A177-3AD203B41FA5}">
                      <a16:colId xmlns:a16="http://schemas.microsoft.com/office/drawing/2014/main" val="20011"/>
                    </a:ext>
                  </a:extLst>
                </a:gridCol>
                <a:gridCol w="672562">
                  <a:extLst>
                    <a:ext uri="{9D8B030D-6E8A-4147-A177-3AD203B41FA5}">
                      <a16:colId xmlns:a16="http://schemas.microsoft.com/office/drawing/2014/main" val="20012"/>
                    </a:ext>
                  </a:extLst>
                </a:gridCol>
                <a:gridCol w="816453">
                  <a:extLst>
                    <a:ext uri="{9D8B030D-6E8A-4147-A177-3AD203B41FA5}">
                      <a16:colId xmlns:a16="http://schemas.microsoft.com/office/drawing/2014/main" val="20013"/>
                    </a:ext>
                  </a:extLst>
                </a:gridCol>
                <a:gridCol w="887249">
                  <a:extLst>
                    <a:ext uri="{9D8B030D-6E8A-4147-A177-3AD203B41FA5}">
                      <a16:colId xmlns:a16="http://schemas.microsoft.com/office/drawing/2014/main" val="20014"/>
                    </a:ext>
                  </a:extLst>
                </a:gridCol>
              </a:tblGrid>
              <a:tr h="188241">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ㅁ</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상태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아이디</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회사명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권한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총판사명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대표자명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사업자번호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계좌정보</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제휴담당자명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휴대포번호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sng" strike="noStrike" dirty="0">
                          <a:solidFill>
                            <a:schemeClr val="bg1"/>
                          </a:solidFill>
                          <a:effectLst/>
                          <a:latin typeface="Nanum Gothic" panose="020D0604000000000000" pitchFamily="34" charset="-127"/>
                          <a:ea typeface="Nanum Gothic" panose="020D0604000000000000" pitchFamily="34" charset="-127"/>
                        </a:rPr>
                        <a:t>이메일</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66086">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ㅁ</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승인완료</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ever33</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에버랜드</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시설사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우수여행사</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홍길동</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222-22-22222</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en-US" altLang="ko-KR" sz="800" b="0" i="0" u="sng"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이화자</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010-0000-0000</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err="1">
                          <a:solidFill>
                            <a:srgbClr val="000000"/>
                          </a:solidFill>
                          <a:effectLst/>
                          <a:latin typeface="Nanum Gothic" panose="020D0604000000000000" pitchFamily="34" charset="-127"/>
                          <a:ea typeface="Nanum Gothic" panose="020D0604000000000000" pitchFamily="34" charset="-127"/>
                        </a:rPr>
                        <a:t>gaga@naver.com</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회원</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권한관리</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직정등록</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시설사</a:t>
            </a:r>
            <a:r>
              <a:rPr lang="en-US" altLang="ko-KR" dirty="0">
                <a:latin typeface="Nanum Gothic" panose="020D0604000000000000" pitchFamily="34" charset="-127"/>
                <a:ea typeface="Nanum Gothic" panose="020D0604000000000000" pitchFamily="34" charset="-127"/>
              </a:rPr>
              <a:t>)</a:t>
            </a:r>
            <a:endParaRPr lang="ko-KR" altLang="en-US" dirty="0">
              <a:latin typeface="Nanum Gothic" panose="020D0604000000000000" pitchFamily="34" charset="-127"/>
              <a:ea typeface="Nanum Gothic" panose="020D0604000000000000" pitchFamily="34" charset="-127"/>
            </a:endParaRP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6" name="TextBox 35"/>
          <p:cNvSpPr txBox="1"/>
          <p:nvPr/>
        </p:nvSpPr>
        <p:spPr>
          <a:xfrm>
            <a:off x="1191375" y="1085116"/>
            <a:ext cx="1107996"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회원</a:t>
            </a:r>
            <a:r>
              <a:rPr lang="en-US" altLang="ko-KR" sz="1200" b="1" dirty="0">
                <a:latin typeface="Nanum Gothic" panose="020D0604000000000000" pitchFamily="34" charset="-127"/>
                <a:ea typeface="Nanum Gothic" panose="020D0604000000000000" pitchFamily="34" charset="-127"/>
              </a:rPr>
              <a:t>/</a:t>
            </a:r>
            <a:r>
              <a:rPr lang="ko-KR" altLang="en-US" sz="1200" b="1" dirty="0" err="1">
                <a:latin typeface="Nanum Gothic" panose="020D0604000000000000" pitchFamily="34" charset="-127"/>
                <a:ea typeface="Nanum Gothic" panose="020D0604000000000000" pitchFamily="34" charset="-127"/>
              </a:rPr>
              <a:t>권한관리</a:t>
            </a:r>
            <a:endParaRPr lang="ko-KR" altLang="en-US" sz="1200" b="1" dirty="0">
              <a:latin typeface="Nanum Gothic" panose="020D0604000000000000" pitchFamily="34" charset="-127"/>
              <a:ea typeface="Nanum Gothic" panose="020D0604000000000000" pitchFamily="34" charset="-127"/>
            </a:endParaRPr>
          </a:p>
        </p:txBody>
      </p:sp>
      <p:sp>
        <p:nvSpPr>
          <p:cNvPr id="37" name="TextBox 36"/>
          <p:cNvSpPr txBox="1"/>
          <p:nvPr/>
        </p:nvSpPr>
        <p:spPr>
          <a:xfrm>
            <a:off x="1191375" y="1313869"/>
            <a:ext cx="3013967"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회원가입내역을 확인하고 </a:t>
            </a:r>
            <a:r>
              <a:rPr lang="ko-KR" altLang="en-US" sz="800" dirty="0" err="1">
                <a:latin typeface="Nanum Gothic" panose="020D0604000000000000" pitchFamily="34" charset="-127"/>
                <a:ea typeface="Nanum Gothic" panose="020D0604000000000000" pitchFamily="34" charset="-127"/>
              </a:rPr>
              <a:t>승인처리</a:t>
            </a:r>
            <a:r>
              <a:rPr lang="ko-KR" altLang="en-US" sz="800" dirty="0">
                <a:latin typeface="Nanum Gothic" panose="020D0604000000000000" pitchFamily="34" charset="-127"/>
                <a:ea typeface="Nanum Gothic" panose="020D0604000000000000" pitchFamily="34" charset="-127"/>
              </a:rPr>
              <a:t> 및 </a:t>
            </a:r>
            <a:r>
              <a:rPr lang="ko-KR" altLang="en-US" sz="800" dirty="0" err="1">
                <a:latin typeface="Nanum Gothic" panose="020D0604000000000000" pitchFamily="34" charset="-127"/>
                <a:ea typeface="Nanum Gothic" panose="020D0604000000000000" pitchFamily="34" charset="-127"/>
              </a:rPr>
              <a:t>권한관리를</a:t>
            </a:r>
            <a:r>
              <a:rPr lang="ko-KR" altLang="en-US" sz="800" dirty="0">
                <a:latin typeface="Nanum Gothic" panose="020D0604000000000000" pitchFamily="34" charset="-127"/>
                <a:ea typeface="Nanum Gothic" panose="020D0604000000000000" pitchFamily="34" charset="-127"/>
              </a:rPr>
              <a:t> 할 수 있습니다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43" name="표 42"/>
          <p:cNvGraphicFramePr>
            <a:graphicFrameLocks noGrp="1"/>
          </p:cNvGraphicFramePr>
          <p:nvPr/>
        </p:nvGraphicFramePr>
        <p:xfrm>
          <a:off x="1280592" y="1628800"/>
          <a:ext cx="6048673" cy="85958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7865">
                  <a:extLst>
                    <a:ext uri="{9D8B030D-6E8A-4147-A177-3AD203B41FA5}">
                      <a16:colId xmlns:a16="http://schemas.microsoft.com/office/drawing/2014/main" val="20003"/>
                    </a:ext>
                  </a:extLst>
                </a:gridCol>
                <a:gridCol w="640448">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상태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승인대기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승인완료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총판사</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시설사</a:t>
                      </a:r>
                      <a:r>
                        <a:rPr lang="ko-KR" altLang="en-US" sz="800" b="0" dirty="0">
                          <a:solidFill>
                            <a:schemeClr val="tx1"/>
                          </a:solidFill>
                          <a:latin typeface="Nanum Gothic" panose="020D0604000000000000" pitchFamily="34" charset="-127"/>
                          <a:ea typeface="Nanum Gothic" panose="020D0604000000000000" pitchFamily="34" charset="-127"/>
                        </a:rPr>
                        <a:t>      ○ 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u="none"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59" name="직사각형 58"/>
          <p:cNvSpPr/>
          <p:nvPr/>
        </p:nvSpPr>
        <p:spPr>
          <a:xfrm>
            <a:off x="2995760" y="224218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6749307" y="1799373"/>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61" name="직사각형 60"/>
          <p:cNvSpPr/>
          <p:nvPr/>
        </p:nvSpPr>
        <p:spPr>
          <a:xfrm>
            <a:off x="6747628" y="2218691"/>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64" name="TextBox 63"/>
          <p:cNvSpPr txBox="1"/>
          <p:nvPr/>
        </p:nvSpPr>
        <p:spPr>
          <a:xfrm>
            <a:off x="1199203" y="2561489"/>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69" name="직사각형 68"/>
          <p:cNvSpPr/>
          <p:nvPr/>
        </p:nvSpPr>
        <p:spPr>
          <a:xfrm>
            <a:off x="2251108" y="2569646"/>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0" name="직사각형 69"/>
          <p:cNvSpPr/>
          <p:nvPr/>
        </p:nvSpPr>
        <p:spPr>
          <a:xfrm>
            <a:off x="2056314" y="2242186"/>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회사명          ▽</a:t>
            </a:r>
          </a:p>
        </p:txBody>
      </p:sp>
      <p:sp>
        <p:nvSpPr>
          <p:cNvPr id="71" name="직사각형 70"/>
          <p:cNvSpPr/>
          <p:nvPr/>
        </p:nvSpPr>
        <p:spPr>
          <a:xfrm>
            <a:off x="1651210" y="2565880"/>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38" name="직사각형 37"/>
          <p:cNvSpPr/>
          <p:nvPr/>
        </p:nvSpPr>
        <p:spPr>
          <a:xfrm>
            <a:off x="6746204" y="2577788"/>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직접등록</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46" name="직사각형 45"/>
          <p:cNvSpPr/>
          <p:nvPr/>
        </p:nvSpPr>
        <p:spPr>
          <a:xfrm>
            <a:off x="2031933" y="1955418"/>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48" name="직사각형 47"/>
          <p:cNvSpPr/>
          <p:nvPr/>
        </p:nvSpPr>
        <p:spPr>
          <a:xfrm>
            <a:off x="3230818" y="1956969"/>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50" name="직사각형 49"/>
          <p:cNvSpPr/>
          <p:nvPr/>
        </p:nvSpPr>
        <p:spPr>
          <a:xfrm>
            <a:off x="6136618" y="2580465"/>
            <a:ext cx="583061" cy="192078"/>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승인처리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66" name="직사각형 165"/>
          <p:cNvSpPr/>
          <p:nvPr/>
        </p:nvSpPr>
        <p:spPr>
          <a:xfrm>
            <a:off x="1280592" y="3413548"/>
            <a:ext cx="2944753" cy="3903884"/>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회원정보수정</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167" name="직사각형 166"/>
          <p:cNvSpPr/>
          <p:nvPr/>
        </p:nvSpPr>
        <p:spPr>
          <a:xfrm>
            <a:off x="2390693" y="7102964"/>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수정</a:t>
            </a:r>
          </a:p>
        </p:txBody>
      </p:sp>
      <p:sp>
        <p:nvSpPr>
          <p:cNvPr id="168" name="TextBox 167"/>
          <p:cNvSpPr txBox="1"/>
          <p:nvPr/>
        </p:nvSpPr>
        <p:spPr>
          <a:xfrm>
            <a:off x="3857123" y="3434378"/>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169" name="표 168"/>
          <p:cNvGraphicFramePr>
            <a:graphicFrameLocks noGrp="1"/>
          </p:cNvGraphicFramePr>
          <p:nvPr/>
        </p:nvGraphicFramePr>
        <p:xfrm>
          <a:off x="1388330" y="3751810"/>
          <a:ext cx="2692999" cy="3288668"/>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72919">
                  <a:extLst>
                    <a:ext uri="{9D8B030D-6E8A-4147-A177-3AD203B41FA5}">
                      <a16:colId xmlns:a16="http://schemas.microsoft.com/office/drawing/2014/main" val="20001"/>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u="none" dirty="0" err="1">
                          <a:solidFill>
                            <a:schemeClr val="tx1">
                              <a:lumMod val="75000"/>
                              <a:lumOff val="25000"/>
                            </a:schemeClr>
                          </a:solidFill>
                          <a:latin typeface="Nanum Gothic" panose="020D0604000000000000" pitchFamily="34" charset="-127"/>
                          <a:ea typeface="Nanum Gothic" panose="020D0604000000000000" pitchFamily="34" charset="-127"/>
                        </a:rPr>
                        <a:t>시설사</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아이디</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ever33</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비밀번호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err="1">
                          <a:solidFill>
                            <a:schemeClr val="tx1">
                              <a:lumMod val="75000"/>
                              <a:lumOff val="25000"/>
                            </a:schemeClr>
                          </a:solidFill>
                          <a:latin typeface="Nanum Gothic" panose="020D0604000000000000" pitchFamily="34" charset="-127"/>
                          <a:ea typeface="Nanum Gothic" panose="020D0604000000000000" pitchFamily="34" charset="-127"/>
                        </a:rPr>
                        <a:t>총판사명</a:t>
                      </a:r>
                      <a:endPar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r>
                        <a:rPr lang="ko-KR" altLang="en-US" sz="800" b="0" u="none" dirty="0" err="1">
                          <a:solidFill>
                            <a:schemeClr val="tx1">
                              <a:lumMod val="75000"/>
                              <a:lumOff val="25000"/>
                            </a:schemeClr>
                          </a:solidFill>
                          <a:latin typeface="Nanum Gothic" panose="020D0604000000000000" pitchFamily="34" charset="-127"/>
                          <a:ea typeface="Nanum Gothic" panose="020D0604000000000000" pitchFamily="34" charset="-127"/>
                        </a:rPr>
                        <a:t>우수여행사</a:t>
                      </a:r>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(tbrige01) </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회사명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대표자명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5553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사업자번호</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77761">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계좌정보</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우리은행</a:t>
                      </a:r>
                      <a:endPar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p>
                      <a:pPr marL="9525" indent="0" algn="l" latinLnBrk="1"/>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000-0000-00000</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제휴담당자명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휴대폰번호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이메일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bl>
          </a:graphicData>
        </a:graphic>
      </p:graphicFrame>
      <p:sp>
        <p:nvSpPr>
          <p:cNvPr id="170" name="직사각형 169"/>
          <p:cNvSpPr/>
          <p:nvPr/>
        </p:nvSpPr>
        <p:spPr>
          <a:xfrm>
            <a:off x="2177791" y="4812278"/>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에버랜드</a:t>
            </a:r>
          </a:p>
        </p:txBody>
      </p:sp>
      <p:sp>
        <p:nvSpPr>
          <p:cNvPr id="171" name="직사각형 170"/>
          <p:cNvSpPr/>
          <p:nvPr/>
        </p:nvSpPr>
        <p:spPr>
          <a:xfrm>
            <a:off x="2180105" y="5079393"/>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이나나</a:t>
            </a:r>
            <a:endParaRPr lang="ko-KR" altLang="en-US" sz="800" dirty="0">
              <a:solidFill>
                <a:schemeClr val="tx1"/>
              </a:solidFill>
              <a:latin typeface="Nanum Gothic" panose="020D0604000000000000" pitchFamily="34" charset="-127"/>
              <a:ea typeface="Nanum Gothic" panose="020D0604000000000000" pitchFamily="34" charset="-127"/>
            </a:endParaRPr>
          </a:p>
        </p:txBody>
      </p:sp>
      <p:sp>
        <p:nvSpPr>
          <p:cNvPr id="172" name="직사각형 171"/>
          <p:cNvSpPr/>
          <p:nvPr/>
        </p:nvSpPr>
        <p:spPr>
          <a:xfrm>
            <a:off x="2181771" y="5593035"/>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업태명</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173" name="직사각형 172"/>
          <p:cNvSpPr/>
          <p:nvPr/>
        </p:nvSpPr>
        <p:spPr>
          <a:xfrm>
            <a:off x="2177791" y="5339934"/>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Nanum Gothic" panose="020D0604000000000000" pitchFamily="34" charset="-127"/>
                <a:ea typeface="Nanum Gothic" panose="020D0604000000000000" pitchFamily="34" charset="-127"/>
              </a:rPr>
              <a:t>222-22-22222</a:t>
            </a:r>
          </a:p>
        </p:txBody>
      </p:sp>
      <p:sp>
        <p:nvSpPr>
          <p:cNvPr id="174" name="직사각형 173"/>
          <p:cNvSpPr/>
          <p:nvPr/>
        </p:nvSpPr>
        <p:spPr>
          <a:xfrm>
            <a:off x="2175778" y="6316919"/>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이화자</a:t>
            </a:r>
          </a:p>
        </p:txBody>
      </p:sp>
      <p:sp>
        <p:nvSpPr>
          <p:cNvPr id="175" name="직사각형 174"/>
          <p:cNvSpPr/>
          <p:nvPr/>
        </p:nvSpPr>
        <p:spPr>
          <a:xfrm>
            <a:off x="2175777" y="6564415"/>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ctr">
              <a:defRPr/>
            </a:pPr>
            <a:r>
              <a:rPr lang="en-US" altLang="ko-KR" sz="800" dirty="0">
                <a:solidFill>
                  <a:srgbClr val="000000"/>
                </a:solidFill>
                <a:latin typeface="Nanum Gothic" panose="020D0604000000000000" pitchFamily="34" charset="-127"/>
                <a:ea typeface="Nanum Gothic" panose="020D0604000000000000" pitchFamily="34" charset="-127"/>
              </a:rPr>
              <a:t>010-0000-0000</a:t>
            </a:r>
            <a:endParaRPr lang="ko-KR" altLang="en-US" sz="800" dirty="0">
              <a:solidFill>
                <a:srgbClr val="000000"/>
              </a:solidFill>
              <a:latin typeface="Nanum Gothic" panose="020D0604000000000000" pitchFamily="34" charset="-127"/>
              <a:ea typeface="Nanum Gothic" panose="020D0604000000000000" pitchFamily="34" charset="-127"/>
            </a:endParaRPr>
          </a:p>
        </p:txBody>
      </p:sp>
      <p:sp>
        <p:nvSpPr>
          <p:cNvPr id="176" name="직사각형 175"/>
          <p:cNvSpPr/>
          <p:nvPr/>
        </p:nvSpPr>
        <p:spPr>
          <a:xfrm>
            <a:off x="2177791" y="6831530"/>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ctr">
              <a:defRPr/>
            </a:pPr>
            <a:r>
              <a:rPr lang="en-US" altLang="ko-KR" sz="800" dirty="0" err="1">
                <a:solidFill>
                  <a:srgbClr val="000000"/>
                </a:solidFill>
                <a:latin typeface="Nanum Gothic" panose="020D0604000000000000" pitchFamily="34" charset="-127"/>
                <a:ea typeface="Nanum Gothic" panose="020D0604000000000000" pitchFamily="34" charset="-127"/>
              </a:rPr>
              <a:t>gaga@naver.com</a:t>
            </a:r>
            <a:endParaRPr lang="ko-KR" altLang="en-US" sz="800" dirty="0">
              <a:solidFill>
                <a:srgbClr val="000000"/>
              </a:solidFill>
              <a:latin typeface="Nanum Gothic" panose="020D0604000000000000" pitchFamily="34" charset="-127"/>
              <a:ea typeface="Nanum Gothic" panose="020D0604000000000000" pitchFamily="34" charset="-127"/>
            </a:endParaRPr>
          </a:p>
        </p:txBody>
      </p:sp>
      <p:sp>
        <p:nvSpPr>
          <p:cNvPr id="177" name="직사각형 176"/>
          <p:cNvSpPr/>
          <p:nvPr/>
        </p:nvSpPr>
        <p:spPr>
          <a:xfrm>
            <a:off x="3090347" y="5592276"/>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업종명</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181" name="직사각형 180"/>
          <p:cNvSpPr/>
          <p:nvPr/>
        </p:nvSpPr>
        <p:spPr>
          <a:xfrm>
            <a:off x="3353645" y="5971148"/>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계좌변경</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83" name="직사각형 182"/>
          <p:cNvSpPr/>
          <p:nvPr/>
        </p:nvSpPr>
        <p:spPr>
          <a:xfrm>
            <a:off x="2798816" y="4301759"/>
            <a:ext cx="720868" cy="181758"/>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임시번호발송</a:t>
            </a:r>
          </a:p>
        </p:txBody>
      </p:sp>
      <p:cxnSp>
        <p:nvCxnSpPr>
          <p:cNvPr id="186" name="꺾인 연결선[E] 185"/>
          <p:cNvCxnSpPr>
            <a:stCxn id="38" idx="2"/>
          </p:cNvCxnSpPr>
          <p:nvPr/>
        </p:nvCxnSpPr>
        <p:spPr>
          <a:xfrm rot="5400000">
            <a:off x="6150669" y="2532661"/>
            <a:ext cx="638419" cy="1135714"/>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7" name="직사각형 186"/>
          <p:cNvSpPr/>
          <p:nvPr/>
        </p:nvSpPr>
        <p:spPr>
          <a:xfrm>
            <a:off x="1567184" y="3075408"/>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cxnSp>
        <p:nvCxnSpPr>
          <p:cNvPr id="188" name="꺾인 연결선[E] 187"/>
          <p:cNvCxnSpPr>
            <a:endCxn id="166" idx="0"/>
          </p:cNvCxnSpPr>
          <p:nvPr/>
        </p:nvCxnSpPr>
        <p:spPr>
          <a:xfrm>
            <a:off x="1808458" y="3148116"/>
            <a:ext cx="944511" cy="265432"/>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6" name="직사각형 75"/>
          <p:cNvSpPr/>
          <p:nvPr/>
        </p:nvSpPr>
        <p:spPr>
          <a:xfrm>
            <a:off x="4372977" y="3433453"/>
            <a:ext cx="2944753" cy="3883979"/>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회원직접등록</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77" name="직사각형 76"/>
          <p:cNvSpPr/>
          <p:nvPr/>
        </p:nvSpPr>
        <p:spPr>
          <a:xfrm>
            <a:off x="5457132" y="7067365"/>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등록</a:t>
            </a:r>
          </a:p>
        </p:txBody>
      </p:sp>
      <p:sp>
        <p:nvSpPr>
          <p:cNvPr id="78" name="TextBox 77"/>
          <p:cNvSpPr txBox="1"/>
          <p:nvPr/>
        </p:nvSpPr>
        <p:spPr>
          <a:xfrm>
            <a:off x="6949508" y="3464117"/>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79" name="표 78"/>
          <p:cNvGraphicFramePr>
            <a:graphicFrameLocks noGrp="1"/>
          </p:cNvGraphicFramePr>
          <p:nvPr/>
        </p:nvGraphicFramePr>
        <p:xfrm>
          <a:off x="4480715" y="3781549"/>
          <a:ext cx="2692999" cy="3222374"/>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72919">
                  <a:extLst>
                    <a:ext uri="{9D8B030D-6E8A-4147-A177-3AD203B41FA5}">
                      <a16:colId xmlns:a16="http://schemas.microsoft.com/office/drawing/2014/main" val="20001"/>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a:t>
                      </a:r>
                      <a:r>
                        <a:rPr lang="ko-KR" altLang="en-US" sz="800" b="0" dirty="0" err="1">
                          <a:solidFill>
                            <a:schemeClr val="tx1"/>
                          </a:solidFill>
                          <a:latin typeface="Nanum Gothic" panose="020D0604000000000000" pitchFamily="34" charset="-127"/>
                          <a:ea typeface="Nanum Gothic" panose="020D0604000000000000" pitchFamily="34" charset="-127"/>
                        </a:rPr>
                        <a:t>총판사</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시설사</a:t>
                      </a:r>
                      <a:r>
                        <a:rPr lang="ko-KR" altLang="en-US" sz="800" b="0" dirty="0">
                          <a:solidFill>
                            <a:schemeClr val="tx1"/>
                          </a:solidFill>
                          <a:latin typeface="Nanum Gothic" panose="020D0604000000000000" pitchFamily="34" charset="-127"/>
                          <a:ea typeface="Nanum Gothic" panose="020D0604000000000000" pitchFamily="34" charset="-127"/>
                        </a:rPr>
                        <a:t>      ○ 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아이디</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비밀번호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err="1">
                          <a:solidFill>
                            <a:schemeClr val="tx1">
                              <a:lumMod val="75000"/>
                              <a:lumOff val="25000"/>
                            </a:schemeClr>
                          </a:solidFill>
                          <a:latin typeface="Nanum Gothic" panose="020D0604000000000000" pitchFamily="34" charset="-127"/>
                          <a:ea typeface="Nanum Gothic" panose="020D0604000000000000" pitchFamily="34" charset="-127"/>
                        </a:rPr>
                        <a:t>총판사선택</a:t>
                      </a:r>
                      <a:endPar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회사명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대표자명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5553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사업자번호</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1146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계좌정보</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제휴담당자명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휴대폰번호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이메일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bl>
          </a:graphicData>
        </a:graphic>
      </p:graphicFrame>
      <p:sp>
        <p:nvSpPr>
          <p:cNvPr id="80" name="직사각형 79"/>
          <p:cNvSpPr/>
          <p:nvPr/>
        </p:nvSpPr>
        <p:spPr>
          <a:xfrm>
            <a:off x="5270176" y="4819362"/>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81" name="직사각형 80"/>
          <p:cNvSpPr/>
          <p:nvPr/>
        </p:nvSpPr>
        <p:spPr>
          <a:xfrm>
            <a:off x="5272490" y="5086477"/>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82" name="직사각형 81"/>
          <p:cNvSpPr/>
          <p:nvPr/>
        </p:nvSpPr>
        <p:spPr>
          <a:xfrm>
            <a:off x="5274156" y="5600119"/>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업태선택</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83" name="직사각형 82"/>
          <p:cNvSpPr/>
          <p:nvPr/>
        </p:nvSpPr>
        <p:spPr>
          <a:xfrm>
            <a:off x="5270176" y="5347018"/>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86" name="직사각형 85"/>
          <p:cNvSpPr/>
          <p:nvPr/>
        </p:nvSpPr>
        <p:spPr>
          <a:xfrm>
            <a:off x="5268163" y="6269527"/>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88" name="직사각형 87"/>
          <p:cNvSpPr/>
          <p:nvPr/>
        </p:nvSpPr>
        <p:spPr>
          <a:xfrm>
            <a:off x="5268162" y="6517023"/>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90" name="직사각형 89"/>
          <p:cNvSpPr/>
          <p:nvPr/>
        </p:nvSpPr>
        <p:spPr>
          <a:xfrm>
            <a:off x="5270176" y="6784138"/>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94" name="직사각형 93"/>
          <p:cNvSpPr/>
          <p:nvPr/>
        </p:nvSpPr>
        <p:spPr>
          <a:xfrm>
            <a:off x="6182732" y="5599360"/>
            <a:ext cx="862677" cy="15433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업종선택</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95" name="직사각형 94"/>
          <p:cNvSpPr/>
          <p:nvPr/>
        </p:nvSpPr>
        <p:spPr>
          <a:xfrm>
            <a:off x="5268162" y="4570033"/>
            <a:ext cx="1044466"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bg1">
                    <a:lumMod val="65000"/>
                  </a:schemeClr>
                </a:solidFill>
                <a:latin typeface="Nanum Gothic" panose="020D0604000000000000" pitchFamily="34" charset="-127"/>
                <a:ea typeface="Nanum Gothic" panose="020D0604000000000000" pitchFamily="34" charset="-127"/>
              </a:rPr>
              <a:t>아이디 입력</a:t>
            </a:r>
          </a:p>
        </p:txBody>
      </p:sp>
      <p:sp>
        <p:nvSpPr>
          <p:cNvPr id="96" name="직사각형 95"/>
          <p:cNvSpPr/>
          <p:nvPr/>
        </p:nvSpPr>
        <p:spPr>
          <a:xfrm>
            <a:off x="6358527" y="4574699"/>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검색</a:t>
            </a:r>
          </a:p>
        </p:txBody>
      </p:sp>
      <p:sp>
        <p:nvSpPr>
          <p:cNvPr id="97" name="직사각형 96"/>
          <p:cNvSpPr/>
          <p:nvPr/>
        </p:nvSpPr>
        <p:spPr>
          <a:xfrm>
            <a:off x="5277246" y="4081761"/>
            <a:ext cx="103712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98" name="직사각형 97"/>
          <p:cNvSpPr/>
          <p:nvPr/>
        </p:nvSpPr>
        <p:spPr>
          <a:xfrm>
            <a:off x="6362504" y="4082866"/>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중복확인</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99" name="직사각형 98"/>
          <p:cNvSpPr/>
          <p:nvPr/>
        </p:nvSpPr>
        <p:spPr>
          <a:xfrm>
            <a:off x="5273269" y="6017183"/>
            <a:ext cx="103712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00" name="직사각형 99"/>
          <p:cNvSpPr/>
          <p:nvPr/>
        </p:nvSpPr>
        <p:spPr>
          <a:xfrm>
            <a:off x="6358527" y="6018288"/>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계좌인증</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01" name="직사각형 100"/>
          <p:cNvSpPr/>
          <p:nvPr/>
        </p:nvSpPr>
        <p:spPr>
          <a:xfrm>
            <a:off x="5268161" y="4324985"/>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102" name="직사각형 101"/>
          <p:cNvSpPr/>
          <p:nvPr/>
        </p:nvSpPr>
        <p:spPr>
          <a:xfrm>
            <a:off x="3248278" y="4547020"/>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변경</a:t>
            </a:r>
          </a:p>
        </p:txBody>
      </p:sp>
      <p:sp>
        <p:nvSpPr>
          <p:cNvPr id="103" name="직사각형 102"/>
          <p:cNvSpPr/>
          <p:nvPr/>
        </p:nvSpPr>
        <p:spPr>
          <a:xfrm>
            <a:off x="5289376" y="5846858"/>
            <a:ext cx="1021021" cy="153721"/>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은행명선택</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84" name="직사각형 83"/>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85" name="직사각형 84"/>
          <p:cNvSpPr/>
          <p:nvPr/>
        </p:nvSpPr>
        <p:spPr>
          <a:xfrm>
            <a:off x="128461" y="363462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87" name="직사각형 86"/>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89" name="직사각형 88"/>
          <p:cNvSpPr/>
          <p:nvPr/>
        </p:nvSpPr>
        <p:spPr>
          <a:xfrm>
            <a:off x="128457" y="3282858"/>
            <a:ext cx="1008115" cy="343273"/>
          </a:xfrm>
          <a:prstGeom prst="rect">
            <a:avLst/>
          </a:prstGeom>
          <a:solidFill>
            <a:schemeClr val="bg1">
              <a:lumMod val="95000"/>
            </a:schemeClr>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회원</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a:t>
            </a:r>
            <a:r>
              <a:rPr lang="ko-KR" altLang="en-US" sz="1000" b="1" dirty="0" err="1">
                <a:solidFill>
                  <a:schemeClr val="tx2">
                    <a:lumMod val="60000"/>
                    <a:lumOff val="40000"/>
                  </a:schemeClr>
                </a:solidFill>
                <a:latin typeface="Nanum Gothic" panose="020D0604000000000000" pitchFamily="34" charset="-127"/>
                <a:ea typeface="Nanum Gothic" panose="020D0604000000000000" pitchFamily="34" charset="-127"/>
              </a:rPr>
              <a:t>권한관리</a:t>
            </a: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91" name="직사각형 90"/>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92" name="직사각형 91"/>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93" name="직사각형 92"/>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104" name="직사각형 103"/>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105" name="직사각형 104"/>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nvGraphicFramePr>
        <p:xfrm>
          <a:off x="1280592" y="2842042"/>
          <a:ext cx="7920880" cy="454327"/>
        </p:xfrm>
        <a:graphic>
          <a:graphicData uri="http://schemas.openxmlformats.org/drawingml/2006/table">
            <a:tbl>
              <a:tblPr/>
              <a:tblGrid>
                <a:gridCol w="264819">
                  <a:extLst>
                    <a:ext uri="{9D8B030D-6E8A-4147-A177-3AD203B41FA5}">
                      <a16:colId xmlns:a16="http://schemas.microsoft.com/office/drawing/2014/main" val="20000"/>
                    </a:ext>
                  </a:extLst>
                </a:gridCol>
                <a:gridCol w="421573">
                  <a:extLst>
                    <a:ext uri="{9D8B030D-6E8A-4147-A177-3AD203B41FA5}">
                      <a16:colId xmlns:a16="http://schemas.microsoft.com/office/drawing/2014/main" val="20001"/>
                    </a:ext>
                  </a:extLst>
                </a:gridCol>
                <a:gridCol w="433342">
                  <a:extLst>
                    <a:ext uri="{9D8B030D-6E8A-4147-A177-3AD203B41FA5}">
                      <a16:colId xmlns:a16="http://schemas.microsoft.com/office/drawing/2014/main" val="20002"/>
                    </a:ext>
                  </a:extLst>
                </a:gridCol>
                <a:gridCol w="441833">
                  <a:extLst>
                    <a:ext uri="{9D8B030D-6E8A-4147-A177-3AD203B41FA5}">
                      <a16:colId xmlns:a16="http://schemas.microsoft.com/office/drawing/2014/main" val="20003"/>
                    </a:ext>
                  </a:extLst>
                </a:gridCol>
                <a:gridCol w="626322">
                  <a:extLst>
                    <a:ext uri="{9D8B030D-6E8A-4147-A177-3AD203B41FA5}">
                      <a16:colId xmlns:a16="http://schemas.microsoft.com/office/drawing/2014/main" val="20004"/>
                    </a:ext>
                  </a:extLst>
                </a:gridCol>
                <a:gridCol w="366557">
                  <a:extLst>
                    <a:ext uri="{9D8B030D-6E8A-4147-A177-3AD203B41FA5}">
                      <a16:colId xmlns:a16="http://schemas.microsoft.com/office/drawing/2014/main" val="20005"/>
                    </a:ext>
                  </a:extLst>
                </a:gridCol>
                <a:gridCol w="559078">
                  <a:extLst>
                    <a:ext uri="{9D8B030D-6E8A-4147-A177-3AD203B41FA5}">
                      <a16:colId xmlns:a16="http://schemas.microsoft.com/office/drawing/2014/main" val="20006"/>
                    </a:ext>
                  </a:extLst>
                </a:gridCol>
                <a:gridCol w="439363">
                  <a:extLst>
                    <a:ext uri="{9D8B030D-6E8A-4147-A177-3AD203B41FA5}">
                      <a16:colId xmlns:a16="http://schemas.microsoft.com/office/drawing/2014/main" val="20007"/>
                    </a:ext>
                  </a:extLst>
                </a:gridCol>
                <a:gridCol w="643449">
                  <a:extLst>
                    <a:ext uri="{9D8B030D-6E8A-4147-A177-3AD203B41FA5}">
                      <a16:colId xmlns:a16="http://schemas.microsoft.com/office/drawing/2014/main" val="20008"/>
                    </a:ext>
                  </a:extLst>
                </a:gridCol>
                <a:gridCol w="430972">
                  <a:extLst>
                    <a:ext uri="{9D8B030D-6E8A-4147-A177-3AD203B41FA5}">
                      <a16:colId xmlns:a16="http://schemas.microsoft.com/office/drawing/2014/main" val="20009"/>
                    </a:ext>
                  </a:extLst>
                </a:gridCol>
                <a:gridCol w="484988">
                  <a:extLst>
                    <a:ext uri="{9D8B030D-6E8A-4147-A177-3AD203B41FA5}">
                      <a16:colId xmlns:a16="http://schemas.microsoft.com/office/drawing/2014/main" val="20010"/>
                    </a:ext>
                  </a:extLst>
                </a:gridCol>
                <a:gridCol w="432320">
                  <a:extLst>
                    <a:ext uri="{9D8B030D-6E8A-4147-A177-3AD203B41FA5}">
                      <a16:colId xmlns:a16="http://schemas.microsoft.com/office/drawing/2014/main" val="20011"/>
                    </a:ext>
                  </a:extLst>
                </a:gridCol>
                <a:gridCol w="672562">
                  <a:extLst>
                    <a:ext uri="{9D8B030D-6E8A-4147-A177-3AD203B41FA5}">
                      <a16:colId xmlns:a16="http://schemas.microsoft.com/office/drawing/2014/main" val="20012"/>
                    </a:ext>
                  </a:extLst>
                </a:gridCol>
                <a:gridCol w="816453">
                  <a:extLst>
                    <a:ext uri="{9D8B030D-6E8A-4147-A177-3AD203B41FA5}">
                      <a16:colId xmlns:a16="http://schemas.microsoft.com/office/drawing/2014/main" val="20013"/>
                    </a:ext>
                  </a:extLst>
                </a:gridCol>
                <a:gridCol w="887249">
                  <a:extLst>
                    <a:ext uri="{9D8B030D-6E8A-4147-A177-3AD203B41FA5}">
                      <a16:colId xmlns:a16="http://schemas.microsoft.com/office/drawing/2014/main" val="20014"/>
                    </a:ext>
                  </a:extLst>
                </a:gridCol>
              </a:tblGrid>
              <a:tr h="188241">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ㅁ</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관리</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상태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아이디</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회사명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권한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총판사명</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대표자명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사업자번호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업태</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업종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계좌정보</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a:solidFill>
                            <a:schemeClr val="bg1"/>
                          </a:solidFill>
                          <a:effectLst/>
                          <a:latin typeface="Nanum Gothic" panose="020D0604000000000000" pitchFamily="34" charset="-127"/>
                          <a:ea typeface="Nanum Gothic" panose="020D0604000000000000" pitchFamily="34" charset="-127"/>
                        </a:rPr>
                        <a:t>제휴담당자명</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none" strike="noStrike" dirty="0" err="1">
                          <a:solidFill>
                            <a:schemeClr val="bg1"/>
                          </a:solidFill>
                          <a:effectLst/>
                          <a:latin typeface="Nanum Gothic" panose="020D0604000000000000" pitchFamily="34" charset="-127"/>
                          <a:ea typeface="Nanum Gothic" panose="020D0604000000000000" pitchFamily="34" charset="-127"/>
                        </a:rPr>
                        <a:t>휴대포번호</a:t>
                      </a:r>
                      <a:endParaRPr lang="ko-KR" altLang="en-US" sz="800" b="1" i="0" u="none" strike="noStrike" dirty="0">
                        <a:solidFill>
                          <a:schemeClr val="bg1"/>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tc>
                  <a:txBody>
                    <a:bodyPr/>
                    <a:lstStyle/>
                    <a:p>
                      <a:pPr algn="ctr" fontAlgn="ctr"/>
                      <a:r>
                        <a:rPr lang="ko-KR" altLang="en-US" sz="800" b="1" i="0" u="sng" strike="noStrike" dirty="0">
                          <a:solidFill>
                            <a:schemeClr val="bg1"/>
                          </a:solidFill>
                          <a:effectLst/>
                          <a:latin typeface="Nanum Gothic" panose="020D0604000000000000" pitchFamily="34" charset="-127"/>
                          <a:ea typeface="Nanum Gothic" panose="020D0604000000000000" pitchFamily="34" charset="-127"/>
                        </a:rPr>
                        <a:t>이메일</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366092"/>
                    </a:solidFill>
                  </a:tcPr>
                </a:tc>
                <a:extLst>
                  <a:ext uri="{0D108BD9-81ED-4DB2-BD59-A6C34878D82A}">
                    <a16:rowId xmlns:a16="http://schemas.microsoft.com/office/drawing/2014/main" val="10000"/>
                  </a:ext>
                </a:extLst>
              </a:tr>
              <a:tr h="266086">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ㅁ</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승인완료</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master</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err="1">
                          <a:solidFill>
                            <a:srgbClr val="000000"/>
                          </a:solidFill>
                          <a:effectLst/>
                          <a:latin typeface="Nanum Gothic" panose="020D0604000000000000" pitchFamily="34" charset="-127"/>
                          <a:ea typeface="Nanum Gothic" panose="020D0604000000000000" pitchFamily="34" charset="-127"/>
                        </a:rPr>
                        <a:t>티브리지</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ko-KR" altLang="en-US" sz="800" b="0" i="0" u="none" strike="noStrike" dirty="0">
                          <a:solidFill>
                            <a:srgbClr val="000000"/>
                          </a:solidFill>
                          <a:effectLst/>
                          <a:latin typeface="Nanum Gothic" panose="020D0604000000000000" pitchFamily="34" charset="-127"/>
                          <a:ea typeface="Nanum Gothic" panose="020D0604000000000000" pitchFamily="34" charset="-127"/>
                        </a:rPr>
                        <a:t>마스터</a:t>
                      </a:r>
                      <a:endParaRPr lang="en-US" altLang="ko-KR"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sng"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a:solidFill>
                            <a:srgbClr val="000000"/>
                          </a:solidFill>
                          <a:effectLst/>
                          <a:latin typeface="Nanum Gothic" panose="020D0604000000000000" pitchFamily="34" charset="-127"/>
                          <a:ea typeface="Nanum Gothic" panose="020D0604000000000000" pitchFamily="34" charset="-127"/>
                        </a:rPr>
                        <a:t>-</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US" altLang="ko-KR" sz="800" b="0" i="0" u="none" strike="noStrike" dirty="0" err="1">
                          <a:solidFill>
                            <a:srgbClr val="000000"/>
                          </a:solidFill>
                          <a:effectLst/>
                          <a:latin typeface="Nanum Gothic" panose="020D0604000000000000" pitchFamily="34" charset="-127"/>
                          <a:ea typeface="Nanum Gothic" panose="020D0604000000000000" pitchFamily="34" charset="-127"/>
                        </a:rPr>
                        <a:t>nono@gmail.com</a:t>
                      </a:r>
                      <a:endParaRPr lang="ko-KR" altLang="en-US" sz="800" b="0" i="0" u="none" strike="noStrike" dirty="0">
                        <a:solidFill>
                          <a:srgbClr val="000000"/>
                        </a:solidFill>
                        <a:effectLst/>
                        <a:latin typeface="Nanum Gothic" panose="020D0604000000000000" pitchFamily="34" charset="-127"/>
                        <a:ea typeface="Nanum Gothic" panose="020D0604000000000000" pitchFamily="34" charset="-127"/>
                      </a:endParaRPr>
                    </a:p>
                  </a:txBody>
                  <a:tcPr marL="4763" marR="4763" marT="4763"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p:txBody>
          <a:bodyPr/>
          <a:lstStyle/>
          <a:p>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err="1">
                <a:solidFill>
                  <a:srgbClr val="C00000"/>
                </a:solidFill>
                <a:latin typeface="Nanum Gothic" panose="020D0604000000000000" pitchFamily="34" charset="-127"/>
                <a:ea typeface="Nanum Gothic" panose="020D0604000000000000" pitchFamily="34" charset="-127"/>
              </a:rPr>
              <a:t>마스터전용</a:t>
            </a:r>
            <a:r>
              <a:rPr lang="en-US" altLang="ko-KR" dirty="0">
                <a:solidFill>
                  <a:srgbClr val="C00000"/>
                </a:solidFill>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 회원</a:t>
            </a:r>
            <a:r>
              <a:rPr lang="en-US" altLang="ko-KR" dirty="0">
                <a:latin typeface="Nanum Gothic" panose="020D0604000000000000" pitchFamily="34" charset="-127"/>
                <a:ea typeface="Nanum Gothic" panose="020D0604000000000000" pitchFamily="34" charset="-127"/>
              </a:rPr>
              <a:t>/</a:t>
            </a:r>
            <a:r>
              <a:rPr lang="ko-KR" altLang="en-US" dirty="0" err="1">
                <a:latin typeface="Nanum Gothic" panose="020D0604000000000000" pitchFamily="34" charset="-127"/>
                <a:ea typeface="Nanum Gothic" panose="020D0604000000000000" pitchFamily="34" charset="-127"/>
              </a:rPr>
              <a:t>권한관리</a:t>
            </a:r>
            <a:r>
              <a:rPr lang="ko-KR" altLang="en-US" dirty="0">
                <a:latin typeface="Nanum Gothic" panose="020D0604000000000000" pitchFamily="34" charset="-127"/>
                <a:ea typeface="Nanum Gothic" panose="020D0604000000000000" pitchFamily="34" charset="-127"/>
              </a:rPr>
              <a:t> </a:t>
            </a:r>
            <a:r>
              <a:rPr lang="en-US" altLang="ko-KR" dirty="0">
                <a:latin typeface="Nanum Gothic" panose="020D0604000000000000" pitchFamily="34" charset="-127"/>
                <a:ea typeface="Nanum Gothic" panose="020D0604000000000000" pitchFamily="34" charset="-127"/>
              </a:rPr>
              <a:t>&gt;</a:t>
            </a:r>
            <a:r>
              <a:rPr lang="ko-KR" altLang="en-US" dirty="0">
                <a:latin typeface="Nanum Gothic" panose="020D0604000000000000" pitchFamily="34" charset="-127"/>
                <a:ea typeface="Nanum Gothic" panose="020D0604000000000000" pitchFamily="34" charset="-127"/>
              </a:rPr>
              <a:t> </a:t>
            </a:r>
            <a:r>
              <a:rPr lang="ko-KR" altLang="en-US" dirty="0" err="1">
                <a:latin typeface="Nanum Gothic" panose="020D0604000000000000" pitchFamily="34" charset="-127"/>
                <a:ea typeface="Nanum Gothic" panose="020D0604000000000000" pitchFamily="34" charset="-127"/>
              </a:rPr>
              <a:t>직정등록</a:t>
            </a:r>
            <a:r>
              <a:rPr lang="en-US" altLang="ko-KR" dirty="0">
                <a:latin typeface="Nanum Gothic" panose="020D0604000000000000" pitchFamily="34" charset="-127"/>
                <a:ea typeface="Nanum Gothic" panose="020D0604000000000000" pitchFamily="34" charset="-127"/>
              </a:rPr>
              <a:t>(</a:t>
            </a:r>
            <a:r>
              <a:rPr lang="ko-KR" altLang="en-US" dirty="0">
                <a:latin typeface="Nanum Gothic" panose="020D0604000000000000" pitchFamily="34" charset="-127"/>
                <a:ea typeface="Nanum Gothic" panose="020D0604000000000000" pitchFamily="34" charset="-127"/>
              </a:rPr>
              <a:t>마스터</a:t>
            </a:r>
            <a:r>
              <a:rPr lang="en-US" altLang="ko-KR" dirty="0">
                <a:latin typeface="Nanum Gothic" panose="020D0604000000000000" pitchFamily="34" charset="-127"/>
                <a:ea typeface="Nanum Gothic" panose="020D0604000000000000" pitchFamily="34" charset="-127"/>
              </a:rPr>
              <a:t>)</a:t>
            </a:r>
            <a:endParaRPr lang="ko-KR" altLang="en-US" dirty="0">
              <a:latin typeface="Nanum Gothic" panose="020D0604000000000000" pitchFamily="34" charset="-127"/>
              <a:ea typeface="Nanum Gothic" panose="020D0604000000000000" pitchFamily="34" charset="-127"/>
            </a:endParaRPr>
          </a:p>
        </p:txBody>
      </p:sp>
      <p:sp>
        <p:nvSpPr>
          <p:cNvPr id="14" name="직사각형 13"/>
          <p:cNvSpPr/>
          <p:nvPr/>
        </p:nvSpPr>
        <p:spPr>
          <a:xfrm>
            <a:off x="128461" y="620686"/>
            <a:ext cx="1008115" cy="5976665"/>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15" name="직사각형 14"/>
          <p:cNvSpPr/>
          <p:nvPr/>
        </p:nvSpPr>
        <p:spPr>
          <a:xfrm>
            <a:off x="128464" y="620687"/>
            <a:ext cx="1008115" cy="304799"/>
          </a:xfrm>
          <a:prstGeom prst="rect">
            <a:avLst/>
          </a:prstGeom>
          <a:solidFill>
            <a:schemeClr val="accent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Nanum Gothic" panose="020D0604000000000000" pitchFamily="34" charset="-127"/>
                <a:ea typeface="Nanum Gothic" panose="020D0604000000000000" pitchFamily="34" charset="-127"/>
              </a:rPr>
              <a:t>티브리지</a:t>
            </a:r>
          </a:p>
        </p:txBody>
      </p:sp>
      <p:sp>
        <p:nvSpPr>
          <p:cNvPr id="18" name="직사각형 17"/>
          <p:cNvSpPr/>
          <p:nvPr/>
        </p:nvSpPr>
        <p:spPr>
          <a:xfrm>
            <a:off x="1136577" y="620688"/>
            <a:ext cx="6291042" cy="30479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ko-KR" altLang="en-US" sz="800" dirty="0">
              <a:solidFill>
                <a:schemeClr val="tx1"/>
              </a:solidFill>
              <a:latin typeface="Nanum Gothic" panose="020D0604000000000000" pitchFamily="34" charset="-127"/>
              <a:ea typeface="Nanum Gothic" panose="020D0604000000000000" pitchFamily="34" charset="-127"/>
            </a:endParaRPr>
          </a:p>
        </p:txBody>
      </p:sp>
      <p:grpSp>
        <p:nvGrpSpPr>
          <p:cNvPr id="20" name="그룹 19"/>
          <p:cNvGrpSpPr/>
          <p:nvPr/>
        </p:nvGrpSpPr>
        <p:grpSpPr>
          <a:xfrm>
            <a:off x="1267854" y="665402"/>
            <a:ext cx="1931523" cy="207884"/>
            <a:chOff x="1267854" y="665402"/>
            <a:chExt cx="1931523" cy="207884"/>
          </a:xfrm>
        </p:grpSpPr>
        <p:sp>
          <p:nvSpPr>
            <p:cNvPr id="21" name="직사각형 20"/>
            <p:cNvSpPr/>
            <p:nvPr/>
          </p:nvSpPr>
          <p:spPr>
            <a:xfrm>
              <a:off x="1267854" y="665402"/>
              <a:ext cx="1800000" cy="20787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tx1">
                      <a:lumMod val="50000"/>
                      <a:lumOff val="50000"/>
                    </a:schemeClr>
                  </a:solidFill>
                </a:rPr>
                <a:t>상품번호</a:t>
              </a:r>
              <a:r>
                <a:rPr lang="en-US" altLang="ko-KR" sz="900" dirty="0">
                  <a:solidFill>
                    <a:schemeClr val="tx1">
                      <a:lumMod val="50000"/>
                      <a:lumOff val="50000"/>
                    </a:schemeClr>
                  </a:solidFill>
                </a:rPr>
                <a:t>,</a:t>
              </a:r>
              <a:r>
                <a:rPr lang="ko-KR" altLang="en-US" sz="900" dirty="0">
                  <a:solidFill>
                    <a:schemeClr val="tx1">
                      <a:lumMod val="50000"/>
                      <a:lumOff val="50000"/>
                    </a:schemeClr>
                  </a:solidFill>
                </a:rPr>
                <a:t>상품명 검색</a:t>
              </a:r>
            </a:p>
          </p:txBody>
        </p:sp>
        <p:grpSp>
          <p:nvGrpSpPr>
            <p:cNvPr id="22" name="그룹 21"/>
            <p:cNvGrpSpPr/>
            <p:nvPr/>
          </p:nvGrpSpPr>
          <p:grpSpPr>
            <a:xfrm>
              <a:off x="2995760" y="665405"/>
              <a:ext cx="203617" cy="207881"/>
              <a:chOff x="2939843" y="5447120"/>
              <a:chExt cx="272722" cy="278432"/>
            </a:xfrm>
          </p:grpSpPr>
          <p:sp>
            <p:nvSpPr>
              <p:cNvPr id="24" name="직사각형 23"/>
              <p:cNvSpPr/>
              <p:nvPr/>
            </p:nvSpPr>
            <p:spPr>
              <a:xfrm>
                <a:off x="2939843" y="5447120"/>
                <a:ext cx="272722" cy="27843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25" name="타원 24"/>
              <p:cNvSpPr/>
              <p:nvPr/>
            </p:nvSpPr>
            <p:spPr>
              <a:xfrm>
                <a:off x="2981018" y="5486400"/>
                <a:ext cx="130629" cy="130629"/>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cxnSp>
            <p:nvCxnSpPr>
              <p:cNvPr id="26" name="직선 연결선 145"/>
              <p:cNvCxnSpPr>
                <a:stCxn id="25" idx="5"/>
              </p:cNvCxnSpPr>
              <p:nvPr/>
            </p:nvCxnSpPr>
            <p:spPr>
              <a:xfrm>
                <a:off x="3092517" y="5597899"/>
                <a:ext cx="85023" cy="7900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직사각형 26"/>
          <p:cNvSpPr/>
          <p:nvPr/>
        </p:nvSpPr>
        <p:spPr>
          <a:xfrm>
            <a:off x="605926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정보관리 </a:t>
            </a:r>
          </a:p>
        </p:txBody>
      </p:sp>
      <p:sp>
        <p:nvSpPr>
          <p:cNvPr id="28" name="직사각형 27"/>
          <p:cNvSpPr/>
          <p:nvPr/>
        </p:nvSpPr>
        <p:spPr>
          <a:xfrm>
            <a:off x="5176276" y="693276"/>
            <a:ext cx="893194" cy="215444"/>
          </a:xfrm>
          <a:prstGeom prst="rect">
            <a:avLst/>
          </a:prstGeom>
        </p:spPr>
        <p:txBody>
          <a:bodyPr wrap="none">
            <a:spAutoFit/>
          </a:bodyPr>
          <a:lstStyle/>
          <a:p>
            <a:pPr algn="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주</a:t>
            </a:r>
            <a:r>
              <a:rPr lang="en-US" altLang="ko-KR" sz="800" dirty="0">
                <a:latin typeface="Nanum Gothic" panose="020D0604000000000000" pitchFamily="34" charset="-127"/>
                <a:ea typeface="Nanum Gothic" panose="020D0604000000000000" pitchFamily="34" charset="-127"/>
              </a:rPr>
              <a:t>)</a:t>
            </a:r>
            <a:r>
              <a:rPr lang="ko-KR" altLang="en-US" sz="800" dirty="0">
                <a:latin typeface="Nanum Gothic" panose="020D0604000000000000" pitchFamily="34" charset="-127"/>
                <a:ea typeface="Nanum Gothic" panose="020D0604000000000000" pitchFamily="34" charset="-127"/>
              </a:rPr>
              <a:t> 티브리지 님</a:t>
            </a:r>
          </a:p>
        </p:txBody>
      </p:sp>
      <p:sp>
        <p:nvSpPr>
          <p:cNvPr id="29" name="직사각형 28"/>
          <p:cNvSpPr/>
          <p:nvPr/>
        </p:nvSpPr>
        <p:spPr>
          <a:xfrm>
            <a:off x="6706391" y="719225"/>
            <a:ext cx="611339"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로그아웃</a:t>
            </a:r>
          </a:p>
        </p:txBody>
      </p:sp>
      <p:sp>
        <p:nvSpPr>
          <p:cNvPr id="36" name="TextBox 35"/>
          <p:cNvSpPr txBox="1"/>
          <p:nvPr/>
        </p:nvSpPr>
        <p:spPr>
          <a:xfrm>
            <a:off x="1191375" y="1085116"/>
            <a:ext cx="1107996" cy="276999"/>
          </a:xfrm>
          <a:prstGeom prst="rect">
            <a:avLst/>
          </a:prstGeom>
          <a:noFill/>
        </p:spPr>
        <p:txBody>
          <a:bodyPr wrap="none" rtlCol="0">
            <a:spAutoFit/>
          </a:bodyPr>
          <a:lstStyle/>
          <a:p>
            <a:r>
              <a:rPr lang="ko-KR" altLang="en-US" sz="1200" b="1" dirty="0">
                <a:latin typeface="Nanum Gothic" panose="020D0604000000000000" pitchFamily="34" charset="-127"/>
                <a:ea typeface="Nanum Gothic" panose="020D0604000000000000" pitchFamily="34" charset="-127"/>
              </a:rPr>
              <a:t>회원</a:t>
            </a:r>
            <a:r>
              <a:rPr lang="en-US" altLang="ko-KR" sz="1200" b="1" dirty="0">
                <a:latin typeface="Nanum Gothic" panose="020D0604000000000000" pitchFamily="34" charset="-127"/>
                <a:ea typeface="Nanum Gothic" panose="020D0604000000000000" pitchFamily="34" charset="-127"/>
              </a:rPr>
              <a:t>/</a:t>
            </a:r>
            <a:r>
              <a:rPr lang="ko-KR" altLang="en-US" sz="1200" b="1" dirty="0" err="1">
                <a:latin typeface="Nanum Gothic" panose="020D0604000000000000" pitchFamily="34" charset="-127"/>
                <a:ea typeface="Nanum Gothic" panose="020D0604000000000000" pitchFamily="34" charset="-127"/>
              </a:rPr>
              <a:t>권한관리</a:t>
            </a:r>
            <a:endParaRPr lang="ko-KR" altLang="en-US" sz="1200" b="1" dirty="0">
              <a:latin typeface="Nanum Gothic" panose="020D0604000000000000" pitchFamily="34" charset="-127"/>
              <a:ea typeface="Nanum Gothic" panose="020D0604000000000000" pitchFamily="34" charset="-127"/>
            </a:endParaRPr>
          </a:p>
        </p:txBody>
      </p:sp>
      <p:sp>
        <p:nvSpPr>
          <p:cNvPr id="37" name="TextBox 36"/>
          <p:cNvSpPr txBox="1"/>
          <p:nvPr/>
        </p:nvSpPr>
        <p:spPr>
          <a:xfrm>
            <a:off x="1191375" y="1313869"/>
            <a:ext cx="3013967" cy="215444"/>
          </a:xfrm>
          <a:prstGeom prst="rect">
            <a:avLst/>
          </a:prstGeom>
          <a:noFill/>
        </p:spPr>
        <p:txBody>
          <a:bodyPr wrap="none" rtlCol="0">
            <a:spAutoFit/>
          </a:bodyPr>
          <a:lstStyle/>
          <a:p>
            <a:r>
              <a:rPr lang="ko-KR" altLang="en-US" sz="800" dirty="0">
                <a:latin typeface="Nanum Gothic" panose="020D0604000000000000" pitchFamily="34" charset="-127"/>
                <a:ea typeface="Nanum Gothic" panose="020D0604000000000000" pitchFamily="34" charset="-127"/>
              </a:rPr>
              <a:t>회원가입내역을 확인하고 </a:t>
            </a:r>
            <a:r>
              <a:rPr lang="ko-KR" altLang="en-US" sz="800" dirty="0" err="1">
                <a:latin typeface="Nanum Gothic" panose="020D0604000000000000" pitchFamily="34" charset="-127"/>
                <a:ea typeface="Nanum Gothic" panose="020D0604000000000000" pitchFamily="34" charset="-127"/>
              </a:rPr>
              <a:t>승인처리</a:t>
            </a:r>
            <a:r>
              <a:rPr lang="ko-KR" altLang="en-US" sz="800" dirty="0">
                <a:latin typeface="Nanum Gothic" panose="020D0604000000000000" pitchFamily="34" charset="-127"/>
                <a:ea typeface="Nanum Gothic" panose="020D0604000000000000" pitchFamily="34" charset="-127"/>
              </a:rPr>
              <a:t> 및 </a:t>
            </a:r>
            <a:r>
              <a:rPr lang="ko-KR" altLang="en-US" sz="800" dirty="0" err="1">
                <a:latin typeface="Nanum Gothic" panose="020D0604000000000000" pitchFamily="34" charset="-127"/>
                <a:ea typeface="Nanum Gothic" panose="020D0604000000000000" pitchFamily="34" charset="-127"/>
              </a:rPr>
              <a:t>권한관리를</a:t>
            </a:r>
            <a:r>
              <a:rPr lang="ko-KR" altLang="en-US" sz="800" dirty="0">
                <a:latin typeface="Nanum Gothic" panose="020D0604000000000000" pitchFamily="34" charset="-127"/>
                <a:ea typeface="Nanum Gothic" panose="020D0604000000000000" pitchFamily="34" charset="-127"/>
              </a:rPr>
              <a:t> 할 수 있습니다</a:t>
            </a:r>
            <a:r>
              <a:rPr lang="en-US" altLang="ko-KR" sz="800" dirty="0">
                <a:latin typeface="Nanum Gothic" panose="020D0604000000000000" pitchFamily="34" charset="-127"/>
                <a:ea typeface="Nanum Gothic" panose="020D0604000000000000" pitchFamily="34" charset="-127"/>
              </a:rPr>
              <a:t>.</a:t>
            </a:r>
            <a:endParaRPr lang="ko-KR" altLang="en-US" sz="800" dirty="0">
              <a:latin typeface="Nanum Gothic" panose="020D0604000000000000" pitchFamily="34" charset="-127"/>
              <a:ea typeface="Nanum Gothic" panose="020D0604000000000000" pitchFamily="34" charset="-127"/>
            </a:endParaRPr>
          </a:p>
        </p:txBody>
      </p:sp>
      <p:graphicFrame>
        <p:nvGraphicFramePr>
          <p:cNvPr id="43" name="표 42"/>
          <p:cNvGraphicFramePr>
            <a:graphicFrameLocks noGrp="1"/>
          </p:cNvGraphicFramePr>
          <p:nvPr/>
        </p:nvGraphicFramePr>
        <p:xfrm>
          <a:off x="1280592" y="1628800"/>
          <a:ext cx="6048673" cy="859581"/>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7865">
                  <a:extLst>
                    <a:ext uri="{9D8B030D-6E8A-4147-A177-3AD203B41FA5}">
                      <a16:colId xmlns:a16="http://schemas.microsoft.com/office/drawing/2014/main" val="20003"/>
                    </a:ext>
                  </a:extLst>
                </a:gridCol>
                <a:gridCol w="640448">
                  <a:extLst>
                    <a:ext uri="{9D8B030D-6E8A-4147-A177-3AD203B41FA5}">
                      <a16:colId xmlns:a16="http://schemas.microsoft.com/office/drawing/2014/main" val="20004"/>
                    </a:ext>
                  </a:extLst>
                </a:gridCol>
              </a:tblGrid>
              <a:tr h="28652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상태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승인대기</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승인완료</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전체     ○ </a:t>
                      </a:r>
                      <a:r>
                        <a:rPr lang="ko-KR" altLang="en-US" sz="800" b="0" dirty="0" err="1">
                          <a:solidFill>
                            <a:schemeClr val="tx1"/>
                          </a:solidFill>
                          <a:latin typeface="Nanum Gothic" panose="020D0604000000000000" pitchFamily="34" charset="-127"/>
                          <a:ea typeface="Nanum Gothic" panose="020D0604000000000000" pitchFamily="34" charset="-127"/>
                        </a:rPr>
                        <a:t>총판사</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시설사</a:t>
                      </a:r>
                      <a:r>
                        <a:rPr lang="ko-KR" altLang="en-US" sz="800" b="0" dirty="0">
                          <a:solidFill>
                            <a:schemeClr val="tx1"/>
                          </a:solidFill>
                          <a:latin typeface="Nanum Gothic" panose="020D0604000000000000" pitchFamily="34" charset="-127"/>
                          <a:ea typeface="Nanum Gothic" panose="020D0604000000000000" pitchFamily="34" charset="-127"/>
                        </a:rPr>
                        <a:t>      ○ 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652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업태</a:t>
                      </a:r>
                      <a:r>
                        <a:rPr lang="en-US" altLang="ko-KR" sz="800" b="1" u="none" dirty="0">
                          <a:solidFill>
                            <a:schemeClr val="tx1">
                              <a:lumMod val="75000"/>
                              <a:lumOff val="25000"/>
                            </a:schemeClr>
                          </a:solidFill>
                          <a:latin typeface="Nanum Gothic" panose="020D0604000000000000" pitchFamily="34" charset="-127"/>
                          <a:ea typeface="Nanum Gothic" panose="020D0604000000000000" pitchFamily="34" charset="-127"/>
                        </a:rPr>
                        <a:t>/</a:t>
                      </a: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업종</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extLst>
                  <a:ext uri="{0D108BD9-81ED-4DB2-BD59-A6C34878D82A}">
                    <a16:rowId xmlns:a16="http://schemas.microsoft.com/office/drawing/2014/main" val="10001"/>
                  </a:ext>
                </a:extLst>
              </a:tr>
              <a:tr h="286527">
                <a:tc>
                  <a:txBody>
                    <a:bodyPr/>
                    <a:lstStyle/>
                    <a:p>
                      <a:pPr algn="ctr" latinLnBrk="1"/>
                      <a:r>
                        <a:rPr lang="ko-KR" altLang="en-US" sz="800" b="1" dirty="0" err="1">
                          <a:solidFill>
                            <a:schemeClr val="tx1">
                              <a:lumMod val="75000"/>
                              <a:lumOff val="25000"/>
                            </a:schemeClr>
                          </a:solidFill>
                          <a:latin typeface="Nanum Gothic" panose="020D0604000000000000" pitchFamily="34" charset="-127"/>
                          <a:ea typeface="Nanum Gothic" panose="020D0604000000000000" pitchFamily="34" charset="-127"/>
                        </a:rPr>
                        <a:t>검색어</a:t>
                      </a:r>
                      <a:endPar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vMerge="1">
                  <a:txBody>
                    <a:bodyPr/>
                    <a:lstStyle/>
                    <a:p>
                      <a:endParaRPr lang="en-US"/>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59" name="직사각형 58"/>
          <p:cNvSpPr/>
          <p:nvPr/>
        </p:nvSpPr>
        <p:spPr>
          <a:xfrm>
            <a:off x="2995760" y="2242186"/>
            <a:ext cx="3344924"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60" name="직사각형 59"/>
          <p:cNvSpPr/>
          <p:nvPr/>
        </p:nvSpPr>
        <p:spPr>
          <a:xfrm>
            <a:off x="6749307" y="1799373"/>
            <a:ext cx="524577" cy="370558"/>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검색</a:t>
            </a:r>
          </a:p>
        </p:txBody>
      </p:sp>
      <p:sp>
        <p:nvSpPr>
          <p:cNvPr id="61" name="직사각형 60"/>
          <p:cNvSpPr/>
          <p:nvPr/>
        </p:nvSpPr>
        <p:spPr>
          <a:xfrm>
            <a:off x="6747628" y="2218691"/>
            <a:ext cx="524577" cy="190280"/>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초기화</a:t>
            </a:r>
          </a:p>
        </p:txBody>
      </p:sp>
      <p:sp>
        <p:nvSpPr>
          <p:cNvPr id="64" name="TextBox 63"/>
          <p:cNvSpPr txBox="1"/>
          <p:nvPr/>
        </p:nvSpPr>
        <p:spPr>
          <a:xfrm>
            <a:off x="1199203" y="2561489"/>
            <a:ext cx="585446" cy="215444"/>
          </a:xfrm>
          <a:prstGeom prst="rect">
            <a:avLst/>
          </a:prstGeom>
          <a:noFill/>
        </p:spPr>
        <p:txBody>
          <a:bodyPr wrap="square" rtlCol="0">
            <a:spAutoFit/>
          </a:bodyPr>
          <a:lstStyle/>
          <a:p>
            <a:r>
              <a:rPr lang="ko-KR" altLang="en-US" sz="800" b="1" dirty="0">
                <a:latin typeface="Nanum Gothic" panose="020D0604000000000000" pitchFamily="34" charset="-127"/>
                <a:ea typeface="Nanum Gothic" panose="020D0604000000000000" pitchFamily="34" charset="-127"/>
              </a:rPr>
              <a:t>총 </a:t>
            </a:r>
            <a:r>
              <a:rPr lang="en-US" altLang="ko-KR" sz="800" b="1" dirty="0">
                <a:latin typeface="Nanum Gothic" panose="020D0604000000000000" pitchFamily="34" charset="-127"/>
                <a:ea typeface="Nanum Gothic" panose="020D0604000000000000" pitchFamily="34" charset="-127"/>
              </a:rPr>
              <a:t>N </a:t>
            </a:r>
            <a:r>
              <a:rPr lang="ko-KR" altLang="en-US" sz="800" b="1" dirty="0">
                <a:latin typeface="Nanum Gothic" panose="020D0604000000000000" pitchFamily="34" charset="-127"/>
                <a:ea typeface="Nanum Gothic" panose="020D0604000000000000" pitchFamily="34" charset="-127"/>
              </a:rPr>
              <a:t>건</a:t>
            </a:r>
          </a:p>
        </p:txBody>
      </p:sp>
      <p:sp>
        <p:nvSpPr>
          <p:cNvPr id="69" name="직사각형 68"/>
          <p:cNvSpPr/>
          <p:nvPr/>
        </p:nvSpPr>
        <p:spPr>
          <a:xfrm>
            <a:off x="2251108" y="2569646"/>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엑셀다운</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70" name="직사각형 69"/>
          <p:cNvSpPr/>
          <p:nvPr/>
        </p:nvSpPr>
        <p:spPr>
          <a:xfrm>
            <a:off x="2056314" y="2242186"/>
            <a:ext cx="878021"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Nanum Gothic" panose="020D0604000000000000" pitchFamily="34" charset="-127"/>
                <a:ea typeface="Nanum Gothic" panose="020D0604000000000000" pitchFamily="34" charset="-127"/>
              </a:rPr>
              <a:t>회사명          ▽</a:t>
            </a:r>
          </a:p>
        </p:txBody>
      </p:sp>
      <p:sp>
        <p:nvSpPr>
          <p:cNvPr id="71" name="직사각형 70"/>
          <p:cNvSpPr/>
          <p:nvPr/>
        </p:nvSpPr>
        <p:spPr>
          <a:xfrm>
            <a:off x="1651210" y="2565880"/>
            <a:ext cx="565485" cy="206662"/>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dirty="0">
                <a:solidFill>
                  <a:schemeClr val="tx1"/>
                </a:solidFill>
                <a:latin typeface="Nanum Gothic" panose="020D0604000000000000" pitchFamily="34" charset="-127"/>
                <a:ea typeface="Nanum Gothic" panose="020D0604000000000000" pitchFamily="34" charset="-127"/>
              </a:rPr>
              <a:t>50</a:t>
            </a:r>
            <a:r>
              <a:rPr lang="ko-KR" altLang="en-US" sz="800" dirty="0">
                <a:solidFill>
                  <a:schemeClr val="tx1"/>
                </a:solidFill>
                <a:latin typeface="Nanum Gothic" panose="020D0604000000000000" pitchFamily="34" charset="-127"/>
                <a:ea typeface="Nanum Gothic" panose="020D0604000000000000" pitchFamily="34" charset="-127"/>
              </a:rPr>
              <a:t>개씩 ▽</a:t>
            </a:r>
          </a:p>
        </p:txBody>
      </p:sp>
      <p:sp>
        <p:nvSpPr>
          <p:cNvPr id="38" name="직사각형 37"/>
          <p:cNvSpPr/>
          <p:nvPr/>
        </p:nvSpPr>
        <p:spPr>
          <a:xfrm>
            <a:off x="6746204" y="2577788"/>
            <a:ext cx="583061" cy="203521"/>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직접등록</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46" name="직사각형 45"/>
          <p:cNvSpPr/>
          <p:nvPr/>
        </p:nvSpPr>
        <p:spPr>
          <a:xfrm>
            <a:off x="2031933" y="1955418"/>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업태전체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48" name="직사각형 47"/>
          <p:cNvSpPr/>
          <p:nvPr/>
        </p:nvSpPr>
        <p:spPr>
          <a:xfrm>
            <a:off x="3230818" y="1956969"/>
            <a:ext cx="1137997" cy="216918"/>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r>
              <a:rPr lang="ko-KR" altLang="en-US" sz="800" dirty="0" err="1">
                <a:solidFill>
                  <a:schemeClr val="tx1"/>
                </a:solidFill>
                <a:latin typeface="Nanum Gothic" panose="020D0604000000000000" pitchFamily="34" charset="-127"/>
                <a:ea typeface="Nanum Gothic" panose="020D0604000000000000" pitchFamily="34" charset="-127"/>
              </a:rPr>
              <a:t>업종전체</a:t>
            </a:r>
            <a:r>
              <a:rPr lang="ko-KR" altLang="en-US" sz="800" dirty="0">
                <a:solidFill>
                  <a:schemeClr val="tx1"/>
                </a:solidFill>
                <a:latin typeface="Nanum Gothic" panose="020D0604000000000000" pitchFamily="34" charset="-127"/>
                <a:ea typeface="Nanum Gothic" panose="020D0604000000000000" pitchFamily="34" charset="-127"/>
              </a:rPr>
              <a:t>                 ▽</a:t>
            </a:r>
          </a:p>
        </p:txBody>
      </p:sp>
      <p:sp>
        <p:nvSpPr>
          <p:cNvPr id="50" name="직사각형 49"/>
          <p:cNvSpPr/>
          <p:nvPr/>
        </p:nvSpPr>
        <p:spPr>
          <a:xfrm>
            <a:off x="6136618" y="2580465"/>
            <a:ext cx="583061" cy="192078"/>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승인처리</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166" name="직사각형 165"/>
          <p:cNvSpPr/>
          <p:nvPr/>
        </p:nvSpPr>
        <p:spPr>
          <a:xfrm>
            <a:off x="1280592" y="3413548"/>
            <a:ext cx="2944753" cy="2102831"/>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회원정보수정</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167" name="직사각형 166"/>
          <p:cNvSpPr/>
          <p:nvPr/>
        </p:nvSpPr>
        <p:spPr>
          <a:xfrm>
            <a:off x="2390693" y="5245585"/>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수정</a:t>
            </a:r>
          </a:p>
        </p:txBody>
      </p:sp>
      <p:sp>
        <p:nvSpPr>
          <p:cNvPr id="168" name="TextBox 167"/>
          <p:cNvSpPr txBox="1"/>
          <p:nvPr/>
        </p:nvSpPr>
        <p:spPr>
          <a:xfrm>
            <a:off x="3857123" y="3434378"/>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169" name="표 168"/>
          <p:cNvGraphicFramePr>
            <a:graphicFrameLocks noGrp="1"/>
          </p:cNvGraphicFramePr>
          <p:nvPr/>
        </p:nvGraphicFramePr>
        <p:xfrm>
          <a:off x="1388330" y="3751810"/>
          <a:ext cx="2692999" cy="1277685"/>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72919">
                  <a:extLst>
                    <a:ext uri="{9D8B030D-6E8A-4147-A177-3AD203B41FA5}">
                      <a16:colId xmlns:a16="http://schemas.microsoft.com/office/drawing/2014/main" val="20001"/>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아이디</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master</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비밀번호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en-US" altLang="ko-KR" sz="800" b="0" u="none" dirty="0">
                          <a:solidFill>
                            <a:schemeClr val="tx1">
                              <a:lumMod val="75000"/>
                              <a:lumOff val="25000"/>
                            </a:schemeClr>
                          </a:solidFill>
                          <a:latin typeface="Nanum Gothic" panose="020D0604000000000000" pitchFamily="34" charset="-127"/>
                          <a:ea typeface="Nanum Gothic" panose="020D0604000000000000" pitchFamily="34" charset="-127"/>
                        </a:rPr>
                        <a:t>*********</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err="1">
                          <a:solidFill>
                            <a:schemeClr val="tx1">
                              <a:lumMod val="75000"/>
                              <a:lumOff val="25000"/>
                            </a:schemeClr>
                          </a:solidFill>
                          <a:latin typeface="Nanum Gothic" panose="020D0604000000000000" pitchFamily="34" charset="-127"/>
                          <a:ea typeface="Nanum Gothic" panose="020D0604000000000000" pitchFamily="34" charset="-127"/>
                        </a:rPr>
                        <a:t>총판사명</a:t>
                      </a:r>
                      <a:endPar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rPr>
                        <a:t> </a:t>
                      </a:r>
                      <a:r>
                        <a:rPr lang="ko-KR" altLang="en-US" sz="800" b="0" u="none" dirty="0" err="1">
                          <a:solidFill>
                            <a:schemeClr val="tx1">
                              <a:lumMod val="75000"/>
                              <a:lumOff val="25000"/>
                            </a:schemeClr>
                          </a:solidFill>
                          <a:latin typeface="Nanum Gothic" panose="020D0604000000000000" pitchFamily="34" charset="-127"/>
                          <a:ea typeface="Nanum Gothic" panose="020D0604000000000000" pitchFamily="34" charset="-127"/>
                        </a:rPr>
                        <a:t>티브리지</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이메일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176" name="직사각형 175"/>
          <p:cNvSpPr/>
          <p:nvPr/>
        </p:nvSpPr>
        <p:spPr>
          <a:xfrm>
            <a:off x="2177791" y="4803730"/>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ctr">
              <a:defRPr/>
            </a:pPr>
            <a:r>
              <a:rPr lang="en-US" altLang="ko-KR" sz="800" dirty="0" err="1">
                <a:solidFill>
                  <a:srgbClr val="000000"/>
                </a:solidFill>
                <a:latin typeface="Nanum Gothic" panose="020D0604000000000000" pitchFamily="34" charset="-127"/>
                <a:ea typeface="Nanum Gothic" panose="020D0604000000000000" pitchFamily="34" charset="-127"/>
              </a:rPr>
              <a:t>nono@gmail.com</a:t>
            </a:r>
            <a:endParaRPr lang="ko-KR" altLang="en-US" sz="800" dirty="0">
              <a:solidFill>
                <a:srgbClr val="000000"/>
              </a:solidFill>
              <a:latin typeface="Nanum Gothic" panose="020D0604000000000000" pitchFamily="34" charset="-127"/>
              <a:ea typeface="Nanum Gothic" panose="020D0604000000000000" pitchFamily="34" charset="-127"/>
            </a:endParaRPr>
          </a:p>
        </p:txBody>
      </p:sp>
      <p:sp>
        <p:nvSpPr>
          <p:cNvPr id="183" name="직사각형 182"/>
          <p:cNvSpPr/>
          <p:nvPr/>
        </p:nvSpPr>
        <p:spPr>
          <a:xfrm>
            <a:off x="2798816" y="4301759"/>
            <a:ext cx="720868" cy="181758"/>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Nanum Gothic" panose="020D0604000000000000" pitchFamily="34" charset="-127"/>
                <a:ea typeface="Nanum Gothic" panose="020D0604000000000000" pitchFamily="34" charset="-127"/>
              </a:rPr>
              <a:t>임시번호발송</a:t>
            </a:r>
          </a:p>
        </p:txBody>
      </p:sp>
      <p:cxnSp>
        <p:nvCxnSpPr>
          <p:cNvPr id="186" name="꺾인 연결선[E] 185"/>
          <p:cNvCxnSpPr>
            <a:stCxn id="38" idx="2"/>
          </p:cNvCxnSpPr>
          <p:nvPr/>
        </p:nvCxnSpPr>
        <p:spPr>
          <a:xfrm rot="5400000">
            <a:off x="6150669" y="2532661"/>
            <a:ext cx="638419" cy="1135714"/>
          </a:xfrm>
          <a:prstGeom prst="bentConnector3">
            <a:avLst>
              <a:gd name="adj1" fmla="val 50000"/>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7" name="직사각형 186"/>
          <p:cNvSpPr/>
          <p:nvPr/>
        </p:nvSpPr>
        <p:spPr>
          <a:xfrm>
            <a:off x="1567184" y="3075408"/>
            <a:ext cx="278251" cy="163546"/>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2">
                    <a:lumMod val="60000"/>
                    <a:lumOff val="40000"/>
                  </a:schemeClr>
                </a:solidFill>
                <a:latin typeface="Nanum Gothic" panose="020D0604000000000000" pitchFamily="34" charset="-127"/>
                <a:ea typeface="Nanum Gothic" panose="020D0604000000000000" pitchFamily="34" charset="-127"/>
              </a:rPr>
              <a:t>수정</a:t>
            </a:r>
          </a:p>
        </p:txBody>
      </p:sp>
      <p:cxnSp>
        <p:nvCxnSpPr>
          <p:cNvPr id="188" name="꺾인 연결선[E] 187"/>
          <p:cNvCxnSpPr>
            <a:endCxn id="166" idx="0"/>
          </p:cNvCxnSpPr>
          <p:nvPr/>
        </p:nvCxnSpPr>
        <p:spPr>
          <a:xfrm>
            <a:off x="1808458" y="3148116"/>
            <a:ext cx="944511" cy="265432"/>
          </a:xfrm>
          <a:prstGeom prst="bentConnector2">
            <a:avLst/>
          </a:prstGeom>
          <a:ln w="31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4" name="직사각형 83"/>
          <p:cNvSpPr/>
          <p:nvPr/>
        </p:nvSpPr>
        <p:spPr>
          <a:xfrm>
            <a:off x="4365719" y="3428492"/>
            <a:ext cx="2944753" cy="2284597"/>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r>
              <a:rPr lang="ko-KR" altLang="en-US" sz="1100" b="1" dirty="0">
                <a:solidFill>
                  <a:schemeClr val="tx1"/>
                </a:solidFill>
                <a:latin typeface="Nanum Gothic" panose="020D0604000000000000" pitchFamily="34" charset="-127"/>
                <a:ea typeface="Nanum Gothic" panose="020D0604000000000000" pitchFamily="34" charset="-127"/>
              </a:rPr>
              <a:t>회원직접등록</a:t>
            </a:r>
            <a:endParaRPr lang="ko-KR" altLang="en-US" sz="700" b="1" dirty="0">
              <a:solidFill>
                <a:schemeClr val="tx1"/>
              </a:solidFill>
              <a:latin typeface="Nanum Gothic" panose="020D0604000000000000" pitchFamily="34" charset="-127"/>
              <a:ea typeface="Nanum Gothic" panose="020D0604000000000000" pitchFamily="34" charset="-127"/>
            </a:endParaRPr>
          </a:p>
        </p:txBody>
      </p:sp>
      <p:sp>
        <p:nvSpPr>
          <p:cNvPr id="85" name="직사각형 84"/>
          <p:cNvSpPr/>
          <p:nvPr/>
        </p:nvSpPr>
        <p:spPr>
          <a:xfrm>
            <a:off x="5475820" y="5373216"/>
            <a:ext cx="699654" cy="182557"/>
          </a:xfrm>
          <a:prstGeom prst="rect">
            <a:avLst/>
          </a:prstGeom>
          <a:solidFill>
            <a:schemeClr val="accent1">
              <a:lumMod val="7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bg1"/>
                </a:solidFill>
                <a:latin typeface="Nanum Gothic" panose="020D0604000000000000" pitchFamily="34" charset="-127"/>
                <a:ea typeface="Nanum Gothic" panose="020D0604000000000000" pitchFamily="34" charset="-127"/>
              </a:rPr>
              <a:t>등록</a:t>
            </a:r>
          </a:p>
        </p:txBody>
      </p:sp>
      <p:sp>
        <p:nvSpPr>
          <p:cNvPr id="87" name="TextBox 86"/>
          <p:cNvSpPr txBox="1"/>
          <p:nvPr/>
        </p:nvSpPr>
        <p:spPr>
          <a:xfrm>
            <a:off x="6942250" y="3449322"/>
            <a:ext cx="287258" cy="276999"/>
          </a:xfrm>
          <a:prstGeom prst="rect">
            <a:avLst/>
          </a:prstGeom>
          <a:noFill/>
        </p:spPr>
        <p:txBody>
          <a:bodyPr wrap="none" rtlCol="0">
            <a:spAutoFit/>
          </a:bodyPr>
          <a:lstStyle/>
          <a:p>
            <a:r>
              <a:rPr lang="en-US" altLang="ko-KR" sz="1200" b="1" dirty="0">
                <a:latin typeface="Nanum Gothic" panose="020D0604000000000000" pitchFamily="34" charset="-127"/>
                <a:ea typeface="Nanum Gothic" panose="020D0604000000000000" pitchFamily="34" charset="-127"/>
              </a:rPr>
              <a:t>X</a:t>
            </a:r>
            <a:endParaRPr lang="ko-KR" altLang="en-US" sz="1200" b="1" dirty="0">
              <a:latin typeface="Nanum Gothic" panose="020D0604000000000000" pitchFamily="34" charset="-127"/>
              <a:ea typeface="Nanum Gothic" panose="020D0604000000000000" pitchFamily="34" charset="-127"/>
            </a:endParaRPr>
          </a:p>
        </p:txBody>
      </p:sp>
      <p:graphicFrame>
        <p:nvGraphicFramePr>
          <p:cNvPr id="89" name="표 88"/>
          <p:cNvGraphicFramePr>
            <a:graphicFrameLocks noGrp="1"/>
          </p:cNvGraphicFramePr>
          <p:nvPr/>
        </p:nvGraphicFramePr>
        <p:xfrm>
          <a:off x="4473457" y="3766754"/>
          <a:ext cx="2692999" cy="1533222"/>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972919">
                  <a:extLst>
                    <a:ext uri="{9D8B030D-6E8A-4147-A177-3AD203B41FA5}">
                      <a16:colId xmlns:a16="http://schemas.microsoft.com/office/drawing/2014/main" val="20001"/>
                    </a:ext>
                  </a:extLst>
                </a:gridCol>
              </a:tblGrid>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권한</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r>
                        <a:rPr lang="ko-KR" altLang="en-US" sz="800" b="0" dirty="0">
                          <a:solidFill>
                            <a:schemeClr val="tx1"/>
                          </a:solidFill>
                          <a:latin typeface="Nanum Gothic" panose="020D0604000000000000" pitchFamily="34" charset="-127"/>
                          <a:ea typeface="Nanum Gothic" panose="020D0604000000000000" pitchFamily="34" charset="-127"/>
                        </a:rPr>
                        <a:t>○ </a:t>
                      </a:r>
                      <a:r>
                        <a:rPr lang="ko-KR" altLang="en-US" sz="800" b="0" dirty="0" err="1">
                          <a:solidFill>
                            <a:schemeClr val="tx1"/>
                          </a:solidFill>
                          <a:latin typeface="Nanum Gothic" panose="020D0604000000000000" pitchFamily="34" charset="-127"/>
                          <a:ea typeface="Nanum Gothic" panose="020D0604000000000000" pitchFamily="34" charset="-127"/>
                        </a:rPr>
                        <a:t>총판사</a:t>
                      </a:r>
                      <a:r>
                        <a:rPr lang="ko-KR" altLang="en-US" sz="800" b="0" dirty="0">
                          <a:solidFill>
                            <a:schemeClr val="tx1"/>
                          </a:solidFill>
                          <a:latin typeface="Nanum Gothic" panose="020D0604000000000000" pitchFamily="34" charset="-127"/>
                          <a:ea typeface="Nanum Gothic" panose="020D0604000000000000" pitchFamily="34" charset="-127"/>
                        </a:rPr>
                        <a:t>     ○ </a:t>
                      </a:r>
                      <a:r>
                        <a:rPr lang="ko-KR" altLang="en-US" sz="800" b="0" dirty="0" err="1">
                          <a:solidFill>
                            <a:schemeClr val="tx1"/>
                          </a:solidFill>
                          <a:latin typeface="Nanum Gothic" panose="020D0604000000000000" pitchFamily="34" charset="-127"/>
                          <a:ea typeface="Nanum Gothic" panose="020D0604000000000000" pitchFamily="34" charset="-127"/>
                        </a:rPr>
                        <a:t>시설사</a:t>
                      </a:r>
                      <a:r>
                        <a:rPr lang="ko-KR" altLang="en-US" sz="800" b="0" dirty="0">
                          <a:solidFill>
                            <a:schemeClr val="tx1"/>
                          </a:solidFill>
                          <a:latin typeface="Nanum Gothic" panose="020D0604000000000000" pitchFamily="34" charset="-127"/>
                          <a:ea typeface="Nanum Gothic" panose="020D0604000000000000" pitchFamily="34" charset="-127"/>
                        </a:rPr>
                        <a:t>      ● 마스터</a:t>
                      </a: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55537">
                <a:tc>
                  <a:txBody>
                    <a:bodyPr/>
                    <a:lstStyle/>
                    <a:p>
                      <a:pPr marL="9525" marR="0" lvl="0" indent="0" algn="ctr" defTabSz="914400" rtl="0" eaLnBrk="1" fontAlgn="auto" latinLnBrk="1" hangingPunct="1">
                        <a:lnSpc>
                          <a:spcPct val="100000"/>
                        </a:lnSpc>
                        <a:spcBef>
                          <a:spcPts val="0"/>
                        </a:spcBef>
                        <a:spcAft>
                          <a:spcPts val="0"/>
                        </a:spcAft>
                        <a:buClrTx/>
                        <a:buSzTx/>
                        <a:buFontTx/>
                        <a:buNone/>
                        <a:defRPr/>
                      </a:pPr>
                      <a:r>
                        <a:rPr lang="ko-KR" altLang="en-US" sz="800" b="1" u="none" dirty="0">
                          <a:solidFill>
                            <a:schemeClr val="tx1">
                              <a:lumMod val="75000"/>
                              <a:lumOff val="25000"/>
                            </a:schemeClr>
                          </a:solidFill>
                          <a:latin typeface="Nanum Gothic" panose="020D0604000000000000" pitchFamily="34" charset="-127"/>
                          <a:ea typeface="Nanum Gothic" panose="020D0604000000000000" pitchFamily="34" charset="-127"/>
                        </a:rPr>
                        <a:t>아이디</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marR="0" lvl="0" indent="0" algn="l" defTabSz="914400" rtl="0" eaLnBrk="1" fontAlgn="auto" latinLnBrk="1" hangingPunct="1">
                        <a:lnSpc>
                          <a:spcPct val="100000"/>
                        </a:lnSpc>
                        <a:spcBef>
                          <a:spcPts val="0"/>
                        </a:spcBef>
                        <a:spcAft>
                          <a:spcPts val="0"/>
                        </a:spcAft>
                        <a:buClrTx/>
                        <a:buSzTx/>
                        <a:buFontTx/>
                        <a:buNone/>
                        <a:defRPr/>
                      </a:pPr>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비밀번호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비밀번호확인</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이름</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55537">
                <a:tc>
                  <a:txBody>
                    <a:bodyPr/>
                    <a:lstStyle/>
                    <a:p>
                      <a:pPr algn="ctr" latinLnBrk="1"/>
                      <a:r>
                        <a:rPr lang="ko-KR" altLang="en-US" sz="800" b="1" dirty="0">
                          <a:solidFill>
                            <a:schemeClr val="tx1">
                              <a:lumMod val="75000"/>
                              <a:lumOff val="25000"/>
                            </a:schemeClr>
                          </a:solidFill>
                          <a:latin typeface="Nanum Gothic" panose="020D0604000000000000" pitchFamily="34" charset="-127"/>
                          <a:ea typeface="Nanum Gothic" panose="020D0604000000000000" pitchFamily="34" charset="-127"/>
                        </a:rPr>
                        <a:t>이메일</a:t>
                      </a: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9525" indent="0" algn="l" latinLnBrk="1"/>
                      <a:endParaRPr lang="ko-KR" altLang="en-US" sz="800" b="0" u="none" dirty="0">
                        <a:solidFill>
                          <a:schemeClr val="tx1">
                            <a:lumMod val="75000"/>
                            <a:lumOff val="25000"/>
                          </a:schemeClr>
                        </a:solidFill>
                        <a:latin typeface="Nanum Gothic" panose="020D0604000000000000" pitchFamily="34" charset="-127"/>
                        <a:ea typeface="Nanum Gothic" panose="020D0604000000000000" pitchFamily="34" charset="-127"/>
                      </a:endParaRPr>
                    </a:p>
                  </a:txBody>
                  <a:tcPr marL="36000" marR="36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
        <p:nvSpPr>
          <p:cNvPr id="91" name="직사각형 90"/>
          <p:cNvSpPr/>
          <p:nvPr/>
        </p:nvSpPr>
        <p:spPr>
          <a:xfrm>
            <a:off x="5267835" y="4056828"/>
            <a:ext cx="103712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92" name="직사각형 91"/>
          <p:cNvSpPr/>
          <p:nvPr/>
        </p:nvSpPr>
        <p:spPr>
          <a:xfrm>
            <a:off x="6353093" y="4057933"/>
            <a:ext cx="583061" cy="184745"/>
          </a:xfrm>
          <a:prstGeom prst="rect">
            <a:avLst/>
          </a:pr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Nanum Gothic" panose="020D0604000000000000" pitchFamily="34" charset="-127"/>
                <a:ea typeface="Nanum Gothic" panose="020D0604000000000000" pitchFamily="34" charset="-127"/>
              </a:rPr>
              <a:t>중복확인</a:t>
            </a:r>
            <a:endParaRPr lang="ko-KR" altLang="en-US" sz="800" b="1" dirty="0">
              <a:solidFill>
                <a:schemeClr val="tx1"/>
              </a:solidFill>
              <a:latin typeface="Nanum Gothic" panose="020D0604000000000000" pitchFamily="34" charset="-127"/>
              <a:ea typeface="Nanum Gothic" panose="020D0604000000000000" pitchFamily="34" charset="-127"/>
            </a:endParaRPr>
          </a:p>
        </p:txBody>
      </p:sp>
      <p:sp>
        <p:nvSpPr>
          <p:cNvPr id="93" name="직사각형 92"/>
          <p:cNvSpPr/>
          <p:nvPr/>
        </p:nvSpPr>
        <p:spPr>
          <a:xfrm>
            <a:off x="5267835" y="4316158"/>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58" name="직사각형 57"/>
          <p:cNvSpPr/>
          <p:nvPr/>
        </p:nvSpPr>
        <p:spPr>
          <a:xfrm>
            <a:off x="5267835" y="4565991"/>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62" name="직사각형 61"/>
          <p:cNvSpPr/>
          <p:nvPr/>
        </p:nvSpPr>
        <p:spPr>
          <a:xfrm>
            <a:off x="5253617" y="4815824"/>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63" name="직사각형 62"/>
          <p:cNvSpPr/>
          <p:nvPr/>
        </p:nvSpPr>
        <p:spPr>
          <a:xfrm>
            <a:off x="5253617" y="5057900"/>
            <a:ext cx="1777248" cy="185850"/>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sz="800" dirty="0">
              <a:solidFill>
                <a:schemeClr val="bg1">
                  <a:lumMod val="65000"/>
                </a:schemeClr>
              </a:solidFill>
              <a:latin typeface="Nanum Gothic" panose="020D0604000000000000" pitchFamily="34" charset="-127"/>
              <a:ea typeface="Nanum Gothic" panose="020D0604000000000000" pitchFamily="34" charset="-127"/>
            </a:endParaRPr>
          </a:p>
        </p:txBody>
      </p:sp>
      <p:sp>
        <p:nvSpPr>
          <p:cNvPr id="65" name="직사각형 64"/>
          <p:cNvSpPr/>
          <p:nvPr/>
        </p:nvSpPr>
        <p:spPr>
          <a:xfrm>
            <a:off x="128462" y="2641852"/>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err="1">
                <a:solidFill>
                  <a:schemeClr val="tx1"/>
                </a:solidFill>
                <a:latin typeface="Nanum Gothic" panose="020D0604000000000000" pitchFamily="34" charset="-127"/>
                <a:ea typeface="Nanum Gothic" panose="020D0604000000000000" pitchFamily="34" charset="-127"/>
              </a:rPr>
              <a:t>문의관리</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6" name="직사각형 65"/>
          <p:cNvSpPr/>
          <p:nvPr/>
        </p:nvSpPr>
        <p:spPr>
          <a:xfrm>
            <a:off x="128461" y="3634623"/>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공지사항</a:t>
            </a:r>
          </a:p>
        </p:txBody>
      </p:sp>
      <p:sp>
        <p:nvSpPr>
          <p:cNvPr id="67" name="직사각형 66"/>
          <p:cNvSpPr/>
          <p:nvPr/>
        </p:nvSpPr>
        <p:spPr>
          <a:xfrm>
            <a:off x="128457" y="2943888"/>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카테고리 관리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
        <p:nvSpPr>
          <p:cNvPr id="68" name="직사각형 67"/>
          <p:cNvSpPr/>
          <p:nvPr/>
        </p:nvSpPr>
        <p:spPr>
          <a:xfrm>
            <a:off x="128457" y="3282858"/>
            <a:ext cx="1008115" cy="343273"/>
          </a:xfrm>
          <a:prstGeom prst="rect">
            <a:avLst/>
          </a:prstGeom>
          <a:solidFill>
            <a:schemeClr val="bg1">
              <a:lumMod val="95000"/>
            </a:schemeClr>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회원</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a:t>
            </a:r>
            <a:r>
              <a:rPr lang="ko-KR" altLang="en-US" sz="1000" b="1" dirty="0" err="1">
                <a:solidFill>
                  <a:schemeClr val="tx2">
                    <a:lumMod val="60000"/>
                    <a:lumOff val="40000"/>
                  </a:schemeClr>
                </a:solidFill>
                <a:latin typeface="Nanum Gothic" panose="020D0604000000000000" pitchFamily="34" charset="-127"/>
                <a:ea typeface="Nanum Gothic" panose="020D0604000000000000" pitchFamily="34" charset="-127"/>
              </a:rPr>
              <a:t>권한관리</a:t>
            </a:r>
            <a:r>
              <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rPr>
              <a:t>  </a:t>
            </a:r>
            <a:r>
              <a:rPr lang="en-US" altLang="ko-KR" sz="1000" b="1" dirty="0">
                <a:solidFill>
                  <a:schemeClr val="tx2">
                    <a:lumMod val="60000"/>
                    <a:lumOff val="40000"/>
                  </a:schemeClr>
                </a:solidFill>
                <a:latin typeface="Nanum Gothic" panose="020D0604000000000000" pitchFamily="34" charset="-127"/>
                <a:ea typeface="Nanum Gothic" panose="020D0604000000000000" pitchFamily="34" charset="-127"/>
              </a:rPr>
              <a:t>&gt;</a:t>
            </a:r>
            <a:endParaRPr lang="ko-KR" altLang="en-US" sz="1000" b="1" dirty="0">
              <a:solidFill>
                <a:schemeClr val="tx2">
                  <a:lumMod val="60000"/>
                  <a:lumOff val="40000"/>
                </a:schemeClr>
              </a:solidFill>
              <a:latin typeface="Nanum Gothic" panose="020D0604000000000000" pitchFamily="34" charset="-127"/>
              <a:ea typeface="Nanum Gothic" panose="020D0604000000000000" pitchFamily="34" charset="-127"/>
            </a:endParaRPr>
          </a:p>
        </p:txBody>
      </p:sp>
      <p:sp>
        <p:nvSpPr>
          <p:cNvPr id="72" name="직사각형 71"/>
          <p:cNvSpPr/>
          <p:nvPr/>
        </p:nvSpPr>
        <p:spPr>
          <a:xfrm>
            <a:off x="128464" y="1268760"/>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상품등록        </a:t>
            </a:r>
          </a:p>
        </p:txBody>
      </p:sp>
      <p:sp>
        <p:nvSpPr>
          <p:cNvPr id="73" name="직사각형 72"/>
          <p:cNvSpPr/>
          <p:nvPr/>
        </p:nvSpPr>
        <p:spPr>
          <a:xfrm>
            <a:off x="128458" y="930389"/>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대시보드         </a:t>
            </a:r>
          </a:p>
        </p:txBody>
      </p:sp>
      <p:sp>
        <p:nvSpPr>
          <p:cNvPr id="74" name="직사각형 73"/>
          <p:cNvSpPr/>
          <p:nvPr/>
        </p:nvSpPr>
        <p:spPr>
          <a:xfrm>
            <a:off x="128463" y="1955306"/>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주문관리</a:t>
            </a:r>
          </a:p>
        </p:txBody>
      </p:sp>
      <p:sp>
        <p:nvSpPr>
          <p:cNvPr id="75" name="직사각형 74"/>
          <p:cNvSpPr/>
          <p:nvPr/>
        </p:nvSpPr>
        <p:spPr>
          <a:xfrm>
            <a:off x="128464" y="1612033"/>
            <a:ext cx="1008115" cy="343273"/>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상품관리         </a:t>
            </a:r>
          </a:p>
        </p:txBody>
      </p:sp>
      <p:sp>
        <p:nvSpPr>
          <p:cNvPr id="76" name="직사각형 75"/>
          <p:cNvSpPr/>
          <p:nvPr/>
        </p:nvSpPr>
        <p:spPr>
          <a:xfrm>
            <a:off x="128463" y="2298579"/>
            <a:ext cx="1008115" cy="34327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72000" rtlCol="0" anchor="t"/>
          <a:lstStyle/>
          <a:p>
            <a:pPr>
              <a:lnSpc>
                <a:spcPct val="200000"/>
              </a:lnSpc>
            </a:pPr>
            <a:r>
              <a:rPr lang="ko-KR" altLang="en-US" sz="1000" b="1" dirty="0">
                <a:solidFill>
                  <a:schemeClr val="tx1"/>
                </a:solidFill>
                <a:latin typeface="Nanum Gothic" panose="020D0604000000000000" pitchFamily="34" charset="-127"/>
                <a:ea typeface="Nanum Gothic" panose="020D0604000000000000" pitchFamily="34" charset="-127"/>
              </a:rPr>
              <a:t>매출</a:t>
            </a:r>
            <a:r>
              <a:rPr lang="en-US" altLang="ko-KR" sz="1000" b="1" dirty="0">
                <a:solidFill>
                  <a:schemeClr val="tx1"/>
                </a:solidFill>
                <a:latin typeface="Nanum Gothic" panose="020D0604000000000000" pitchFamily="34" charset="-127"/>
                <a:ea typeface="Nanum Gothic" panose="020D0604000000000000" pitchFamily="34" charset="-127"/>
              </a:rPr>
              <a:t>/</a:t>
            </a:r>
            <a:r>
              <a:rPr lang="ko-KR" altLang="en-US" sz="1000" b="1" dirty="0" err="1">
                <a:solidFill>
                  <a:schemeClr val="tx1"/>
                </a:solidFill>
                <a:latin typeface="Nanum Gothic" panose="020D0604000000000000" pitchFamily="34" charset="-127"/>
                <a:ea typeface="Nanum Gothic" panose="020D0604000000000000" pitchFamily="34" charset="-127"/>
              </a:rPr>
              <a:t>정산관리</a:t>
            </a:r>
            <a:r>
              <a:rPr lang="ko-KR" altLang="en-US" sz="1000" b="1" dirty="0">
                <a:solidFill>
                  <a:schemeClr val="tx1"/>
                </a:solidFill>
                <a:latin typeface="Nanum Gothic" panose="020D0604000000000000" pitchFamily="34" charset="-127"/>
                <a:ea typeface="Nanum Gothic" panose="020D0604000000000000" pitchFamily="34" charset="-127"/>
              </a:rPr>
              <a:t> </a:t>
            </a:r>
            <a:r>
              <a:rPr lang="en-US" altLang="ko-KR" sz="1000" b="1" dirty="0">
                <a:solidFill>
                  <a:schemeClr val="tx1"/>
                </a:solidFill>
                <a:latin typeface="Nanum Gothic" panose="020D0604000000000000" pitchFamily="34" charset="-127"/>
                <a:ea typeface="Nanum Gothic" panose="020D0604000000000000" pitchFamily="34" charset="-127"/>
              </a:rPr>
              <a:t>+</a:t>
            </a:r>
            <a:endParaRPr lang="ko-KR" altLang="en-US" sz="1000" b="1" dirty="0">
              <a:solidFill>
                <a:schemeClr val="tx1"/>
              </a:solidFill>
              <a:latin typeface="Nanum Gothic" panose="020D0604000000000000" pitchFamily="34" charset="-127"/>
              <a:ea typeface="Nanum Gothic" panose="020D0604000000000000" pitchFamily="34" charset="-127"/>
            </a:endParaRP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3175">
          <a:solidFill>
            <a:schemeClr val="bg1">
              <a:lumMod val="50000"/>
            </a:schemeClr>
          </a:solidFill>
        </a:ln>
      </a:spPr>
      <a:bodyPr rot="0" spcFirstLastPara="0" vertOverflow="overflow" horzOverflow="overflow" vert="horz" wrap="none" lIns="91440" tIns="45720" rIns="91440" bIns="45720" numCol="1" spcCol="0" rtlCol="0" fromWordArt="0" anchor="ctr" anchorCtr="0" forceAA="0" compatLnSpc="1">
        <a:noAutofit/>
      </a:bodyPr>
      <a:lstStyle>
        <a:defPPr algn="ctr">
          <a:defRPr kumimoji="1" sz="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lumMod val="75000"/>
            </a:schemeClr>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17809</Words>
  <Application>Microsoft Office PowerPoint</Application>
  <PresentationFormat>A4 Paper (210x297 mm)</PresentationFormat>
  <Paragraphs>5276</Paragraphs>
  <Slides>81</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맑은 고딕</vt:lpstr>
      <vt:lpstr>맑은 고딕</vt:lpstr>
      <vt:lpstr>Apple SD Gothic Neo</vt:lpstr>
      <vt:lpstr>Arial</vt:lpstr>
      <vt:lpstr>Nanum Gothic</vt:lpstr>
      <vt:lpstr>Times New Roman</vt:lpstr>
      <vt:lpstr>Wingdings</vt:lpstr>
      <vt:lpstr>나눔고딕</vt:lpstr>
      <vt:lpstr>Office 테마</vt:lpstr>
      <vt:lpstr>T-Bridge - Giải pháp vé tổng hợp_PC</vt:lpstr>
      <vt:lpstr>Lịch sử cập nhật thiết kế</vt:lpstr>
      <vt:lpstr>Giới thiệu dự án</vt:lpstr>
      <vt:lpstr>Cấu trúc menu seller office và liên kết với kênh bán</vt:lpstr>
      <vt:lpstr>PowerPoint Presentation</vt:lpstr>
      <vt:lpstr>[Chính sách] Đăng ký và Login</vt:lpstr>
      <vt:lpstr>[Chính sách] Quyền hạn</vt:lpstr>
      <vt:lpstr>Trang giới thiệu</vt:lpstr>
      <vt:lpstr>Đăng nhập</vt:lpstr>
      <vt:lpstr>Đăng nhập &gt; Tìm ID</vt:lpstr>
      <vt:lpstr>Đăng nhập &gt; Tìm PW</vt:lpstr>
      <vt:lpstr>Nội dung email hướng dẫn</vt:lpstr>
      <vt:lpstr>Đăng ký thành viên &gt; Xác thực doanh nghiệp</vt:lpstr>
      <vt:lpstr>Đăng ký thành viên &gt; Nhập thông tin</vt:lpstr>
      <vt:lpstr>Đăng ký thành viên &gt; Nhập thông tin</vt:lpstr>
      <vt:lpstr>Quản lý thông tin</vt:lpstr>
      <vt:lpstr>Quản lý thông tin</vt:lpstr>
      <vt:lpstr>Quản lý thông tin</vt:lpstr>
      <vt:lpstr>Tìm địa chỉ</vt:lpstr>
      <vt:lpstr>Quản lý thông tin &gt; Thông tin nhà cung cấp (chỉ người bán xem được) </vt:lpstr>
      <vt:lpstr>Layer thêm 1 NCC</vt:lpstr>
      <vt:lpstr>Quản lý thông tin (Khi đăng nhập bằng quyền master)</vt:lpstr>
      <vt:lpstr>PowerPoint Presentation</vt:lpstr>
      <vt:lpstr>Dashboard</vt:lpstr>
      <vt:lpstr>PowerPoint Presentation</vt:lpstr>
      <vt:lpstr>Đăng sản phẩm</vt:lpstr>
      <vt:lpstr>Sản phẩm được thu thập_chi tiết so khớp mã sản phẩm/mã option</vt:lpstr>
      <vt:lpstr>Đăng sản phẩm &gt; Thông tin sản phẩm/Option_Thông tin sản phẩm</vt:lpstr>
      <vt:lpstr>Đăng sản phẩm &gt; Thông tin sản phẩm/Option_Option sản phẩm&gt;Đăng trực tiếp sản phẩm voucher (trước khi nhập option)</vt:lpstr>
      <vt:lpstr>Đăng sản phẩm &gt; Thông tin sản phẩm/Option_Option sản phẩm&gt;Đăng trực tiếp sản phẩm voucher (sau khi thêm vào danh sách option)</vt:lpstr>
      <vt:lpstr>Đăng sản phẩm &gt; Thông tin sản phẩm/Option_Option sản phẩm&gt;Đăng trực tiếp sản phẩm quy định ngày</vt:lpstr>
      <vt:lpstr>Đăng sản phẩm &gt; Thông tin sản phẩm/Option_Option sản phẩm&gt;Upload file Excel</vt:lpstr>
      <vt:lpstr>Đăng sản phẩm&gt;Điều kiện bán/mua</vt:lpstr>
      <vt:lpstr>Đăng sản phẩm&gt;Điều kiện bán/mua</vt:lpstr>
      <vt:lpstr>Đăng sản phẩm&gt;Điều kiện hủy/hoàn tiền</vt:lpstr>
      <vt:lpstr>Đăng sản phẩm&gt;Hình ảnh</vt:lpstr>
      <vt:lpstr>Đăng sản phẩm&gt;Thông tin sử dụng</vt:lpstr>
      <vt:lpstr>Đăng sản phẩm&gt;Thông tin sử dụng</vt:lpstr>
      <vt:lpstr>Đăng sản phẩm&gt;Thông tin sử dụng</vt:lpstr>
      <vt:lpstr>PowerPoint Presentation</vt:lpstr>
      <vt:lpstr>[CHÍNH SÁCH] QUẢN LÝ SẢN PHẨM</vt:lpstr>
      <vt:lpstr>[Chính sách] Quản lý số lượng option</vt:lpstr>
      <vt:lpstr>[Chính sách] Xử lý liên kết với kênh bán theo trạng thái sản phẩm và hành động : Kênh liên kết API</vt:lpstr>
      <vt:lpstr>[Chính sách] Xử lý liên kết với kênh bán theo trạng thái sản phẩm và hành động : Kênh k0 liên kết API</vt:lpstr>
      <vt:lpstr>Quản lý sản phẩm</vt:lpstr>
      <vt:lpstr>Quản lý sản phẩm</vt:lpstr>
      <vt:lpstr>Sửa sản phẩm</vt:lpstr>
      <vt:lpstr>PowerPoint Presentation</vt:lpstr>
      <vt:lpstr> [정책] 주문관리 기본정책</vt:lpstr>
      <vt:lpstr>[정책] 티켓 상태변경</vt:lpstr>
      <vt:lpstr>바코드 정책</vt:lpstr>
      <vt:lpstr>주문관리</vt:lpstr>
      <vt:lpstr>주문관리</vt:lpstr>
      <vt:lpstr>PowerPoint Presentation</vt:lpstr>
      <vt:lpstr>[정책] 매출관리</vt:lpstr>
      <vt:lpstr>매출/정산관리 &gt; 매출내역</vt:lpstr>
      <vt:lpstr>매출/정산관리 &gt; 매출내역</vt:lpstr>
      <vt:lpstr>[정책] 정산</vt:lpstr>
      <vt:lpstr>[정책] 정산서 상태별 작업사항 및 노출버튼</vt:lpstr>
      <vt:lpstr>매출/정산관리 &gt; 채널정산 (마스터 로그인시)</vt:lpstr>
      <vt:lpstr>매출/정산관리 &gt; 정산현황 (마스터 로그인시)</vt:lpstr>
      <vt:lpstr>매출/정산관리 &gt; 정산현황 &gt; 정산서  (마스터 로그인시) </vt:lpstr>
      <vt:lpstr>매출/정산관리 &gt; 정산현황 &gt; 정산서 (마스터 로그인시)</vt:lpstr>
      <vt:lpstr>매출/정산관리 &gt; 정산현황 (총판사 로그인시)</vt:lpstr>
      <vt:lpstr>매출/정산관리 &gt; 정산현황 &gt; 정산서 (총판사 로그인시)</vt:lpstr>
      <vt:lpstr>매출/정산관리 &gt; 정산현황 &gt; 정산서 (총판사 로그인시)</vt:lpstr>
      <vt:lpstr>PowerPoint Presentation</vt:lpstr>
      <vt:lpstr>문의관리</vt:lpstr>
      <vt:lpstr>문의관리</vt:lpstr>
      <vt:lpstr>PowerPoint Presentation</vt:lpstr>
      <vt:lpstr>공지사항</vt:lpstr>
      <vt:lpstr>공지사항 (마스터 로그인시)</vt:lpstr>
      <vt:lpstr>PowerPoint Presentation</vt:lpstr>
      <vt:lpstr>[마스터전용] 카테고리 관리 &gt; 티브리지 카테고리 </vt:lpstr>
      <vt:lpstr>[마스터전용] 카테고리 관리 &gt; 티브리지 카테고리 </vt:lpstr>
      <vt:lpstr>[마스터전용] 카테고리 관리 &gt; 티브리지 카테고리 &gt; 채널사별 카테고리 매칭</vt:lpstr>
      <vt:lpstr>[마스터전용] 카테고리 관리 &gt; 채널사 카테고리</vt:lpstr>
      <vt:lpstr>[마스터전용] 회원/권한관리 </vt:lpstr>
      <vt:lpstr>[마스터전용] 회원/권한관리 &gt; 직정등록(총판사) </vt:lpstr>
      <vt:lpstr>[마스터전용] 회원/권한관리 &gt; 직정등록(시설사)</vt:lpstr>
      <vt:lpstr>[마스터전용] 회원/권한관리 &gt; 직정등록(마스터)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박근철</dc:creator>
  <cp:lastModifiedBy>PC</cp:lastModifiedBy>
  <cp:revision>5761</cp:revision>
  <cp:lastPrinted>2014-12-04T05:42:00Z</cp:lastPrinted>
  <dcterms:created xsi:type="dcterms:W3CDTF">2012-03-06T23:59:00Z</dcterms:created>
  <dcterms:modified xsi:type="dcterms:W3CDTF">2020-07-06T01:24:42Z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1033-11.2.0.9232</vt:lpwstr>
  </property>
</Properties>
</file>